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C_4AD3DAFF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modernComment_10A_AE6DAA0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18"/>
  </p:notesMasterIdLst>
  <p:sldIdLst>
    <p:sldId id="260" r:id="rId3"/>
    <p:sldId id="273" r:id="rId4"/>
    <p:sldId id="272" r:id="rId5"/>
    <p:sldId id="262" r:id="rId6"/>
    <p:sldId id="259" r:id="rId7"/>
    <p:sldId id="264" r:id="rId8"/>
    <p:sldId id="267" r:id="rId9"/>
    <p:sldId id="271" r:id="rId10"/>
    <p:sldId id="268" r:id="rId11"/>
    <p:sldId id="270" r:id="rId12"/>
    <p:sldId id="275" r:id="rId13"/>
    <p:sldId id="274" r:id="rId14"/>
    <p:sldId id="263" r:id="rId15"/>
    <p:sldId id="265" r:id="rId16"/>
    <p:sldId id="266" r:id="rId17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01"/>
    <p:restoredTop sz="83924"/>
  </p:normalViewPr>
  <p:slideViewPr>
    <p:cSldViewPr snapToGrid="0">
      <p:cViewPr varScale="1">
        <p:scale>
          <a:sx n="196" d="100"/>
          <a:sy n="196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omments/modernComment_10A_AE6DAA0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5A96090-170E-744F-9C59-E88DB52DF9A8}" authorId="{BD6F2EB9-0F9D-11FF-3725-6E6478E33E3F}" created="2025-09-17T08:31:46.4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926422534" sldId="266"/>
      <ac:spMk id="41" creationId="{65D3966F-C84D-34A4-3CA7-4B256E8F79D0}"/>
    </ac:deMkLst>
    <p188:txBody>
      <a:bodyPr/>
      <a:lstStyle/>
      <a:p>
        <a:r>
          <a:rPr lang="de-DE"/>
          <a:t>Dont know if only linear of if they also offer a non-linear equivalent</a:t>
        </a:r>
      </a:p>
    </p188:txBody>
  </p188:cm>
</p188:cmLst>
</file>

<file path=ppt/comments/modernComment_10C_4AD3DA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2115A85-EC5A-8144-BBF0-5D80C8C95716}" authorId="{BD6F2EB9-0F9D-11FF-3725-6E6478E33E3F}" created="2025-10-01T07:44:37.9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255398143" sldId="268"/>
      <ac:spMk id="112" creationId="{6092D3C6-5300-19B1-F4E0-268797166176}"/>
    </ac:deMkLst>
    <p188:txBody>
      <a:bodyPr/>
      <a:lstStyle/>
      <a:p>
        <a:r>
          <a:rPr lang="de-DE"/>
          <a:t>Problem: This is from the CBOE and we use Open Interest and other stuff from the NYMEX?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21.10.25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Own illustration based on </a:t>
            </a:r>
            <a:r>
              <a:rPr lang="de-DE" sz="18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8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9C31-3F15-B798-AEAC-4C4E153BC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940DD-E69D-7B38-3803-94675999F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CBEB96-7C04-77BB-135C-5C3484FCD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3835CE-F727-9D2F-05A5-A9B1F9B1C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8519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See Paper: Oil prices, exchange rate and asset prices („</a:t>
            </a:r>
            <a:r>
              <a:rPr lang="de-DE" sz="1800" dirty="0">
                <a:effectLst/>
                <a:latin typeface="Calibri" panose="020F0502020204030204" pitchFamily="34" charset="0"/>
              </a:rPr>
              <a:t>open interest in the oil futures market, i.e. the number of open futures contracts (as a proxy for the financialisation of the oil market). </a:t>
            </a:r>
            <a:endParaRPr lang="de-DE" dirty="0"/>
          </a:p>
          <a:p>
            <a:r>
              <a:rPr lang="de-DE" dirty="0"/>
              <a:t>“), page 2.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3-4.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17929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6460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F4976D8-9094-7414-1337-D5BFC0276F17}"/>
              </a:ext>
            </a:extLst>
          </p:cNvPr>
          <p:cNvSpPr/>
          <p:nvPr userDrawn="1"/>
        </p:nvSpPr>
        <p:spPr>
          <a:xfrm>
            <a:off x="-16152" y="6130778"/>
            <a:ext cx="11536640" cy="34939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701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E0FE0D-4DAE-B6C9-D83D-DE0821648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8076" y="-7441"/>
            <a:ext cx="11528564" cy="919449"/>
          </a:xfrm>
          <a:solidFill>
            <a:srgbClr val="00677C"/>
          </a:solidFill>
        </p:spPr>
        <p:txBody>
          <a:bodyPr>
            <a:normAutofit/>
          </a:bodyPr>
          <a:lstStyle>
            <a:lvl1pPr>
              <a:defRPr sz="2835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  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ED61AC-10B2-F7A3-5112-6BDAF60F4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F92F16-AEF6-2E22-89FC-2104091B1C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8802" y="6130781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J.Fella &amp; R.Hennings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BBC12F-E553-CBC6-B606-9648CB76B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6162" y="6130780"/>
            <a:ext cx="3888165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070C56-7719-8376-E309-3BB1B22E8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36345" y="6130779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42E4F82-BF2E-49E6-B429-4AFCF17D441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63350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t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 dirty="0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amy.com/stock-photo-newspaper-article-on-the-price-of-gasoline-and-petrol-going-higher-26528783.html" TargetMode="External"/><Relationship Id="rId7" Type="http://schemas.openxmlformats.org/officeDocument/2006/relationships/hyperlink" Target="https://www.forbes.com/sites/siladityaray/2022/08/29/us-dollar-hits-two-decade-high-heres-what-that-means/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hyperlink" Target="https://www.dreamstime.com/energy-crisis-fuel-gas-price-newspaper-table-energy-crisis-fuel-gas-electricity-price-newspaper-table-image270150690" TargetMode="Externa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4AD3DAFF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AE6DAA0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/>
              <a:t>Non-linear effects of energy commodities on the</a:t>
            </a:r>
          </a:p>
          <a:p>
            <a:pPr algn="ctr"/>
            <a:r>
              <a:rPr lang="de-DE" sz="3000" b="1" dirty="0"/>
              <a:t>EUR/USD spot exchange rate:</a:t>
            </a:r>
          </a:p>
          <a:p>
            <a:pPr algn="ctr"/>
            <a:r>
              <a:rPr lang="de-DE" sz="3000" b="1" dirty="0"/>
              <a:t>An Oil and Gas Perspective on Parity Conditions.</a:t>
            </a:r>
          </a:p>
          <a:p>
            <a:pPr algn="ctr"/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by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of Kiel</a:t>
            </a: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 and robert.hennings@stu.uni-kiel.de</a:t>
            </a: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https://github.com/RobertHennings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0CB391-C26A-9A35-1E21-6D93032D8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Beginning: Newspaper article about energy + recent USD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B9F65C-CE3C-10B2-9C48-57D8786AF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J.Fella &amp; R.Hennings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13E4F1-1CC0-A914-4FE5-CABACF879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E4F82-BF2E-49E6-B429-4AFCF17D441A}" type="slidenum">
              <a:rPr lang="de-DE" smtClean="0"/>
              <a:pPr/>
              <a:t>2</a:t>
            </a:fld>
            <a:endParaRPr lang="de-DE" dirty="0"/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24185FFA-9833-3C69-B398-960DD1CF451C}"/>
              </a:ext>
            </a:extLst>
          </p:cNvPr>
          <p:cNvGrpSpPr/>
          <p:nvPr/>
        </p:nvGrpSpPr>
        <p:grpSpPr>
          <a:xfrm>
            <a:off x="755251" y="1106326"/>
            <a:ext cx="3630563" cy="2055842"/>
            <a:chOff x="1658672" y="2046515"/>
            <a:chExt cx="5351728" cy="2979163"/>
          </a:xfrm>
        </p:grpSpPr>
        <p:pic>
          <p:nvPicPr>
            <p:cNvPr id="1026" name="Picture 2" descr="Newspaper article on the price of gasoline and petrol going higher ...">
              <a:extLst>
                <a:ext uri="{FF2B5EF4-FFF2-40B4-BE49-F238E27FC236}">
                  <a16:creationId xmlns:a16="http://schemas.microsoft.com/office/drawing/2014/main" id="{CEE01A1C-C1E6-8111-BF86-EB56D09249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592"/>
            <a:stretch>
              <a:fillRect/>
            </a:stretch>
          </p:blipFill>
          <p:spPr bwMode="auto">
            <a:xfrm>
              <a:off x="1658672" y="2046515"/>
              <a:ext cx="3775120" cy="2423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DFEB2089-8346-085A-472E-BED05ACCB2EC}"/>
                </a:ext>
              </a:extLst>
            </p:cNvPr>
            <p:cNvSpPr txBox="1"/>
            <p:nvPr/>
          </p:nvSpPr>
          <p:spPr>
            <a:xfrm>
              <a:off x="1658672" y="4470401"/>
              <a:ext cx="5351728" cy="5552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 dirty="0">
                  <a:hlinkClick r:id="rId3"/>
                </a:rPr>
                <a:t>Newspaper article on the price of gasoline and petrol going higher Stock Photo – Alamy</a:t>
              </a:r>
              <a:r>
                <a:rPr lang="en-US" sz="945" dirty="0"/>
                <a:t>, 08.10.2025</a:t>
              </a:r>
              <a:endParaRPr lang="de-DE" sz="945" dirty="0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112AC907-D468-D791-9833-6B319EBDB6E2}"/>
              </a:ext>
            </a:extLst>
          </p:cNvPr>
          <p:cNvGrpSpPr/>
          <p:nvPr/>
        </p:nvGrpSpPr>
        <p:grpSpPr>
          <a:xfrm>
            <a:off x="2054915" y="3365625"/>
            <a:ext cx="5794442" cy="2565791"/>
            <a:chOff x="2174632" y="1376363"/>
            <a:chExt cx="6132286" cy="2715389"/>
          </a:xfrm>
        </p:grpSpPr>
        <p:pic>
          <p:nvPicPr>
            <p:cNvPr id="3078" name="Picture 6" descr="Energy Crisis and Fuel Gas Price Newspaper on Table Stock Illustration ...">
              <a:extLst>
                <a:ext uri="{FF2B5EF4-FFF2-40B4-BE49-F238E27FC236}">
                  <a16:creationId xmlns:a16="http://schemas.microsoft.com/office/drawing/2014/main" id="{E5019AC1-CB11-B157-FC73-D73CDF73E4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86000" y="1376363"/>
              <a:ext cx="4361543" cy="2349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4E12ADE8-C27B-2931-2BA0-8D926A16A2D1}"/>
                </a:ext>
              </a:extLst>
            </p:cNvPr>
            <p:cNvSpPr txBox="1"/>
            <p:nvPr/>
          </p:nvSpPr>
          <p:spPr>
            <a:xfrm>
              <a:off x="2174632" y="3686229"/>
              <a:ext cx="6132286" cy="405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 dirty="0">
                  <a:hlinkClick r:id="rId5"/>
                </a:rPr>
                <a:t>Energy Crisis and Fuel Gas Price Newspaper on Table Stock Illustration - Illustration of fossil, global: 270150690</a:t>
              </a:r>
              <a:r>
                <a:rPr lang="en-US" sz="945" dirty="0"/>
                <a:t>, 08.10.2025</a:t>
              </a:r>
              <a:endParaRPr lang="de-DE" sz="945" dirty="0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9F817FA9-F532-B5A6-9B9E-9763E13F3C0B}"/>
              </a:ext>
            </a:extLst>
          </p:cNvPr>
          <p:cNvGrpSpPr/>
          <p:nvPr/>
        </p:nvGrpSpPr>
        <p:grpSpPr>
          <a:xfrm>
            <a:off x="5252801" y="1184825"/>
            <a:ext cx="4402406" cy="2299226"/>
            <a:chOff x="972456" y="1913609"/>
            <a:chExt cx="6183084" cy="3023315"/>
          </a:xfrm>
        </p:grpSpPr>
        <p:pic>
          <p:nvPicPr>
            <p:cNvPr id="3080" name="Picture 8" descr="U.S. Dollar Hits 20-Year High: Here’s What That Means">
              <a:extLst>
                <a:ext uri="{FF2B5EF4-FFF2-40B4-BE49-F238E27FC236}">
                  <a16:creationId xmlns:a16="http://schemas.microsoft.com/office/drawing/2014/main" id="{CBB57997-C356-519B-7F9E-4912620614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2456" y="1913609"/>
              <a:ext cx="4484227" cy="2519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758B12C-5472-C484-C45A-5F4EBC9184B8}"/>
                </a:ext>
              </a:extLst>
            </p:cNvPr>
            <p:cNvSpPr txBox="1"/>
            <p:nvPr/>
          </p:nvSpPr>
          <p:spPr>
            <a:xfrm>
              <a:off x="972456" y="4433067"/>
              <a:ext cx="6183084" cy="5038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945" dirty="0">
                  <a:hlinkClick r:id="rId7"/>
                </a:rPr>
                <a:t>https://www.forbes.com/sites/siladityaray/2022/08/29/us-dollar-hits-two-decade-high-heres-what-that-means/</a:t>
              </a:r>
              <a:r>
                <a:rPr lang="de-DE" sz="945" dirty="0"/>
                <a:t>, 08.10.2025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78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DE2D010-67B4-6208-D9E6-8924D567A34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232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r>
              <a:rPr lang="de-DE" sz="1400" b="1" spc="-1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682450" y="4303966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204318" y="3276798"/>
            <a:ext cx="1755627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8541E07-E6F4-ED82-136D-E8DFBDF1A366}"/>
              </a:ext>
            </a:extLst>
          </p:cNvPr>
          <p:cNvSpPr/>
          <p:nvPr/>
        </p:nvSpPr>
        <p:spPr>
          <a:xfrm>
            <a:off x="3317272" y="5961248"/>
            <a:ext cx="2373309" cy="3473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price shock affecting exchange rate through two channels (see impact of oil shocks Markov Switching)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1B0DD7A-7D17-5AF6-8729-84131D833385}"/>
              </a:ext>
            </a:extLst>
          </p:cNvPr>
          <p:cNvCxnSpPr>
            <a:cxnSpLocks/>
            <a:stCxn id="12" idx="0"/>
            <a:endCxn id="14" idx="3"/>
          </p:cNvCxnSpPr>
          <p:nvPr/>
        </p:nvCxnSpPr>
        <p:spPr>
          <a:xfrm flipH="1" flipV="1">
            <a:off x="3872163" y="2959296"/>
            <a:ext cx="631764" cy="3001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58D72F1-5BD3-BE92-5474-39202431B984}"/>
              </a:ext>
            </a:extLst>
          </p:cNvPr>
          <p:cNvCxnSpPr>
            <a:cxnSpLocks/>
            <a:stCxn id="12" idx="0"/>
            <a:endCxn id="29" idx="1"/>
          </p:cNvCxnSpPr>
          <p:nvPr/>
        </p:nvCxnSpPr>
        <p:spPr>
          <a:xfrm flipV="1">
            <a:off x="4503927" y="4904163"/>
            <a:ext cx="537110" cy="1057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843534" y="5140383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</a:p>
        </p:txBody>
      </p: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commodity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terms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terms/terms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tradable and non-tradable goods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commodity prices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basket of currencies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 currencies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deflator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labor costs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prices</a:t>
            </a: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since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818E8-0211-888C-8857-FDE54C24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FD8C67DD-13EC-925C-11D1-E7C9636FD94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21FE59F2-2736-539D-7563-2FEDF9020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828474"/>
              </p:ext>
            </p:extLst>
          </p:nvPr>
        </p:nvGraphicFramePr>
        <p:xfrm>
          <a:off x="626492" y="1280047"/>
          <a:ext cx="10267504" cy="42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2781">
                  <a:extLst>
                    <a:ext uri="{9D8B030D-6E8A-4147-A177-3AD203B41FA5}">
                      <a16:colId xmlns:a16="http://schemas.microsoft.com/office/drawing/2014/main" val="1829092657"/>
                    </a:ext>
                  </a:extLst>
                </a:gridCol>
                <a:gridCol w="1618518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15299">
                  <a:extLst>
                    <a:ext uri="{9D8B030D-6E8A-4147-A177-3AD203B41FA5}">
                      <a16:colId xmlns:a16="http://schemas.microsoft.com/office/drawing/2014/main" val="3044762045"/>
                    </a:ext>
                  </a:extLst>
                </a:gridCol>
                <a:gridCol w="1203089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21243430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414635185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306773420"/>
                    </a:ext>
                  </a:extLst>
                </a:gridCol>
                <a:gridCol w="658070">
                  <a:extLst>
                    <a:ext uri="{9D8B030D-6E8A-4147-A177-3AD203B41FA5}">
                      <a16:colId xmlns:a16="http://schemas.microsoft.com/office/drawing/2014/main" val="3105118240"/>
                    </a:ext>
                  </a:extLst>
                </a:gridCol>
                <a:gridCol w="1022667">
                  <a:extLst>
                    <a:ext uri="{9D8B030D-6E8A-4147-A177-3AD203B41FA5}">
                      <a16:colId xmlns:a16="http://schemas.microsoft.com/office/drawing/2014/main" val="3855398356"/>
                    </a:ext>
                  </a:extLst>
                </a:gridCol>
                <a:gridCol w="782717">
                  <a:extLst>
                    <a:ext uri="{9D8B030D-6E8A-4147-A177-3AD203B41FA5}">
                      <a16:colId xmlns:a16="http://schemas.microsoft.com/office/drawing/2014/main" val="1668350418"/>
                    </a:ext>
                  </a:extLst>
                </a:gridCol>
              </a:tblGrid>
              <a:tr h="4284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Frequency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 or 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algn="ctr"/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37330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75791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1983-10-03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67436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1996-04-11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877748"/>
                  </a:ext>
                </a:extLst>
              </a:tr>
              <a:tr h="257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USD-EUR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1999-01-04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377485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Broad U.S.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2006-01-02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DTWEXBGS</a:t>
                      </a:r>
                    </a:p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79788"/>
                  </a:ext>
                </a:extLst>
              </a:tr>
              <a:tr h="4243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Broad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2006-01-01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759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843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867235" y="1365136"/>
            <a:ext cx="1359061" cy="3189911"/>
          </a:xfrm>
          <a:prstGeom prst="bentConnector3">
            <a:avLst>
              <a:gd name="adj1" fmla="val 707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Gewinkelte Verbindung 112">
            <a:extLst>
              <a:ext uri="{FF2B5EF4-FFF2-40B4-BE49-F238E27FC236}">
                <a16:creationId xmlns:a16="http://schemas.microsoft.com/office/drawing/2014/main" id="{CCE8ACD3-57F7-2E1F-A907-CB407544F96B}"/>
              </a:ext>
            </a:extLst>
          </p:cNvPr>
          <p:cNvCxnSpPr>
            <a:cxnSpLocks/>
            <a:stCxn id="6" idx="2"/>
            <a:endCxn id="112" idx="1"/>
          </p:cNvCxnSpPr>
          <p:nvPr/>
        </p:nvCxnSpPr>
        <p:spPr>
          <a:xfrm rot="16200000" flipH="1">
            <a:off x="4704081" y="2528290"/>
            <a:ext cx="658712" cy="163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A simple model of exchange rates and energy commodity prices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 future expectations for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 pressure driving up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hikes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 affect energy commodity importing and exporting economies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873080" y="2447437"/>
            <a:ext cx="1667844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 proxy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540924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248263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conditions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depending on degree of financial integration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941338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oil futures markets</a:t>
            </a:r>
            <a:r>
              <a:rPr lang="de-DE" sz="11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458698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Front Month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307952" y="2804469"/>
            <a:ext cx="1293331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540054" y="4750963"/>
            <a:ext cx="482740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6092D3C6-5300-19B1-F4E0-268797166176}"/>
              </a:ext>
            </a:extLst>
          </p:cNvPr>
          <p:cNvSpPr/>
          <p:nvPr/>
        </p:nvSpPr>
        <p:spPr>
          <a:xfrm>
            <a:off x="5115065" y="2824074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CBOE Crude Oil ETF Volatility Index</a:t>
            </a:r>
          </a:p>
        </p:txBody>
      </p: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 crisis periods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volumes</a:t>
            </a: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9" y="3450810"/>
            <a:ext cx="419165" cy="63796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639623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Volatility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dependent</a:t>
            </a: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lending rates</a:t>
            </a: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information efficiency theory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0009670"/>
              </p:ext>
            </p:extLst>
          </p:nvPr>
        </p:nvGraphicFramePr>
        <p:xfrm>
          <a:off x="1102735" y="1670952"/>
          <a:ext cx="4516837" cy="476609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commodity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VIX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(Market-) Volatility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0463226"/>
              </p:ext>
            </p:extLst>
          </p:nvPr>
        </p:nvGraphicFramePr>
        <p:xfrm>
          <a:off x="6640775" y="2144396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34002"/>
              </p:ext>
            </p:extLst>
          </p:nvPr>
        </p:nvGraphicFramePr>
        <p:xfrm>
          <a:off x="6640775" y="3315877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35950"/>
              </p:ext>
            </p:extLst>
          </p:nvPr>
        </p:nvGraphicFramePr>
        <p:xfrm>
          <a:off x="6640775" y="4381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765819"/>
              </p:ext>
            </p:extLst>
          </p:nvPr>
        </p:nvGraphicFramePr>
        <p:xfrm>
          <a:off x="6640775" y="5553039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217824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2144395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412818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966455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5226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513" y="3469439"/>
            <a:ext cx="1240264" cy="75660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FE0D6D8-413C-B0B5-6FF1-5207E8412C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262" y="4038858"/>
            <a:ext cx="1600200" cy="2667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ACD4DEC-1D2B-19A7-8B63-B85590BD69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7141" y="3399966"/>
            <a:ext cx="2437821" cy="905592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54D91347-74D8-4128-A021-014DA9906D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164" y="4364294"/>
            <a:ext cx="2347226" cy="9897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9EBC807-DA31-5B87-258C-588C9B52FE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9498" y="4396789"/>
            <a:ext cx="1995464" cy="1239552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5C58E6A0-07CE-9181-EF27-C8A2F0276C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135" y="5338659"/>
            <a:ext cx="2373088" cy="906992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62AE5FB-E160-CC98-6E33-3AF3AFC70F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1057" y="5636341"/>
            <a:ext cx="1733905" cy="843834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144543"/>
              </p:ext>
            </p:extLst>
          </p:nvPr>
        </p:nvGraphicFramePr>
        <p:xfrm>
          <a:off x="1102735" y="1670952"/>
          <a:ext cx="4752000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6400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0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712293"/>
              </p:ext>
            </p:extLst>
          </p:nvPr>
        </p:nvGraphicFramePr>
        <p:xfrm>
          <a:off x="6591953" y="2089730"/>
          <a:ext cx="4752000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6400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0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Switching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760773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760773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336446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 affecting crisis periods - major global shocks and us recessions</a:t>
            </a:r>
            <a:r>
              <a:rPr lang="de-DE" sz="11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89185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evaluation and selection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474461"/>
              </p:ext>
            </p:extLst>
          </p:nvPr>
        </p:nvGraphicFramePr>
        <p:xfrm>
          <a:off x="952055" y="1245211"/>
          <a:ext cx="9791910" cy="966797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computation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9774743"/>
              </p:ext>
            </p:extLst>
          </p:nvPr>
        </p:nvGraphicFramePr>
        <p:xfrm>
          <a:off x="952054" y="2667686"/>
          <a:ext cx="9404922" cy="4116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1970-1970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1973-1975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1981-1982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1990-1991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 Bubble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71318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1BD31-E41C-32E5-CB26-73CD8B2AE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FF4BF66-5482-53AC-ED7C-8225E60A2FB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2C5BAF0-AD8C-D57B-C614-5150314E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18D9E65A-EF33-23FC-1FF7-67BC136923B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5)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8CDF5D73-B632-4729-DE34-23C491524185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Methodology Overview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97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BAD20-E796-1EE6-F1F4-6DE5BFB81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D7F7FB85-4E9D-84C1-96E4-C5B3043593B5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C335FAC-F85F-20FB-E7C7-5D38364D8B01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E632F0-ACE3-0DAB-5FA2-1DA5F3534911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77F835F-4EF6-44F8-43B6-075AB1250D85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253F265-53D5-D8AB-DAE8-2C8A71B499AD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3D74FF-F7E2-C9C7-7760-817DF146BE28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7727AD4-DC24-0B86-82F6-FC41548A5B1D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16A8A89-BD6D-401D-3C1B-52235CA9B8CF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41EF3A8-2956-95B6-2F5A-B99143FCB4D2}"/>
              </a:ext>
            </a:extLst>
          </p:cNvPr>
          <p:cNvSpPr/>
          <p:nvPr/>
        </p:nvSpPr>
        <p:spPr>
          <a:xfrm>
            <a:off x="5682450" y="4303966"/>
            <a:ext cx="151513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8F8B152-EED8-4423-1C73-CC17CD51EEA3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CFBA069-CCF6-532F-F4CB-76B9BD8755B3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A0CFAEC-01B2-A0CA-E857-3AF00A946BA0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19CF8815-EF39-ABFA-1238-004A8F1101E6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44797-D1BE-0F39-8003-717929ABE343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8DEBD9E-73EE-F468-25B0-C1F48E091FED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F715F8-8652-7032-E72B-7601076C96FA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670D4AF-BD95-BB10-7C89-69CCA8CD936F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D56A400-2E4C-A636-1EE5-377F0A0E74E9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39CE900-17E4-83ED-0FF6-EEA1F83BEF37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2433117-232D-D43C-F701-BE591F5A3D2A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727570-03AC-E92B-9D9E-07638E8FF6FA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8E84B6A-9295-3B6A-2AAC-70E318E45433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ABF927C-6532-EF25-3DB9-B165E7B109FA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3F211A30-3C89-7603-2902-726ABA95F9B3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969D7CE-36B1-464F-AEE4-F2BC016C28E2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EDFBED-BE1F-16ED-923E-BDB55CDDEE4D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188E2BA-0200-8E7D-E4BF-57E474E7CE4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CDA3FC37-EF11-7705-0A77-B9C2FDA2D7A8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8C80A15-7A7C-8E86-8118-A92442E97EEF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FA11DBCE-08E6-3647-01EE-C5BF895F9069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C5AE9B1F-901B-6B27-1C7A-7209097BAA36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43296D82-6E52-8B7C-8B25-7501C20ECE69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8BFB2F93-6A48-1F50-B6FC-14E651A6C917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17A71FB6-D072-0717-BA12-D4D6C06D00D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9091BE-4A5B-0EF5-7E5A-F7A3AEA548B1}"/>
              </a:ext>
            </a:extLst>
          </p:cNvPr>
          <p:cNvSpPr/>
          <p:nvPr/>
        </p:nvSpPr>
        <p:spPr>
          <a:xfrm>
            <a:off x="2204319" y="314835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7031130-C61F-326F-B8DA-6843B06F2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627" y="2636365"/>
            <a:ext cx="4117052" cy="3657600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33BCD88-E6BD-F0D5-1197-3A807AC3E8C7}"/>
              </a:ext>
            </a:extLst>
          </p:cNvPr>
          <p:cNvSpPr/>
          <p:nvPr/>
        </p:nvSpPr>
        <p:spPr>
          <a:xfrm>
            <a:off x="1885543" y="396510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5A81917-1044-5C15-8D02-840E0835B6C4}"/>
              </a:ext>
            </a:extLst>
          </p:cNvPr>
          <p:cNvSpPr/>
          <p:nvPr/>
        </p:nvSpPr>
        <p:spPr>
          <a:xfrm>
            <a:off x="2292104" y="344420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</p:spTree>
    <p:extLst>
      <p:ext uri="{BB962C8B-B14F-4D97-AF65-F5344CB8AC3E}">
        <p14:creationId xmlns:p14="http://schemas.microsoft.com/office/powerpoint/2010/main" val="24970255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4817-5310-267E-9D93-4FFF68B37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4F02557-566E-ABFE-A63B-E971481BA2B8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0819741F-CF4B-BAE2-960A-015C7AFDF3C4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Econometric modelling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DEC4D6D-1C3C-17DB-D63A-05047A97D0E9}"/>
              </a:ext>
            </a:extLst>
          </p:cNvPr>
          <p:cNvSpPr/>
          <p:nvPr/>
        </p:nvSpPr>
        <p:spPr>
          <a:xfrm>
            <a:off x="1564188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0CA8E9-01B9-9B6A-9426-857F2C6668B6}"/>
              </a:ext>
            </a:extLst>
          </p:cNvPr>
          <p:cNvSpPr/>
          <p:nvPr/>
        </p:nvSpPr>
        <p:spPr>
          <a:xfrm>
            <a:off x="4347861" y="1597403"/>
            <a:ext cx="1329718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38B7DF9-7673-E6B1-D7CA-464A91A7CB2E}"/>
              </a:ext>
            </a:extLst>
          </p:cNvPr>
          <p:cNvSpPr/>
          <p:nvPr/>
        </p:nvSpPr>
        <p:spPr>
          <a:xfrm>
            <a:off x="4265195" y="193377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9748DC-C95B-724D-BEBE-A0525B98F38C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6B94DC-D64F-901A-4DB7-881C106CD901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A7B4CF5-B35A-3757-432F-187385F2F1C2}"/>
              </a:ext>
            </a:extLst>
          </p:cNvPr>
          <p:cNvSpPr/>
          <p:nvPr/>
        </p:nvSpPr>
        <p:spPr>
          <a:xfrm>
            <a:off x="331307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Pearson Correlation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FB7EC7F-3FD3-4349-C0CC-EA528B46B0DE}"/>
              </a:ext>
            </a:extLst>
          </p:cNvPr>
          <p:cNvSpPr/>
          <p:nvPr/>
        </p:nvSpPr>
        <p:spPr>
          <a:xfrm>
            <a:off x="517568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 rank correlation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099ED4-3F22-BAB9-CB08-483E6D8B9BD4}"/>
              </a:ext>
            </a:extLst>
          </p:cNvPr>
          <p:cNvSpPr/>
          <p:nvPr/>
        </p:nvSpPr>
        <p:spPr>
          <a:xfrm>
            <a:off x="2443271" y="3093740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5D3966F-C84D-34A4-3CA7-4B256E8F79D0}"/>
              </a:ext>
            </a:extLst>
          </p:cNvPr>
          <p:cNvSpPr/>
          <p:nvPr/>
        </p:nvSpPr>
        <p:spPr>
          <a:xfrm>
            <a:off x="4210544" y="4612557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FC6ED35-12C9-C92A-9A1A-7E3ECFE8B4AC}"/>
              </a:ext>
            </a:extLst>
          </p:cNvPr>
          <p:cNvSpPr/>
          <p:nvPr/>
        </p:nvSpPr>
        <p:spPr>
          <a:xfrm>
            <a:off x="4191257" y="5087913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1FFB200-5314-B158-EFEA-C54C915B6805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4060596" y="2149779"/>
            <a:ext cx="952124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28C7E10-2C36-CB5B-FC07-42839D42A291}"/>
              </a:ext>
            </a:extLst>
          </p:cNvPr>
          <p:cNvCxnSpPr>
            <a:cxnSpLocks/>
            <a:stCxn id="23" idx="2"/>
            <a:endCxn id="38" idx="0"/>
          </p:cNvCxnSpPr>
          <p:nvPr/>
        </p:nvCxnSpPr>
        <p:spPr>
          <a:xfrm>
            <a:off x="5012720" y="2149779"/>
            <a:ext cx="910486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732874AF-67E6-3731-E328-D90FA9AC0CEE}"/>
              </a:ext>
            </a:extLst>
          </p:cNvPr>
          <p:cNvCxnSpPr>
            <a:cxnSpLocks/>
            <a:stCxn id="36" idx="2"/>
            <a:endCxn id="40" idx="0"/>
          </p:cNvCxnSpPr>
          <p:nvPr/>
        </p:nvCxnSpPr>
        <p:spPr>
          <a:xfrm flipH="1">
            <a:off x="3190796" y="2826607"/>
            <a:ext cx="86980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B473DC3-0802-1B1D-E2CA-B15F3C18F55C}"/>
              </a:ext>
            </a:extLst>
          </p:cNvPr>
          <p:cNvSpPr/>
          <p:nvPr/>
        </p:nvSpPr>
        <p:spPr>
          <a:xfrm>
            <a:off x="4191256" y="5620763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287F64-41FC-92B6-E26F-2A707EFA7E65}"/>
              </a:ext>
            </a:extLst>
          </p:cNvPr>
          <p:cNvSpPr/>
          <p:nvPr/>
        </p:nvSpPr>
        <p:spPr>
          <a:xfrm>
            <a:off x="6095410" y="3651348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Switching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2FEB09D5-548A-EEE9-E024-9B0FA12F968C}"/>
              </a:ext>
            </a:extLst>
          </p:cNvPr>
          <p:cNvSpPr/>
          <p:nvPr/>
        </p:nvSpPr>
        <p:spPr>
          <a:xfrm>
            <a:off x="6095410" y="423561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6F4AB1-851F-142F-B6A0-251DC4B65C78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842935" y="4053475"/>
            <a:ext cx="0" cy="182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75C028C9-BB8F-0AD2-961D-CEEDC47AC25F}"/>
              </a:ext>
            </a:extLst>
          </p:cNvPr>
          <p:cNvSpPr/>
          <p:nvPr/>
        </p:nvSpPr>
        <p:spPr>
          <a:xfrm>
            <a:off x="4265195" y="3665025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Time-varying causality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FA4859EF-6480-2912-A543-60C80AC0161C}"/>
              </a:ext>
            </a:extLst>
          </p:cNvPr>
          <p:cNvCxnSpPr>
            <a:cxnSpLocks/>
            <a:stCxn id="40" idx="2"/>
            <a:endCxn id="62" idx="0"/>
          </p:cNvCxnSpPr>
          <p:nvPr/>
        </p:nvCxnSpPr>
        <p:spPr>
          <a:xfrm>
            <a:off x="3190796" y="3309740"/>
            <a:ext cx="1821924" cy="355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EE9DD6E-D5ED-8201-8222-D20A995210D7}"/>
              </a:ext>
            </a:extLst>
          </p:cNvPr>
          <p:cNvCxnSpPr>
            <a:cxnSpLocks/>
            <a:stCxn id="62" idx="3"/>
            <a:endCxn id="57" idx="1"/>
          </p:cNvCxnSpPr>
          <p:nvPr/>
        </p:nvCxnSpPr>
        <p:spPr>
          <a:xfrm>
            <a:off x="5760244" y="3850689"/>
            <a:ext cx="335166" cy="1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AB69956F-14F6-8A83-004A-C57AC89ABE70}"/>
              </a:ext>
            </a:extLst>
          </p:cNvPr>
          <p:cNvSpPr/>
          <p:nvPr/>
        </p:nvSpPr>
        <p:spPr>
          <a:xfrm>
            <a:off x="1562920" y="443081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F984D5E-75D1-D322-81F0-D8B4581A6F5E}"/>
              </a:ext>
            </a:extLst>
          </p:cNvPr>
          <p:cNvSpPr/>
          <p:nvPr/>
        </p:nvSpPr>
        <p:spPr>
          <a:xfrm>
            <a:off x="1244144" y="524756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2053A14E-923B-472E-8D72-BFA7E933D4FE}"/>
              </a:ext>
            </a:extLst>
          </p:cNvPr>
          <p:cNvSpPr/>
          <p:nvPr/>
        </p:nvSpPr>
        <p:spPr>
          <a:xfrm>
            <a:off x="1650705" y="4726668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C6DDB5AB-BDFB-B7D6-5847-D809AE3FD070}"/>
              </a:ext>
            </a:extLst>
          </p:cNvPr>
          <p:cNvSpPr/>
          <p:nvPr/>
        </p:nvSpPr>
        <p:spPr>
          <a:xfrm>
            <a:off x="2024106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27EAFFA8-9FE0-FB97-5017-F125E067C3DB}"/>
              </a:ext>
            </a:extLst>
          </p:cNvPr>
          <p:cNvSpPr/>
          <p:nvPr/>
        </p:nvSpPr>
        <p:spPr>
          <a:xfrm>
            <a:off x="476685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we find a certain relationship we can proceed further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EA54DEA-3E61-E23A-991C-16479EC23410}"/>
              </a:ext>
            </a:extLst>
          </p:cNvPr>
          <p:cNvSpPr/>
          <p:nvPr/>
        </p:nvSpPr>
        <p:spPr>
          <a:xfrm>
            <a:off x="4265195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Rolling Correlation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9029CC9D-F3FF-AB5B-4773-37510517BD43}"/>
              </a:ext>
            </a:extLst>
          </p:cNvPr>
          <p:cNvCxnSpPr>
            <a:cxnSpLocks/>
            <a:stCxn id="36" idx="2"/>
            <a:endCxn id="77" idx="0"/>
          </p:cNvCxnSpPr>
          <p:nvPr/>
        </p:nvCxnSpPr>
        <p:spPr>
          <a:xfrm>
            <a:off x="4060596" y="2826607"/>
            <a:ext cx="952124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E35B6059-A343-14A8-6034-34B9204956FE}"/>
              </a:ext>
            </a:extLst>
          </p:cNvPr>
          <p:cNvCxnSpPr>
            <a:cxnSpLocks/>
            <a:stCxn id="77" idx="2"/>
            <a:endCxn id="62" idx="0"/>
          </p:cNvCxnSpPr>
          <p:nvPr/>
        </p:nvCxnSpPr>
        <p:spPr>
          <a:xfrm>
            <a:off x="5012720" y="3305956"/>
            <a:ext cx="0" cy="359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D793DB29-96BB-C695-83F5-DD3D135ECDF1}"/>
              </a:ext>
            </a:extLst>
          </p:cNvPr>
          <p:cNvSpPr/>
          <p:nvPr/>
        </p:nvSpPr>
        <p:spPr>
          <a:xfrm>
            <a:off x="7808546" y="45096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6511A50-7272-CFB6-6346-6DFC13E70339}"/>
              </a:ext>
            </a:extLst>
          </p:cNvPr>
          <p:cNvSpPr/>
          <p:nvPr/>
        </p:nvSpPr>
        <p:spPr>
          <a:xfrm>
            <a:off x="8160906" y="1182569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E84F85FC-ED79-B59A-87AB-D6FAE7541F79}"/>
              </a:ext>
            </a:extLst>
          </p:cNvPr>
          <p:cNvCxnSpPr/>
          <p:nvPr/>
        </p:nvCxnSpPr>
        <p:spPr>
          <a:xfrm>
            <a:off x="7727254" y="1103598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Gerade Verbindung 90">
            <a:extLst>
              <a:ext uri="{FF2B5EF4-FFF2-40B4-BE49-F238E27FC236}">
                <a16:creationId xmlns:a16="http://schemas.microsoft.com/office/drawing/2014/main" id="{A5978FE9-9B97-F0A9-F5CA-D344B72CC110}"/>
              </a:ext>
            </a:extLst>
          </p:cNvPr>
          <p:cNvCxnSpPr/>
          <p:nvPr/>
        </p:nvCxnSpPr>
        <p:spPr>
          <a:xfrm>
            <a:off x="3186390" y="1164569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8C5149CE-219C-3F45-659C-27FB103E0AC3}"/>
              </a:ext>
            </a:extLst>
          </p:cNvPr>
          <p:cNvCxnSpPr>
            <a:cxnSpLocks/>
            <a:stCxn id="41" idx="3"/>
            <a:endCxn id="88" idx="1"/>
          </p:cNvCxnSpPr>
          <p:nvPr/>
        </p:nvCxnSpPr>
        <p:spPr>
          <a:xfrm flipV="1">
            <a:off x="5705593" y="4710744"/>
            <a:ext cx="2102953" cy="9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9086E540-8D63-582F-8E48-A6DD167B8902}"/>
              </a:ext>
            </a:extLst>
          </p:cNvPr>
          <p:cNvSpPr/>
          <p:nvPr/>
        </p:nvSpPr>
        <p:spPr>
          <a:xfrm>
            <a:off x="378608" y="36335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ECM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7419BE5C-8D7E-F0CC-CC59-6B68C821F058}"/>
              </a:ext>
            </a:extLst>
          </p:cNvPr>
          <p:cNvSpPr/>
          <p:nvPr/>
        </p:nvSpPr>
        <p:spPr>
          <a:xfrm>
            <a:off x="1049856" y="571755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VECM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657363FA-CCBB-878B-A5C5-2795052BA2DE}"/>
              </a:ext>
            </a:extLst>
          </p:cNvPr>
          <p:cNvSpPr/>
          <p:nvPr/>
        </p:nvSpPr>
        <p:spPr>
          <a:xfrm>
            <a:off x="31386" y="43912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MS-VAR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0966C5E-2567-6B92-9B38-67360F165CC9}"/>
              </a:ext>
            </a:extLst>
          </p:cNvPr>
          <p:cNvSpPr/>
          <p:nvPr/>
        </p:nvSpPr>
        <p:spPr>
          <a:xfrm>
            <a:off x="8117071" y="388612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FFBB656-F091-14A7-CBC6-5070A1AC180D}"/>
              </a:ext>
            </a:extLst>
          </p:cNvPr>
          <p:cNvCxnSpPr>
            <a:cxnSpLocks/>
            <a:stCxn id="57" idx="2"/>
            <a:endCxn id="2" idx="0"/>
          </p:cNvCxnSpPr>
          <p:nvPr/>
        </p:nvCxnSpPr>
        <p:spPr>
          <a:xfrm flipV="1">
            <a:off x="6842935" y="3886122"/>
            <a:ext cx="2021661" cy="167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42253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2188</Words>
  <Application>Microsoft Macintosh PowerPoint</Application>
  <PresentationFormat>Benutzerdefiniert</PresentationFormat>
  <Paragraphs>617</Paragraphs>
  <Slides>15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15</vt:i4>
      </vt:variant>
    </vt:vector>
  </HeadingPairs>
  <TitlesOfParts>
    <vt:vector size="24" baseType="lpstr">
      <vt:lpstr>AdvTT5235d5a9</vt:lpstr>
      <vt:lpstr>Aptos</vt:lpstr>
      <vt:lpstr>Arial</vt:lpstr>
      <vt:lpstr>Calibri</vt:lpstr>
      <vt:lpstr>Cambria Math</vt:lpstr>
      <vt:lpstr>Roboto</vt:lpstr>
      <vt:lpstr>Times New Roman,Bold</vt:lpstr>
      <vt:lpstr>Einfache Folie</vt:lpstr>
      <vt:lpstr>Minimale Folie</vt:lpstr>
      <vt:lpstr>PowerPoint-Präsentation</vt:lpstr>
      <vt:lpstr>Beginning: Newspaper article about energy + recent USD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Robert Hennings</cp:lastModifiedBy>
  <cp:revision>279</cp:revision>
  <cp:lastPrinted>1601-01-01T00:00:00Z</cp:lastPrinted>
  <dcterms:created xsi:type="dcterms:W3CDTF">2010-06-02T10:39:48Z</dcterms:created>
  <dcterms:modified xsi:type="dcterms:W3CDTF">2025-10-21T18:21:36Z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