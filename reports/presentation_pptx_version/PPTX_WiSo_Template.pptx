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C_4AD3DAFF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A_AE6DAA06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</p:sldMasterIdLst>
  <p:notesMasterIdLst>
    <p:notesMasterId r:id="rId24"/>
  </p:notesMasterIdLst>
  <p:sldIdLst>
    <p:sldId id="260" r:id="rId3"/>
    <p:sldId id="273" r:id="rId4"/>
    <p:sldId id="272" r:id="rId5"/>
    <p:sldId id="262" r:id="rId6"/>
    <p:sldId id="259" r:id="rId7"/>
    <p:sldId id="264" r:id="rId8"/>
    <p:sldId id="267" r:id="rId9"/>
    <p:sldId id="271" r:id="rId10"/>
    <p:sldId id="268" r:id="rId11"/>
    <p:sldId id="270" r:id="rId12"/>
    <p:sldId id="275" r:id="rId13"/>
    <p:sldId id="274" r:id="rId14"/>
    <p:sldId id="279" r:id="rId15"/>
    <p:sldId id="263" r:id="rId16"/>
    <p:sldId id="265" r:id="rId17"/>
    <p:sldId id="266" r:id="rId18"/>
    <p:sldId id="276" r:id="rId19"/>
    <p:sldId id="277" r:id="rId20"/>
    <p:sldId id="281" r:id="rId21"/>
    <p:sldId id="278" r:id="rId22"/>
    <p:sldId id="280" r:id="rId23"/>
  </p:sldIdLst>
  <p:sldSz cx="11520488" cy="6480175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6F2EB9-0F9D-11FF-3725-6E6478E33E3F}" name="Robert Hennings" initials="RH" userId="0c30f06d2451ee7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/>
    <p:restoredTop sz="83959"/>
  </p:normalViewPr>
  <p:slideViewPr>
    <p:cSldViewPr snapToGrid="0">
      <p:cViewPr varScale="1">
        <p:scale>
          <a:sx n="132" d="100"/>
          <a:sy n="132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omments/modernComment_10A_AE6DAA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A96090-170E-744F-9C59-E88DB52DF9A8}" authorId="{BD6F2EB9-0F9D-11FF-3725-6E6478E33E3F}" created="2025-09-17T08:31:46.4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26422534" sldId="266"/>
      <ac:spMk id="41" creationId="{65D3966F-C84D-34A4-3CA7-4B256E8F79D0}"/>
    </ac:deMkLst>
    <p188:txBody>
      <a:bodyPr/>
      <a:lstStyle/>
      <a:p>
        <a:r>
          <a:rPr lang="de-DE"/>
          <a:t>Dont know if only linear of if they also offer a non-linear equivalent</a:t>
        </a:r>
      </a:p>
    </p188:txBody>
  </p188:cm>
</p188:cmLst>
</file>

<file path=ppt/comments/modernComment_10C_4AD3DA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115A85-EC5A-8144-BBF0-5D80C8C95716}" authorId="{BD6F2EB9-0F9D-11FF-3725-6E6478E33E3F}" created="2025-10-01T07:44:37.9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55398143" sldId="268"/>
      <ac:spMk id="112" creationId="{6092D3C6-5300-19B1-F4E0-268797166176}"/>
    </ac:deMkLst>
    <p188:txBody>
      <a:bodyPr/>
      <a:lstStyle/>
      <a:p>
        <a:r>
          <a:rPr lang="de-DE"/>
          <a:t>Problem: This is from the CBOE and we use Open Interest and other stuff from the NYMEX?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2E0DD-2BD6-4943-A289-4CB69F215D9E}" type="datetimeFigureOut">
              <a:rPr lang="de-DE" smtClean="0"/>
              <a:t>28.10.25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6613-3B1F-DD4D-99CB-38F4196ACF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24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Own illustration based on </a:t>
            </a:r>
            <a:r>
              <a:rPr lang="de-DE" sz="1800" dirty="0">
                <a:effectLst/>
                <a:latin typeface="AdvTT5235d5a9"/>
              </a:rPr>
              <a:t>The relationship between oil prices and exchange rates: Revisiting theory and evidence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8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pages 3-8.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956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228600" indent="-228600">
              <a:buAutoNum type="arabicParenR"/>
            </a:pPr>
            <a:r>
              <a:rPr lang="de-DE" dirty="0"/>
              <a:t>https://</a:t>
            </a:r>
            <a:r>
              <a:rPr lang="de-DE" dirty="0" err="1"/>
              <a:t>www.bis.org</a:t>
            </a:r>
            <a:r>
              <a:rPr lang="de-DE" dirty="0"/>
              <a:t>/</a:t>
            </a:r>
            <a:r>
              <a:rPr lang="de-DE" dirty="0" err="1"/>
              <a:t>ifc</a:t>
            </a:r>
            <a:r>
              <a:rPr lang="de-DE" dirty="0"/>
              <a:t>/</a:t>
            </a:r>
            <a:r>
              <a:rPr lang="de-DE" dirty="0" err="1"/>
              <a:t>events</a:t>
            </a:r>
            <a:r>
              <a:rPr lang="de-DE" dirty="0"/>
              <a:t>/6ifcconf/</a:t>
            </a:r>
            <a:r>
              <a:rPr lang="de-DE" dirty="0" err="1"/>
              <a:t>takats_pres.pdf</a:t>
            </a:r>
            <a:endParaRPr lang="de-DE" dirty="0"/>
          </a:p>
          <a:p>
            <a:pPr marL="228600" indent="-228600">
              <a:buAutoNum type="arabicParenR"/>
            </a:pPr>
            <a:r>
              <a:rPr lang="de-DE" dirty="0"/>
              <a:t>https://</a:t>
            </a:r>
            <a:r>
              <a:rPr lang="de-DE" dirty="0" err="1"/>
              <a:t>data.bis.org</a:t>
            </a:r>
            <a:r>
              <a:rPr lang="de-DE" dirty="0"/>
              <a:t>/</a:t>
            </a:r>
            <a:r>
              <a:rPr lang="de-DE" dirty="0" err="1"/>
              <a:t>topics</a:t>
            </a:r>
            <a:r>
              <a:rPr lang="de-DE" dirty="0"/>
              <a:t>/EER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741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9C31-3F15-B798-AEAC-4C4E153B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0940DD-E69D-7B38-3803-94675999F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CBEB96-7C04-77BB-135C-5C3484FC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228600" indent="-228600">
              <a:buAutoNum type="arabicParenR"/>
            </a:pPr>
            <a:r>
              <a:rPr lang="de-DE" dirty="0"/>
              <a:t>https://</a:t>
            </a:r>
            <a:r>
              <a:rPr lang="de-DE" dirty="0" err="1"/>
              <a:t>www.bis.org</a:t>
            </a:r>
            <a:r>
              <a:rPr lang="de-DE" dirty="0"/>
              <a:t>/</a:t>
            </a:r>
            <a:r>
              <a:rPr lang="de-DE" dirty="0" err="1"/>
              <a:t>ifc</a:t>
            </a:r>
            <a:r>
              <a:rPr lang="de-DE" dirty="0"/>
              <a:t>/</a:t>
            </a:r>
            <a:r>
              <a:rPr lang="de-DE" dirty="0" err="1"/>
              <a:t>events</a:t>
            </a:r>
            <a:r>
              <a:rPr lang="de-DE" dirty="0"/>
              <a:t>/6ifcconf/</a:t>
            </a:r>
            <a:r>
              <a:rPr lang="de-DE" dirty="0" err="1"/>
              <a:t>takats_pres.pdf</a:t>
            </a:r>
            <a:endParaRPr lang="de-DE" dirty="0"/>
          </a:p>
          <a:p>
            <a:pPr marL="228600" indent="-228600">
              <a:buAutoNum type="arabicParenR"/>
            </a:pPr>
            <a:r>
              <a:rPr lang="de-DE" dirty="0"/>
              <a:t>https://</a:t>
            </a:r>
            <a:r>
              <a:rPr lang="de-DE" dirty="0" err="1"/>
              <a:t>data.bis.org</a:t>
            </a:r>
            <a:r>
              <a:rPr lang="de-DE" dirty="0"/>
              <a:t>/</a:t>
            </a:r>
            <a:r>
              <a:rPr lang="de-DE" dirty="0" err="1"/>
              <a:t>topics</a:t>
            </a:r>
            <a:r>
              <a:rPr lang="de-DE" dirty="0"/>
              <a:t>/EER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3835CE-F727-9D2F-05A5-A9B1F9B1C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519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See Paper: Oil prices, exchange rate and asset prices („</a:t>
            </a:r>
            <a:r>
              <a:rPr lang="de-DE" sz="1800" dirty="0">
                <a:effectLst/>
                <a:latin typeface="Calibri" panose="020F0502020204030204" pitchFamily="34" charset="0"/>
              </a:rPr>
              <a:t>open interest in the oil futures market, i.e. the number of open futures contracts (as a proxy for the financialisation of the oil market). </a:t>
            </a:r>
            <a:endParaRPr lang="de-DE" dirty="0"/>
          </a:p>
          <a:p>
            <a:r>
              <a:rPr lang="de-DE" dirty="0"/>
              <a:t>“), page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Own illustration based on </a:t>
            </a:r>
            <a:r>
              <a:rPr lang="de-DE" sz="1200" dirty="0">
                <a:effectLst/>
                <a:latin typeface="AdvTT5235d5a9"/>
              </a:rPr>
              <a:t>The relationship between oil prices and exchange rates: Revisiting theory and evidence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pages 3-4.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6351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List of theoretically affecting crisis periods taken from: </a:t>
            </a:r>
            <a:r>
              <a:rPr lang="de-DE" sz="1800" dirty="0">
                <a:effectLst/>
                <a:latin typeface="Times New Roman,Bold" pitchFamily="2" charset="0"/>
              </a:rPr>
              <a:t>How Exchange Rate Volatility Shapes Commodity Derivatives Market: Lessons from Five Global Shocks (2007–2023), page: 2.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048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3121C-764B-E312-EBD8-A2191B4A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542189-76E0-D5EF-4A03-0AD11B88D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74E7F6-EE03-7CB9-BBE4-6E1AEC33A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List of theoretically affecting crisis periods taken from: </a:t>
            </a:r>
            <a:r>
              <a:rPr lang="de-DE" sz="1800" dirty="0">
                <a:effectLst/>
                <a:latin typeface="Times New Roman,Bold" pitchFamily="2" charset="0"/>
              </a:rPr>
              <a:t>How Exchange Rate Volatility Shapes Commodity Derivatives Market: Lessons from Five Global Shocks (2007–2023), page: 2.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985E8C-65CB-7A58-A867-E7196A226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207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140E9-D8DA-0F5C-912F-D5812481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35CDB25-7B55-9AF2-55AA-7F7151E00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12073E-AF34-9C8E-03E0-34DF81080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List of theoretically affecting crisis periods taken from: </a:t>
            </a:r>
            <a:r>
              <a:rPr lang="de-DE" sz="1800" dirty="0">
                <a:effectLst/>
                <a:latin typeface="Times New Roman,Bold" pitchFamily="2" charset="0"/>
              </a:rPr>
              <a:t>How Exchange Rate Volatility Shapes Commodity Derivatives Market: Lessons from Five Global Shocks (2007–2023), page: 2.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6525F2-FBF3-EF59-AEA5-ABDF1479F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103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AB5D-DEFE-84C3-4229-5FD48F50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FA9450-5843-4F07-1A49-D69A83DC9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BCFC3E-D679-9C12-A1D0-7505C317E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List of theoretically affecting crisis periods taken from: </a:t>
            </a:r>
            <a:r>
              <a:rPr lang="de-DE" sz="1800" dirty="0">
                <a:effectLst/>
                <a:latin typeface="Times New Roman,Bold" pitchFamily="2" charset="0"/>
              </a:rPr>
              <a:t>How Exchange Rate Volatility Shapes Commodity Derivatives Market: Lessons from Five Global Shocks (2007–2023), page: 2.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D535E4-DEDF-2622-707D-A4F9B9681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037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Own illustration based on </a:t>
            </a:r>
            <a:r>
              <a:rPr lang="de-DE" sz="1200" dirty="0">
                <a:effectLst/>
                <a:latin typeface="AdvTT5235d5a9"/>
              </a:rPr>
              <a:t>The relationship between oil prices and exchange rates: Revisiting theory and evidence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pages 3-8.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1792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Own illustration based on </a:t>
            </a:r>
            <a:r>
              <a:rPr lang="de-DE" sz="1200" dirty="0">
                <a:effectLst/>
                <a:latin typeface="AdvTT5235d5a9"/>
              </a:rPr>
              <a:t>The relationship between oil prices and exchange rates: Revisiting theory and evidence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pages 3-8.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646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08B5-DDDB-9CA0-6467-7FD8993A1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E38B0E8-50D1-2899-FF4D-AC62BE9AF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E9AEE5-9D1E-8B69-5FDC-623EA09E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A8E8DF-B6DE-D715-4E19-36A3DEF46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439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AA8D9-D78A-48F6-31FD-02214A78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C5781C-C53E-A4BB-3025-8671E6096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BD623D-6727-B88E-2958-DBA9F9D75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5135A9-75A0-B09F-8787-57C311A69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19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C327-288A-75B9-CF50-F76EB6B2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82830B-6179-A1D4-294B-C392BBB4C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7D4F88-A334-1E4D-585F-2F5F7A11A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1EFFA4-3D92-DCEF-F434-446096856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235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B3852-12D5-2FC7-E674-2C7E942E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7C3447-4C92-B18C-F9EF-6E089598F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BF1A8C-9EDA-A656-67D8-B34F01435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B63697-1659-FA46-5E0F-408CC0EB6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6613-3B1F-DD4D-99CB-38F4196ACFC3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50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 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475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141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4976D8-9094-7414-1337-D5BFC0276F17}"/>
              </a:ext>
            </a:extLst>
          </p:cNvPr>
          <p:cNvSpPr/>
          <p:nvPr userDrawn="1"/>
        </p:nvSpPr>
        <p:spPr>
          <a:xfrm>
            <a:off x="-16152" y="6130778"/>
            <a:ext cx="11536640" cy="3493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0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E0FE0D-4DAE-B6C9-D83D-DE0821648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076" y="-7441"/>
            <a:ext cx="11528564" cy="919449"/>
          </a:xfrm>
          <a:solidFill>
            <a:srgbClr val="00677C"/>
          </a:solidFill>
        </p:spPr>
        <p:txBody>
          <a:bodyPr>
            <a:normAutofit/>
          </a:bodyPr>
          <a:lstStyle>
            <a:lvl1pPr>
              <a:defRPr sz="2835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  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ED61AC-10B2-F7A3-5112-6BDAF60F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F92F16-AEF6-2E22-89FC-2104091B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8802" y="6130781"/>
            <a:ext cx="2592110" cy="34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J.Fella &amp; R.Hennings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BBC12F-E553-CBC6-B606-9648CB76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62" y="6130780"/>
            <a:ext cx="3888165" cy="34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070C56-7719-8376-E309-3BB1B22E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130779"/>
            <a:ext cx="2592110" cy="345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2E4F82-BF2E-49E6-B429-4AFCF17D441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335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8"/>
          <p:cNvSpPr/>
          <p:nvPr userDrawn="1"/>
        </p:nvSpPr>
        <p:spPr>
          <a:xfrm>
            <a:off x="11196720" y="5540400"/>
            <a:ext cx="357480" cy="10980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000"/>
            <a:ext cx="1152048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amy.com/stock-photo-newspaper-article-on-the-price-of-gasoline-and-petrol-going-higher-26528783.html" TargetMode="External"/><Relationship Id="rId7" Type="http://schemas.openxmlformats.org/officeDocument/2006/relationships/hyperlink" Target="https://www.forbes.com/sites/siladityaray/2022/08/29/us-dollar-hits-two-decade-high-heres-what-that-means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hyperlink" Target="https://www.dreamstime.com/energy-crisis-fuel-gas-price-newspaper-table-energy-crisis-fuel-gas-electricity-price-newspaper-table-image270150690" TargetMode="Externa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4AD3DAFF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AE6DAA0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 bright="30000" contrast="45000"/>
          </a:blip>
          <a:srcRect/>
          <a:stretch>
            <a:fillRect l="50000" t="-28000" r="-35000" b="-1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A6815A2-BE6E-C95F-CE44-FF975709C775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7082D84-2C49-30CC-4911-2F058C683FB8}"/>
              </a:ext>
            </a:extLst>
          </p:cNvPr>
          <p:cNvSpPr/>
          <p:nvPr/>
        </p:nvSpPr>
        <p:spPr>
          <a:xfrm>
            <a:off x="184944" y="831954"/>
            <a:ext cx="11150599" cy="2018250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0" b="1" dirty="0"/>
              <a:t>Non-linear </a:t>
            </a:r>
            <a:r>
              <a:rPr lang="de-DE" sz="3000" b="1" dirty="0" err="1"/>
              <a:t>effects</a:t>
            </a:r>
            <a:r>
              <a:rPr lang="de-DE" sz="3000" b="1" dirty="0"/>
              <a:t> of energy </a:t>
            </a:r>
            <a:r>
              <a:rPr lang="de-DE" sz="3000" b="1" dirty="0" err="1"/>
              <a:t>commodities</a:t>
            </a:r>
            <a:r>
              <a:rPr lang="de-DE" sz="3000" b="1" dirty="0"/>
              <a:t> on the</a:t>
            </a:r>
          </a:p>
          <a:p>
            <a:pPr algn="ctr"/>
            <a:r>
              <a:rPr lang="de-DE" sz="3000" b="1" dirty="0"/>
              <a:t>EUR/USD spot exchange rate:</a:t>
            </a:r>
          </a:p>
          <a:p>
            <a:pPr algn="ctr"/>
            <a:r>
              <a:rPr lang="de-DE" sz="3000" b="1" dirty="0"/>
              <a:t>An Oil and Gas </a:t>
            </a:r>
            <a:r>
              <a:rPr lang="de-DE" sz="3000" b="1" dirty="0" err="1"/>
              <a:t>Perspective</a:t>
            </a:r>
            <a:r>
              <a:rPr lang="de-DE" sz="3000" b="1" dirty="0"/>
              <a:t> on Parity Conditions.</a:t>
            </a:r>
          </a:p>
          <a:p>
            <a:pPr algn="ctr"/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Seminar in Applied Financial Economics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Professor Reitz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F1E9C5B-2C8E-C3A1-C2CE-19D641FBBF70}"/>
              </a:ext>
            </a:extLst>
          </p:cNvPr>
          <p:cNvSpPr/>
          <p:nvPr/>
        </p:nvSpPr>
        <p:spPr>
          <a:xfrm>
            <a:off x="2382043" y="2908450"/>
            <a:ext cx="6756400" cy="28617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Josef Fella and Robert Hennings</a:t>
            </a:r>
          </a:p>
          <a:p>
            <a:pPr algn="ctr"/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Christian-Albrechts-University of Kiel</a:t>
            </a:r>
          </a:p>
          <a:p>
            <a:pPr algn="ctr"/>
            <a:r>
              <a:rPr lang="de-DE" sz="16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josef.fella@stu.uni-kiel.de</a:t>
            </a:r>
            <a:r>
              <a:rPr lang="de-DE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6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robert.hennings@stu.uni-kiel.de</a:t>
            </a:r>
            <a:endParaRPr lang="de-DE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GitHub: https://</a:t>
            </a:r>
            <a:r>
              <a:rPr lang="de-DE" sz="16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de-DE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RobertHennings</a:t>
            </a:r>
            <a:endParaRPr lang="de-DE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Kiel - 14.11.2025</a:t>
            </a:r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0BDF84F9-AB7F-07DD-90C2-3A137E12B4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71" y="-67456"/>
            <a:ext cx="1771272" cy="88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6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CB391-C26A-9A35-1E21-6D93032D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Beginning</a:t>
            </a:r>
            <a:r>
              <a:rPr lang="de-DE" dirty="0"/>
              <a:t>: Newspaper </a:t>
            </a:r>
            <a:r>
              <a:rPr lang="de-DE" dirty="0" err="1"/>
              <a:t>article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energy + </a:t>
            </a:r>
            <a:r>
              <a:rPr lang="de-DE" dirty="0" err="1"/>
              <a:t>recent</a:t>
            </a:r>
            <a:r>
              <a:rPr lang="de-DE" dirty="0"/>
              <a:t> USD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B9F65C-CE3C-10B2-9C48-57D8786A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J.Fella &amp; R.Hennings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13E4F1-1CC0-A914-4FE5-CABACF87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E4F82-BF2E-49E6-B429-4AFCF17D441A}" type="slidenum">
              <a:rPr lang="de-DE" smtClean="0"/>
              <a:pPr/>
              <a:t>2</a:t>
            </a:fld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4185FFA-9833-3C69-B398-960DD1CF451C}"/>
              </a:ext>
            </a:extLst>
          </p:cNvPr>
          <p:cNvGrpSpPr/>
          <p:nvPr/>
        </p:nvGrpSpPr>
        <p:grpSpPr>
          <a:xfrm>
            <a:off x="755251" y="1106326"/>
            <a:ext cx="3630563" cy="2055842"/>
            <a:chOff x="1658672" y="2046515"/>
            <a:chExt cx="5351728" cy="2979163"/>
          </a:xfrm>
        </p:grpSpPr>
        <p:pic>
          <p:nvPicPr>
            <p:cNvPr id="1026" name="Picture 2" descr="Newspaper article on the price of gasoline and petrol going higher ...">
              <a:extLst>
                <a:ext uri="{FF2B5EF4-FFF2-40B4-BE49-F238E27FC236}">
                  <a16:creationId xmlns:a16="http://schemas.microsoft.com/office/drawing/2014/main" id="{CEE01A1C-C1E6-8111-BF86-EB56D09249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592"/>
            <a:stretch>
              <a:fillRect/>
            </a:stretch>
          </p:blipFill>
          <p:spPr bwMode="auto">
            <a:xfrm>
              <a:off x="1658672" y="2046515"/>
              <a:ext cx="3775120" cy="2423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DFEB2089-8346-085A-472E-BED05ACCB2EC}"/>
                </a:ext>
              </a:extLst>
            </p:cNvPr>
            <p:cNvSpPr txBox="1"/>
            <p:nvPr/>
          </p:nvSpPr>
          <p:spPr>
            <a:xfrm>
              <a:off x="1658672" y="4470401"/>
              <a:ext cx="5351728" cy="555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45">
                  <a:hlinkClick r:id="rId3"/>
                </a:rPr>
                <a:t>Newspaper article on the price of gasoline and petrol going higher Stock Photo – Alamy</a:t>
              </a:r>
              <a:r>
                <a:rPr lang="en-US" sz="945"/>
                <a:t>, 08.10.2025</a:t>
              </a:r>
              <a:endParaRPr lang="de-DE" sz="945"/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12AC907-D468-D791-9833-6B319EBDB6E2}"/>
              </a:ext>
            </a:extLst>
          </p:cNvPr>
          <p:cNvGrpSpPr/>
          <p:nvPr/>
        </p:nvGrpSpPr>
        <p:grpSpPr>
          <a:xfrm>
            <a:off x="2054915" y="3365625"/>
            <a:ext cx="5794442" cy="2565791"/>
            <a:chOff x="2174632" y="1376363"/>
            <a:chExt cx="6132286" cy="2715389"/>
          </a:xfrm>
        </p:grpSpPr>
        <p:pic>
          <p:nvPicPr>
            <p:cNvPr id="3078" name="Picture 6" descr="Energy Crisis and Fuel Gas Price Newspaper on Table Stock Illustration ...">
              <a:extLst>
                <a:ext uri="{FF2B5EF4-FFF2-40B4-BE49-F238E27FC236}">
                  <a16:creationId xmlns:a16="http://schemas.microsoft.com/office/drawing/2014/main" id="{E5019AC1-CB11-B157-FC73-D73CDF73E4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0" y="1376363"/>
              <a:ext cx="4361543" cy="2349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4E12ADE8-C27B-2931-2BA0-8D926A16A2D1}"/>
                </a:ext>
              </a:extLst>
            </p:cNvPr>
            <p:cNvSpPr txBox="1"/>
            <p:nvPr/>
          </p:nvSpPr>
          <p:spPr>
            <a:xfrm>
              <a:off x="2174632" y="3686229"/>
              <a:ext cx="6132286" cy="405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45">
                  <a:hlinkClick r:id="rId5"/>
                </a:rPr>
                <a:t>Energy Crisis and Fuel Gas Price Newspaper on Table Stock Illustration - Illustration of fossil, global: 270150690</a:t>
              </a:r>
              <a:r>
                <a:rPr lang="en-US" sz="945"/>
                <a:t>, 08.10.2025</a:t>
              </a:r>
              <a:endParaRPr lang="de-DE" sz="945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9F817FA9-F532-B5A6-9B9E-9763E13F3C0B}"/>
              </a:ext>
            </a:extLst>
          </p:cNvPr>
          <p:cNvGrpSpPr/>
          <p:nvPr/>
        </p:nvGrpSpPr>
        <p:grpSpPr>
          <a:xfrm>
            <a:off x="5252801" y="1184825"/>
            <a:ext cx="4402406" cy="2299226"/>
            <a:chOff x="972456" y="1913609"/>
            <a:chExt cx="6183084" cy="3023315"/>
          </a:xfrm>
        </p:grpSpPr>
        <p:pic>
          <p:nvPicPr>
            <p:cNvPr id="3080" name="Picture 8" descr="U.S. Dollar Hits 20-Year High: Here’s What That Means">
              <a:extLst>
                <a:ext uri="{FF2B5EF4-FFF2-40B4-BE49-F238E27FC236}">
                  <a16:creationId xmlns:a16="http://schemas.microsoft.com/office/drawing/2014/main" id="{CBB57997-C356-519B-7F9E-4912620614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456" y="1913609"/>
              <a:ext cx="4484227" cy="251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3758B12C-5472-C484-C45A-5F4EBC9184B8}"/>
                </a:ext>
              </a:extLst>
            </p:cNvPr>
            <p:cNvSpPr txBox="1"/>
            <p:nvPr/>
          </p:nvSpPr>
          <p:spPr>
            <a:xfrm>
              <a:off x="972456" y="4433067"/>
              <a:ext cx="6183084" cy="5038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45">
                  <a:hlinkClick r:id="rId7"/>
                </a:rPr>
                <a:t>https://www.forbes.com/sites/siladityaray/2022/08/29/us-dollar-hits-two-decade-high-heres-what-that-means/</a:t>
              </a:r>
              <a:r>
                <a:rPr lang="de-DE" sz="945"/>
                <a:t>, 08.10.2025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80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DE2D010-67B4-6208-D9E6-8924D567A347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23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 bright="30000" contrast="45000"/>
          </a:blip>
          <a:srcRect/>
          <a:stretch>
            <a:fillRect l="50000" t="-28000" r="-35000" b="-13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93D68-7A74-A7D1-B41E-C2468E95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CA5A519-9F13-4080-0A41-4FAC1A64482E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1CF58EC5-18C5-0AB0-F99C-F1220AAA9B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71" y="-67456"/>
            <a:ext cx="1771272" cy="88563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0ECA64D-A318-4178-0765-4F055AD47E91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600">
                <a:latin typeface="Arial" panose="020B0604020202020204" pitchFamily="34" charset="0"/>
                <a:cs typeface="Arial" panose="020B0604020202020204" pitchFamily="34" charset="0"/>
              </a:rPr>
              <a:t>Chapter 3)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207B5E7-3925-0207-0FF8-3F3386325116}"/>
              </a:ext>
            </a:extLst>
          </p:cNvPr>
          <p:cNvSpPr/>
          <p:nvPr/>
        </p:nvSpPr>
        <p:spPr>
          <a:xfrm>
            <a:off x="2982297" y="2996762"/>
            <a:ext cx="5570335" cy="486650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de-DE" sz="3200" b="1">
                <a:latin typeface="Arial" panose="020B0604020202020204" pitchFamily="34" charset="0"/>
                <a:cs typeface="Arial" panose="020B0604020202020204" pitchFamily="34" charset="0"/>
              </a:rPr>
              <a:t> Review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34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F995-3419-CCB0-8698-134E2197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3">
            <a:extLst>
              <a:ext uri="{FF2B5EF4-FFF2-40B4-BE49-F238E27FC236}">
                <a16:creationId xmlns:a16="http://schemas.microsoft.com/office/drawing/2014/main" id="{89979652-1CC6-B67E-EC59-613F4BB5EDA7}"/>
              </a:ext>
            </a:extLst>
          </p:cNvPr>
          <p:cNvSpPr/>
          <p:nvPr/>
        </p:nvSpPr>
        <p:spPr>
          <a:xfrm>
            <a:off x="540000" y="743529"/>
            <a:ext cx="10079640" cy="269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Energy Commodity Prices and exchange rates: Transmission channels</a:t>
            </a:r>
            <a:r>
              <a:rPr lang="de-DE" sz="1400" b="1" spc="-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de-DE" sz="14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D5AEEBE-1DF8-F771-131E-935D08025377}"/>
              </a:ext>
            </a:extLst>
          </p:cNvPr>
          <p:cNvSpPr/>
          <p:nvPr/>
        </p:nvSpPr>
        <p:spPr>
          <a:xfrm>
            <a:off x="1843534" y="4785555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and Risk Spillover Effects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5D90CBC-09A3-7803-2E9C-DFD72C73E45D}"/>
              </a:ext>
            </a:extLst>
          </p:cNvPr>
          <p:cNvSpPr/>
          <p:nvPr/>
        </p:nvSpPr>
        <p:spPr>
          <a:xfrm>
            <a:off x="8746536" y="4005332"/>
            <a:ext cx="149277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export and import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B7565-F55E-DF40-D57D-2723965218E6}"/>
              </a:ext>
            </a:extLst>
          </p:cNvPr>
          <p:cNvSpPr/>
          <p:nvPr/>
        </p:nvSpPr>
        <p:spPr>
          <a:xfrm>
            <a:off x="1793695" y="2322789"/>
            <a:ext cx="248909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Transmission Channels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8E3BA33-3B95-D2A5-9B43-0E705A4C8D38}"/>
              </a:ext>
            </a:extLst>
          </p:cNvPr>
          <p:cNvSpPr/>
          <p:nvPr/>
        </p:nvSpPr>
        <p:spPr>
          <a:xfrm>
            <a:off x="8173122" y="2312621"/>
            <a:ext cx="272915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Transmission Channels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AF11C45-59BA-4C14-05D4-87A6EA6C01B6}"/>
              </a:ext>
            </a:extLst>
          </p:cNvPr>
          <p:cNvSpPr/>
          <p:nvPr/>
        </p:nvSpPr>
        <p:spPr>
          <a:xfrm>
            <a:off x="4683001" y="2316511"/>
            <a:ext cx="291807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Macroeconomic Transmission Channels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2E6972-3072-29F8-F919-3BDC31C70019}"/>
              </a:ext>
            </a:extLst>
          </p:cNvPr>
          <p:cNvSpPr/>
          <p:nvPr/>
        </p:nvSpPr>
        <p:spPr>
          <a:xfrm>
            <a:off x="8930782" y="2860833"/>
            <a:ext cx="121382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 Policy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42BDEA-AD1B-8BB8-D81C-7BA0BB3BDF23}"/>
              </a:ext>
            </a:extLst>
          </p:cNvPr>
          <p:cNvSpPr/>
          <p:nvPr/>
        </p:nvSpPr>
        <p:spPr>
          <a:xfrm>
            <a:off x="5714201" y="3415883"/>
            <a:ext cx="763593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8FA6D9-90C2-BFAF-C91A-D786F0D36A8C}"/>
              </a:ext>
            </a:extLst>
          </p:cNvPr>
          <p:cNvSpPr/>
          <p:nvPr/>
        </p:nvSpPr>
        <p:spPr>
          <a:xfrm>
            <a:off x="5682450" y="4303966"/>
            <a:ext cx="2232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Denomination (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Numeraire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Effect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DF51B29-AF6D-7E13-44AF-D337D241DCB1}"/>
              </a:ext>
            </a:extLst>
          </p:cNvPr>
          <p:cNvSpPr/>
          <p:nvPr/>
        </p:nvSpPr>
        <p:spPr>
          <a:xfrm>
            <a:off x="2204319" y="2851296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Wealth Transfer Effect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E2D4A6C-6185-B444-11A0-F5D8C242F78C}"/>
              </a:ext>
            </a:extLst>
          </p:cNvPr>
          <p:cNvSpPr/>
          <p:nvPr/>
        </p:nvSpPr>
        <p:spPr>
          <a:xfrm>
            <a:off x="4755460" y="2850665"/>
            <a:ext cx="27731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(Risk Parity) Portfolio Rebalancing Effect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7984F82-DCB0-CD0F-FEC0-450BD3B9EBBC}"/>
              </a:ext>
            </a:extLst>
          </p:cNvPr>
          <p:cNvCxnSpPr/>
          <p:nvPr/>
        </p:nvCxnSpPr>
        <p:spPr>
          <a:xfrm>
            <a:off x="778932" y="2260600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547BB34D-F2E7-62B8-D919-64BBAC3723E3}"/>
              </a:ext>
            </a:extLst>
          </p:cNvPr>
          <p:cNvSpPr/>
          <p:nvPr/>
        </p:nvSpPr>
        <p:spPr>
          <a:xfrm>
            <a:off x="411140" y="1782177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3E63AF5-9F5E-95D5-6180-0988AF58E0D8}"/>
              </a:ext>
            </a:extLst>
          </p:cNvPr>
          <p:cNvSpPr/>
          <p:nvPr/>
        </p:nvSpPr>
        <p:spPr>
          <a:xfrm>
            <a:off x="2296467" y="1860414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Run Dynamics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1A67F1B-E3AD-966A-74FA-C42FC64ABA33}"/>
              </a:ext>
            </a:extLst>
          </p:cNvPr>
          <p:cNvSpPr/>
          <p:nvPr/>
        </p:nvSpPr>
        <p:spPr>
          <a:xfrm>
            <a:off x="8712197" y="1921320"/>
            <a:ext cx="165100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Relationship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B5C44F8-FDB0-B5C3-7AB6-DAAE91C82D6D}"/>
              </a:ext>
            </a:extLst>
          </p:cNvPr>
          <p:cNvSpPr/>
          <p:nvPr/>
        </p:nvSpPr>
        <p:spPr>
          <a:xfrm>
            <a:off x="5376297" y="1861070"/>
            <a:ext cx="148726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Mid-term fluctuations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86F986F-1ECF-7BA6-5F28-CF166D13E579}"/>
              </a:ext>
            </a:extLst>
          </p:cNvPr>
          <p:cNvCxnSpPr>
            <a:cxnSpLocks/>
          </p:cNvCxnSpPr>
          <p:nvPr/>
        </p:nvCxnSpPr>
        <p:spPr>
          <a:xfrm>
            <a:off x="778932" y="2260600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B47AC8FF-7365-56DF-F93C-A4ED76F9C2F5}"/>
              </a:ext>
            </a:extLst>
          </p:cNvPr>
          <p:cNvSpPr/>
          <p:nvPr/>
        </p:nvSpPr>
        <p:spPr>
          <a:xfrm>
            <a:off x="0" y="2056589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4583658-2C22-32C2-5D95-15BE6A433D72}"/>
              </a:ext>
            </a:extLst>
          </p:cNvPr>
          <p:cNvSpPr/>
          <p:nvPr/>
        </p:nvSpPr>
        <p:spPr>
          <a:xfrm rot="16200000">
            <a:off x="45155" y="2812203"/>
            <a:ext cx="65571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E3E1C60-1677-B084-B1C5-91C284BE2062}"/>
              </a:ext>
            </a:extLst>
          </p:cNvPr>
          <p:cNvSpPr/>
          <p:nvPr/>
        </p:nvSpPr>
        <p:spPr>
          <a:xfrm rot="16200000">
            <a:off x="-84698" y="4912223"/>
            <a:ext cx="91542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556F8FC-7512-A6C0-D0F2-1756DF3991F1}"/>
              </a:ext>
            </a:extLst>
          </p:cNvPr>
          <p:cNvSpPr/>
          <p:nvPr/>
        </p:nvSpPr>
        <p:spPr>
          <a:xfrm>
            <a:off x="5041037" y="4796163"/>
            <a:ext cx="237330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(US) Terms of Trade Effect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E1ABFDC-72F9-38AC-5192-9E813F24C3A5}"/>
              </a:ext>
            </a:extLst>
          </p:cNvPr>
          <p:cNvSpPr/>
          <p:nvPr/>
        </p:nvSpPr>
        <p:spPr>
          <a:xfrm>
            <a:off x="411140" y="1482055"/>
            <a:ext cx="1110289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Datafrequency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92C12B1-A82B-DA2B-1B42-93D8F5E91563}"/>
              </a:ext>
            </a:extLst>
          </p:cNvPr>
          <p:cNvCxnSpPr/>
          <p:nvPr/>
        </p:nvCxnSpPr>
        <p:spPr>
          <a:xfrm>
            <a:off x="778932" y="1765243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E1C0A855-8002-6E58-4CE7-1A3A4E3BAFC1}"/>
              </a:ext>
            </a:extLst>
          </p:cNvPr>
          <p:cNvSpPr/>
          <p:nvPr/>
        </p:nvSpPr>
        <p:spPr>
          <a:xfrm>
            <a:off x="2275981" y="1464107"/>
            <a:ext cx="153602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Daily, Weely, Monthly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EC91CC7-79C2-687B-D6FE-9B94C5931958}"/>
              </a:ext>
            </a:extLst>
          </p:cNvPr>
          <p:cNvSpPr/>
          <p:nvPr/>
        </p:nvSpPr>
        <p:spPr>
          <a:xfrm>
            <a:off x="5435044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Monthly, Quarterly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3AAD51E-89CC-0CDE-667F-1D52B0CC7937}"/>
              </a:ext>
            </a:extLst>
          </p:cNvPr>
          <p:cNvSpPr/>
          <p:nvPr/>
        </p:nvSpPr>
        <p:spPr>
          <a:xfrm>
            <a:off x="8828065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Annually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A21882D-84E7-42C9-52E2-F7F8ECCE1776}"/>
              </a:ext>
            </a:extLst>
          </p:cNvPr>
          <p:cNvSpPr/>
          <p:nvPr/>
        </p:nvSpPr>
        <p:spPr>
          <a:xfrm>
            <a:off x="5372776" y="4005332"/>
            <a:ext cx="143510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 Effects</a:t>
            </a:r>
          </a:p>
        </p:txBody>
      </p:sp>
      <p:cxnSp>
        <p:nvCxnSpPr>
          <p:cNvPr id="37" name="Gewinkelte Verbindung 36">
            <a:extLst>
              <a:ext uri="{FF2B5EF4-FFF2-40B4-BE49-F238E27FC236}">
                <a16:creationId xmlns:a16="http://schemas.microsoft.com/office/drawing/2014/main" id="{772846A8-47BF-C5BD-23BD-90268CF4F83D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5518186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41">
            <a:extLst>
              <a:ext uri="{FF2B5EF4-FFF2-40B4-BE49-F238E27FC236}">
                <a16:creationId xmlns:a16="http://schemas.microsoft.com/office/drawing/2014/main" id="{1E45963D-D85B-6D20-9F28-0C285372AB9E}"/>
              </a:ext>
            </a:extLst>
          </p:cNvPr>
          <p:cNvCxnSpPr/>
          <p:nvPr/>
        </p:nvCxnSpPr>
        <p:spPr>
          <a:xfrm>
            <a:off x="4500492" y="153493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ADE954ED-9BD3-5B5F-E4F3-05EEC35F98B1}"/>
              </a:ext>
            </a:extLst>
          </p:cNvPr>
          <p:cNvCxnSpPr/>
          <p:nvPr/>
        </p:nvCxnSpPr>
        <p:spPr>
          <a:xfrm>
            <a:off x="7853290" y="152911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09F5D47B-6B09-7CFC-5444-D852D1F50422}"/>
              </a:ext>
            </a:extLst>
          </p:cNvPr>
          <p:cNvCxnSpPr>
            <a:cxnSpLocks/>
          </p:cNvCxnSpPr>
          <p:nvPr/>
        </p:nvCxnSpPr>
        <p:spPr>
          <a:xfrm>
            <a:off x="265012" y="3909431"/>
            <a:ext cx="1069085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2B0B8714-4735-3D93-DEE2-39EEDF4D561B}"/>
              </a:ext>
            </a:extLst>
          </p:cNvPr>
          <p:cNvSpPr/>
          <p:nvPr/>
        </p:nvSpPr>
        <p:spPr>
          <a:xfrm>
            <a:off x="9046221" y="4303966"/>
            <a:ext cx="16057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 Currencies</a:t>
            </a:r>
          </a:p>
        </p:txBody>
      </p:sp>
      <p:cxnSp>
        <p:nvCxnSpPr>
          <p:cNvPr id="52" name="Gewinkelte Verbindung 51">
            <a:extLst>
              <a:ext uri="{FF2B5EF4-FFF2-40B4-BE49-F238E27FC236}">
                <a16:creationId xmlns:a16="http://schemas.microsoft.com/office/drawing/2014/main" id="{F71AE3F4-D833-EE71-8CFE-4CED6B06EF3D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8881957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0499263F-B069-F131-A5DE-5772AE971F66}"/>
              </a:ext>
            </a:extLst>
          </p:cNvPr>
          <p:cNvSpPr/>
          <p:nvPr/>
        </p:nvSpPr>
        <p:spPr>
          <a:xfrm>
            <a:off x="5690581" y="4550064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 Pricing Effect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F559678-A189-0726-673D-DE1DA2DC70F1}"/>
              </a:ext>
            </a:extLst>
          </p:cNvPr>
          <p:cNvSpPr/>
          <p:nvPr/>
        </p:nvSpPr>
        <p:spPr>
          <a:xfrm>
            <a:off x="2204318" y="3276798"/>
            <a:ext cx="1755627" cy="24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Value Approach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8541E07-E6F4-ED82-136D-E8DFBDF1A366}"/>
              </a:ext>
            </a:extLst>
          </p:cNvPr>
          <p:cNvSpPr/>
          <p:nvPr/>
        </p:nvSpPr>
        <p:spPr>
          <a:xfrm>
            <a:off x="3317272" y="5961248"/>
            <a:ext cx="2373309" cy="347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price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shock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affecting exchange rate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channels (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oil shocks Markov Switching)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1B0DD7A-7D17-5AF6-8729-84131D833385}"/>
              </a:ext>
            </a:extLst>
          </p:cNvPr>
          <p:cNvCxnSpPr>
            <a:cxnSpLocks/>
            <a:stCxn id="12" idx="0"/>
            <a:endCxn id="14" idx="3"/>
          </p:cNvCxnSpPr>
          <p:nvPr/>
        </p:nvCxnSpPr>
        <p:spPr>
          <a:xfrm flipH="1" flipV="1">
            <a:off x="3872163" y="2959296"/>
            <a:ext cx="631764" cy="3001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58D72F1-5BD3-BE92-5474-39202431B984}"/>
              </a:ext>
            </a:extLst>
          </p:cNvPr>
          <p:cNvCxnSpPr>
            <a:cxnSpLocks/>
            <a:stCxn id="12" idx="0"/>
            <a:endCxn id="29" idx="1"/>
          </p:cNvCxnSpPr>
          <p:nvPr/>
        </p:nvCxnSpPr>
        <p:spPr>
          <a:xfrm flipV="1">
            <a:off x="4503927" y="4904163"/>
            <a:ext cx="537110" cy="1057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D6455752-85AB-249B-351F-AA1A075CC80E}"/>
              </a:ext>
            </a:extLst>
          </p:cNvPr>
          <p:cNvSpPr/>
          <p:nvPr/>
        </p:nvSpPr>
        <p:spPr>
          <a:xfrm>
            <a:off x="1843534" y="5140383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Financialization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Effects</a:t>
            </a:r>
          </a:p>
        </p:txBody>
      </p:sp>
    </p:spTree>
    <p:extLst>
      <p:ext uri="{BB962C8B-B14F-4D97-AF65-F5344CB8AC3E}">
        <p14:creationId xmlns:p14="http://schemas.microsoft.com/office/powerpoint/2010/main" val="374954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 bright="30000" contrast="45000"/>
          </a:blip>
          <a:srcRect/>
          <a:stretch>
            <a:fillRect l="50000" t="-28000" r="-35000" b="-13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86A40-CC4A-F893-4962-D869B858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73A9A3D-A2C8-0573-AD47-55CA13D2DF59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3D43F778-3670-5763-3D15-15520B8093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71" y="-67456"/>
            <a:ext cx="1771272" cy="88563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5EC4B36-7CB4-55D3-844F-E9E04B22A35B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600">
                <a:latin typeface="Arial" panose="020B0604020202020204" pitchFamily="34" charset="0"/>
                <a:cs typeface="Arial" panose="020B0604020202020204" pitchFamily="34" charset="0"/>
              </a:rPr>
              <a:t>Chapter 4)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B7DE48D-0905-4FF6-EE4B-25F2631EDCAC}"/>
              </a:ext>
            </a:extLst>
          </p:cNvPr>
          <p:cNvSpPr/>
          <p:nvPr/>
        </p:nvSpPr>
        <p:spPr>
          <a:xfrm>
            <a:off x="2821153" y="2996762"/>
            <a:ext cx="5892623" cy="486650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Theoretical Framework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559F-668E-4622-25B4-5E8DF490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E7C7C535-5ABA-C8D3-4DBE-69841A10BAC8}"/>
              </a:ext>
            </a:extLst>
          </p:cNvPr>
          <p:cNvCxnSpPr>
            <a:cxnSpLocks/>
          </p:cNvCxnSpPr>
          <p:nvPr/>
        </p:nvCxnSpPr>
        <p:spPr>
          <a:xfrm>
            <a:off x="222029" y="4688326"/>
            <a:ext cx="9756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73EBEBD3-61E4-A52F-5E12-0CD69AEB0132}"/>
              </a:ext>
            </a:extLst>
          </p:cNvPr>
          <p:cNvSpPr/>
          <p:nvPr/>
        </p:nvSpPr>
        <p:spPr>
          <a:xfrm>
            <a:off x="4010060" y="4778337"/>
            <a:ext cx="2102424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Energy commodity prices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89FE3B-8FB7-30AB-738E-22FF5C48A507}"/>
              </a:ext>
            </a:extLst>
          </p:cNvPr>
          <p:cNvSpPr/>
          <p:nvPr/>
        </p:nvSpPr>
        <p:spPr>
          <a:xfrm>
            <a:off x="7761879" y="3732141"/>
            <a:ext cx="1922827" cy="391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exchange rates in 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de-DE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CPI/PPI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1F86257-349A-21C4-CD28-34331020D005}"/>
              </a:ext>
            </a:extLst>
          </p:cNvPr>
          <p:cNvCxnSpPr>
            <a:cxnSpLocks/>
            <a:stCxn id="75" idx="3"/>
            <a:endCxn id="8" idx="1"/>
          </p:cNvCxnSpPr>
          <p:nvPr/>
        </p:nvCxnSpPr>
        <p:spPr>
          <a:xfrm flipV="1">
            <a:off x="7502548" y="3927972"/>
            <a:ext cx="259331" cy="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85B157F5-10D5-DAAD-F75D-4C2F2CDC03D3}"/>
              </a:ext>
            </a:extLst>
          </p:cNvPr>
          <p:cNvSpPr/>
          <p:nvPr/>
        </p:nvSpPr>
        <p:spPr>
          <a:xfrm>
            <a:off x="7756589" y="4215974"/>
            <a:ext cx="1922827" cy="7835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exchange rates in 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de-DE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trade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Ratio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tradable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non-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tradable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CD32FAD-24E8-23D4-09CE-3013A5264E7E}"/>
              </a:ext>
            </a:extLst>
          </p:cNvPr>
          <p:cNvSpPr/>
          <p:nvPr/>
        </p:nvSpPr>
        <p:spPr>
          <a:xfrm>
            <a:off x="683171" y="5432471"/>
            <a:ext cx="2332121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Futures Markets (prices)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476DFE7-E92B-C4CD-4498-D54F8FEF5A84}"/>
              </a:ext>
            </a:extLst>
          </p:cNvPr>
          <p:cNvCxnSpPr>
            <a:cxnSpLocks/>
            <a:stCxn id="30" idx="2"/>
            <a:endCxn id="13" idx="0"/>
          </p:cNvCxnSpPr>
          <p:nvPr/>
        </p:nvCxnSpPr>
        <p:spPr>
          <a:xfrm flipH="1">
            <a:off x="1849232" y="5226083"/>
            <a:ext cx="1" cy="20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7A3A3E26-C1D3-A476-7FC0-CB985ABFB14C}"/>
                  </a:ext>
                </a:extLst>
              </p:cNvPr>
              <p:cNvSpPr/>
              <p:nvPr/>
            </p:nvSpPr>
            <p:spPr>
              <a:xfrm>
                <a:off x="681477" y="3209671"/>
                <a:ext cx="2330959" cy="8703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Nominal Exchange Rates </a:t>
                </a:r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(NER)</a:t>
                </a:r>
              </a:p>
              <a:p>
                <a:pPr algn="ctr"/>
                <a:endPara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de-DE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𝑃𝑟𝑖𝑐𝑒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𝑃𝑟𝑖𝑐𝑒</m:t>
                              </m:r>
                            </m:e>
                            <m:sub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7A3A3E26-C1D3-A476-7FC0-CB985ABFB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77" y="3209671"/>
                <a:ext cx="2330959" cy="8703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hteck 29">
            <a:extLst>
              <a:ext uri="{FF2B5EF4-FFF2-40B4-BE49-F238E27FC236}">
                <a16:creationId xmlns:a16="http://schemas.microsoft.com/office/drawing/2014/main" id="{37A69D8F-5662-E8F0-40A0-6AF2855D9D8D}"/>
              </a:ext>
            </a:extLst>
          </p:cNvPr>
          <p:cNvSpPr/>
          <p:nvPr/>
        </p:nvSpPr>
        <p:spPr>
          <a:xfrm>
            <a:off x="683172" y="4775560"/>
            <a:ext cx="2332121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Nominal Energy commodity prices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0CD1860-0A48-293B-D7AB-C8BFB826EE74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012436" y="3644844"/>
            <a:ext cx="504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BA84D3F-E99E-C91A-2ED1-359A23F5FD92}"/>
              </a:ext>
            </a:extLst>
          </p:cNvPr>
          <p:cNvCxnSpPr>
            <a:cxnSpLocks/>
          </p:cNvCxnSpPr>
          <p:nvPr/>
        </p:nvCxnSpPr>
        <p:spPr>
          <a:xfrm flipV="1">
            <a:off x="3015293" y="5022042"/>
            <a:ext cx="5326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50EB06B2-8C6F-BA12-1431-DBFA136F609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766845" y="3648479"/>
            <a:ext cx="243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2C41811-6436-6937-DB44-58904A364F5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763901" y="5003599"/>
            <a:ext cx="246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78EDB320-7B77-2427-52B9-89AC9203D682}"/>
                  </a:ext>
                </a:extLst>
              </p:cNvPr>
              <p:cNvSpPr/>
              <p:nvPr/>
            </p:nvSpPr>
            <p:spPr>
              <a:xfrm>
                <a:off x="4259717" y="1661181"/>
                <a:ext cx="2695846" cy="9224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 </a:t>
                </a:r>
                <a:r>
                  <a:rPr lang="de-DE" sz="11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Effective</a:t>
                </a:r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Exchange Rates </a:t>
                </a:r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(REER)</a:t>
                </a:r>
              </a:p>
              <a:p>
                <a:pPr algn="ctr"/>
                <a:endParaRPr lang="de-DE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𝑹𝑬𝑬𝑹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𝑡𝑟𝑎𝑑𝑒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𝑤𝑒𝑖𝑔h𝑡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𝑟𝑒𝑎𝑙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𝑒𝑥𝑐h𝑎𝑛𝑔𝑒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𝑟𝑎𝑡𝑒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78EDB320-7B77-2427-52B9-89AC9203D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17" y="1661181"/>
                <a:ext cx="2695846" cy="922464"/>
              </a:xfrm>
              <a:prstGeom prst="rect">
                <a:avLst/>
              </a:prstGeom>
              <a:blipFill>
                <a:blip r:embed="rId4"/>
                <a:stretch>
                  <a:fillRect l="-9813" b="-56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hteck 48">
            <a:extLst>
              <a:ext uri="{FF2B5EF4-FFF2-40B4-BE49-F238E27FC236}">
                <a16:creationId xmlns:a16="http://schemas.microsoft.com/office/drawing/2014/main" id="{25A08158-FA53-A0B1-F15D-78175F0085A4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Definitions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prices and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measured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BBC49-B846-94F8-A7D3-B443853B5DEF}"/>
              </a:ext>
            </a:extLst>
          </p:cNvPr>
          <p:cNvSpPr/>
          <p:nvPr/>
        </p:nvSpPr>
        <p:spPr>
          <a:xfrm rot="16200000">
            <a:off x="-512864" y="1950096"/>
            <a:ext cx="1536022" cy="391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Multilateral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basket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currencies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5EB0C0D-1507-F02A-6129-37D3964916FC}"/>
              </a:ext>
            </a:extLst>
          </p:cNvPr>
          <p:cNvSpPr/>
          <p:nvPr/>
        </p:nvSpPr>
        <p:spPr>
          <a:xfrm rot="16200000">
            <a:off x="-510422" y="3751195"/>
            <a:ext cx="153602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Bilaterail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currencies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C703C1D-45F9-A7F9-9246-0E6AFB22B640}"/>
              </a:ext>
            </a:extLst>
          </p:cNvPr>
          <p:cNvCxnSpPr>
            <a:cxnSpLocks/>
          </p:cNvCxnSpPr>
          <p:nvPr/>
        </p:nvCxnSpPr>
        <p:spPr>
          <a:xfrm flipV="1">
            <a:off x="3768748" y="2135745"/>
            <a:ext cx="468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C6A7EBC0-2B86-32D4-2AD3-80F1D3A6F53D}"/>
              </a:ext>
            </a:extLst>
          </p:cNvPr>
          <p:cNvCxnSpPr>
            <a:cxnSpLocks/>
          </p:cNvCxnSpPr>
          <p:nvPr/>
        </p:nvCxnSpPr>
        <p:spPr>
          <a:xfrm>
            <a:off x="118533" y="3014115"/>
            <a:ext cx="9828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2C7F210E-44C2-3C66-C47F-64D444F54765}"/>
              </a:ext>
            </a:extLst>
          </p:cNvPr>
          <p:cNvSpPr/>
          <p:nvPr/>
        </p:nvSpPr>
        <p:spPr>
          <a:xfrm rot="16200000">
            <a:off x="1726727" y="3188909"/>
            <a:ext cx="385834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Inflation/Relative Consumer Prices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DE87C37-1AF2-CA03-4404-B86BDC1AA136}"/>
              </a:ext>
            </a:extLst>
          </p:cNvPr>
          <p:cNvSpPr/>
          <p:nvPr/>
        </p:nvSpPr>
        <p:spPr>
          <a:xfrm>
            <a:off x="10329215" y="2376852"/>
            <a:ext cx="678753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 Index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28B6CF6-69BF-785B-75DC-3901836C8F31}"/>
              </a:ext>
            </a:extLst>
          </p:cNvPr>
          <p:cNvSpPr/>
          <p:nvPr/>
        </p:nvSpPr>
        <p:spPr>
          <a:xfrm>
            <a:off x="10329215" y="3162640"/>
            <a:ext cx="678753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 Index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FC6C353-D5DB-31EA-1ABD-11B376E66F5C}"/>
              </a:ext>
            </a:extLst>
          </p:cNvPr>
          <p:cNvCxnSpPr>
            <a:cxnSpLocks/>
            <a:stCxn id="57" idx="1"/>
            <a:endCxn id="39" idx="1"/>
          </p:cNvCxnSpPr>
          <p:nvPr/>
        </p:nvCxnSpPr>
        <p:spPr>
          <a:xfrm flipV="1">
            <a:off x="10229680" y="2602114"/>
            <a:ext cx="99535" cy="42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DE0F81B-9E95-B0F4-984D-4CB78B66B8A6}"/>
              </a:ext>
            </a:extLst>
          </p:cNvPr>
          <p:cNvCxnSpPr>
            <a:cxnSpLocks/>
            <a:stCxn id="57" idx="1"/>
            <a:endCxn id="40" idx="1"/>
          </p:cNvCxnSpPr>
          <p:nvPr/>
        </p:nvCxnSpPr>
        <p:spPr>
          <a:xfrm>
            <a:off x="10229680" y="3028026"/>
            <a:ext cx="99535" cy="35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Geschweifte Klammer links 56">
            <a:extLst>
              <a:ext uri="{FF2B5EF4-FFF2-40B4-BE49-F238E27FC236}">
                <a16:creationId xmlns:a16="http://schemas.microsoft.com/office/drawing/2014/main" id="{58DDF9A1-2BD4-6DAF-F9C3-655C565256B0}"/>
              </a:ext>
            </a:extLst>
          </p:cNvPr>
          <p:cNvSpPr/>
          <p:nvPr/>
        </p:nvSpPr>
        <p:spPr>
          <a:xfrm rot="10800000">
            <a:off x="9810515" y="1367734"/>
            <a:ext cx="419165" cy="332058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93F2CF6-BF9C-ABAA-8E14-DE62E3722178}"/>
              </a:ext>
            </a:extLst>
          </p:cNvPr>
          <p:cNvSpPr/>
          <p:nvPr/>
        </p:nvSpPr>
        <p:spPr>
          <a:xfrm>
            <a:off x="683171" y="4214764"/>
            <a:ext cx="2332121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Futures Markets (prices)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119E95B4-1BF6-C452-1E1F-2BE496B4BD32}"/>
              </a:ext>
            </a:extLst>
          </p:cNvPr>
          <p:cNvCxnSpPr>
            <a:cxnSpLocks/>
            <a:stCxn id="29" idx="2"/>
            <a:endCxn id="70" idx="0"/>
          </p:cNvCxnSpPr>
          <p:nvPr/>
        </p:nvCxnSpPr>
        <p:spPr>
          <a:xfrm>
            <a:off x="1846957" y="4080016"/>
            <a:ext cx="2275" cy="13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hteck 73">
            <a:extLst>
              <a:ext uri="{FF2B5EF4-FFF2-40B4-BE49-F238E27FC236}">
                <a16:creationId xmlns:a16="http://schemas.microsoft.com/office/drawing/2014/main" id="{E4478911-13F8-4643-BE07-6BE510CE413D}"/>
              </a:ext>
            </a:extLst>
          </p:cNvPr>
          <p:cNvSpPr/>
          <p:nvPr/>
        </p:nvSpPr>
        <p:spPr>
          <a:xfrm>
            <a:off x="6032683" y="3092033"/>
            <a:ext cx="1469865" cy="5540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variables:</a:t>
            </a: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GDP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deflator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776E1D30-F052-1481-DEF9-9ADB84C06DE1}"/>
              </a:ext>
            </a:extLst>
          </p:cNvPr>
          <p:cNvSpPr/>
          <p:nvPr/>
        </p:nvSpPr>
        <p:spPr>
          <a:xfrm>
            <a:off x="6032685" y="3734298"/>
            <a:ext cx="1469863" cy="3916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 prices</a:t>
            </a: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Producer prices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63777F85-A0C5-0394-7180-6549405BE783}"/>
              </a:ext>
            </a:extLst>
          </p:cNvPr>
          <p:cNvSpPr/>
          <p:nvPr/>
        </p:nvSpPr>
        <p:spPr>
          <a:xfrm>
            <a:off x="6028161" y="4224600"/>
            <a:ext cx="1477333" cy="399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prices</a:t>
            </a:r>
          </a:p>
        </p:txBody>
      </p:sp>
      <p:cxnSp>
        <p:nvCxnSpPr>
          <p:cNvPr id="90" name="Gewinkelte Verbindung 89">
            <a:extLst>
              <a:ext uri="{FF2B5EF4-FFF2-40B4-BE49-F238E27FC236}">
                <a16:creationId xmlns:a16="http://schemas.microsoft.com/office/drawing/2014/main" id="{CA409A5D-55EB-43B5-FB41-887ECED819F0}"/>
              </a:ext>
            </a:extLst>
          </p:cNvPr>
          <p:cNvCxnSpPr>
            <a:cxnSpLocks/>
            <a:stCxn id="5" idx="0"/>
            <a:endCxn id="74" idx="1"/>
          </p:cNvCxnSpPr>
          <p:nvPr/>
        </p:nvCxnSpPr>
        <p:spPr>
          <a:xfrm rot="16200000" flipH="1">
            <a:off x="5352811" y="2689185"/>
            <a:ext cx="218766" cy="1140977"/>
          </a:xfrm>
          <a:prstGeom prst="bentConnector4">
            <a:avLst>
              <a:gd name="adj1" fmla="val -37796"/>
              <a:gd name="adj2" fmla="val 8863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7892A80-F4C2-70FF-9EA6-C52FCC6D7005}"/>
              </a:ext>
            </a:extLst>
          </p:cNvPr>
          <p:cNvSpPr/>
          <p:nvPr/>
        </p:nvSpPr>
        <p:spPr>
          <a:xfrm>
            <a:off x="6035629" y="3067690"/>
            <a:ext cx="1469865" cy="15324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155609F-7F3F-46F3-3787-00D0B2997A8F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4891705" y="2602114"/>
            <a:ext cx="1" cy="548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chteck 99">
            <a:extLst>
              <a:ext uri="{FF2B5EF4-FFF2-40B4-BE49-F238E27FC236}">
                <a16:creationId xmlns:a16="http://schemas.microsoft.com/office/drawing/2014/main" id="{FAFEEB4E-36E3-F716-444A-A9114AF806CA}"/>
              </a:ext>
            </a:extLst>
          </p:cNvPr>
          <p:cNvSpPr/>
          <p:nvPr/>
        </p:nvSpPr>
        <p:spPr>
          <a:xfrm>
            <a:off x="10119787" y="1693556"/>
            <a:ext cx="1107516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 economies,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1994</a:t>
            </a:r>
          </a:p>
        </p:txBody>
      </p: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9B3B376E-7655-571E-364F-9741AB117740}"/>
              </a:ext>
            </a:extLst>
          </p:cNvPr>
          <p:cNvCxnSpPr>
            <a:cxnSpLocks/>
            <a:stCxn id="39" idx="0"/>
            <a:endCxn id="100" idx="2"/>
          </p:cNvCxnSpPr>
          <p:nvPr/>
        </p:nvCxnSpPr>
        <p:spPr>
          <a:xfrm flipV="1">
            <a:off x="10668592" y="2144079"/>
            <a:ext cx="4953" cy="232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hteck 103">
            <a:extLst>
              <a:ext uri="{FF2B5EF4-FFF2-40B4-BE49-F238E27FC236}">
                <a16:creationId xmlns:a16="http://schemas.microsoft.com/office/drawing/2014/main" id="{62B8B1EA-A050-56BE-2C9B-1D1638B45A49}"/>
              </a:ext>
            </a:extLst>
          </p:cNvPr>
          <p:cNvSpPr/>
          <p:nvPr/>
        </p:nvSpPr>
        <p:spPr>
          <a:xfrm>
            <a:off x="10222285" y="3870095"/>
            <a:ext cx="892068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26/27 economies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DE121733-0DA9-6D69-117B-692C696959AB}"/>
              </a:ext>
            </a:extLst>
          </p:cNvPr>
          <p:cNvCxnSpPr>
            <a:cxnSpLocks/>
            <a:stCxn id="40" idx="2"/>
            <a:endCxn id="104" idx="0"/>
          </p:cNvCxnSpPr>
          <p:nvPr/>
        </p:nvCxnSpPr>
        <p:spPr>
          <a:xfrm flipH="1">
            <a:off x="10668319" y="3613163"/>
            <a:ext cx="273" cy="25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330159BD-A4C7-1118-673E-E6F98994C65C}"/>
                  </a:ext>
                </a:extLst>
              </p:cNvPr>
              <p:cNvSpPr/>
              <p:nvPr/>
            </p:nvSpPr>
            <p:spPr>
              <a:xfrm>
                <a:off x="7149681" y="1822174"/>
                <a:ext cx="2578985" cy="5910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𝒕𝒓𝒂𝒅𝒆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𝒘𝒆𝒊𝒈𝒉𝒕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𝒋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de-DE" sz="800" i="1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:endParaRPr lang="de-DE" sz="800" i="1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𝑚𝑎𝑛𝑢𝑓𝑎𝑐𝑡𝑢𝑟𝑖𝑛𝑔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𝑡𝑟𝑎𝑑𝑒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𝑓𝑙𝑜𝑤𝑠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𝑜𝑟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𝑡𝑖𝑚𝑒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𝑣𝑎𝑟𝑦𝑖𝑛𝑔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𝑤𝑒𝑖𝑔h𝑡𝑖𝑛𝑔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𝑝𝑎𝑡𝑡𝑒𝑟𝑛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𝑡h𝑟𝑒𝑒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𝑦𝑒𝑎𝑟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𝑏𝑎𝑠𝑖𝑠</m:t>
                      </m:r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de-DE" sz="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330159BD-A4C7-1118-673E-E6F98994C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681" y="1822174"/>
                <a:ext cx="2578985" cy="591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05DC4F2-D7F3-2FFF-B75D-A55322E5FD0B}"/>
                  </a:ext>
                </a:extLst>
              </p:cNvPr>
              <p:cNvSpPr/>
              <p:nvPr/>
            </p:nvSpPr>
            <p:spPr>
              <a:xfrm>
                <a:off x="507850" y="1675021"/>
                <a:ext cx="2940515" cy="885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Nominal </a:t>
                </a:r>
                <a:r>
                  <a:rPr lang="de-DE" sz="11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Effective</a:t>
                </a:r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Exchange Rates </a:t>
                </a:r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(NEER)</a:t>
                </a:r>
              </a:p>
              <a:p>
                <a:pPr algn="ctr"/>
                <a:endParaRPr lang="de-DE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𝑵𝑬𝑬𝑹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de-DE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𝑡𝑟𝑎𝑑𝑒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𝑤𝑒𝑖𝑔h𝑡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𝑏𝑖𝑙𝑎𝑡𝑒𝑟𝑎𝑙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𝑒𝑥𝑐h𝑎𝑛𝑔𝑒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𝑟𝑎𝑡𝑒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05DC4F2-D7F3-2FFF-B75D-A55322E5F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50" y="1675021"/>
                <a:ext cx="2940515" cy="885328"/>
              </a:xfrm>
              <a:prstGeom prst="rect">
                <a:avLst/>
              </a:prstGeom>
              <a:blipFill>
                <a:blip r:embed="rId6"/>
                <a:stretch>
                  <a:fillRect l="-7692" b="-5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0131962E-FE57-E17D-3EAA-2DC10F23C951}"/>
                  </a:ext>
                </a:extLst>
              </p:cNvPr>
              <p:cNvSpPr/>
              <p:nvPr/>
            </p:nvSpPr>
            <p:spPr>
              <a:xfrm>
                <a:off x="4010060" y="3150290"/>
                <a:ext cx="1763292" cy="9963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 Exchange Rates</a:t>
                </a:r>
              </a:p>
              <a:p>
                <a:pPr algn="ctr"/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(RER)</a:t>
                </a:r>
              </a:p>
              <a:p>
                <a:pPr algn="ctr"/>
                <a:endPara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𝑁𝐸𝑅</m:t>
                        </m:r>
                      </m:e>
                      <m:sub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𝑐𝑜𝑢𝑛𝑡𝑟𝑦</m:t>
                        </m:r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de-DE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e-DE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 </m:t>
                    </m:r>
                    <m:f>
                      <m:fPr>
                        <m:ctrlPr>
                          <a:rPr lang="de-DE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𝑃𝑟𝑖𝑐𝑒</m:t>
                            </m:r>
                          </m:e>
                          <m:sub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𝑐𝑜𝑢𝑛𝑡𝑟𝑦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𝑃𝑟𝑖𝑐𝑒</m:t>
                            </m:r>
                          </m:e>
                          <m:sub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𝑐𝑜𝑢𝑛𝑡𝑟𝑦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0131962E-FE57-E17D-3EAA-2DC10F23C9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060" y="3150290"/>
                <a:ext cx="1763292" cy="996378"/>
              </a:xfrm>
              <a:prstGeom prst="rect">
                <a:avLst/>
              </a:prstGeom>
              <a:blipFill>
                <a:blip r:embed="rId7"/>
                <a:stretch>
                  <a:fillRect t="-2500" b="-25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65DD9C2D-A4F2-D8FA-BEB7-A058236406E1}"/>
              </a:ext>
            </a:extLst>
          </p:cNvPr>
          <p:cNvCxnSpPr>
            <a:cxnSpLocks/>
          </p:cNvCxnSpPr>
          <p:nvPr/>
        </p:nvCxnSpPr>
        <p:spPr>
          <a:xfrm>
            <a:off x="3448365" y="2133808"/>
            <a:ext cx="72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99CEACD8-00B4-9DDF-2EC9-6EB90A0637EE}"/>
              </a:ext>
            </a:extLst>
          </p:cNvPr>
          <p:cNvCxnSpPr>
            <a:cxnSpLocks/>
            <a:stCxn id="46" idx="3"/>
            <a:endCxn id="122" idx="1"/>
          </p:cNvCxnSpPr>
          <p:nvPr/>
        </p:nvCxnSpPr>
        <p:spPr>
          <a:xfrm flipV="1">
            <a:off x="6955563" y="2117685"/>
            <a:ext cx="194118" cy="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F355F518-263D-D7FB-3A2D-63E27218F735}"/>
              </a:ext>
            </a:extLst>
          </p:cNvPr>
          <p:cNvSpPr/>
          <p:nvPr/>
        </p:nvSpPr>
        <p:spPr>
          <a:xfrm>
            <a:off x="48933" y="850711"/>
            <a:ext cx="3498967" cy="211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Nominal terms</a:t>
            </a: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152C3B32-94E7-EF18-64BB-E383F284E014}"/>
              </a:ext>
            </a:extLst>
          </p:cNvPr>
          <p:cNvSpPr/>
          <p:nvPr/>
        </p:nvSpPr>
        <p:spPr>
          <a:xfrm>
            <a:off x="3763900" y="845559"/>
            <a:ext cx="6182633" cy="216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terms</a:t>
            </a:r>
          </a:p>
        </p:txBody>
      </p:sp>
      <p:cxnSp>
        <p:nvCxnSpPr>
          <p:cNvPr id="108" name="Gerade Verbindung 107">
            <a:extLst>
              <a:ext uri="{FF2B5EF4-FFF2-40B4-BE49-F238E27FC236}">
                <a16:creationId xmlns:a16="http://schemas.microsoft.com/office/drawing/2014/main" id="{3D78F894-3C2F-6134-B3EC-BADC65CB03E3}"/>
              </a:ext>
            </a:extLst>
          </p:cNvPr>
          <p:cNvCxnSpPr>
            <a:cxnSpLocks/>
          </p:cNvCxnSpPr>
          <p:nvPr/>
        </p:nvCxnSpPr>
        <p:spPr>
          <a:xfrm>
            <a:off x="118533" y="1230710"/>
            <a:ext cx="9828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Gewinkelte Verbindung 108">
            <a:extLst>
              <a:ext uri="{FF2B5EF4-FFF2-40B4-BE49-F238E27FC236}">
                <a16:creationId xmlns:a16="http://schemas.microsoft.com/office/drawing/2014/main" id="{EB493B03-5273-8FCE-0725-35CDDF48311C}"/>
              </a:ext>
            </a:extLst>
          </p:cNvPr>
          <p:cNvCxnSpPr>
            <a:cxnSpLocks/>
            <a:stCxn id="78" idx="3"/>
            <a:endCxn id="12" idx="1"/>
          </p:cNvCxnSpPr>
          <p:nvPr/>
        </p:nvCxnSpPr>
        <p:spPr>
          <a:xfrm>
            <a:off x="7505494" y="4424527"/>
            <a:ext cx="251095" cy="183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34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18E8-0211-888C-8857-FDE54C24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FD8C67DD-13EC-925C-11D1-E7C9636FD942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Definitions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prices and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measured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1FE59F2-2736-539D-7563-2FEDF9020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828474"/>
              </p:ext>
            </p:extLst>
          </p:nvPr>
        </p:nvGraphicFramePr>
        <p:xfrm>
          <a:off x="626492" y="1280047"/>
          <a:ext cx="10267504" cy="42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2781">
                  <a:extLst>
                    <a:ext uri="{9D8B030D-6E8A-4147-A177-3AD203B41FA5}">
                      <a16:colId xmlns:a16="http://schemas.microsoft.com/office/drawing/2014/main" val="1829092657"/>
                    </a:ext>
                  </a:extLst>
                </a:gridCol>
                <a:gridCol w="1618518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15299">
                  <a:extLst>
                    <a:ext uri="{9D8B030D-6E8A-4147-A177-3AD203B41FA5}">
                      <a16:colId xmlns:a16="http://schemas.microsoft.com/office/drawing/2014/main" val="3044762045"/>
                    </a:ext>
                  </a:extLst>
                </a:gridCol>
                <a:gridCol w="1203089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1212434301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4146351851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1306773420"/>
                    </a:ext>
                  </a:extLst>
                </a:gridCol>
                <a:gridCol w="658070">
                  <a:extLst>
                    <a:ext uri="{9D8B030D-6E8A-4147-A177-3AD203B41FA5}">
                      <a16:colId xmlns:a16="http://schemas.microsoft.com/office/drawing/2014/main" val="3105118240"/>
                    </a:ext>
                  </a:extLst>
                </a:gridCol>
                <a:gridCol w="1022667">
                  <a:extLst>
                    <a:ext uri="{9D8B030D-6E8A-4147-A177-3AD203B41FA5}">
                      <a16:colId xmlns:a16="http://schemas.microsoft.com/office/drawing/2014/main" val="3855398356"/>
                    </a:ext>
                  </a:extLst>
                </a:gridCol>
                <a:gridCol w="782717">
                  <a:extLst>
                    <a:ext uri="{9D8B030D-6E8A-4147-A177-3AD203B41FA5}">
                      <a16:colId xmlns:a16="http://schemas.microsoft.com/office/drawing/2014/main" val="1668350418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  <a:p>
                      <a:pPr algn="ctr"/>
                      <a:r>
                        <a:rPr lang="de-DE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  <a:endParaRPr lang="de-D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  <a:p>
                      <a:pPr algn="ctr"/>
                      <a:r>
                        <a:rPr lang="de-DE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</a:t>
                      </a:r>
                      <a:endParaRPr lang="de-D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</a:p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Bilateral or 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1994-01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M.R.B.US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/EER/BIS,WS_EER,1.0/M.R.B.US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94600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algn="ctr"/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1964-01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M.R.N.US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/EER/BIS,WS_EER,1.0/M.R.N.US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541693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1994-01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37330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1964-01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757916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1983-10-03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/EER/BIS,WS_EER,1.0/D.N.N.US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74366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1996-04-11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/EER/BIS,WS_EER,1.0/D.N.B.US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877748"/>
                  </a:ext>
                </a:extLst>
              </a:tr>
              <a:tr h="257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USD-EUR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1999-01-04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DEXUSEU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https://fred.stlouisfed.org/series/DEXUSEU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377485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Broad U.S. Dollar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2006-01-02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DTWEXBGS</a:t>
                      </a:r>
                    </a:p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https://fred.stlouisfed.org/series/DTWEXBGS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79788"/>
                  </a:ext>
                </a:extLst>
              </a:tr>
              <a:tr h="4243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Broad Dollar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2006-01-01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https://fred.stlouisfed.org/series/RTWEXBGS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59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84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C400-169C-12D0-20F6-2EA61B93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ewinkelte Verbindung 20">
            <a:extLst>
              <a:ext uri="{FF2B5EF4-FFF2-40B4-BE49-F238E27FC236}">
                <a16:creationId xmlns:a16="http://schemas.microsoft.com/office/drawing/2014/main" id="{F32D6AC2-1170-FF45-7100-1F8E19D29D96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 rot="16200000" flipH="1">
            <a:off x="5988317" y="1244054"/>
            <a:ext cx="1116897" cy="3189911"/>
          </a:xfrm>
          <a:prstGeom prst="bentConnector3">
            <a:avLst>
              <a:gd name="adj1" fmla="val 439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920F220-B949-2339-A8C2-BB237B1DB1D4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 simple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of exchange rates and energy commodity prices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5DB3D19-FB0D-EF49-B5C4-F4FD1FF6DE8D}"/>
              </a:ext>
            </a:extLst>
          </p:cNvPr>
          <p:cNvSpPr/>
          <p:nvPr/>
        </p:nvSpPr>
        <p:spPr>
          <a:xfrm>
            <a:off x="248266" y="1729947"/>
            <a:ext cx="101301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</a:t>
            </a:r>
          </a:p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E3B20DB-4112-8910-13D9-7A86DEC9A7C4}"/>
              </a:ext>
            </a:extLst>
          </p:cNvPr>
          <p:cNvSpPr/>
          <p:nvPr/>
        </p:nvSpPr>
        <p:spPr>
          <a:xfrm>
            <a:off x="1440374" y="1731970"/>
            <a:ext cx="1667844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Adjusted future expectations for demand-supply levels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D1EE2EB-33FB-6EDA-10DF-6A28DBAE199A}"/>
              </a:ext>
            </a:extLst>
          </p:cNvPr>
          <p:cNvSpPr/>
          <p:nvPr/>
        </p:nvSpPr>
        <p:spPr>
          <a:xfrm>
            <a:off x="3325347" y="1729950"/>
            <a:ext cx="101301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(Spot) Price adjustments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3B07525-A5A1-F1B4-8FEE-C3582CE113E6}"/>
              </a:ext>
            </a:extLst>
          </p:cNvPr>
          <p:cNvSpPr/>
          <p:nvPr/>
        </p:nvSpPr>
        <p:spPr>
          <a:xfrm>
            <a:off x="4551106" y="1729945"/>
            <a:ext cx="801408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</a:p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F9704E9-C9FC-0392-9481-18E53C7E54AB}"/>
              </a:ext>
            </a:extLst>
          </p:cNvPr>
          <p:cNvSpPr/>
          <p:nvPr/>
        </p:nvSpPr>
        <p:spPr>
          <a:xfrm>
            <a:off x="5561975" y="1729947"/>
            <a:ext cx="1470274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Inflationary pressure driving up prices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DC245E0-1CC8-DB0D-66F1-926593ED389A}"/>
              </a:ext>
            </a:extLst>
          </p:cNvPr>
          <p:cNvSpPr/>
          <p:nvPr/>
        </p:nvSpPr>
        <p:spPr>
          <a:xfrm>
            <a:off x="7241710" y="1731968"/>
            <a:ext cx="1250320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 policy:</a:t>
            </a:r>
          </a:p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 hikes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7518F9D-DEDF-B6B2-0E24-08F10E38C0E0}"/>
              </a:ext>
            </a:extLst>
          </p:cNvPr>
          <p:cNvSpPr/>
          <p:nvPr/>
        </p:nvSpPr>
        <p:spPr>
          <a:xfrm>
            <a:off x="3499677" y="737582"/>
            <a:ext cx="4414650" cy="283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 affect energy commodity importing and exporting economies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3C939E41-E3A2-C747-4064-B68050C474F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261281" y="2005256"/>
            <a:ext cx="179093" cy="2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9FAAAE3-A7B8-1029-83FE-3B9AC849744F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3108218" y="2005259"/>
            <a:ext cx="217129" cy="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8F030C5-9C48-09E7-A29F-635530C8C3C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338362" y="2005254"/>
            <a:ext cx="212744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64E26FE-27DB-68F7-2056-B905672248E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352514" y="2005254"/>
            <a:ext cx="20946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05F554B-0FE6-6140-6491-7EA5FEB5711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32249" y="2005256"/>
            <a:ext cx="209461" cy="2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Geschweifte Klammer links 27">
            <a:extLst>
              <a:ext uri="{FF2B5EF4-FFF2-40B4-BE49-F238E27FC236}">
                <a16:creationId xmlns:a16="http://schemas.microsoft.com/office/drawing/2014/main" id="{0BFEA76D-99AB-C7B1-3409-A2CA2B156445}"/>
              </a:ext>
            </a:extLst>
          </p:cNvPr>
          <p:cNvSpPr/>
          <p:nvPr/>
        </p:nvSpPr>
        <p:spPr>
          <a:xfrm rot="5400000">
            <a:off x="5578026" y="-4297533"/>
            <a:ext cx="257952" cy="1091747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8E839D3-8E65-96AC-44BB-A8244DC0C808}"/>
              </a:ext>
            </a:extLst>
          </p:cNvPr>
          <p:cNvSpPr/>
          <p:nvPr/>
        </p:nvSpPr>
        <p:spPr>
          <a:xfrm>
            <a:off x="8701491" y="1729946"/>
            <a:ext cx="993976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 rate differentials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211AE1E-AE25-8A87-F56C-3147B731828B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8492030" y="2005255"/>
            <a:ext cx="209461" cy="2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Rechteck 67">
            <a:extLst>
              <a:ext uri="{FF2B5EF4-FFF2-40B4-BE49-F238E27FC236}">
                <a16:creationId xmlns:a16="http://schemas.microsoft.com/office/drawing/2014/main" id="{A3D75D58-23EF-B26E-E6B6-BD808793409E}"/>
              </a:ext>
            </a:extLst>
          </p:cNvPr>
          <p:cNvSpPr/>
          <p:nvPr/>
        </p:nvSpPr>
        <p:spPr>
          <a:xfrm>
            <a:off x="4705254" y="2438771"/>
            <a:ext cx="1764000" cy="2313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proxy variables</a:t>
            </a:r>
          </a:p>
        </p:txBody>
      </p: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FE987C23-781F-B2CF-C7AE-167A9F3DD8D1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6469253" y="2554439"/>
            <a:ext cx="486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71">
            <a:extLst>
              <a:ext uri="{FF2B5EF4-FFF2-40B4-BE49-F238E27FC236}">
                <a16:creationId xmlns:a16="http://schemas.microsoft.com/office/drawing/2014/main" id="{19AD80B6-AA37-15C4-F4F1-1AB2FCC6B0F7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80437" y="2554439"/>
            <a:ext cx="462481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E696DFB3-6C85-FB27-6A91-5EA8F7652298}"/>
              </a:ext>
            </a:extLst>
          </p:cNvPr>
          <p:cNvSpPr/>
          <p:nvPr/>
        </p:nvSpPr>
        <p:spPr>
          <a:xfrm>
            <a:off x="9898266" y="1736307"/>
            <a:ext cx="126747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Parity conditions</a:t>
            </a:r>
          </a:p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(PPP/UIP/CIP)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01F56126-26E4-9EEE-B156-7BAD009C4BFB}"/>
              </a:ext>
            </a:extLst>
          </p:cNvPr>
          <p:cNvCxnSpPr>
            <a:cxnSpLocks/>
            <a:stCxn id="29" idx="3"/>
            <a:endCxn id="75" idx="1"/>
          </p:cNvCxnSpPr>
          <p:nvPr/>
        </p:nvCxnSpPr>
        <p:spPr>
          <a:xfrm>
            <a:off x="9695467" y="2005255"/>
            <a:ext cx="202799" cy="6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Geschweifte Klammer links 93">
            <a:extLst>
              <a:ext uri="{FF2B5EF4-FFF2-40B4-BE49-F238E27FC236}">
                <a16:creationId xmlns:a16="http://schemas.microsoft.com/office/drawing/2014/main" id="{B27D7CBE-6F19-33C5-FAA5-62CCD66AEB24}"/>
              </a:ext>
            </a:extLst>
          </p:cNvPr>
          <p:cNvSpPr/>
          <p:nvPr/>
        </p:nvSpPr>
        <p:spPr>
          <a:xfrm rot="16200000">
            <a:off x="5497420" y="-1324924"/>
            <a:ext cx="419165" cy="1091747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546DFDDA-2BBF-08A0-3697-A553591CD972}"/>
              </a:ext>
            </a:extLst>
          </p:cNvPr>
          <p:cNvSpPr/>
          <p:nvPr/>
        </p:nvSpPr>
        <p:spPr>
          <a:xfrm>
            <a:off x="3831854" y="4343398"/>
            <a:ext cx="3770729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depending on degree of financial integration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62278FA6-30BC-7A66-3EC6-1A3FF8DCCFC1}"/>
              </a:ext>
            </a:extLst>
          </p:cNvPr>
          <p:cNvSpPr/>
          <p:nvPr/>
        </p:nvSpPr>
        <p:spPr>
          <a:xfrm>
            <a:off x="5845629" y="4669899"/>
            <a:ext cx="2646401" cy="2304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interest in futures markets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EFB9C413-B00B-E725-ECB1-DF29291F41C1}"/>
              </a:ext>
            </a:extLst>
          </p:cNvPr>
          <p:cNvSpPr/>
          <p:nvPr/>
        </p:nvSpPr>
        <p:spPr>
          <a:xfrm>
            <a:off x="4077380" y="3517511"/>
            <a:ext cx="285171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Crude Oil WTI Front Month Future Price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7C4E366A-D035-6428-74DE-7B917A0E8EAE}"/>
              </a:ext>
            </a:extLst>
          </p:cNvPr>
          <p:cNvSpPr/>
          <p:nvPr/>
        </p:nvSpPr>
        <p:spPr>
          <a:xfrm>
            <a:off x="4077379" y="3834376"/>
            <a:ext cx="285171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Crude Oil WTI Spot Price</a:t>
            </a:r>
          </a:p>
        </p:txBody>
      </p:sp>
      <p:cxnSp>
        <p:nvCxnSpPr>
          <p:cNvPr id="99" name="Gewinkelte Verbindung 98">
            <a:extLst>
              <a:ext uri="{FF2B5EF4-FFF2-40B4-BE49-F238E27FC236}">
                <a16:creationId xmlns:a16="http://schemas.microsoft.com/office/drawing/2014/main" id="{1A9821BD-B305-851A-88A4-BBE9C6B02007}"/>
              </a:ext>
            </a:extLst>
          </p:cNvPr>
          <p:cNvCxnSpPr>
            <a:cxnSpLocks/>
            <a:stCxn id="5" idx="2"/>
            <a:endCxn id="97" idx="1"/>
          </p:cNvCxnSpPr>
          <p:nvPr/>
        </p:nvCxnSpPr>
        <p:spPr>
          <a:xfrm rot="16200000" flipH="1">
            <a:off x="3278545" y="2833876"/>
            <a:ext cx="1352144" cy="2455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Gewinkelte Verbindung 102">
            <a:extLst>
              <a:ext uri="{FF2B5EF4-FFF2-40B4-BE49-F238E27FC236}">
                <a16:creationId xmlns:a16="http://schemas.microsoft.com/office/drawing/2014/main" id="{7D31F963-270D-77EB-ED1F-9EB4B0119ED2}"/>
              </a:ext>
            </a:extLst>
          </p:cNvPr>
          <p:cNvCxnSpPr>
            <a:cxnSpLocks/>
            <a:stCxn id="5" idx="2"/>
            <a:endCxn id="98" idx="1"/>
          </p:cNvCxnSpPr>
          <p:nvPr/>
        </p:nvCxnSpPr>
        <p:spPr>
          <a:xfrm rot="16200000" flipH="1">
            <a:off x="3120113" y="2992309"/>
            <a:ext cx="1669009" cy="2455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Gewinkelte Verbindung 105">
            <a:extLst>
              <a:ext uri="{FF2B5EF4-FFF2-40B4-BE49-F238E27FC236}">
                <a16:creationId xmlns:a16="http://schemas.microsoft.com/office/drawing/2014/main" id="{4070ED22-2D8D-88E0-E030-E4339E1626CD}"/>
              </a:ext>
            </a:extLst>
          </p:cNvPr>
          <p:cNvCxnSpPr>
            <a:cxnSpLocks/>
            <a:stCxn id="95" idx="2"/>
            <a:endCxn id="96" idx="1"/>
          </p:cNvCxnSpPr>
          <p:nvPr/>
        </p:nvCxnSpPr>
        <p:spPr>
          <a:xfrm rot="16200000" flipH="1">
            <a:off x="5675774" y="4615243"/>
            <a:ext cx="211301" cy="1284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Gewinkelte Verbindung 117">
            <a:extLst>
              <a:ext uri="{FF2B5EF4-FFF2-40B4-BE49-F238E27FC236}">
                <a16:creationId xmlns:a16="http://schemas.microsoft.com/office/drawing/2014/main" id="{58828655-9B5C-D596-6B15-8E7757820871}"/>
              </a:ext>
            </a:extLst>
          </p:cNvPr>
          <p:cNvCxnSpPr>
            <a:cxnSpLocks/>
            <a:stCxn id="2" idx="2"/>
            <a:endCxn id="121" idx="1"/>
          </p:cNvCxnSpPr>
          <p:nvPr/>
        </p:nvCxnSpPr>
        <p:spPr>
          <a:xfrm rot="16200000" flipH="1">
            <a:off x="91296" y="2944042"/>
            <a:ext cx="1475731" cy="1487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hteck 120">
            <a:extLst>
              <a:ext uri="{FF2B5EF4-FFF2-40B4-BE49-F238E27FC236}">
                <a16:creationId xmlns:a16="http://schemas.microsoft.com/office/drawing/2014/main" id="{B0ADA5D6-3FD1-CBB1-749C-1A2DAC0215FD}"/>
              </a:ext>
            </a:extLst>
          </p:cNvPr>
          <p:cNvSpPr/>
          <p:nvPr/>
        </p:nvSpPr>
        <p:spPr>
          <a:xfrm>
            <a:off x="903548" y="3641095"/>
            <a:ext cx="1542696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Defined crisis periods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11C4393-6314-BFD0-EDEF-6CF65E414970}"/>
              </a:ext>
            </a:extLst>
          </p:cNvPr>
          <p:cNvSpPr/>
          <p:nvPr/>
        </p:nvSpPr>
        <p:spPr>
          <a:xfrm>
            <a:off x="2501762" y="2849560"/>
            <a:ext cx="1248465" cy="2304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OPEC volumes</a:t>
            </a:r>
          </a:p>
        </p:txBody>
      </p:sp>
      <p:cxnSp>
        <p:nvCxnSpPr>
          <p:cNvPr id="13" name="Gewinkelte Verbindung 12">
            <a:extLst>
              <a:ext uri="{FF2B5EF4-FFF2-40B4-BE49-F238E27FC236}">
                <a16:creationId xmlns:a16="http://schemas.microsoft.com/office/drawing/2014/main" id="{2B4BDEEF-7E89-B3C5-3FD6-40F4876B0C60}"/>
              </a:ext>
            </a:extLst>
          </p:cNvPr>
          <p:cNvCxnSpPr>
            <a:cxnSpLocks/>
            <a:stCxn id="3" idx="2"/>
            <a:endCxn id="10" idx="1"/>
          </p:cNvCxnSpPr>
          <p:nvPr/>
        </p:nvCxnSpPr>
        <p:spPr>
          <a:xfrm rot="16200000" flipH="1">
            <a:off x="2046943" y="2509940"/>
            <a:ext cx="682173" cy="2274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C5B44584-46E0-0BE5-3F1A-2FC7076572F3}"/>
              </a:ext>
            </a:extLst>
          </p:cNvPr>
          <p:cNvSpPr/>
          <p:nvPr/>
        </p:nvSpPr>
        <p:spPr>
          <a:xfrm rot="10800000">
            <a:off x="6994878" y="2862355"/>
            <a:ext cx="419165" cy="1226421"/>
          </a:xfrm>
          <a:prstGeom prst="leftBrace">
            <a:avLst>
              <a:gd name="adj1" fmla="val 8333"/>
              <a:gd name="adj2" fmla="val 4843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E5CA635-4C49-2BB9-7D73-4A2A0CA141DE}"/>
              </a:ext>
            </a:extLst>
          </p:cNvPr>
          <p:cNvSpPr/>
          <p:nvPr/>
        </p:nvSpPr>
        <p:spPr>
          <a:xfrm>
            <a:off x="7454278" y="3397459"/>
            <a:ext cx="1374885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(Rolling) Volatility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C2A845E-3515-0FD7-1B97-5549F6F1C794}"/>
              </a:ext>
            </a:extLst>
          </p:cNvPr>
          <p:cNvSpPr/>
          <p:nvPr/>
        </p:nvSpPr>
        <p:spPr>
          <a:xfrm>
            <a:off x="4935654" y="5685068"/>
            <a:ext cx="1542696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 dependent</a:t>
            </a:r>
          </a:p>
        </p:txBody>
      </p:sp>
      <p:sp>
        <p:nvSpPr>
          <p:cNvPr id="33" name="Geschweifte Klammer links 32">
            <a:extLst>
              <a:ext uri="{FF2B5EF4-FFF2-40B4-BE49-F238E27FC236}">
                <a16:creationId xmlns:a16="http://schemas.microsoft.com/office/drawing/2014/main" id="{A0F6E71F-FFE6-DF2D-BCBE-F758A9BAFC3E}"/>
              </a:ext>
            </a:extLst>
          </p:cNvPr>
          <p:cNvSpPr/>
          <p:nvPr/>
        </p:nvSpPr>
        <p:spPr>
          <a:xfrm rot="16200000">
            <a:off x="5507635" y="-5105"/>
            <a:ext cx="419165" cy="1091747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D66E357-8389-AD61-8CAC-077D2B7C2E02}"/>
              </a:ext>
            </a:extLst>
          </p:cNvPr>
          <p:cNvSpPr/>
          <p:nvPr/>
        </p:nvSpPr>
        <p:spPr>
          <a:xfrm>
            <a:off x="9378818" y="3054360"/>
            <a:ext cx="1799342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Central Bank Policy Rates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832D77E-E5BB-792E-3AC5-268CBD4665D8}"/>
              </a:ext>
            </a:extLst>
          </p:cNvPr>
          <p:cNvSpPr/>
          <p:nvPr/>
        </p:nvSpPr>
        <p:spPr>
          <a:xfrm>
            <a:off x="9378818" y="3396185"/>
            <a:ext cx="1799342" cy="374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3M Interbank lending rates</a:t>
            </a:r>
          </a:p>
        </p:txBody>
      </p:sp>
      <p:cxnSp>
        <p:nvCxnSpPr>
          <p:cNvPr id="36" name="Gewinkelte Verbindung 35">
            <a:extLst>
              <a:ext uri="{FF2B5EF4-FFF2-40B4-BE49-F238E27FC236}">
                <a16:creationId xmlns:a16="http://schemas.microsoft.com/office/drawing/2014/main" id="{5D58BF1E-0267-CD1B-A8D8-D5BA270B2403}"/>
              </a:ext>
            </a:extLst>
          </p:cNvPr>
          <p:cNvCxnSpPr>
            <a:cxnSpLocks/>
            <a:stCxn id="29" idx="2"/>
            <a:endCxn id="34" idx="1"/>
          </p:cNvCxnSpPr>
          <p:nvPr/>
        </p:nvCxnSpPr>
        <p:spPr>
          <a:xfrm rot="16200000" flipH="1">
            <a:off x="8844150" y="2634891"/>
            <a:ext cx="888997" cy="1803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winkelte Verbindung 38">
            <a:extLst>
              <a:ext uri="{FF2B5EF4-FFF2-40B4-BE49-F238E27FC236}">
                <a16:creationId xmlns:a16="http://schemas.microsoft.com/office/drawing/2014/main" id="{AA9E123C-BD88-94BC-D3DD-67CEA79CD5A4}"/>
              </a:ext>
            </a:extLst>
          </p:cNvPr>
          <p:cNvCxnSpPr>
            <a:cxnSpLocks/>
            <a:stCxn id="29" idx="2"/>
            <a:endCxn id="35" idx="1"/>
          </p:cNvCxnSpPr>
          <p:nvPr/>
        </p:nvCxnSpPr>
        <p:spPr>
          <a:xfrm rot="16200000" flipH="1">
            <a:off x="8637196" y="2841845"/>
            <a:ext cx="1302905" cy="1803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4143DB3E-7694-5D50-523F-9E580EE43186}"/>
              </a:ext>
            </a:extLst>
          </p:cNvPr>
          <p:cNvSpPr/>
          <p:nvPr/>
        </p:nvSpPr>
        <p:spPr>
          <a:xfrm>
            <a:off x="8305149" y="2593674"/>
            <a:ext cx="576461" cy="2304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CPI</a:t>
            </a:r>
          </a:p>
        </p:txBody>
      </p:sp>
      <p:sp>
        <p:nvSpPr>
          <p:cNvPr id="53" name="Geschweifte Klammer links 52">
            <a:extLst>
              <a:ext uri="{FF2B5EF4-FFF2-40B4-BE49-F238E27FC236}">
                <a16:creationId xmlns:a16="http://schemas.microsoft.com/office/drawing/2014/main" id="{75D83B1D-AFD6-D9E6-A4CA-3220113BEC7F}"/>
              </a:ext>
            </a:extLst>
          </p:cNvPr>
          <p:cNvSpPr/>
          <p:nvPr/>
        </p:nvSpPr>
        <p:spPr>
          <a:xfrm rot="16200000">
            <a:off x="6927899" y="919262"/>
            <a:ext cx="215917" cy="291234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1" name="Geschweifte Klammer links 60">
            <a:extLst>
              <a:ext uri="{FF2B5EF4-FFF2-40B4-BE49-F238E27FC236}">
                <a16:creationId xmlns:a16="http://schemas.microsoft.com/office/drawing/2014/main" id="{A8E3832B-6883-6FD6-2DDE-86585AF6F486}"/>
              </a:ext>
            </a:extLst>
          </p:cNvPr>
          <p:cNvSpPr/>
          <p:nvPr/>
        </p:nvSpPr>
        <p:spPr>
          <a:xfrm rot="5400000">
            <a:off x="2233476" y="-431714"/>
            <a:ext cx="119671" cy="40901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E383347-8861-E3BF-A928-13C2C0E16831}"/>
              </a:ext>
            </a:extLst>
          </p:cNvPr>
          <p:cNvSpPr/>
          <p:nvPr/>
        </p:nvSpPr>
        <p:spPr>
          <a:xfrm>
            <a:off x="977198" y="1306400"/>
            <a:ext cx="2632225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 information efficiency theory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4B7D7EC2-4DA3-D574-E32E-60EB0C1F6A5C}"/>
              </a:ext>
            </a:extLst>
          </p:cNvPr>
          <p:cNvSpPr/>
          <p:nvPr/>
        </p:nvSpPr>
        <p:spPr>
          <a:xfrm>
            <a:off x="10689577" y="2607101"/>
            <a:ext cx="792000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EUR/USD</a:t>
            </a:r>
          </a:p>
        </p:txBody>
      </p:sp>
      <p:cxnSp>
        <p:nvCxnSpPr>
          <p:cNvPr id="64" name="Gewinkelte Verbindung 63">
            <a:extLst>
              <a:ext uri="{FF2B5EF4-FFF2-40B4-BE49-F238E27FC236}">
                <a16:creationId xmlns:a16="http://schemas.microsoft.com/office/drawing/2014/main" id="{24B51B47-8D5E-7AF1-5416-AAE5A167318F}"/>
              </a:ext>
            </a:extLst>
          </p:cNvPr>
          <p:cNvCxnSpPr>
            <a:cxnSpLocks/>
            <a:stCxn id="75" idx="2"/>
            <a:endCxn id="63" idx="1"/>
          </p:cNvCxnSpPr>
          <p:nvPr/>
        </p:nvCxnSpPr>
        <p:spPr>
          <a:xfrm rot="16200000" flipH="1">
            <a:off x="10393102" y="2425825"/>
            <a:ext cx="435377" cy="157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ewinkelte Verbindung 73">
            <a:extLst>
              <a:ext uri="{FF2B5EF4-FFF2-40B4-BE49-F238E27FC236}">
                <a16:creationId xmlns:a16="http://schemas.microsoft.com/office/drawing/2014/main" id="{FBA6D73B-2EA4-72BF-8355-5763FCEF3193}"/>
              </a:ext>
            </a:extLst>
          </p:cNvPr>
          <p:cNvCxnSpPr>
            <a:cxnSpLocks/>
            <a:stCxn id="53" idx="1"/>
            <a:endCxn id="44" idx="1"/>
          </p:cNvCxnSpPr>
          <p:nvPr/>
        </p:nvCxnSpPr>
        <p:spPr>
          <a:xfrm rot="16200000" flipH="1">
            <a:off x="7557763" y="1961488"/>
            <a:ext cx="225480" cy="1269291"/>
          </a:xfrm>
          <a:prstGeom prst="bentConnector4">
            <a:avLst>
              <a:gd name="adj1" fmla="val 101384"/>
              <a:gd name="adj2" fmla="val 542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0899C555-34FE-A0FC-A6DA-A49D1F54EF81}"/>
              </a:ext>
            </a:extLst>
          </p:cNvPr>
          <p:cNvSpPr/>
          <p:nvPr/>
        </p:nvSpPr>
        <p:spPr>
          <a:xfrm>
            <a:off x="5845629" y="4965429"/>
            <a:ext cx="2646401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Trading volume in futures markets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E79E564-161E-55DB-D07C-F70FF4DCAEA8}"/>
              </a:ext>
            </a:extLst>
          </p:cNvPr>
          <p:cNvSpPr/>
          <p:nvPr/>
        </p:nvSpPr>
        <p:spPr>
          <a:xfrm>
            <a:off x="4077379" y="2841982"/>
            <a:ext cx="285171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Front Month Future Price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01AAF7-1BAC-77FC-6184-6D2824984C15}"/>
              </a:ext>
            </a:extLst>
          </p:cNvPr>
          <p:cNvSpPr/>
          <p:nvPr/>
        </p:nvSpPr>
        <p:spPr>
          <a:xfrm>
            <a:off x="4077379" y="3169560"/>
            <a:ext cx="285171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Spot Price</a:t>
            </a:r>
          </a:p>
        </p:txBody>
      </p:sp>
      <p:cxnSp>
        <p:nvCxnSpPr>
          <p:cNvPr id="24" name="Gewinkelte Verbindung 23">
            <a:extLst>
              <a:ext uri="{FF2B5EF4-FFF2-40B4-BE49-F238E27FC236}">
                <a16:creationId xmlns:a16="http://schemas.microsoft.com/office/drawing/2014/main" id="{A2BFA96B-A1CF-1F21-E29C-BF3013031997}"/>
              </a:ext>
            </a:extLst>
          </p:cNvPr>
          <p:cNvCxnSpPr>
            <a:cxnSpLocks/>
            <a:stCxn id="5" idx="2"/>
            <a:endCxn id="17" idx="1"/>
          </p:cNvCxnSpPr>
          <p:nvPr/>
        </p:nvCxnSpPr>
        <p:spPr>
          <a:xfrm rot="16200000" flipH="1">
            <a:off x="3616310" y="2496112"/>
            <a:ext cx="676615" cy="2455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winkelte Verbindung 29">
            <a:extLst>
              <a:ext uri="{FF2B5EF4-FFF2-40B4-BE49-F238E27FC236}">
                <a16:creationId xmlns:a16="http://schemas.microsoft.com/office/drawing/2014/main" id="{90764E94-68E6-4A03-F8BB-5577A60DBBAD}"/>
              </a:ext>
            </a:extLst>
          </p:cNvPr>
          <p:cNvCxnSpPr>
            <a:cxnSpLocks/>
            <a:stCxn id="5" idx="2"/>
            <a:endCxn id="22" idx="1"/>
          </p:cNvCxnSpPr>
          <p:nvPr/>
        </p:nvCxnSpPr>
        <p:spPr>
          <a:xfrm rot="16200000" flipH="1">
            <a:off x="3452521" y="2659901"/>
            <a:ext cx="1004193" cy="2455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Gewinkelte Verbindung 44">
            <a:extLst>
              <a:ext uri="{FF2B5EF4-FFF2-40B4-BE49-F238E27FC236}">
                <a16:creationId xmlns:a16="http://schemas.microsoft.com/office/drawing/2014/main" id="{E7C9E15D-2B56-31F7-42E4-DB58676C3B4E}"/>
              </a:ext>
            </a:extLst>
          </p:cNvPr>
          <p:cNvCxnSpPr>
            <a:cxnSpLocks/>
            <a:stCxn id="95" idx="2"/>
            <a:endCxn id="14" idx="1"/>
          </p:cNvCxnSpPr>
          <p:nvPr/>
        </p:nvCxnSpPr>
        <p:spPr>
          <a:xfrm rot="16200000" flipH="1">
            <a:off x="5528009" y="4763008"/>
            <a:ext cx="506831" cy="1284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AE980178-4585-1AFF-5C0E-2A6A01308009}"/>
              </a:ext>
            </a:extLst>
          </p:cNvPr>
          <p:cNvSpPr/>
          <p:nvPr/>
        </p:nvSpPr>
        <p:spPr>
          <a:xfrm>
            <a:off x="9288648" y="5541453"/>
            <a:ext cx="324000" cy="2304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2ADB375-89BA-FD19-7379-27DD197F2932}"/>
              </a:ext>
            </a:extLst>
          </p:cNvPr>
          <p:cNvSpPr/>
          <p:nvPr/>
        </p:nvSpPr>
        <p:spPr>
          <a:xfrm>
            <a:off x="9532410" y="5533467"/>
            <a:ext cx="1374885" cy="23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000000"/>
                </a:solidFill>
                <a:latin typeface="Roboto" panose="02000000000000000000" pitchFamily="2" charset="0"/>
              </a:rPr>
              <a:t>: variable not considered</a:t>
            </a:r>
            <a:endParaRPr lang="de-DE" sz="8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EAF8B1-B3EB-EFC1-4422-D4D9B2AFD791}"/>
              </a:ext>
            </a:extLst>
          </p:cNvPr>
          <p:cNvSpPr/>
          <p:nvPr/>
        </p:nvSpPr>
        <p:spPr>
          <a:xfrm>
            <a:off x="9288648" y="5879852"/>
            <a:ext cx="324000" cy="2304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9B5C8209-522A-5A8C-17F5-4180D2874F17}"/>
              </a:ext>
            </a:extLst>
          </p:cNvPr>
          <p:cNvSpPr/>
          <p:nvPr/>
        </p:nvSpPr>
        <p:spPr>
          <a:xfrm>
            <a:off x="9407281" y="5871866"/>
            <a:ext cx="1374885" cy="23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000000"/>
                </a:solidFill>
                <a:latin typeface="Roboto" panose="02000000000000000000" pitchFamily="2" charset="0"/>
              </a:rPr>
              <a:t>: variable included</a:t>
            </a:r>
            <a:endParaRPr lang="de-DE" sz="8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3981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8F2C-61BE-2FD0-F7A7-D7C43EA5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6047A77A-195C-5F25-75C4-D98FE53FDCC5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Theoretical Framework (I)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A2EC787-A499-C95C-2B1F-49527EB77C34}"/>
              </a:ext>
            </a:extLst>
          </p:cNvPr>
          <p:cNvSpPr/>
          <p:nvPr/>
        </p:nvSpPr>
        <p:spPr>
          <a:xfrm>
            <a:off x="376323" y="728896"/>
            <a:ext cx="547600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E29A15-DF4F-765C-A5B2-90347370B95F}"/>
              </a:ext>
            </a:extLst>
          </p:cNvPr>
          <p:cNvSpPr/>
          <p:nvPr/>
        </p:nvSpPr>
        <p:spPr>
          <a:xfrm>
            <a:off x="1112921" y="728896"/>
            <a:ext cx="2850535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relevant regimes in the data</a:t>
            </a:r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7CD823E6-BA5A-5095-3D68-134CDB2F7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007301"/>
              </p:ext>
            </p:extLst>
          </p:nvPr>
        </p:nvGraphicFramePr>
        <p:xfrm>
          <a:off x="1112919" y="1807520"/>
          <a:ext cx="4516837" cy="4165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2944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335893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Thematic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exchange rate (NER)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first diff of EUR/USD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exchange rate log 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EUR/USD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exchange rate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FX theory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077558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FX theory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8551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lending rates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FX theory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406197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lending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FX theory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982446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WTI Oil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commodity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91469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1239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WTI Oil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772991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606027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Futures 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Degree of Financial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646873"/>
                  </a:ext>
                </a:extLst>
              </a:tr>
            </a:tbl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D6B181A9-7423-F64F-C454-DCA25B2E528C}"/>
              </a:ext>
            </a:extLst>
          </p:cNvPr>
          <p:cNvSpPr/>
          <p:nvPr/>
        </p:nvSpPr>
        <p:spPr>
          <a:xfrm>
            <a:off x="4330396" y="759170"/>
            <a:ext cx="2988000" cy="161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 regimes (high volatility vs. low volatility)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1C1C51E-5D8B-6F7C-2C37-61818542AA66}"/>
              </a:ext>
            </a:extLst>
          </p:cNvPr>
          <p:cNvSpPr/>
          <p:nvPr/>
        </p:nvSpPr>
        <p:spPr>
          <a:xfrm>
            <a:off x="7547874" y="993009"/>
            <a:ext cx="2969970" cy="372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 approaches: Univariate econometric modelling (benchmarks)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F91DC8B-8431-C436-8693-CADE51C6335D}"/>
              </a:ext>
            </a:extLst>
          </p:cNvPr>
          <p:cNvSpPr/>
          <p:nvPr/>
        </p:nvSpPr>
        <p:spPr>
          <a:xfrm>
            <a:off x="1112919" y="993009"/>
            <a:ext cx="2969970" cy="372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approaches: Multivariate Clustering using additional variables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200B6B33-D0B3-FB61-99FB-DE2B260A16AB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 flipH="1">
            <a:off x="4082889" y="920391"/>
            <a:ext cx="1741507" cy="258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D3D80A1-0057-9041-1EC7-7367B7B25969}"/>
              </a:ext>
            </a:extLst>
          </p:cNvPr>
          <p:cNvCxnSpPr>
            <a:cxnSpLocks/>
            <a:stCxn id="21" idx="2"/>
            <a:endCxn id="22" idx="1"/>
          </p:cNvCxnSpPr>
          <p:nvPr/>
        </p:nvCxnSpPr>
        <p:spPr>
          <a:xfrm>
            <a:off x="5824396" y="920391"/>
            <a:ext cx="1723478" cy="258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EE43A6DD-BA77-C312-7356-31C55CC89726}"/>
              </a:ext>
            </a:extLst>
          </p:cNvPr>
          <p:cNvSpPr/>
          <p:nvPr/>
        </p:nvSpPr>
        <p:spPr>
          <a:xfrm>
            <a:off x="7547874" y="1498708"/>
            <a:ext cx="2850535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 Regression/Switching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7DCFDD3-AEE7-F981-C91B-82C94939F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109881"/>
              </p:ext>
            </p:extLst>
          </p:nvPr>
        </p:nvGraphicFramePr>
        <p:xfrm>
          <a:off x="6640775" y="1807521"/>
          <a:ext cx="4516837" cy="9951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2944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335893">
                  <a:extLst>
                    <a:ext uri="{9D8B030D-6E8A-4147-A177-3AD203B41FA5}">
                      <a16:colId xmlns:a16="http://schemas.microsoft.com/office/drawing/2014/main" val="717331518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Thematic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first diff of EUR/USD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exchange rate log 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CCECF7D-C21A-080D-16C3-E991942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59003"/>
              </p:ext>
            </p:extLst>
          </p:nvPr>
        </p:nvGraphicFramePr>
        <p:xfrm>
          <a:off x="6640775" y="2979002"/>
          <a:ext cx="4516837" cy="9755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2944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335893">
                  <a:extLst>
                    <a:ext uri="{9D8B030D-6E8A-4147-A177-3AD203B41FA5}">
                      <a16:colId xmlns:a16="http://schemas.microsoft.com/office/drawing/2014/main" val="203178193"/>
                    </a:ext>
                  </a:extLst>
                </a:gridCol>
              </a:tblGrid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rolling volatilty of log first diff of WTI Oil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Natural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889717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4453D957-4CD6-677D-3418-388D641D0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251013"/>
              </p:ext>
            </p:extLst>
          </p:nvPr>
        </p:nvGraphicFramePr>
        <p:xfrm>
          <a:off x="6640775" y="4150558"/>
          <a:ext cx="4516837" cy="9951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2944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335893">
                  <a:extLst>
                    <a:ext uri="{9D8B030D-6E8A-4147-A177-3AD203B41FA5}">
                      <a16:colId xmlns:a16="http://schemas.microsoft.com/office/drawing/2014/main" val="717331518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Thematic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first diff of EUR/USD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spot exchange rate log 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lending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FX theory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398DA32-6A27-A2AC-E754-01DDC2223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755468"/>
              </p:ext>
            </p:extLst>
          </p:nvPr>
        </p:nvGraphicFramePr>
        <p:xfrm>
          <a:off x="6640775" y="5322039"/>
          <a:ext cx="4516837" cy="9755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2944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335893">
                  <a:extLst>
                    <a:ext uri="{9D8B030D-6E8A-4147-A177-3AD203B41FA5}">
                      <a16:colId xmlns:a16="http://schemas.microsoft.com/office/drawing/2014/main" val="203178193"/>
                    </a:ext>
                  </a:extLst>
                </a:gridCol>
              </a:tblGrid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rolling volatilty of log first diff of WTI Oil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Natural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commodity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log return 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968691"/>
                  </a:ext>
                </a:extLst>
              </a:tr>
            </a:tbl>
          </a:graphicData>
        </a:graphic>
      </p:graphicFrame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25035102-A03E-642D-0890-B1829DF8E519}"/>
              </a:ext>
            </a:extLst>
          </p:cNvPr>
          <p:cNvCxnSpPr>
            <a:cxnSpLocks/>
          </p:cNvCxnSpPr>
          <p:nvPr/>
        </p:nvCxnSpPr>
        <p:spPr>
          <a:xfrm>
            <a:off x="6095699" y="4034949"/>
            <a:ext cx="52200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C949EB2E-B95E-ED0E-A4F9-9EF24BF6DB08}"/>
              </a:ext>
            </a:extLst>
          </p:cNvPr>
          <p:cNvSpPr/>
          <p:nvPr/>
        </p:nvSpPr>
        <p:spPr>
          <a:xfrm>
            <a:off x="6313112" y="1807520"/>
            <a:ext cx="268558" cy="21470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A28345E5-C39D-5E21-4FAC-07BD5B89DDAF}"/>
              </a:ext>
            </a:extLst>
          </p:cNvPr>
          <p:cNvSpPr/>
          <p:nvPr/>
        </p:nvSpPr>
        <p:spPr>
          <a:xfrm>
            <a:off x="6303063" y="4181818"/>
            <a:ext cx="268558" cy="211579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6791B51-395C-E8E8-EBCC-7318D0259CC0}"/>
              </a:ext>
            </a:extLst>
          </p:cNvPr>
          <p:cNvSpPr/>
          <p:nvPr/>
        </p:nvSpPr>
        <p:spPr>
          <a:xfrm>
            <a:off x="5923485" y="2629580"/>
            <a:ext cx="413377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82DED74-477A-CA33-8906-5C027DE1CA52}"/>
              </a:ext>
            </a:extLst>
          </p:cNvPr>
          <p:cNvSpPr/>
          <p:nvPr/>
        </p:nvSpPr>
        <p:spPr>
          <a:xfrm>
            <a:off x="5923571" y="4995117"/>
            <a:ext cx="413377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</a:t>
            </a:r>
          </a:p>
        </p:txBody>
      </p:sp>
      <p:sp>
        <p:nvSpPr>
          <p:cNvPr id="4" name="Geschweifte Klammer links 3">
            <a:extLst>
              <a:ext uri="{FF2B5EF4-FFF2-40B4-BE49-F238E27FC236}">
                <a16:creationId xmlns:a16="http://schemas.microsoft.com/office/drawing/2014/main" id="{BE1EC463-ED28-F20A-CCF7-8EC6BD6CEB13}"/>
              </a:ext>
            </a:extLst>
          </p:cNvPr>
          <p:cNvSpPr/>
          <p:nvPr/>
        </p:nvSpPr>
        <p:spPr>
          <a:xfrm>
            <a:off x="6144820" y="2979002"/>
            <a:ext cx="268558" cy="97557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9C4D93F-B324-14DF-1ED3-76800033C3CD}"/>
              </a:ext>
            </a:extLst>
          </p:cNvPr>
          <p:cNvSpPr/>
          <p:nvPr/>
        </p:nvSpPr>
        <p:spPr>
          <a:xfrm>
            <a:off x="5695414" y="3324288"/>
            <a:ext cx="504000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B1.1</a:t>
            </a:r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FBFE769F-D17B-FEE3-3CB8-D69F69550B0F}"/>
              </a:ext>
            </a:extLst>
          </p:cNvPr>
          <p:cNvSpPr/>
          <p:nvPr/>
        </p:nvSpPr>
        <p:spPr>
          <a:xfrm>
            <a:off x="6144820" y="5322039"/>
            <a:ext cx="268558" cy="97556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359A86C-CD94-06E0-9AF9-7C2B42963CE7}"/>
              </a:ext>
            </a:extLst>
          </p:cNvPr>
          <p:cNvSpPr/>
          <p:nvPr/>
        </p:nvSpPr>
        <p:spPr>
          <a:xfrm>
            <a:off x="5695414" y="5690448"/>
            <a:ext cx="504000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B2.1</a:t>
            </a:r>
          </a:p>
        </p:txBody>
      </p:sp>
    </p:spTree>
    <p:extLst>
      <p:ext uri="{BB962C8B-B14F-4D97-AF65-F5344CB8AC3E}">
        <p14:creationId xmlns:p14="http://schemas.microsoft.com/office/powerpoint/2010/main" val="10723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E120-6908-AEF2-32CE-B08554CB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486A14B4-485E-E5DE-47EA-6A7DC30AF5CC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Theoretical Framework (II)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0965EB1-FCF8-8CEF-2F80-2B6ECAD8BAE4}"/>
              </a:ext>
            </a:extLst>
          </p:cNvPr>
          <p:cNvSpPr/>
          <p:nvPr/>
        </p:nvSpPr>
        <p:spPr>
          <a:xfrm>
            <a:off x="376323" y="728896"/>
            <a:ext cx="547600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730DB4C-2BFB-A9F7-19E6-03AB89BE61C9}"/>
              </a:ext>
            </a:extLst>
          </p:cNvPr>
          <p:cNvSpPr/>
          <p:nvPr/>
        </p:nvSpPr>
        <p:spPr>
          <a:xfrm>
            <a:off x="1112921" y="728896"/>
            <a:ext cx="2850535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relevant regimes in the data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639F194-6AFB-AAE3-6531-6B44F69E4ECD}"/>
              </a:ext>
            </a:extLst>
          </p:cNvPr>
          <p:cNvSpPr/>
          <p:nvPr/>
        </p:nvSpPr>
        <p:spPr>
          <a:xfrm>
            <a:off x="4330396" y="990170"/>
            <a:ext cx="2988000" cy="161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 regimes (high volatility vs. low volatility)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CE0BD48-6E41-7208-0692-E1E72FA27BA1}"/>
              </a:ext>
            </a:extLst>
          </p:cNvPr>
          <p:cNvSpPr/>
          <p:nvPr/>
        </p:nvSpPr>
        <p:spPr>
          <a:xfrm>
            <a:off x="7547874" y="1224009"/>
            <a:ext cx="2969970" cy="372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 approaches: Univariate econometric modelling (benchmarks)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CAB209E-3252-D7DB-0127-6303A85EC043}"/>
              </a:ext>
            </a:extLst>
          </p:cNvPr>
          <p:cNvSpPr/>
          <p:nvPr/>
        </p:nvSpPr>
        <p:spPr>
          <a:xfrm>
            <a:off x="1112919" y="1224009"/>
            <a:ext cx="2969970" cy="372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approaches: Multivariate Clustering using additional variables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CB3143E-25CE-4BA2-EF6E-4A975B8643F6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 flipH="1">
            <a:off x="4082889" y="1151391"/>
            <a:ext cx="1741507" cy="258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98D6D79-61CE-9212-877A-69D558C2A9D2}"/>
              </a:ext>
            </a:extLst>
          </p:cNvPr>
          <p:cNvCxnSpPr>
            <a:cxnSpLocks/>
            <a:stCxn id="21" idx="2"/>
            <a:endCxn id="22" idx="1"/>
          </p:cNvCxnSpPr>
          <p:nvPr/>
        </p:nvCxnSpPr>
        <p:spPr>
          <a:xfrm>
            <a:off x="5824396" y="1151391"/>
            <a:ext cx="1723478" cy="258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8DD25FF0-7B9D-D3F4-B308-E3DAFE68A3E0}"/>
              </a:ext>
            </a:extLst>
          </p:cNvPr>
          <p:cNvSpPr/>
          <p:nvPr/>
        </p:nvSpPr>
        <p:spPr>
          <a:xfrm>
            <a:off x="7547874" y="1729708"/>
            <a:ext cx="2850535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 Regression/Switching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1B35F85-5C60-A2B2-9AED-A39CA845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362" y="3111943"/>
            <a:ext cx="1509225" cy="920686"/>
          </a:xfrm>
          <a:prstGeom prst="rect">
            <a:avLst/>
          </a:prstGeom>
        </p:spPr>
      </p:pic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191E56BF-65D1-0604-83F1-D404606A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41432"/>
              </p:ext>
            </p:extLst>
          </p:nvPr>
        </p:nvGraphicFramePr>
        <p:xfrm>
          <a:off x="1102735" y="1670952"/>
          <a:ext cx="4460423" cy="26848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921193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package (version)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KMeans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AgglomerativeClustering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97854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SpectralClustering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077558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8551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GaussianMixture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406197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982446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AffinityPropagation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91469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12393"/>
                  </a:ext>
                </a:extLst>
              </a:tr>
              <a:tr h="244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MiniBatchKMeans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772991"/>
                  </a:ext>
                </a:extLst>
              </a:tr>
            </a:tbl>
          </a:graphicData>
        </a:graphic>
      </p:graphicFrame>
      <p:graphicFrame>
        <p:nvGraphicFramePr>
          <p:cNvPr id="26" name="Tabelle 25">
            <a:extLst>
              <a:ext uri="{FF2B5EF4-FFF2-40B4-BE49-F238E27FC236}">
                <a16:creationId xmlns:a16="http://schemas.microsoft.com/office/drawing/2014/main" id="{2CA932F0-FF5E-538B-F33F-F6EA78028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909615"/>
              </p:ext>
            </p:extLst>
          </p:nvPr>
        </p:nvGraphicFramePr>
        <p:xfrm>
          <a:off x="6948697" y="2069493"/>
          <a:ext cx="4168323" cy="7665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713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921193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package (version)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MarkovRegression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statsmodels (0.14.5)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 Switching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sp>
        <p:nvSpPr>
          <p:cNvPr id="3" name="Geschweifte Klammer links 2">
            <a:extLst>
              <a:ext uri="{FF2B5EF4-FFF2-40B4-BE49-F238E27FC236}">
                <a16:creationId xmlns:a16="http://schemas.microsoft.com/office/drawing/2014/main" id="{3493DB9E-2C94-8084-D29D-13BDFE0720BD}"/>
              </a:ext>
            </a:extLst>
          </p:cNvPr>
          <p:cNvSpPr/>
          <p:nvPr/>
        </p:nvSpPr>
        <p:spPr>
          <a:xfrm rot="16200000">
            <a:off x="3198670" y="2334275"/>
            <a:ext cx="268558" cy="446042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BFCF98F-771C-0813-20F1-CE1317934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63421"/>
              </p:ext>
            </p:extLst>
          </p:nvPr>
        </p:nvGraphicFramePr>
        <p:xfrm>
          <a:off x="1072396" y="5046446"/>
          <a:ext cx="4490762" cy="792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594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073454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</a:tblGrid>
              <a:tr h="263672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package (version)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4375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GridSearchCV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32FEE27F-95EE-DEED-7397-BB968F5C810B}"/>
              </a:ext>
            </a:extLst>
          </p:cNvPr>
          <p:cNvSpPr/>
          <p:nvPr/>
        </p:nvSpPr>
        <p:spPr>
          <a:xfrm>
            <a:off x="1907678" y="4751167"/>
            <a:ext cx="2850535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 Optimisation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FBCD425-D912-7A64-E17D-940F90EC19AF}"/>
              </a:ext>
            </a:extLst>
          </p:cNvPr>
          <p:cNvSpPr/>
          <p:nvPr/>
        </p:nvSpPr>
        <p:spPr>
          <a:xfrm>
            <a:off x="1071562" y="6120513"/>
            <a:ext cx="1620000" cy="216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TimeSeriesSplit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FE57130-780F-1242-233E-7AF177D7AD84}"/>
              </a:ext>
            </a:extLst>
          </p:cNvPr>
          <p:cNvSpPr/>
          <p:nvPr/>
        </p:nvSpPr>
        <p:spPr>
          <a:xfrm>
            <a:off x="3835158" y="6120513"/>
            <a:ext cx="17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CombinatorialPurgedCV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0393098-2965-2B68-EAE6-59833D55454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317777" y="5838926"/>
            <a:ext cx="1381381" cy="28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B800936-FFF5-9A06-3234-0B882F67A21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1881562" y="5838926"/>
            <a:ext cx="1436215" cy="28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E5AFA0B1-6FF8-536E-CC3E-746B2D07A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623" y="3085000"/>
            <a:ext cx="2682597" cy="989748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0224436-2523-8528-741C-F3342D1FAA0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7863587" y="3572286"/>
            <a:ext cx="485036" cy="7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Grafik 28">
            <a:extLst>
              <a:ext uri="{FF2B5EF4-FFF2-40B4-BE49-F238E27FC236}">
                <a16:creationId xmlns:a16="http://schemas.microsoft.com/office/drawing/2014/main" id="{482625FE-662A-ACA9-BAF2-D2CD56742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872" y="4494857"/>
            <a:ext cx="2460115" cy="1042167"/>
          </a:xfrm>
          <a:prstGeom prst="rect">
            <a:avLst/>
          </a:prstGeom>
        </p:spPr>
      </p:pic>
      <p:cxnSp>
        <p:nvCxnSpPr>
          <p:cNvPr id="32" name="Gewinkelte Verbindung 31">
            <a:extLst>
              <a:ext uri="{FF2B5EF4-FFF2-40B4-BE49-F238E27FC236}">
                <a16:creationId xmlns:a16="http://schemas.microsoft.com/office/drawing/2014/main" id="{A35F3922-81FE-51E8-9C3D-4628179894C2}"/>
              </a:ext>
            </a:extLst>
          </p:cNvPr>
          <p:cNvCxnSpPr>
            <a:stCxn id="13" idx="2"/>
            <a:endCxn id="29" idx="0"/>
          </p:cNvCxnSpPr>
          <p:nvPr/>
        </p:nvCxnSpPr>
        <p:spPr>
          <a:xfrm rot="5400000">
            <a:off x="8421372" y="3226306"/>
            <a:ext cx="420109" cy="21169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Grafik 32">
            <a:extLst>
              <a:ext uri="{FF2B5EF4-FFF2-40B4-BE49-F238E27FC236}">
                <a16:creationId xmlns:a16="http://schemas.microsoft.com/office/drawing/2014/main" id="{034F7BB8-3AF7-E150-B907-FF7B2F41B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2858" y="4561666"/>
            <a:ext cx="2308808" cy="908547"/>
          </a:xfrm>
          <a:prstGeom prst="rect">
            <a:avLst/>
          </a:prstGeom>
        </p:spPr>
      </p:pic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63E377A-8EB7-EFB0-9C8D-F5764863C467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 flipV="1">
            <a:off x="8802987" y="5015940"/>
            <a:ext cx="2298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Grafik 38">
            <a:extLst>
              <a:ext uri="{FF2B5EF4-FFF2-40B4-BE49-F238E27FC236}">
                <a16:creationId xmlns:a16="http://schemas.microsoft.com/office/drawing/2014/main" id="{7E3C7A32-69D9-4C82-42B5-819C3D6825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7102" y="5714857"/>
            <a:ext cx="3441307" cy="618170"/>
          </a:xfrm>
          <a:prstGeom prst="rect">
            <a:avLst/>
          </a:prstGeom>
        </p:spPr>
      </p:pic>
      <p:cxnSp>
        <p:nvCxnSpPr>
          <p:cNvPr id="40" name="Gewinkelte Verbindung 39">
            <a:extLst>
              <a:ext uri="{FF2B5EF4-FFF2-40B4-BE49-F238E27FC236}">
                <a16:creationId xmlns:a16="http://schemas.microsoft.com/office/drawing/2014/main" id="{A3181C01-0942-A7D3-3598-D635C8DC5058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 rot="5400000">
            <a:off x="9310187" y="4837782"/>
            <a:ext cx="244644" cy="15095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43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7E9F-43F9-5DFC-0383-DDDDAC31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02B33C8D-42D8-7A2C-97A8-03E2E749BCC5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Theoretical Framework (III)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F54ADB2-B149-B409-C8E6-C7CD7113A746}"/>
              </a:ext>
            </a:extLst>
          </p:cNvPr>
          <p:cNvSpPr/>
          <p:nvPr/>
        </p:nvSpPr>
        <p:spPr>
          <a:xfrm>
            <a:off x="215456" y="766932"/>
            <a:ext cx="547600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ED42DC-D506-3763-18CE-273E33265963}"/>
              </a:ext>
            </a:extLst>
          </p:cNvPr>
          <p:cNvSpPr/>
          <p:nvPr/>
        </p:nvSpPr>
        <p:spPr>
          <a:xfrm>
            <a:off x="952054" y="766932"/>
            <a:ext cx="2850535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and compare the regimes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98ACBCE-853C-2E82-4FCA-204C598A7ABD}"/>
              </a:ext>
            </a:extLst>
          </p:cNvPr>
          <p:cNvSpPr/>
          <p:nvPr/>
        </p:nvSpPr>
        <p:spPr>
          <a:xfrm>
            <a:off x="952059" y="2511217"/>
            <a:ext cx="500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Theoretically affecting crisis periods - major global shocks and US recessions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C205661-3FB5-27A8-FF0A-613BDC13C5BE}"/>
              </a:ext>
            </a:extLst>
          </p:cNvPr>
          <p:cNvSpPr/>
          <p:nvPr/>
        </p:nvSpPr>
        <p:spPr>
          <a:xfrm>
            <a:off x="952059" y="995344"/>
            <a:ext cx="3816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evaluation and selection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AB5C5E8D-2779-73F6-B891-F5883B202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073623"/>
              </p:ext>
            </p:extLst>
          </p:nvPr>
        </p:nvGraphicFramePr>
        <p:xfrm>
          <a:off x="952055" y="1251370"/>
          <a:ext cx="9791910" cy="108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1921193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1013143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4231214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package (version)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Silhouette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 (1.7.2)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[-1, 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being best, -1 being worst, values near 0 indicate overlapping clusters.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[AB98]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MSM-Score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[0, 100]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(perfect regime classification),</a:t>
                      </a:r>
                    </a:p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(failure to detect any regime classification)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898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Crisis overlap 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 calculations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[0, 100]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overlap ranging from 0% - 100%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24491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5E309DD-F646-F4A7-64AE-E808C3BCC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45646"/>
              </p:ext>
            </p:extLst>
          </p:nvPr>
        </p:nvGraphicFramePr>
        <p:xfrm>
          <a:off x="952054" y="2771122"/>
          <a:ext cx="9404922" cy="3571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786">
                  <a:extLst>
                    <a:ext uri="{9D8B030D-6E8A-4147-A177-3AD203B41FA5}">
                      <a16:colId xmlns:a16="http://schemas.microsoft.com/office/drawing/2014/main" val="2975178182"/>
                    </a:ext>
                  </a:extLst>
                </a:gridCol>
                <a:gridCol w="1105345">
                  <a:extLst>
                    <a:ext uri="{9D8B030D-6E8A-4147-A177-3AD203B41FA5}">
                      <a16:colId xmlns:a16="http://schemas.microsoft.com/office/drawing/2014/main" val="2920841970"/>
                    </a:ext>
                  </a:extLst>
                </a:gridCol>
                <a:gridCol w="1090435">
                  <a:extLst>
                    <a:ext uri="{9D8B030D-6E8A-4147-A177-3AD203B41FA5}">
                      <a16:colId xmlns:a16="http://schemas.microsoft.com/office/drawing/2014/main" val="2491132898"/>
                    </a:ext>
                  </a:extLst>
                </a:gridCol>
                <a:gridCol w="1758923">
                  <a:extLst>
                    <a:ext uri="{9D8B030D-6E8A-4147-A177-3AD203B41FA5}">
                      <a16:colId xmlns:a16="http://schemas.microsoft.com/office/drawing/2014/main" val="3640099135"/>
                    </a:ext>
                  </a:extLst>
                </a:gridCol>
                <a:gridCol w="2432381">
                  <a:extLst>
                    <a:ext uri="{9D8B030D-6E8A-4147-A177-3AD203B41FA5}">
                      <a16:colId xmlns:a16="http://schemas.microsoft.com/office/drawing/2014/main" val="1431062659"/>
                    </a:ext>
                  </a:extLst>
                </a:gridCol>
                <a:gridCol w="2444052">
                  <a:extLst>
                    <a:ext uri="{9D8B030D-6E8A-4147-A177-3AD203B41FA5}">
                      <a16:colId xmlns:a16="http://schemas.microsoft.com/office/drawing/2014/main" val="2286573246"/>
                    </a:ext>
                  </a:extLst>
                </a:gridCol>
              </a:tblGrid>
              <a:tr h="171318"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L="8566" marR="8566" marT="85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  <a:endParaRPr lang="de-DE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  <a:endParaRPr lang="de-DE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Event-Type</a:t>
                      </a:r>
                      <a:endParaRPr lang="de-DE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</a:t>
                      </a:r>
                    </a:p>
                  </a:txBody>
                  <a:tcPr marL="8566" marR="8566" marT="856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lang="de-DE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731443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1970-01-01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1970-12-01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1970-1970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748657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1971-08-15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1973-03-19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Bretton Woods Breakdown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[Cor+25]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465442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1971-08-15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1973-03-19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Nixon Shock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[EF04]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083656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1973-10-17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1974-03-01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 Crisis I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 T23]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882049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1973-12-01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1975-04-01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1973-1975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32909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1979-01-01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1981-03-01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 Crisis II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 T23]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787468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1980-02-01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1980-08-01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1980-1980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639066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1981-08-01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1982-12-01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1981-1982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477127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1987-10-19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1987-10-19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 Monday Crash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[EF04]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646899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1990-08-01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1991-04-01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1990-1991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68524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1997-07-02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1998-12-31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Asian Financial Crisis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[ML23]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13705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1998-08-17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1998-09-01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Russian Crisis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[ML23]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536028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2000-03-01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2002-10-01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Dot-com Bubble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[MNR25]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398720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2001-04-01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2001-12-01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2001-2001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47341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2007-08-09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2009-03-09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Global Financial Crisis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[MNR25]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89982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2008-01-01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2009-07-01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2008-2009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80043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2008-11-25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2014-12-31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QE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[MNR25]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467765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2009-10-01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2012-12-31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Debt Crisis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[MNR25]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542053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2011-08-20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2011-08-05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Debt Ceiling Crisis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de-D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[MNR25]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25058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2018-03-22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2020-01-15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US-China Trade War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Various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018509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2020-02-20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2021-11-16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COVID-19 Pandemic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[ML23]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58122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2020-03-01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2020-05-01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US-Recession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 Recession 2020-2020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[St 25b]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815750"/>
                  </a:ext>
                </a:extLst>
              </a:tr>
              <a:tr h="1476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2022-02-24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2022-06-01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Major Global Crisis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Russia-Ukraine War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[Cha25]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6" marR="8566" marT="85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38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11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86FF-0FA1-FA96-F37A-21BE396C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2F1D4B39-6ECD-A011-3D89-D6208F0757AB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Theoretical Framework (IV)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026C892-2E94-1107-A258-C8124E337D86}"/>
              </a:ext>
            </a:extLst>
          </p:cNvPr>
          <p:cNvSpPr/>
          <p:nvPr/>
        </p:nvSpPr>
        <p:spPr>
          <a:xfrm>
            <a:off x="215456" y="813584"/>
            <a:ext cx="547600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095F87D-A565-3E72-9DAA-8DD34D44EB8F}"/>
              </a:ext>
            </a:extLst>
          </p:cNvPr>
          <p:cNvSpPr/>
          <p:nvPr/>
        </p:nvSpPr>
        <p:spPr>
          <a:xfrm>
            <a:off x="952054" y="813584"/>
            <a:ext cx="2850535" cy="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for UIP conditional on regimes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EADD146-03B0-C365-61EA-2666941F6D64}"/>
              </a:ext>
            </a:extLst>
          </p:cNvPr>
          <p:cNvSpPr/>
          <p:nvPr/>
        </p:nvSpPr>
        <p:spPr>
          <a:xfrm>
            <a:off x="952059" y="1041996"/>
            <a:ext cx="3816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comparison – UIP Testing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7490227-F347-3BC9-1E4F-2037A9EC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428" y="1468038"/>
            <a:ext cx="5021278" cy="197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 bright="30000" contrast="45000"/>
          </a:blip>
          <a:srcRect/>
          <a:stretch>
            <a:fillRect l="50000" t="-28000" r="-35000" b="-13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1BD31-E41C-32E5-CB26-73CD8B2A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FF4BF66-5482-53AC-ED7C-8225E60A2FBA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62C5BAF0-AD8C-D57B-C614-5150314E5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71" y="-67456"/>
            <a:ext cx="1771272" cy="88563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8D9E65A-EF33-23FC-1FF7-67BC136923B9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>Chapter 5)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8CDF5D73-B632-4729-DE34-23C491524185}"/>
              </a:ext>
            </a:extLst>
          </p:cNvPr>
          <p:cNvSpPr/>
          <p:nvPr/>
        </p:nvSpPr>
        <p:spPr>
          <a:xfrm>
            <a:off x="2821153" y="2996762"/>
            <a:ext cx="5892623" cy="486650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Methodology Overview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797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AD20-E796-1EE6-F1F4-6DE5BFB8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3">
            <a:extLst>
              <a:ext uri="{FF2B5EF4-FFF2-40B4-BE49-F238E27FC236}">
                <a16:creationId xmlns:a16="http://schemas.microsoft.com/office/drawing/2014/main" id="{D7F7FB85-4E9D-84C1-96E4-C5B3043593B5}"/>
              </a:ext>
            </a:extLst>
          </p:cNvPr>
          <p:cNvSpPr/>
          <p:nvPr/>
        </p:nvSpPr>
        <p:spPr>
          <a:xfrm>
            <a:off x="540000" y="743529"/>
            <a:ext cx="10079640" cy="269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Energy Commodity Prices and exchange rates: Transmission channels</a:t>
            </a:r>
            <a:endParaRPr lang="de-DE" sz="14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C335FAC-F85F-20FB-E7C7-5D38364D8B01}"/>
              </a:ext>
            </a:extLst>
          </p:cNvPr>
          <p:cNvSpPr/>
          <p:nvPr/>
        </p:nvSpPr>
        <p:spPr>
          <a:xfrm>
            <a:off x="1843534" y="4785555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and Risk Spillover Effects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4E632F0-ACE3-0DAB-5FA2-1DA5F3534911}"/>
              </a:ext>
            </a:extLst>
          </p:cNvPr>
          <p:cNvSpPr/>
          <p:nvPr/>
        </p:nvSpPr>
        <p:spPr>
          <a:xfrm>
            <a:off x="8746536" y="4005332"/>
            <a:ext cx="149277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export and import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7F835F-4EF6-44F8-43B6-075AB1250D85}"/>
              </a:ext>
            </a:extLst>
          </p:cNvPr>
          <p:cNvSpPr/>
          <p:nvPr/>
        </p:nvSpPr>
        <p:spPr>
          <a:xfrm>
            <a:off x="1793695" y="2322789"/>
            <a:ext cx="248909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Transmission Channels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253F265-53D5-D8AB-DAE8-2C8A71B499AD}"/>
              </a:ext>
            </a:extLst>
          </p:cNvPr>
          <p:cNvSpPr/>
          <p:nvPr/>
        </p:nvSpPr>
        <p:spPr>
          <a:xfrm>
            <a:off x="8173122" y="2312621"/>
            <a:ext cx="272915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Transmission Channels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3D74FF-F7E2-C9C7-7760-817DF146BE28}"/>
              </a:ext>
            </a:extLst>
          </p:cNvPr>
          <p:cNvSpPr/>
          <p:nvPr/>
        </p:nvSpPr>
        <p:spPr>
          <a:xfrm>
            <a:off x="4683001" y="2316511"/>
            <a:ext cx="291807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Macroeconomic Transmission Channels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7727AD4-DC24-0B86-82F6-FC41548A5B1D}"/>
              </a:ext>
            </a:extLst>
          </p:cNvPr>
          <p:cNvSpPr/>
          <p:nvPr/>
        </p:nvSpPr>
        <p:spPr>
          <a:xfrm>
            <a:off x="8930782" y="2860833"/>
            <a:ext cx="121382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 Policy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16A8A89-BD6D-401D-3C1B-52235CA9B8CF}"/>
              </a:ext>
            </a:extLst>
          </p:cNvPr>
          <p:cNvSpPr/>
          <p:nvPr/>
        </p:nvSpPr>
        <p:spPr>
          <a:xfrm>
            <a:off x="5714201" y="3415883"/>
            <a:ext cx="763593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1EF3A8-2956-95B6-2F5A-B99143FCB4D2}"/>
              </a:ext>
            </a:extLst>
          </p:cNvPr>
          <p:cNvSpPr/>
          <p:nvPr/>
        </p:nvSpPr>
        <p:spPr>
          <a:xfrm>
            <a:off x="5682450" y="4303966"/>
            <a:ext cx="151513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Denomination Effect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8F8B152-EED8-4423-1C73-CC17CD51EEA3}"/>
              </a:ext>
            </a:extLst>
          </p:cNvPr>
          <p:cNvSpPr/>
          <p:nvPr/>
        </p:nvSpPr>
        <p:spPr>
          <a:xfrm>
            <a:off x="2204319" y="2851296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Wealth Transfer Effect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CFBA069-CCF6-532F-F4CB-76B9BD8755B3}"/>
              </a:ext>
            </a:extLst>
          </p:cNvPr>
          <p:cNvSpPr/>
          <p:nvPr/>
        </p:nvSpPr>
        <p:spPr>
          <a:xfrm>
            <a:off x="4755460" y="2850665"/>
            <a:ext cx="27731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(Risk Parity) Portfolio Rebalancing Effect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A0CFAEC-01B2-A0CA-E857-3AF00A946BA0}"/>
              </a:ext>
            </a:extLst>
          </p:cNvPr>
          <p:cNvCxnSpPr/>
          <p:nvPr/>
        </p:nvCxnSpPr>
        <p:spPr>
          <a:xfrm>
            <a:off x="778932" y="2260600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19CF8815-EF39-ABFA-1238-004A8F1101E6}"/>
              </a:ext>
            </a:extLst>
          </p:cNvPr>
          <p:cNvSpPr/>
          <p:nvPr/>
        </p:nvSpPr>
        <p:spPr>
          <a:xfrm>
            <a:off x="411140" y="1782177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4344797-D1BE-0F39-8003-717929ABE343}"/>
              </a:ext>
            </a:extLst>
          </p:cNvPr>
          <p:cNvSpPr/>
          <p:nvPr/>
        </p:nvSpPr>
        <p:spPr>
          <a:xfrm>
            <a:off x="2296467" y="1860414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Run Dynamics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8DEBD9E-73EE-F468-25B0-C1F48E091FED}"/>
              </a:ext>
            </a:extLst>
          </p:cNvPr>
          <p:cNvSpPr/>
          <p:nvPr/>
        </p:nvSpPr>
        <p:spPr>
          <a:xfrm>
            <a:off x="8712197" y="1921320"/>
            <a:ext cx="165100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Relationship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AF715F8-8652-7032-E72B-7601076C96FA}"/>
              </a:ext>
            </a:extLst>
          </p:cNvPr>
          <p:cNvSpPr/>
          <p:nvPr/>
        </p:nvSpPr>
        <p:spPr>
          <a:xfrm>
            <a:off x="5376297" y="1861070"/>
            <a:ext cx="148726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Mid-term fluctuations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670D4AF-BD95-BB10-7C89-69CCA8CD936F}"/>
              </a:ext>
            </a:extLst>
          </p:cNvPr>
          <p:cNvCxnSpPr>
            <a:cxnSpLocks/>
          </p:cNvCxnSpPr>
          <p:nvPr/>
        </p:nvCxnSpPr>
        <p:spPr>
          <a:xfrm>
            <a:off x="778932" y="2260600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CD56A400-2E4C-A636-1EE5-377F0A0E74E9}"/>
              </a:ext>
            </a:extLst>
          </p:cNvPr>
          <p:cNvSpPr/>
          <p:nvPr/>
        </p:nvSpPr>
        <p:spPr>
          <a:xfrm>
            <a:off x="0" y="2056589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39CE900-17E4-83ED-0FF6-EEA1F83BEF37}"/>
              </a:ext>
            </a:extLst>
          </p:cNvPr>
          <p:cNvSpPr/>
          <p:nvPr/>
        </p:nvSpPr>
        <p:spPr>
          <a:xfrm rot="16200000">
            <a:off x="45155" y="2812203"/>
            <a:ext cx="65571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2433117-232D-D43C-F701-BE591F5A3D2A}"/>
              </a:ext>
            </a:extLst>
          </p:cNvPr>
          <p:cNvSpPr/>
          <p:nvPr/>
        </p:nvSpPr>
        <p:spPr>
          <a:xfrm rot="16200000">
            <a:off x="-84698" y="4912223"/>
            <a:ext cx="91542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3727570-03AC-E92B-9D9E-07638E8FF6FA}"/>
              </a:ext>
            </a:extLst>
          </p:cNvPr>
          <p:cNvSpPr/>
          <p:nvPr/>
        </p:nvSpPr>
        <p:spPr>
          <a:xfrm>
            <a:off x="5041037" y="4796163"/>
            <a:ext cx="237330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(US) Terms of Trade Effect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8E84B6A-9295-3B6A-2AAC-70E318E45433}"/>
              </a:ext>
            </a:extLst>
          </p:cNvPr>
          <p:cNvSpPr/>
          <p:nvPr/>
        </p:nvSpPr>
        <p:spPr>
          <a:xfrm>
            <a:off x="411140" y="1482055"/>
            <a:ext cx="1110289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Datafrequency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ABF927C-6532-EF25-3DB9-B165E7B109FA}"/>
              </a:ext>
            </a:extLst>
          </p:cNvPr>
          <p:cNvCxnSpPr/>
          <p:nvPr/>
        </p:nvCxnSpPr>
        <p:spPr>
          <a:xfrm>
            <a:off x="778932" y="1765243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3F211A30-3C89-7603-2902-726ABA95F9B3}"/>
              </a:ext>
            </a:extLst>
          </p:cNvPr>
          <p:cNvSpPr/>
          <p:nvPr/>
        </p:nvSpPr>
        <p:spPr>
          <a:xfrm>
            <a:off x="2275981" y="1464107"/>
            <a:ext cx="153602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Daily, Weely, Monthly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969D7CE-36B1-464F-AEE4-F2BC016C28E2}"/>
              </a:ext>
            </a:extLst>
          </p:cNvPr>
          <p:cNvSpPr/>
          <p:nvPr/>
        </p:nvSpPr>
        <p:spPr>
          <a:xfrm>
            <a:off x="5435044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Monthly, Quarterly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4EDFBED-BE1F-16ED-923E-BDB55CDDEE4D}"/>
              </a:ext>
            </a:extLst>
          </p:cNvPr>
          <p:cNvSpPr/>
          <p:nvPr/>
        </p:nvSpPr>
        <p:spPr>
          <a:xfrm>
            <a:off x="8828065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Annually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188E2BA-0200-8E7D-E4BF-57E474E7CE46}"/>
              </a:ext>
            </a:extLst>
          </p:cNvPr>
          <p:cNvSpPr/>
          <p:nvPr/>
        </p:nvSpPr>
        <p:spPr>
          <a:xfrm>
            <a:off x="5372776" y="4005332"/>
            <a:ext cx="143510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 Effects</a:t>
            </a:r>
          </a:p>
        </p:txBody>
      </p:sp>
      <p:cxnSp>
        <p:nvCxnSpPr>
          <p:cNvPr id="37" name="Gewinkelte Verbindung 36">
            <a:extLst>
              <a:ext uri="{FF2B5EF4-FFF2-40B4-BE49-F238E27FC236}">
                <a16:creationId xmlns:a16="http://schemas.microsoft.com/office/drawing/2014/main" id="{CDA3FC37-EF11-7705-0A77-B9C2FDA2D7A8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5518186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41">
            <a:extLst>
              <a:ext uri="{FF2B5EF4-FFF2-40B4-BE49-F238E27FC236}">
                <a16:creationId xmlns:a16="http://schemas.microsoft.com/office/drawing/2014/main" id="{88C80A15-7A7C-8E86-8118-A92442E97EEF}"/>
              </a:ext>
            </a:extLst>
          </p:cNvPr>
          <p:cNvCxnSpPr/>
          <p:nvPr/>
        </p:nvCxnSpPr>
        <p:spPr>
          <a:xfrm>
            <a:off x="4500492" y="153493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FA11DBCE-08E6-3647-01EE-C5BF895F9069}"/>
              </a:ext>
            </a:extLst>
          </p:cNvPr>
          <p:cNvCxnSpPr/>
          <p:nvPr/>
        </p:nvCxnSpPr>
        <p:spPr>
          <a:xfrm>
            <a:off x="7853290" y="152911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5AE9B1F-901B-6B27-1C7A-7209097BAA36}"/>
              </a:ext>
            </a:extLst>
          </p:cNvPr>
          <p:cNvCxnSpPr>
            <a:cxnSpLocks/>
          </p:cNvCxnSpPr>
          <p:nvPr/>
        </p:nvCxnSpPr>
        <p:spPr>
          <a:xfrm>
            <a:off x="265012" y="3909431"/>
            <a:ext cx="1069085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43296D82-6E52-8B7C-8B25-7501C20ECE69}"/>
              </a:ext>
            </a:extLst>
          </p:cNvPr>
          <p:cNvSpPr/>
          <p:nvPr/>
        </p:nvSpPr>
        <p:spPr>
          <a:xfrm>
            <a:off x="9046221" y="4303966"/>
            <a:ext cx="16057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 Currencies</a:t>
            </a:r>
          </a:p>
        </p:txBody>
      </p:sp>
      <p:cxnSp>
        <p:nvCxnSpPr>
          <p:cNvPr id="52" name="Gewinkelte Verbindung 51">
            <a:extLst>
              <a:ext uri="{FF2B5EF4-FFF2-40B4-BE49-F238E27FC236}">
                <a16:creationId xmlns:a16="http://schemas.microsoft.com/office/drawing/2014/main" id="{8BFB2F93-6A48-1F50-B6FC-14E651A6C917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8881957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17A71FB6-D072-0717-BA12-D4D6C06D00D6}"/>
              </a:ext>
            </a:extLst>
          </p:cNvPr>
          <p:cNvSpPr/>
          <p:nvPr/>
        </p:nvSpPr>
        <p:spPr>
          <a:xfrm>
            <a:off x="5690581" y="4550064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 Pricing Effect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29091BE-4A5B-0EF5-7E5A-F7A3AEA548B1}"/>
              </a:ext>
            </a:extLst>
          </p:cNvPr>
          <p:cNvSpPr/>
          <p:nvPr/>
        </p:nvSpPr>
        <p:spPr>
          <a:xfrm>
            <a:off x="2204319" y="314835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DCC - GRACH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7031130-C61F-326F-B8DA-6843B06F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27" y="2636365"/>
            <a:ext cx="4117052" cy="36576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533BCD88-E6BD-F0D5-1197-3A807AC3E8C7}"/>
              </a:ext>
            </a:extLst>
          </p:cNvPr>
          <p:cNvSpPr/>
          <p:nvPr/>
        </p:nvSpPr>
        <p:spPr>
          <a:xfrm>
            <a:off x="1885543" y="396510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5A81917-1044-5C15-8D02-840E0835B6C4}"/>
              </a:ext>
            </a:extLst>
          </p:cNvPr>
          <p:cNvSpPr/>
          <p:nvPr/>
        </p:nvSpPr>
        <p:spPr>
          <a:xfrm>
            <a:off x="2292104" y="3444207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SVAR</a:t>
            </a:r>
          </a:p>
        </p:txBody>
      </p:sp>
    </p:spTree>
    <p:extLst>
      <p:ext uri="{BB962C8B-B14F-4D97-AF65-F5344CB8AC3E}">
        <p14:creationId xmlns:p14="http://schemas.microsoft.com/office/powerpoint/2010/main" val="2497025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4817-5310-267E-9D93-4FFF68B3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44F02557-566E-ABFE-A63B-E971481BA2B8}"/>
              </a:ext>
            </a:extLst>
          </p:cNvPr>
          <p:cNvCxnSpPr/>
          <p:nvPr/>
        </p:nvCxnSpPr>
        <p:spPr>
          <a:xfrm>
            <a:off x="5003670" y="1012646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ustomShape 3">
            <a:extLst>
              <a:ext uri="{FF2B5EF4-FFF2-40B4-BE49-F238E27FC236}">
                <a16:creationId xmlns:a16="http://schemas.microsoft.com/office/drawing/2014/main" id="{0819741F-CF4B-BAE2-960A-015C7AFDF3C4}"/>
              </a:ext>
            </a:extLst>
          </p:cNvPr>
          <p:cNvSpPr/>
          <p:nvPr/>
        </p:nvSpPr>
        <p:spPr>
          <a:xfrm>
            <a:off x="540000" y="743529"/>
            <a:ext cx="10079640" cy="269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Energy Commodity Prices and exchange rates: Econometric modelling </a:t>
            </a:r>
            <a:endParaRPr lang="de-DE" sz="14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DEC4D6D-1C3C-17DB-D63A-05047A97D0E9}"/>
              </a:ext>
            </a:extLst>
          </p:cNvPr>
          <p:cNvSpPr/>
          <p:nvPr/>
        </p:nvSpPr>
        <p:spPr>
          <a:xfrm>
            <a:off x="1564188" y="1182569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B0CA8E9-01B9-9B6A-9426-857F2C6668B6}"/>
              </a:ext>
            </a:extLst>
          </p:cNvPr>
          <p:cNvSpPr/>
          <p:nvPr/>
        </p:nvSpPr>
        <p:spPr>
          <a:xfrm>
            <a:off x="4347861" y="1597403"/>
            <a:ext cx="1329718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38B7DF9-7673-E6B1-D7CA-464A91A7CB2E}"/>
              </a:ext>
            </a:extLst>
          </p:cNvPr>
          <p:cNvSpPr/>
          <p:nvPr/>
        </p:nvSpPr>
        <p:spPr>
          <a:xfrm>
            <a:off x="4265195" y="1933779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E9748DC-C95B-724D-BEBE-A0525B98F38C}"/>
              </a:ext>
            </a:extLst>
          </p:cNvPr>
          <p:cNvSpPr/>
          <p:nvPr/>
        </p:nvSpPr>
        <p:spPr>
          <a:xfrm>
            <a:off x="3421713" y="1167973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26B94DC-D64F-901A-4DB7-881C106CD901}"/>
              </a:ext>
            </a:extLst>
          </p:cNvPr>
          <p:cNvSpPr/>
          <p:nvPr/>
        </p:nvSpPr>
        <p:spPr>
          <a:xfrm>
            <a:off x="5085147" y="1164569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A7B4CF5-B35A-3757-432F-187385F2F1C2}"/>
              </a:ext>
            </a:extLst>
          </p:cNvPr>
          <p:cNvSpPr/>
          <p:nvPr/>
        </p:nvSpPr>
        <p:spPr>
          <a:xfrm>
            <a:off x="3313071" y="2424480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Pearson Correlation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FB7EC7F-3FD3-4349-C0CC-EA528B46B0DE}"/>
              </a:ext>
            </a:extLst>
          </p:cNvPr>
          <p:cNvSpPr/>
          <p:nvPr/>
        </p:nvSpPr>
        <p:spPr>
          <a:xfrm>
            <a:off x="5175681" y="2424480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rank correlation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2099ED4-3F22-BAB9-CB08-483E6D8B9BD4}"/>
              </a:ext>
            </a:extLst>
          </p:cNvPr>
          <p:cNvSpPr/>
          <p:nvPr/>
        </p:nvSpPr>
        <p:spPr>
          <a:xfrm>
            <a:off x="2443271" y="3093740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Granger-Causality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5D3966F-C84D-34A4-3CA7-4B256E8F79D0}"/>
              </a:ext>
            </a:extLst>
          </p:cNvPr>
          <p:cNvSpPr/>
          <p:nvPr/>
        </p:nvSpPr>
        <p:spPr>
          <a:xfrm>
            <a:off x="4210544" y="4612557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Cointegration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CFC6ED35-12C9-C92A-9A1A-7E3ECFE8B4AC}"/>
              </a:ext>
            </a:extLst>
          </p:cNvPr>
          <p:cNvSpPr/>
          <p:nvPr/>
        </p:nvSpPr>
        <p:spPr>
          <a:xfrm>
            <a:off x="4191257" y="5087913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Connectedness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1FFB200-5314-B158-EFEA-C54C915B6805}"/>
              </a:ext>
            </a:extLst>
          </p:cNvPr>
          <p:cNvCxnSpPr>
            <a:stCxn id="23" idx="2"/>
            <a:endCxn id="36" idx="0"/>
          </p:cNvCxnSpPr>
          <p:nvPr/>
        </p:nvCxnSpPr>
        <p:spPr>
          <a:xfrm flipH="1">
            <a:off x="4060596" y="2149779"/>
            <a:ext cx="952124" cy="27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28C7E10-2C36-CB5B-FC07-42839D42A291}"/>
              </a:ext>
            </a:extLst>
          </p:cNvPr>
          <p:cNvCxnSpPr>
            <a:cxnSpLocks/>
            <a:stCxn id="23" idx="2"/>
            <a:endCxn id="38" idx="0"/>
          </p:cNvCxnSpPr>
          <p:nvPr/>
        </p:nvCxnSpPr>
        <p:spPr>
          <a:xfrm>
            <a:off x="5012720" y="2149779"/>
            <a:ext cx="910486" cy="27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732874AF-67E6-3731-E328-D90FA9AC0CEE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flipH="1">
            <a:off x="3190796" y="2826607"/>
            <a:ext cx="869800" cy="267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DB473DC3-0802-1B1D-E2CA-B15F3C18F55C}"/>
              </a:ext>
            </a:extLst>
          </p:cNvPr>
          <p:cNvSpPr/>
          <p:nvPr/>
        </p:nvSpPr>
        <p:spPr>
          <a:xfrm>
            <a:off x="4191256" y="5620763"/>
            <a:ext cx="1495049" cy="528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Autoregression (VAR)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1F287F64-41FC-92B6-E26F-2A707EFA7E65}"/>
              </a:ext>
            </a:extLst>
          </p:cNvPr>
          <p:cNvSpPr/>
          <p:nvPr/>
        </p:nvSpPr>
        <p:spPr>
          <a:xfrm>
            <a:off x="6095410" y="3651348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 Switching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2FEB09D5-548A-EEE9-E024-9B0FA12F968C}"/>
              </a:ext>
            </a:extLst>
          </p:cNvPr>
          <p:cNvSpPr/>
          <p:nvPr/>
        </p:nvSpPr>
        <p:spPr>
          <a:xfrm>
            <a:off x="6095410" y="4235614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Markov-Switching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F6F4AB1-851F-142F-B6A0-251DC4B65C78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6842935" y="4053475"/>
            <a:ext cx="0" cy="182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75C028C9-BB8F-0AD2-961D-CEEDC47AC25F}"/>
              </a:ext>
            </a:extLst>
          </p:cNvPr>
          <p:cNvSpPr/>
          <p:nvPr/>
        </p:nvSpPr>
        <p:spPr>
          <a:xfrm>
            <a:off x="4265195" y="3665025"/>
            <a:ext cx="1495049" cy="3713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Time-varying causality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A4859EF-6480-2912-A543-60C80AC0161C}"/>
              </a:ext>
            </a:extLst>
          </p:cNvPr>
          <p:cNvCxnSpPr>
            <a:cxnSpLocks/>
            <a:stCxn id="40" idx="2"/>
            <a:endCxn id="62" idx="0"/>
          </p:cNvCxnSpPr>
          <p:nvPr/>
        </p:nvCxnSpPr>
        <p:spPr>
          <a:xfrm>
            <a:off x="3190796" y="3309740"/>
            <a:ext cx="1821924" cy="355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6EE9DD6E-D5ED-8201-8222-D20A995210D7}"/>
              </a:ext>
            </a:extLst>
          </p:cNvPr>
          <p:cNvCxnSpPr>
            <a:cxnSpLocks/>
            <a:stCxn id="62" idx="3"/>
            <a:endCxn id="57" idx="1"/>
          </p:cNvCxnSpPr>
          <p:nvPr/>
        </p:nvCxnSpPr>
        <p:spPr>
          <a:xfrm>
            <a:off x="5760244" y="3850689"/>
            <a:ext cx="335166" cy="1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hteck 69">
            <a:extLst>
              <a:ext uri="{FF2B5EF4-FFF2-40B4-BE49-F238E27FC236}">
                <a16:creationId xmlns:a16="http://schemas.microsoft.com/office/drawing/2014/main" id="{AB69956F-14F6-8A83-004A-C57AC89ABE70}"/>
              </a:ext>
            </a:extLst>
          </p:cNvPr>
          <p:cNvSpPr/>
          <p:nvPr/>
        </p:nvSpPr>
        <p:spPr>
          <a:xfrm>
            <a:off x="1562920" y="4430812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DCC - GRACH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F984D5E-75D1-D322-81F0-D8B4581A6F5E}"/>
              </a:ext>
            </a:extLst>
          </p:cNvPr>
          <p:cNvSpPr/>
          <p:nvPr/>
        </p:nvSpPr>
        <p:spPr>
          <a:xfrm>
            <a:off x="1244144" y="5247562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2053A14E-923B-472E-8D72-BFA7E933D4FE}"/>
              </a:ext>
            </a:extLst>
          </p:cNvPr>
          <p:cNvSpPr/>
          <p:nvPr/>
        </p:nvSpPr>
        <p:spPr>
          <a:xfrm>
            <a:off x="1650705" y="4726668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SVAR</a:t>
            </a:r>
          </a:p>
        </p:txBody>
      </p:sp>
      <p:sp>
        <p:nvSpPr>
          <p:cNvPr id="73" name="Geschweifte Klammer links 72">
            <a:extLst>
              <a:ext uri="{FF2B5EF4-FFF2-40B4-BE49-F238E27FC236}">
                <a16:creationId xmlns:a16="http://schemas.microsoft.com/office/drawing/2014/main" id="{C6DDB5AB-BDFB-B7D6-5847-D809AE3FD070}"/>
              </a:ext>
            </a:extLst>
          </p:cNvPr>
          <p:cNvSpPr/>
          <p:nvPr/>
        </p:nvSpPr>
        <p:spPr>
          <a:xfrm>
            <a:off x="2024106" y="1629702"/>
            <a:ext cx="419165" cy="225328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27EAFFA8-9FE0-FB97-5017-F125E067C3DB}"/>
              </a:ext>
            </a:extLst>
          </p:cNvPr>
          <p:cNvSpPr/>
          <p:nvPr/>
        </p:nvSpPr>
        <p:spPr>
          <a:xfrm>
            <a:off x="476685" y="2424480"/>
            <a:ext cx="1495049" cy="764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 a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certain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relationship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proceed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EEA54DEA-3E61-E23A-991C-16479EC23410}"/>
              </a:ext>
            </a:extLst>
          </p:cNvPr>
          <p:cNvSpPr/>
          <p:nvPr/>
        </p:nvSpPr>
        <p:spPr>
          <a:xfrm>
            <a:off x="4265195" y="3093740"/>
            <a:ext cx="1495049" cy="212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Rolling Correlation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9029CC9D-F3FF-AB5B-4773-37510517BD43}"/>
              </a:ext>
            </a:extLst>
          </p:cNvPr>
          <p:cNvCxnSpPr>
            <a:cxnSpLocks/>
            <a:stCxn id="36" idx="2"/>
            <a:endCxn id="77" idx="0"/>
          </p:cNvCxnSpPr>
          <p:nvPr/>
        </p:nvCxnSpPr>
        <p:spPr>
          <a:xfrm>
            <a:off x="4060596" y="2826607"/>
            <a:ext cx="952124" cy="267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E35B6059-A343-14A8-6034-34B9204956FE}"/>
              </a:ext>
            </a:extLst>
          </p:cNvPr>
          <p:cNvCxnSpPr>
            <a:cxnSpLocks/>
            <a:stCxn id="77" idx="2"/>
            <a:endCxn id="62" idx="0"/>
          </p:cNvCxnSpPr>
          <p:nvPr/>
        </p:nvCxnSpPr>
        <p:spPr>
          <a:xfrm>
            <a:off x="5012720" y="3305956"/>
            <a:ext cx="0" cy="35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D793DB29-96BB-C695-83F5-DD3D135ECDF1}"/>
              </a:ext>
            </a:extLst>
          </p:cNvPr>
          <p:cNvSpPr/>
          <p:nvPr/>
        </p:nvSpPr>
        <p:spPr>
          <a:xfrm>
            <a:off x="7808546" y="4509680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Relationship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96511A50-7272-CFB6-6346-6DFC13E70339}"/>
              </a:ext>
            </a:extLst>
          </p:cNvPr>
          <p:cNvSpPr/>
          <p:nvPr/>
        </p:nvSpPr>
        <p:spPr>
          <a:xfrm>
            <a:off x="8160906" y="1182569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cxnSp>
        <p:nvCxnSpPr>
          <p:cNvPr id="90" name="Gerade Verbindung 89">
            <a:extLst>
              <a:ext uri="{FF2B5EF4-FFF2-40B4-BE49-F238E27FC236}">
                <a16:creationId xmlns:a16="http://schemas.microsoft.com/office/drawing/2014/main" id="{E84F85FC-ED79-B59A-87AB-D6FAE7541F79}"/>
              </a:ext>
            </a:extLst>
          </p:cNvPr>
          <p:cNvCxnSpPr/>
          <p:nvPr/>
        </p:nvCxnSpPr>
        <p:spPr>
          <a:xfrm>
            <a:off x="7727254" y="1103598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Gerade Verbindung 90">
            <a:extLst>
              <a:ext uri="{FF2B5EF4-FFF2-40B4-BE49-F238E27FC236}">
                <a16:creationId xmlns:a16="http://schemas.microsoft.com/office/drawing/2014/main" id="{A5978FE9-9B97-F0A9-F5CA-D344B72CC110}"/>
              </a:ext>
            </a:extLst>
          </p:cNvPr>
          <p:cNvCxnSpPr/>
          <p:nvPr/>
        </p:nvCxnSpPr>
        <p:spPr>
          <a:xfrm>
            <a:off x="3186390" y="1164569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8C5149CE-219C-3F45-659C-27FB103E0AC3}"/>
              </a:ext>
            </a:extLst>
          </p:cNvPr>
          <p:cNvCxnSpPr>
            <a:cxnSpLocks/>
            <a:stCxn id="41" idx="3"/>
            <a:endCxn id="88" idx="1"/>
          </p:cNvCxnSpPr>
          <p:nvPr/>
        </p:nvCxnSpPr>
        <p:spPr>
          <a:xfrm flipV="1">
            <a:off x="5705593" y="4710744"/>
            <a:ext cx="2102953" cy="9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9086E540-8D63-582F-8E48-A6DD167B8902}"/>
              </a:ext>
            </a:extLst>
          </p:cNvPr>
          <p:cNvSpPr/>
          <p:nvPr/>
        </p:nvSpPr>
        <p:spPr>
          <a:xfrm>
            <a:off x="378608" y="363351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ECM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7419BE5C-8D7E-F0CC-CC59-6B68C821F058}"/>
              </a:ext>
            </a:extLst>
          </p:cNvPr>
          <p:cNvSpPr/>
          <p:nvPr/>
        </p:nvSpPr>
        <p:spPr>
          <a:xfrm>
            <a:off x="1049856" y="5717552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VECM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657363FA-CCBB-878B-A5C5-2795052BA2DE}"/>
              </a:ext>
            </a:extLst>
          </p:cNvPr>
          <p:cNvSpPr/>
          <p:nvPr/>
        </p:nvSpPr>
        <p:spPr>
          <a:xfrm>
            <a:off x="31386" y="439121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MS-VAR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0966C5E-2567-6B92-9B38-67360F165CC9}"/>
              </a:ext>
            </a:extLst>
          </p:cNvPr>
          <p:cNvSpPr/>
          <p:nvPr/>
        </p:nvSpPr>
        <p:spPr>
          <a:xfrm>
            <a:off x="8117071" y="3886122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techniques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FFBB656-F091-14A7-CBC6-5070A1AC180D}"/>
              </a:ext>
            </a:extLst>
          </p:cNvPr>
          <p:cNvCxnSpPr>
            <a:cxnSpLocks/>
            <a:stCxn id="57" idx="2"/>
            <a:endCxn id="2" idx="0"/>
          </p:cNvCxnSpPr>
          <p:nvPr/>
        </p:nvCxnSpPr>
        <p:spPr>
          <a:xfrm flipV="1">
            <a:off x="6842935" y="3886122"/>
            <a:ext cx="2021661" cy="16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4225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F7CBD-8332-74F7-363D-54DEF46B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50487F7-DEA4-8B5E-6491-7069043AED81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60821FED-5F7F-1FE2-BBE8-E06CCD3120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71" y="-67456"/>
            <a:ext cx="1771272" cy="88563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AD8CAB03-51FE-1B16-9670-5131825D91B3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solidFill>
            <a:srgbClr val="006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600">
                <a:latin typeface="Arial" panose="020B0604020202020204" pitchFamily="34" charset="0"/>
                <a:cs typeface="Arial" panose="020B0604020202020204" pitchFamily="34" charset="0"/>
              </a:rPr>
              <a:t>Chapter 7)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87D3387-6A57-9B3C-BB30-E2DF1C88EF9B}"/>
              </a:ext>
            </a:extLst>
          </p:cNvPr>
          <p:cNvSpPr/>
          <p:nvPr/>
        </p:nvSpPr>
        <p:spPr>
          <a:xfrm>
            <a:off x="2821153" y="2996762"/>
            <a:ext cx="5892623" cy="486650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de-DE" sz="3200" b="1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de-DE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5" name="Picture 1" descr="page42image37982480">
            <a:extLst>
              <a:ext uri="{FF2B5EF4-FFF2-40B4-BE49-F238E27FC236}">
                <a16:creationId xmlns:a16="http://schemas.microsoft.com/office/drawing/2014/main" id="{A696F850-3878-6B28-8B4C-A825E7CC2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051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787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27FD-4D4C-3A23-8D2F-0AA26D9C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45DB04BC-99C3-D773-5405-558DA30BD454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UIP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C0F6949-5D6B-651B-A994-4F1D7AB39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35045"/>
              </p:ext>
            </p:extLst>
          </p:nvPr>
        </p:nvGraphicFramePr>
        <p:xfrm>
          <a:off x="1044903" y="831954"/>
          <a:ext cx="10101465" cy="62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893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173769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9632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842463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89051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04343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  <a:gridCol w="514421">
                  <a:extLst>
                    <a:ext uri="{9D8B030D-6E8A-4147-A177-3AD203B41FA5}">
                      <a16:colId xmlns:a16="http://schemas.microsoft.com/office/drawing/2014/main" val="152674098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4502947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 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 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5D85585-C098-EB86-CEAD-AC0003C8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27094"/>
              </p:ext>
            </p:extLst>
          </p:nvPr>
        </p:nvGraphicFramePr>
        <p:xfrm>
          <a:off x="1044903" y="1609998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</a:t>
                      </a: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6.12e-06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7.38e-05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i_diff_EUR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-2.266e-05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8.32e-05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DA40883-76BD-EE4B-DBA1-EBBC8770B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24323"/>
              </p:ext>
            </p:extLst>
          </p:nvPr>
        </p:nvGraphicFramePr>
        <p:xfrm>
          <a:off x="1044903" y="2525555"/>
          <a:ext cx="10101465" cy="62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893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173769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9632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842463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89051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04343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  <a:gridCol w="514421">
                  <a:extLst>
                    <a:ext uri="{9D8B030D-6E8A-4147-A177-3AD203B41FA5}">
                      <a16:colId xmlns:a16="http://schemas.microsoft.com/office/drawing/2014/main" val="152674098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4502947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 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2018-12-31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</a:t>
                      </a:r>
                      <a:r>
                        <a:rPr lang="de-DE" sz="9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lending</a:t>
                      </a: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rates</a:t>
                      </a:r>
                      <a:r>
                        <a:rPr lang="de-DE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differentials</a:t>
                      </a:r>
                      <a:endParaRPr lang="de-DE" sz="9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FAB7142-E32E-4FA3-802C-4049663A2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745536"/>
              </p:ext>
            </p:extLst>
          </p:nvPr>
        </p:nvGraphicFramePr>
        <p:xfrm>
          <a:off x="1044903" y="3240087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</a:t>
                      </a: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1.768e-05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9.05e-05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i_diff_EUR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021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9E11-DA63-4BE9-8194-23C84F2D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8A63C09E-6A88-14B1-019B-52C7AFADCDC2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UIP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7633085-5638-DC50-10C4-7D2E9609E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738071"/>
              </p:ext>
            </p:extLst>
          </p:nvPr>
        </p:nvGraphicFramePr>
        <p:xfrm>
          <a:off x="948651" y="1191455"/>
          <a:ext cx="1014247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Markov (Switching)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 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6C027B4F-682A-A684-6DFF-4439DDC73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85574"/>
              </p:ext>
            </p:extLst>
          </p:nvPr>
        </p:nvGraphicFramePr>
        <p:xfrm>
          <a:off x="948650" y="1765332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E436F30-2582-ACA4-5233-7082B95AB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62130"/>
              </p:ext>
            </p:extLst>
          </p:nvPr>
        </p:nvGraphicFramePr>
        <p:xfrm>
          <a:off x="948651" y="2666210"/>
          <a:ext cx="10142475" cy="145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Markov (Switching)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 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rolling volatilty of log first diff of WTI Oil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812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volatilty of log first diff of Natural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48242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Trading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341786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E9F7A718-BDA7-D432-6163-449AFD5C7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30065"/>
              </p:ext>
            </p:extLst>
          </p:nvPr>
        </p:nvGraphicFramePr>
        <p:xfrm>
          <a:off x="948649" y="3382628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09BA19BE-9954-F395-AF0D-04520E5D5B59}"/>
              </a:ext>
            </a:extLst>
          </p:cNvPr>
          <p:cNvSpPr/>
          <p:nvPr/>
        </p:nvSpPr>
        <p:spPr>
          <a:xfrm>
            <a:off x="560434" y="1191455"/>
            <a:ext cx="268558" cy="292627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79C73C5-8148-DB6B-9DC5-2F0D66709768}"/>
              </a:ext>
            </a:extLst>
          </p:cNvPr>
          <p:cNvSpPr/>
          <p:nvPr/>
        </p:nvSpPr>
        <p:spPr>
          <a:xfrm>
            <a:off x="252461" y="2446328"/>
            <a:ext cx="413377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2474057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F8CA-E295-16B0-5747-D3F32C8B1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93D53EE7-432E-1825-43FF-F209A8BB6D7A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UIP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2933D3D6-CC4A-96ED-21C9-AB2209A18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958464"/>
              </p:ext>
            </p:extLst>
          </p:nvPr>
        </p:nvGraphicFramePr>
        <p:xfrm>
          <a:off x="785021" y="1389275"/>
          <a:ext cx="1025047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Markov (Switching)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lending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BC344C31-F022-4FB8-93CE-14BA42E11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252349"/>
              </p:ext>
            </p:extLst>
          </p:nvPr>
        </p:nvGraphicFramePr>
        <p:xfrm>
          <a:off x="785020" y="1963152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29249722-BBAA-3941-69DC-DC74E4E51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305182"/>
              </p:ext>
            </p:extLst>
          </p:nvPr>
        </p:nvGraphicFramePr>
        <p:xfrm>
          <a:off x="785021" y="2864030"/>
          <a:ext cx="1025047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Markov (Switching)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 Interbank lending rates differentials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A4C027EE-57BE-86AB-4D60-3B56C686D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081643"/>
              </p:ext>
            </p:extLst>
          </p:nvPr>
        </p:nvGraphicFramePr>
        <p:xfrm>
          <a:off x="785020" y="3437907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FDC7C83E-AACC-2485-CB4C-5377FA10AE62}"/>
              </a:ext>
            </a:extLst>
          </p:cNvPr>
          <p:cNvSpPr/>
          <p:nvPr/>
        </p:nvSpPr>
        <p:spPr>
          <a:xfrm>
            <a:off x="396804" y="1389275"/>
            <a:ext cx="268558" cy="276862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2A1ADA5-2D13-3A88-C581-1B13B4B0812D}"/>
              </a:ext>
            </a:extLst>
          </p:cNvPr>
          <p:cNvSpPr/>
          <p:nvPr/>
        </p:nvSpPr>
        <p:spPr>
          <a:xfrm>
            <a:off x="88831" y="2644148"/>
            <a:ext cx="413377" cy="25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3465819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3E87-9FB7-BCCC-E76E-84F6CEC9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5575104F-1E7F-62E6-1A3E-305BB9B1A6B7}"/>
              </a:ext>
            </a:extLst>
          </p:cNvPr>
          <p:cNvSpPr/>
          <p:nvPr/>
        </p:nvSpPr>
        <p:spPr>
          <a:xfrm>
            <a:off x="-52466" y="-67456"/>
            <a:ext cx="11639863" cy="899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2400" err="1">
                <a:latin typeface="Arial" panose="020B0604020202020204" pitchFamily="34" charset="0"/>
                <a:cs typeface="Arial" panose="020B0604020202020204" pitchFamily="34" charset="0"/>
              </a:rPr>
              <a:t>explaining</a:t>
            </a:r>
            <a:r>
              <a:rPr lang="de-DE" sz="2400">
                <a:latin typeface="Arial" panose="020B0604020202020204" pitchFamily="34" charset="0"/>
                <a:cs typeface="Arial" panose="020B0604020202020204" pitchFamily="34" charset="0"/>
              </a:rPr>
              <a:t> UIP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BB95CF9-0D05-0996-0C82-BA8CC807BD2A}"/>
              </a:ext>
            </a:extLst>
          </p:cNvPr>
          <p:cNvGraphicFramePr>
            <a:graphicFrameLocks noGrp="1"/>
          </p:cNvGraphicFramePr>
          <p:nvPr/>
        </p:nvGraphicFramePr>
        <p:xfrm>
          <a:off x="1044903" y="831954"/>
          <a:ext cx="1010146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893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173769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9632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842463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89051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04343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  <a:gridCol w="514421">
                  <a:extLst>
                    <a:ext uri="{9D8B030D-6E8A-4147-A177-3AD203B41FA5}">
                      <a16:colId xmlns:a16="http://schemas.microsoft.com/office/drawing/2014/main" val="152674098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4502947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Adj. 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1999-01-05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EUR/USD spot exchange rate (log first </a:t>
                      </a:r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</a:t>
                      </a: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 Bank Policy Rate differential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EB66E07-F5D3-FA59-428E-FA5F9B5B944D}"/>
              </a:ext>
            </a:extLst>
          </p:cNvPr>
          <p:cNvGraphicFramePr>
            <a:graphicFrameLocks noGrp="1"/>
          </p:cNvGraphicFramePr>
          <p:nvPr/>
        </p:nvGraphicFramePr>
        <p:xfrm>
          <a:off x="1044903" y="1398242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</a:t>
                      </a: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-6.038e-06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7.38e-05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i_diff_EUR</a:t>
                      </a:r>
                      <a:endParaRPr lang="de-DE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2.279e-05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5.41e-05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-8.32e-05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4B84112F-74E5-B870-4975-F4747F9A2170}"/>
              </a:ext>
            </a:extLst>
          </p:cNvPr>
          <p:cNvCxnSpPr>
            <a:cxnSpLocks/>
          </p:cNvCxnSpPr>
          <p:nvPr/>
        </p:nvCxnSpPr>
        <p:spPr>
          <a:xfrm>
            <a:off x="925244" y="2215771"/>
            <a:ext cx="105120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8239FEC7-76D9-AA20-5031-B7554BA4C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0935"/>
              </p:ext>
            </p:extLst>
          </p:nvPr>
        </p:nvGraphicFramePr>
        <p:xfrm>
          <a:off x="1044903" y="2313301"/>
          <a:ext cx="1025047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9A8E479D-FA60-1120-0320-2CAB2F007C70}"/>
              </a:ext>
            </a:extLst>
          </p:cNvPr>
          <p:cNvGraphicFramePr>
            <a:graphicFrameLocks noGrp="1"/>
          </p:cNvGraphicFramePr>
          <p:nvPr/>
        </p:nvGraphicFramePr>
        <p:xfrm>
          <a:off x="1044902" y="2887178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C2A18132-1E9D-4C0B-9AAA-2200C042A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51536"/>
              </p:ext>
            </p:extLst>
          </p:nvPr>
        </p:nvGraphicFramePr>
        <p:xfrm>
          <a:off x="1044903" y="3788056"/>
          <a:ext cx="10250475" cy="48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971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35854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78563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64256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2341012291"/>
                    </a:ext>
                  </a:extLst>
                </a:gridCol>
                <a:gridCol w="27990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Obs.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K=2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A63415FF-986F-3F60-EFDA-0B8C488868E5}"/>
              </a:ext>
            </a:extLst>
          </p:cNvPr>
          <p:cNvGraphicFramePr>
            <a:graphicFrameLocks noGrp="1"/>
          </p:cNvGraphicFramePr>
          <p:nvPr/>
        </p:nvGraphicFramePr>
        <p:xfrm>
          <a:off x="1044902" y="4361933"/>
          <a:ext cx="4661967" cy="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46377937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78913465"/>
                    </a:ext>
                  </a:extLst>
                </a:gridCol>
                <a:gridCol w="521017">
                  <a:extLst>
                    <a:ext uri="{9D8B030D-6E8A-4147-A177-3AD203B41FA5}">
                      <a16:colId xmlns:a16="http://schemas.microsoft.com/office/drawing/2014/main" val="1498112505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31643363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2435684961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P&gt;|t|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[0.025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1845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4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639379"/>
      </p:ext>
    </p:extLst>
  </p:cSld>
  <p:clrMapOvr>
    <a:masterClrMapping/>
  </p:clrMapOvr>
</p:sld>
</file>

<file path=ppt/theme/theme1.xml><?xml version="1.0" encoding="utf-8"?>
<a:theme xmlns:a="http://schemas.openxmlformats.org/drawingml/2006/main" name="Einfach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2909</Words>
  <Application>Microsoft Macintosh PowerPoint</Application>
  <PresentationFormat>Benutzerdefiniert</PresentationFormat>
  <Paragraphs>894</Paragraphs>
  <Slides>21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30" baseType="lpstr">
      <vt:lpstr>AdvTT5235d5a9</vt:lpstr>
      <vt:lpstr>Aptos</vt:lpstr>
      <vt:lpstr>Arial</vt:lpstr>
      <vt:lpstr>Calibri</vt:lpstr>
      <vt:lpstr>Cambria Math</vt:lpstr>
      <vt:lpstr>Roboto</vt:lpstr>
      <vt:lpstr>Times New Roman,Bold</vt:lpstr>
      <vt:lpstr>Einfache Folie</vt:lpstr>
      <vt:lpstr>Minimale Folie</vt:lpstr>
      <vt:lpstr>PowerPoint-Präsentation</vt:lpstr>
      <vt:lpstr>Beginning: Newspaper article about energy + recent USD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Muster</dc:title>
  <dc:subject/>
  <dc:creator>Universität Kiel  (CAU)</dc:creator>
  <dc:description/>
  <cp:lastModifiedBy>Robert Hennings</cp:lastModifiedBy>
  <cp:revision>331</cp:revision>
  <cp:lastPrinted>1601-01-01T00:00:00Z</cp:lastPrinted>
  <dcterms:created xsi:type="dcterms:W3CDTF">2010-06-02T10:39:48Z</dcterms:created>
  <dcterms:modified xsi:type="dcterms:W3CDTF">2025-10-28T21:01:38Z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