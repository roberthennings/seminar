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0A_AE6DAA06.xml" ContentType="application/vnd.ms-powerpoint.comments+xml"/>
  <Override PartName="/ppt/notesSlides/notesSlide11.xml" ContentType="application/vnd.openxmlformats-officedocument.presentationml.notesSlide+xml"/>
  <Override PartName="/ppt/comments/modernComment_11C_317CE61F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2"/>
  </p:notesMasterIdLst>
  <p:sldIdLst>
    <p:sldId id="260" r:id="rId3"/>
    <p:sldId id="262" r:id="rId4"/>
    <p:sldId id="259" r:id="rId5"/>
    <p:sldId id="264" r:id="rId6"/>
    <p:sldId id="267" r:id="rId7"/>
    <p:sldId id="271" r:id="rId8"/>
    <p:sldId id="268" r:id="rId9"/>
    <p:sldId id="270" r:id="rId10"/>
    <p:sldId id="275" r:id="rId11"/>
    <p:sldId id="274" r:id="rId12"/>
    <p:sldId id="279" r:id="rId13"/>
    <p:sldId id="263" r:id="rId14"/>
    <p:sldId id="265" r:id="rId15"/>
    <p:sldId id="266" r:id="rId16"/>
    <p:sldId id="284" r:id="rId17"/>
    <p:sldId id="276" r:id="rId18"/>
    <p:sldId id="277" r:id="rId19"/>
    <p:sldId id="278" r:id="rId20"/>
    <p:sldId id="280" r:id="rId21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48"/>
    <p:restoredTop sz="83959"/>
  </p:normalViewPr>
  <p:slideViewPr>
    <p:cSldViewPr snapToGrid="0">
      <p:cViewPr varScale="1">
        <p:scale>
          <a:sx n="95" d="100"/>
          <a:sy n="95" d="100"/>
        </p:scale>
        <p:origin x="174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comments/modernComment_11C_317CE61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C9C7A11-CF38-4AC0-8BFC-AC90A16BB649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30268959" sldId="284"/>
      <ac:spMk id="41" creationId="{0CACCEB8-46F0-26D8-62A7-9D5772576237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28.10.2025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1018-FCB0-78AE-7FB2-CE06D5C80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CF1BCA-68CB-348B-8B11-097CBA420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8AD8B46-1DAC-0F7D-44A0-A7D42EEA2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928ACC-3FC1-909E-8FE9-BD09F5179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249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 dirty="0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C_317CE61F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effects of energy commodities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Perspective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by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 and robert.hennings@stu.uni-kiel.de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https://github.com/RobertHennings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shock affecting exchange rate through two channels (see impact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867235" y="1365136"/>
            <a:ext cx="1359061" cy="3189911"/>
          </a:xfrm>
          <a:prstGeom prst="bentConnector3">
            <a:avLst>
              <a:gd name="adj1" fmla="val 70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704081" y="2528290"/>
            <a:ext cx="658712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model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447437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941338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oil futures markets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458698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7952" y="2804469"/>
            <a:ext cx="1293331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540054" y="4750963"/>
            <a:ext cx="482740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824074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Crude Oil ETF Volatility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9" y="3450810"/>
            <a:ext cx="419165" cy="63796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639623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02249"/>
              </p:ext>
            </p:extLst>
          </p:nvPr>
        </p:nvGraphicFramePr>
        <p:xfrm>
          <a:off x="1102735" y="1670952"/>
          <a:ext cx="4516837" cy="47660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CBOE </a:t>
                      </a:r>
                      <a:r>
                        <a:rPr lang="de-DE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Crude</a:t>
                      </a: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 Oil ETF </a:t>
                      </a:r>
                      <a:r>
                        <a:rPr lang="de-DE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Volatility</a:t>
                      </a: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Volatility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63226"/>
              </p:ext>
            </p:extLst>
          </p:nvPr>
        </p:nvGraphicFramePr>
        <p:xfrm>
          <a:off x="6640775" y="2144396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34002"/>
              </p:ext>
            </p:extLst>
          </p:nvPr>
        </p:nvGraphicFramePr>
        <p:xfrm>
          <a:off x="6640775" y="3315877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179345"/>
              </p:ext>
            </p:extLst>
          </p:nvPr>
        </p:nvGraphicFramePr>
        <p:xfrm>
          <a:off x="6640775" y="4381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765819"/>
              </p:ext>
            </p:extLst>
          </p:nvPr>
        </p:nvGraphicFramePr>
        <p:xfrm>
          <a:off x="6640775" y="5553039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217824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2144395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412818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966455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5226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3283561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53603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553470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805947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13" y="3469439"/>
            <a:ext cx="1240264" cy="75660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FE0D6D8-413C-B0B5-6FF1-5207E8412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62" y="4038858"/>
            <a:ext cx="1600200" cy="2667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D4DEC-1D2B-19A7-8B63-B85590BD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141" y="3399966"/>
            <a:ext cx="2437821" cy="9055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4D91347-74D8-4128-A021-014DA9906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64" y="4364294"/>
            <a:ext cx="2347226" cy="9897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9EBC807-DA31-5B87-258C-588C9B52FE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9498" y="4396789"/>
            <a:ext cx="1995464" cy="123955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C58E6A0-07CE-9181-EF27-C8A2F0276C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135" y="5338659"/>
            <a:ext cx="2373088" cy="90699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62AE5FB-E160-CC98-6E33-3AF3AFC70F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1057" y="5636341"/>
            <a:ext cx="1733905" cy="843834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Optimization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Optimisation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427238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996431"/>
              </p:ext>
            </p:extLst>
          </p:nvPr>
        </p:nvGraphicFramePr>
        <p:xfrm>
          <a:off x="952055" y="1167391"/>
          <a:ext cx="9791910" cy="95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computation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483884"/>
              </p:ext>
            </p:extLst>
          </p:nvPr>
        </p:nvGraphicFramePr>
        <p:xfrm>
          <a:off x="952054" y="2687143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comparison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64A2696-F1DF-14FD-2228-6A8E9EFF3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643" y="1809677"/>
            <a:ext cx="3890517" cy="184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928" y="985206"/>
            <a:ext cx="5535779" cy="4918002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3789133" y="5238911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2289583" y="4087185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5823101" y="4949383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(V)ECM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ED2-DB6B-C5BB-E43A-9C269C890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25FCD6BB-9F1F-3434-6DC6-2705B4EDF50B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2EE9070B-CC35-1DAE-F9CD-1C084CBD8A0F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02055E3-7891-B11A-2975-55E7F21BA00E}"/>
              </a:ext>
            </a:extLst>
          </p:cNvPr>
          <p:cNvSpPr/>
          <p:nvPr/>
        </p:nvSpPr>
        <p:spPr>
          <a:xfrm>
            <a:off x="1323025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729AB2A-516A-888E-A14A-C888FA0D2B93}"/>
              </a:ext>
            </a:extLst>
          </p:cNvPr>
          <p:cNvSpPr/>
          <p:nvPr/>
        </p:nvSpPr>
        <p:spPr>
          <a:xfrm>
            <a:off x="4347860" y="1597402"/>
            <a:ext cx="1338433" cy="3593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(e.g.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475DC81-FAB1-655D-65BE-1DCDBAAD83C1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F5F7EA9-0755-8028-C13C-388935E08ECC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8326759-26F9-BFFB-858A-032A2F1B0E78}"/>
              </a:ext>
            </a:extLst>
          </p:cNvPr>
          <p:cNvSpPr/>
          <p:nvPr/>
        </p:nvSpPr>
        <p:spPr>
          <a:xfrm>
            <a:off x="3277717" y="2397025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CACCEB8-46F0-26D8-62A7-9D5772576237}"/>
              </a:ext>
            </a:extLst>
          </p:cNvPr>
          <p:cNvSpPr/>
          <p:nvPr/>
        </p:nvSpPr>
        <p:spPr>
          <a:xfrm>
            <a:off x="2433192" y="463998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3ED2BB53-6D2A-940F-EA3C-DEAF83E288C2}"/>
              </a:ext>
            </a:extLst>
          </p:cNvPr>
          <p:cNvCxnSpPr>
            <a:cxnSpLocks/>
            <a:stCxn id="16" idx="2"/>
            <a:endCxn id="40" idx="0"/>
          </p:cNvCxnSpPr>
          <p:nvPr/>
        </p:nvCxnSpPr>
        <p:spPr>
          <a:xfrm flipH="1">
            <a:off x="4025242" y="1956773"/>
            <a:ext cx="991835" cy="440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1E91449A-1175-9027-026C-29EC4BFF116F}"/>
              </a:ext>
            </a:extLst>
          </p:cNvPr>
          <p:cNvSpPr/>
          <p:nvPr/>
        </p:nvSpPr>
        <p:spPr>
          <a:xfrm>
            <a:off x="4191244" y="3600627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69A83A85-1021-7859-167D-D876434F15BA}"/>
              </a:ext>
            </a:extLst>
          </p:cNvPr>
          <p:cNvSpPr/>
          <p:nvPr/>
        </p:nvSpPr>
        <p:spPr>
          <a:xfrm>
            <a:off x="5525327" y="3020611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05235860-99B3-CE69-587A-262F36F30E8E}"/>
              </a:ext>
            </a:extLst>
          </p:cNvPr>
          <p:cNvSpPr/>
          <p:nvPr/>
        </p:nvSpPr>
        <p:spPr>
          <a:xfrm>
            <a:off x="6416957" y="3723645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2E549598-D2D6-F095-E630-3262AEC37A09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272852" y="3422738"/>
            <a:ext cx="891630" cy="300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17306DE-F213-5C77-FA70-1100B3CC6710}"/>
              </a:ext>
            </a:extLst>
          </p:cNvPr>
          <p:cNvSpPr/>
          <p:nvPr/>
        </p:nvSpPr>
        <p:spPr>
          <a:xfrm>
            <a:off x="5525327" y="2263720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E04775E1-46DB-08D6-49ED-A70E8AD29B26}"/>
              </a:ext>
            </a:extLst>
          </p:cNvPr>
          <p:cNvSpPr/>
          <p:nvPr/>
        </p:nvSpPr>
        <p:spPr>
          <a:xfrm>
            <a:off x="6664721" y="1453660"/>
            <a:ext cx="1980612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DCC-GARCH/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88589DDD-FBEE-FC4C-E179-701BB71975EA}"/>
              </a:ext>
            </a:extLst>
          </p:cNvPr>
          <p:cNvSpPr/>
          <p:nvPr/>
        </p:nvSpPr>
        <p:spPr>
          <a:xfrm>
            <a:off x="1782943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8C462B88-791A-78F5-C47D-ECA63E83F2BF}"/>
              </a:ext>
            </a:extLst>
          </p:cNvPr>
          <p:cNvSpPr/>
          <p:nvPr/>
        </p:nvSpPr>
        <p:spPr>
          <a:xfrm>
            <a:off x="235522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26525E80-B273-8419-5E24-A569F2532229}"/>
              </a:ext>
            </a:extLst>
          </p:cNvPr>
          <p:cNvSpPr/>
          <p:nvPr/>
        </p:nvSpPr>
        <p:spPr>
          <a:xfrm>
            <a:off x="3370570" y="506365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B4799EAB-5EB8-022C-3924-893E8ADC590C}"/>
              </a:ext>
            </a:extLst>
          </p:cNvPr>
          <p:cNvCxnSpPr>
            <a:cxnSpLocks/>
            <a:stCxn id="41" idx="2"/>
            <a:endCxn id="88" idx="0"/>
          </p:cNvCxnSpPr>
          <p:nvPr/>
        </p:nvCxnSpPr>
        <p:spPr>
          <a:xfrm>
            <a:off x="3180717" y="4855989"/>
            <a:ext cx="937378" cy="207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8C956522-2675-3DB3-04B1-0AC3B5B37609}"/>
              </a:ext>
            </a:extLst>
          </p:cNvPr>
          <p:cNvSpPr/>
          <p:nvPr/>
        </p:nvSpPr>
        <p:spPr>
          <a:xfrm>
            <a:off x="3007921" y="4187210"/>
            <a:ext cx="1667844" cy="29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(V)ECM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4C39EA-B3E7-994E-DF44-409CD8A1E438}"/>
              </a:ext>
            </a:extLst>
          </p:cNvPr>
          <p:cNvSpPr/>
          <p:nvPr/>
        </p:nvSpPr>
        <p:spPr>
          <a:xfrm>
            <a:off x="7808546" y="3004116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F2BBB5A-C289-7B03-FB36-97B60A0E8D19}"/>
              </a:ext>
            </a:extLst>
          </p:cNvPr>
          <p:cNvCxnSpPr>
            <a:cxnSpLocks/>
          </p:cNvCxnSpPr>
          <p:nvPr/>
        </p:nvCxnSpPr>
        <p:spPr>
          <a:xfrm flipV="1">
            <a:off x="7020376" y="3188686"/>
            <a:ext cx="788170" cy="16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B778BA2-7747-F4FC-5719-42D2A4F9C654}"/>
              </a:ext>
            </a:extLst>
          </p:cNvPr>
          <p:cNvCxnSpPr>
            <a:cxnSpLocks/>
            <a:stCxn id="16" idx="2"/>
            <a:endCxn id="62" idx="0"/>
          </p:cNvCxnSpPr>
          <p:nvPr/>
        </p:nvCxnSpPr>
        <p:spPr>
          <a:xfrm>
            <a:off x="5017077" y="1956773"/>
            <a:ext cx="1255775" cy="3069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73E449E-932F-BC6A-D180-1E8922763CB1}"/>
              </a:ext>
            </a:extLst>
          </p:cNvPr>
          <p:cNvCxnSpPr>
            <a:cxnSpLocks/>
            <a:endCxn id="57" idx="0"/>
          </p:cNvCxnSpPr>
          <p:nvPr/>
        </p:nvCxnSpPr>
        <p:spPr>
          <a:xfrm>
            <a:off x="6222616" y="2640920"/>
            <a:ext cx="50236" cy="37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C843DD3-104C-974F-87DE-6A2B8DC3E727}"/>
              </a:ext>
            </a:extLst>
          </p:cNvPr>
          <p:cNvCxnSpPr>
            <a:cxnSpLocks/>
            <a:stCxn id="40" idx="2"/>
            <a:endCxn id="56" idx="0"/>
          </p:cNvCxnSpPr>
          <p:nvPr/>
        </p:nvCxnSpPr>
        <p:spPr>
          <a:xfrm>
            <a:off x="4025242" y="2613025"/>
            <a:ext cx="913527" cy="9876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212102E-4669-CC01-18BE-585AC0EC2FA6}"/>
              </a:ext>
            </a:extLst>
          </p:cNvPr>
          <p:cNvSpPr/>
          <p:nvPr/>
        </p:nvSpPr>
        <p:spPr>
          <a:xfrm>
            <a:off x="8501234" y="1702793"/>
            <a:ext cx="1622086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Copula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46C4E46-43C3-C4E9-4E58-F2BCF8CBA394}"/>
              </a:ext>
            </a:extLst>
          </p:cNvPr>
          <p:cNvSpPr/>
          <p:nvPr/>
        </p:nvSpPr>
        <p:spPr>
          <a:xfrm>
            <a:off x="7228485" y="1844441"/>
            <a:ext cx="1622086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Wavelet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D6457D54-FFE3-494A-2EF7-5EC37663B587}"/>
              </a:ext>
            </a:extLst>
          </p:cNvPr>
          <p:cNvCxnSpPr>
            <a:cxnSpLocks/>
            <a:stCxn id="58" idx="1"/>
            <a:endCxn id="56" idx="3"/>
          </p:cNvCxnSpPr>
          <p:nvPr/>
        </p:nvCxnSpPr>
        <p:spPr>
          <a:xfrm flipH="1" flipV="1">
            <a:off x="5686293" y="3864750"/>
            <a:ext cx="730664" cy="599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2689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303180"/>
              </p:ext>
            </p:extLst>
          </p:nvPr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673543"/>
              </p:ext>
            </p:extLst>
          </p:nvPr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A3C992C4-F47A-CFA5-71E6-34B5D15061D6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C28980-9118-818E-B856-0F1D8EE59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147540"/>
              </p:ext>
            </p:extLst>
          </p:nvPr>
        </p:nvGraphicFramePr>
        <p:xfrm>
          <a:off x="1044903" y="2313301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0298AFB-66DD-4DE1-8349-601980CFB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60695"/>
              </p:ext>
            </p:extLst>
          </p:nvPr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94D6D007-B024-3C98-C1BD-F49D30882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205574"/>
              </p:ext>
            </p:extLst>
          </p:nvPr>
        </p:nvGraphicFramePr>
        <p:xfrm>
          <a:off x="1044903" y="3788056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B4A58ED-6494-2AF4-289F-A850D7091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64862"/>
              </p:ext>
            </p:extLst>
          </p:nvPr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6D6EFB97-B742-EE6E-7CD1-36E67FAD87C3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B211AA-7DA5-3037-BABB-AAEA26D32635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94F580B-F8C1-0592-151C-A1D9A547DCD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6152FC1A-019B-D5DE-B30A-F1EEC670E763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C791D11-F34C-EE14-DEB4-EA86AC5F5C3E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591249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903985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2833</Words>
  <Application>Microsoft Office PowerPoint</Application>
  <PresentationFormat>Benutzerdefiniert</PresentationFormat>
  <Paragraphs>895</Paragraphs>
  <Slides>19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19</vt:i4>
      </vt:variant>
    </vt:vector>
  </HeadingPairs>
  <TitlesOfParts>
    <vt:vector size="28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Josef Fella</cp:lastModifiedBy>
  <cp:revision>320</cp:revision>
  <cp:lastPrinted>1601-01-01T00:00:00Z</cp:lastPrinted>
  <dcterms:created xsi:type="dcterms:W3CDTF">2010-06-02T10:39:48Z</dcterms:created>
  <dcterms:modified xsi:type="dcterms:W3CDTF">2025-10-29T09:44:06Z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