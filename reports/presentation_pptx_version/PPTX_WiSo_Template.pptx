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  <p:sldMasterId id="2147483652" r:id="rId2"/>
  </p:sldMasterIdLst>
  <p:notesMasterIdLst>
    <p:notesMasterId r:id="rId19"/>
  </p:notesMasterIdLst>
  <p:sldIdLst>
    <p:sldId id="260" r:id="rId3"/>
    <p:sldId id="262" r:id="rId4"/>
    <p:sldId id="259" r:id="rId5"/>
    <p:sldId id="264" r:id="rId6"/>
    <p:sldId id="267" r:id="rId7"/>
    <p:sldId id="268" r:id="rId8"/>
    <p:sldId id="282" r:id="rId9"/>
    <p:sldId id="270" r:id="rId10"/>
    <p:sldId id="275" r:id="rId11"/>
    <p:sldId id="274" r:id="rId12"/>
    <p:sldId id="279" r:id="rId13"/>
    <p:sldId id="276" r:id="rId14"/>
    <p:sldId id="277" r:id="rId15"/>
    <p:sldId id="281" r:id="rId16"/>
    <p:sldId id="278" r:id="rId17"/>
    <p:sldId id="280" r:id="rId18"/>
  </p:sldIdLst>
  <p:sldSz cx="11520488" cy="6480175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6F2EB9-0F9D-11FF-3725-6E6478E33E3F}" name="Robert Hennings" initials="RH" userId="0c30f06d2451ee7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06"/>
    <p:restoredTop sz="86761"/>
  </p:normalViewPr>
  <p:slideViewPr>
    <p:cSldViewPr snapToGrid="0">
      <p:cViewPr>
        <p:scale>
          <a:sx n="145" d="100"/>
          <a:sy n="145" d="100"/>
        </p:scale>
        <p:origin x="3984" y="13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8/10/relationships/authors" Target="author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2E0DD-2BD6-4943-A289-4CB69F215D9E}" type="datetimeFigureOut">
              <a:rPr lang="de-DE" smtClean="0"/>
              <a:t>07.11.25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6613-3B1F-DD4D-99CB-38F4196ACF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40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</a:t>
            </a:r>
            <a:r>
              <a:rPr lang="de-DE" dirty="0" err="1"/>
              <a:t>Systematic</a:t>
            </a:r>
            <a:r>
              <a:rPr lang="de-DE" dirty="0"/>
              <a:t> </a:t>
            </a:r>
            <a:r>
              <a:rPr lang="de-DE" dirty="0" err="1"/>
              <a:t>Overview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, own </a:t>
            </a:r>
            <a:r>
              <a:rPr lang="de-DE" dirty="0" err="1"/>
              <a:t>illustration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sz="1800" dirty="0">
                <a:effectLst/>
                <a:latin typeface="AdvTT5235d5a9"/>
              </a:rPr>
              <a:t>The </a:t>
            </a:r>
            <a:r>
              <a:rPr lang="de-DE" sz="1800" dirty="0" err="1">
                <a:effectLst/>
                <a:latin typeface="AdvTT5235d5a9"/>
              </a:rPr>
              <a:t>relationship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between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oil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prices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exchange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rates</a:t>
            </a:r>
            <a:r>
              <a:rPr lang="de-DE" sz="1800" dirty="0">
                <a:effectLst/>
                <a:latin typeface="AdvTT5235d5a9"/>
              </a:rPr>
              <a:t>: </a:t>
            </a:r>
            <a:r>
              <a:rPr lang="de-DE" sz="1800" dirty="0" err="1">
                <a:effectLst/>
                <a:latin typeface="AdvTT5235d5a9"/>
              </a:rPr>
              <a:t>Revisiting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theory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evidence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dirty="0"/>
              <a:t>(</a:t>
            </a:r>
            <a:r>
              <a:rPr lang="de-DE" sz="18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</a:t>
            </a:r>
            <a:r>
              <a:rPr lang="de-DE" dirty="0" err="1"/>
              <a:t>pages</a:t>
            </a:r>
            <a:r>
              <a:rPr lang="de-DE" dirty="0"/>
              <a:t> 3-8.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Sources: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b="1" dirty="0"/>
              <a:t>Theory of Storage</a:t>
            </a:r>
            <a:r>
              <a:rPr lang="de-DE" dirty="0"/>
              <a:t> (Taken from </a:t>
            </a:r>
            <a:r>
              <a:rPr lang="de-DE" dirty="0" err="1"/>
              <a:t>paper</a:t>
            </a:r>
            <a:r>
              <a:rPr lang="de-DE" dirty="0"/>
              <a:t>: </a:t>
            </a:r>
            <a:r>
              <a:rPr lang="de-DE" sz="1800" dirty="0">
                <a:effectLst/>
                <a:latin typeface="Code2000"/>
              </a:rPr>
              <a:t>Commodity Futures Prices: </a:t>
            </a:r>
            <a:r>
              <a:rPr lang="de-DE" sz="1800" dirty="0" err="1">
                <a:effectLst/>
                <a:latin typeface="Code2000"/>
              </a:rPr>
              <a:t>Some</a:t>
            </a:r>
            <a:r>
              <a:rPr lang="de-DE" sz="1800" dirty="0">
                <a:effectLst/>
                <a:latin typeface="Code2000"/>
              </a:rPr>
              <a:t> </a:t>
            </a:r>
            <a:r>
              <a:rPr lang="de-DE" sz="1800" dirty="0" err="1">
                <a:effectLst/>
                <a:latin typeface="Code2000"/>
              </a:rPr>
              <a:t>Evidence</a:t>
            </a:r>
            <a:r>
              <a:rPr lang="de-DE" sz="1800" dirty="0">
                <a:effectLst/>
                <a:latin typeface="Code2000"/>
              </a:rPr>
              <a:t> on Forecast Power, </a:t>
            </a:r>
            <a:r>
              <a:rPr lang="de-DE" sz="1800" dirty="0" err="1">
                <a:effectLst/>
                <a:latin typeface="Code2000"/>
              </a:rPr>
              <a:t>Premiums</a:t>
            </a:r>
            <a:r>
              <a:rPr lang="de-DE" sz="1800" dirty="0">
                <a:effectLst/>
                <a:latin typeface="Code2000"/>
              </a:rPr>
              <a:t>, and </a:t>
            </a:r>
            <a:r>
              <a:rPr lang="de-DE" sz="1800" dirty="0" err="1">
                <a:effectLst/>
                <a:latin typeface="Code2000"/>
              </a:rPr>
              <a:t>the</a:t>
            </a:r>
            <a:r>
              <a:rPr lang="de-DE" sz="1800" dirty="0">
                <a:effectLst/>
                <a:latin typeface="Code2000"/>
              </a:rPr>
              <a:t> Theory of Storage</a:t>
            </a:r>
            <a:r>
              <a:rPr lang="de-DE" dirty="0"/>
              <a:t>, p.1)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b="1" dirty="0"/>
              <a:t>Expected Risk Premium</a:t>
            </a:r>
            <a:r>
              <a:rPr lang="de-DE" dirty="0"/>
              <a:t> (Taken from </a:t>
            </a:r>
            <a:r>
              <a:rPr lang="de-DE" dirty="0" err="1"/>
              <a:t>paper</a:t>
            </a:r>
            <a:r>
              <a:rPr lang="de-DE" dirty="0"/>
              <a:t>: </a:t>
            </a:r>
            <a:r>
              <a:rPr lang="de-DE" sz="1200" dirty="0">
                <a:effectLst/>
                <a:latin typeface="Code2000"/>
              </a:rPr>
              <a:t>Commodity Futures Prices: </a:t>
            </a:r>
            <a:r>
              <a:rPr lang="de-DE" sz="1200" dirty="0" err="1">
                <a:effectLst/>
                <a:latin typeface="Code2000"/>
              </a:rPr>
              <a:t>Some</a:t>
            </a:r>
            <a:r>
              <a:rPr lang="de-DE" sz="1200" dirty="0">
                <a:effectLst/>
                <a:latin typeface="Code2000"/>
              </a:rPr>
              <a:t> </a:t>
            </a:r>
            <a:r>
              <a:rPr lang="de-DE" sz="1200" dirty="0" err="1">
                <a:effectLst/>
                <a:latin typeface="Code2000"/>
              </a:rPr>
              <a:t>Evidence</a:t>
            </a:r>
            <a:r>
              <a:rPr lang="de-DE" sz="1200" dirty="0">
                <a:effectLst/>
                <a:latin typeface="Code2000"/>
              </a:rPr>
              <a:t> on Forecast Power, </a:t>
            </a:r>
            <a:r>
              <a:rPr lang="de-DE" sz="1200" dirty="0" err="1">
                <a:effectLst/>
                <a:latin typeface="Code2000"/>
              </a:rPr>
              <a:t>Premiums</a:t>
            </a:r>
            <a:r>
              <a:rPr lang="de-DE" sz="1200" dirty="0">
                <a:effectLst/>
                <a:latin typeface="Code2000"/>
              </a:rPr>
              <a:t>, and </a:t>
            </a:r>
            <a:r>
              <a:rPr lang="de-DE" sz="1200" dirty="0" err="1">
                <a:effectLst/>
                <a:latin typeface="Code2000"/>
              </a:rPr>
              <a:t>the</a:t>
            </a:r>
            <a:r>
              <a:rPr lang="de-DE" sz="1200" dirty="0">
                <a:effectLst/>
                <a:latin typeface="Code2000"/>
              </a:rPr>
              <a:t> Theory of Storage</a:t>
            </a:r>
            <a:r>
              <a:rPr lang="de-DE" dirty="0"/>
              <a:t>, p.1)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– Future Divergence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dirty="0"/>
              <a:t>(Taken from </a:t>
            </a:r>
            <a:r>
              <a:rPr lang="de-DE" dirty="0" err="1"/>
              <a:t>paper</a:t>
            </a:r>
            <a:r>
              <a:rPr lang="de-DE" dirty="0"/>
              <a:t>: </a:t>
            </a:r>
            <a:r>
              <a:rPr lang="de-DE" sz="1200" dirty="0">
                <a:effectLst/>
                <a:latin typeface="Code2000"/>
              </a:rPr>
              <a:t>Commodity Futures Prices: </a:t>
            </a:r>
            <a:r>
              <a:rPr lang="de-DE" sz="1200" dirty="0" err="1">
                <a:effectLst/>
                <a:latin typeface="Code2000"/>
              </a:rPr>
              <a:t>Some</a:t>
            </a:r>
            <a:r>
              <a:rPr lang="de-DE" sz="1200" dirty="0">
                <a:effectLst/>
                <a:latin typeface="Code2000"/>
              </a:rPr>
              <a:t> </a:t>
            </a:r>
            <a:r>
              <a:rPr lang="de-DE" sz="1200" dirty="0" err="1">
                <a:effectLst/>
                <a:latin typeface="Code2000"/>
              </a:rPr>
              <a:t>Evidence</a:t>
            </a:r>
            <a:r>
              <a:rPr lang="de-DE" sz="1200" dirty="0">
                <a:effectLst/>
                <a:latin typeface="Code2000"/>
              </a:rPr>
              <a:t> on Forecast Power, </a:t>
            </a:r>
            <a:r>
              <a:rPr lang="de-DE" sz="1200" dirty="0" err="1">
                <a:effectLst/>
                <a:latin typeface="Code2000"/>
              </a:rPr>
              <a:t>Premiums</a:t>
            </a:r>
            <a:r>
              <a:rPr lang="de-DE" sz="1200" dirty="0">
                <a:effectLst/>
                <a:latin typeface="Code2000"/>
              </a:rPr>
              <a:t>, and </a:t>
            </a:r>
            <a:r>
              <a:rPr lang="de-DE" sz="1200" dirty="0" err="1">
                <a:effectLst/>
                <a:latin typeface="Code2000"/>
              </a:rPr>
              <a:t>the</a:t>
            </a:r>
            <a:r>
              <a:rPr lang="de-DE" sz="1200" dirty="0">
                <a:effectLst/>
                <a:latin typeface="Code2000"/>
              </a:rPr>
              <a:t> Theory of Storage</a:t>
            </a:r>
            <a:r>
              <a:rPr lang="de-DE" dirty="0"/>
              <a:t>, p.1 and </a:t>
            </a:r>
            <a:r>
              <a:rPr lang="de-DE" sz="1800" b="0" dirty="0">
                <a:effectLst/>
                <a:latin typeface="Calibri" panose="020F0502020204030204" pitchFamily="34" charset="0"/>
              </a:rPr>
              <a:t>Impact of U.S. </a:t>
            </a:r>
            <a:r>
              <a:rPr lang="de-DE" sz="1800" b="0" dirty="0" err="1">
                <a:effectLst/>
                <a:latin typeface="Calibri" panose="020F0502020204030204" pitchFamily="34" charset="0"/>
              </a:rPr>
              <a:t>Tight</a:t>
            </a:r>
            <a:r>
              <a:rPr lang="de-DE" sz="1800" b="0" dirty="0">
                <a:effectLst/>
                <a:latin typeface="Calibri" panose="020F0502020204030204" pitchFamily="34" charset="0"/>
              </a:rPr>
              <a:t> Oil on NYMEX WTI Futures</a:t>
            </a:r>
            <a:r>
              <a:rPr lang="de-DE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b="0" dirty="0" err="1">
                <a:effectLst/>
                <a:latin typeface="UniversLTStd"/>
              </a:rPr>
              <a:t>What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drives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commodity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price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variation</a:t>
            </a:r>
            <a:r>
              <a:rPr lang="de-DE" sz="1800" b="0" dirty="0">
                <a:effectLst/>
                <a:latin typeface="UniversLTStd"/>
              </a:rPr>
              <a:t>?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 349)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TimesNewRomanPSMT"/>
              </a:rPr>
              <a:t>Commodity Price Effects on Currencies, p. 1 and </a:t>
            </a:r>
            <a:r>
              <a:rPr lang="de-DE" sz="1200" dirty="0">
                <a:effectLst/>
                <a:latin typeface="AdvTT5843c571"/>
              </a:rPr>
              <a:t>Commodity </a:t>
            </a:r>
            <a:r>
              <a:rPr lang="de-DE" sz="1200" dirty="0" err="1">
                <a:effectLst/>
                <a:latin typeface="AdvTT5843c571"/>
              </a:rPr>
              <a:t>currencies</a:t>
            </a:r>
            <a:r>
              <a:rPr lang="de-DE" sz="1200" dirty="0">
                <a:effectLst/>
                <a:latin typeface="AdvTT5843c571"/>
              </a:rPr>
              <a:t> and </a:t>
            </a:r>
            <a:r>
              <a:rPr lang="de-DE" sz="1200" dirty="0" err="1">
                <a:effectLst/>
                <a:latin typeface="AdvTT5843c571"/>
              </a:rPr>
              <a:t>the</a:t>
            </a:r>
            <a:r>
              <a:rPr lang="de-DE" sz="1200" dirty="0">
                <a:effectLst/>
                <a:latin typeface="AdvTT5843c571"/>
              </a:rPr>
              <a:t> real </a:t>
            </a:r>
            <a:r>
              <a:rPr lang="de-DE" sz="1200" dirty="0" err="1">
                <a:effectLst/>
                <a:latin typeface="AdvTT5843c571"/>
              </a:rPr>
              <a:t>exchange</a:t>
            </a:r>
            <a:r>
              <a:rPr lang="de-DE" sz="1200" dirty="0">
                <a:effectLst/>
                <a:latin typeface="AdvTT5843c571"/>
              </a:rPr>
              <a:t> rate, p. 239-240 and </a:t>
            </a:r>
            <a:r>
              <a:rPr lang="de-DE" sz="1200" dirty="0">
                <a:effectLst/>
                <a:latin typeface="Times" pitchFamily="2" charset="0"/>
              </a:rPr>
              <a:t>Commodity </a:t>
            </a:r>
            <a:r>
              <a:rPr lang="de-DE" sz="1200" dirty="0" err="1">
                <a:effectLst/>
                <a:latin typeface="Times" pitchFamily="2" charset="0"/>
              </a:rPr>
              <a:t>currencies</a:t>
            </a:r>
            <a:r>
              <a:rPr lang="de-DE" sz="1200" dirty="0">
                <a:effectLst/>
                <a:latin typeface="Times" pitchFamily="2" charset="0"/>
              </a:rPr>
              <a:t>, p. 133-134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Cycle and Uncertainty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AdvOT596495f2"/>
              </a:rPr>
              <a:t>Do all </a:t>
            </a:r>
            <a:r>
              <a:rPr lang="de-DE" sz="1800" dirty="0" err="1">
                <a:effectLst/>
                <a:latin typeface="AdvOT596495f2"/>
              </a:rPr>
              <a:t>oil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price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shocks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have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the</a:t>
            </a:r>
            <a:r>
              <a:rPr lang="de-DE" sz="1800" dirty="0">
                <a:effectLst/>
                <a:latin typeface="AdvOT596495f2"/>
              </a:rPr>
              <a:t> same </a:t>
            </a:r>
            <a:r>
              <a:rPr lang="de-DE" sz="1800" dirty="0" err="1">
                <a:effectLst/>
                <a:latin typeface="AdvOT596495f2"/>
              </a:rPr>
              <a:t>impact</a:t>
            </a:r>
            <a:r>
              <a:rPr lang="de-DE" sz="1800" dirty="0">
                <a:effectLst/>
                <a:latin typeface="AdvOT596495f2"/>
              </a:rPr>
              <a:t>? </a:t>
            </a:r>
            <a:r>
              <a:rPr lang="de-DE" sz="1800" dirty="0" err="1">
                <a:effectLst/>
                <a:latin typeface="AdvOT596495f2"/>
              </a:rPr>
              <a:t>Evidence</a:t>
            </a:r>
            <a:r>
              <a:rPr lang="de-DE" sz="1800" dirty="0">
                <a:effectLst/>
                <a:latin typeface="AdvOT596495f2"/>
              </a:rPr>
              <a:t> from </a:t>
            </a:r>
            <a:r>
              <a:rPr lang="de-DE" sz="1800" dirty="0" err="1">
                <a:effectLst/>
                <a:latin typeface="AdvOT596495f2"/>
              </a:rPr>
              <a:t>the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euro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area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 151)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Adaptive Market Hypothesis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AdvOT863180fb"/>
              </a:rPr>
              <a:t>Exchange-rate </a:t>
            </a:r>
            <a:r>
              <a:rPr lang="de-DE" sz="1800" dirty="0" err="1">
                <a:effectLst/>
                <a:latin typeface="AdvOT863180fb"/>
              </a:rPr>
              <a:t>return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predictability</a:t>
            </a:r>
            <a:r>
              <a:rPr lang="de-DE" sz="1800" dirty="0">
                <a:effectLst/>
                <a:latin typeface="AdvOT863180fb"/>
              </a:rPr>
              <a:t> and </a:t>
            </a:r>
            <a:r>
              <a:rPr lang="de-DE" sz="1800" dirty="0" err="1">
                <a:effectLst/>
                <a:latin typeface="AdvOT863180fb"/>
              </a:rPr>
              <a:t>the</a:t>
            </a:r>
            <a:r>
              <a:rPr lang="de-DE" sz="1800" dirty="0">
                <a:effectLst/>
                <a:latin typeface="AdvOT863180fb"/>
              </a:rPr>
              <a:t> adaptive </a:t>
            </a:r>
            <a:r>
              <a:rPr lang="de-DE" sz="1800" dirty="0" err="1">
                <a:effectLst/>
                <a:latin typeface="AdvOT863180fb"/>
              </a:rPr>
              <a:t>markets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hypothesis</a:t>
            </a:r>
            <a:r>
              <a:rPr lang="de-DE" sz="1800" dirty="0">
                <a:effectLst/>
                <a:latin typeface="AdvOT863180fb"/>
              </a:rPr>
              <a:t>: </a:t>
            </a:r>
            <a:r>
              <a:rPr lang="de-DE" sz="1800" dirty="0" err="1">
                <a:effectLst/>
                <a:latin typeface="AdvOT863180fb"/>
              </a:rPr>
              <a:t>Evidence</a:t>
            </a:r>
            <a:r>
              <a:rPr lang="de-DE" sz="1800" dirty="0">
                <a:effectLst/>
                <a:latin typeface="AdvOT863180fb"/>
              </a:rPr>
              <a:t> from </a:t>
            </a:r>
            <a:r>
              <a:rPr lang="de-DE" sz="1800" dirty="0" err="1">
                <a:effectLst/>
                <a:latin typeface="AdvOT863180fb"/>
              </a:rPr>
              <a:t>major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foreign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exchange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rates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p.1607 and </a:t>
            </a:r>
            <a:r>
              <a:rPr lang="de-DE" sz="1800" dirty="0">
                <a:effectLst/>
                <a:latin typeface="CharisSIL"/>
              </a:rPr>
              <a:t>Time </a:t>
            </a:r>
            <a:r>
              <a:rPr lang="de-DE" sz="1800" dirty="0" err="1">
                <a:effectLst/>
                <a:latin typeface="CharisSIL"/>
              </a:rPr>
              <a:t>varying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efficiency</a:t>
            </a:r>
            <a:r>
              <a:rPr lang="de-DE" sz="1800" dirty="0">
                <a:effectLst/>
                <a:latin typeface="CharisSIL"/>
              </a:rPr>
              <a:t> in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Brent and WTI </a:t>
            </a:r>
            <a:r>
              <a:rPr lang="de-DE" sz="1800" dirty="0" err="1">
                <a:effectLst/>
                <a:latin typeface="CharisSIL"/>
              </a:rPr>
              <a:t>crude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</a:t>
            </a:r>
            <a:r>
              <a:rPr lang="de-DE" sz="1800" dirty="0">
                <a:effectLst/>
                <a:latin typeface="CharisSIL"/>
              </a:rPr>
              <a:t>, p.1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Shock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200" dirty="0">
                <a:effectLst/>
                <a:latin typeface="AdvOT863180fb"/>
              </a:rPr>
              <a:t>Exchange-rate </a:t>
            </a:r>
            <a:r>
              <a:rPr lang="de-DE" sz="1200" dirty="0" err="1">
                <a:effectLst/>
                <a:latin typeface="AdvOT863180fb"/>
              </a:rPr>
              <a:t>return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predictability</a:t>
            </a:r>
            <a:r>
              <a:rPr lang="de-DE" sz="1200" dirty="0">
                <a:effectLst/>
                <a:latin typeface="AdvOT863180fb"/>
              </a:rPr>
              <a:t> and </a:t>
            </a:r>
            <a:r>
              <a:rPr lang="de-DE" sz="1200" dirty="0" err="1">
                <a:effectLst/>
                <a:latin typeface="AdvOT863180fb"/>
              </a:rPr>
              <a:t>the</a:t>
            </a:r>
            <a:r>
              <a:rPr lang="de-DE" sz="1200" dirty="0">
                <a:effectLst/>
                <a:latin typeface="AdvOT863180fb"/>
              </a:rPr>
              <a:t> adaptive </a:t>
            </a:r>
            <a:r>
              <a:rPr lang="de-DE" sz="1200" dirty="0" err="1">
                <a:effectLst/>
                <a:latin typeface="AdvOT863180fb"/>
              </a:rPr>
              <a:t>markets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hypothesis</a:t>
            </a:r>
            <a:r>
              <a:rPr lang="de-DE" sz="1200" dirty="0">
                <a:effectLst/>
                <a:latin typeface="AdvOT863180fb"/>
              </a:rPr>
              <a:t>: </a:t>
            </a:r>
            <a:r>
              <a:rPr lang="de-DE" sz="1200" dirty="0" err="1">
                <a:effectLst/>
                <a:latin typeface="AdvOT863180fb"/>
              </a:rPr>
              <a:t>Evidence</a:t>
            </a:r>
            <a:r>
              <a:rPr lang="de-DE" sz="1200" dirty="0">
                <a:effectLst/>
                <a:latin typeface="AdvOT863180fb"/>
              </a:rPr>
              <a:t> from </a:t>
            </a:r>
            <a:r>
              <a:rPr lang="de-DE" sz="1200" dirty="0" err="1">
                <a:effectLst/>
                <a:latin typeface="AdvOT863180fb"/>
              </a:rPr>
              <a:t>major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foreign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exchange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rates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p.1607)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CharisSIL"/>
              </a:rPr>
              <a:t>International </a:t>
            </a:r>
            <a:r>
              <a:rPr lang="de-DE" sz="1800" dirty="0" err="1">
                <a:effectLst/>
                <a:latin typeface="CharisSIL"/>
              </a:rPr>
              <a:t>energy</a:t>
            </a:r>
            <a:r>
              <a:rPr lang="de-DE" sz="1800" dirty="0">
                <a:effectLst/>
                <a:latin typeface="CharisSIL"/>
              </a:rPr>
              <a:t> trade and </a:t>
            </a:r>
            <a:r>
              <a:rPr lang="de-DE" sz="1800" dirty="0" err="1">
                <a:effectLst/>
                <a:latin typeface="CharisSIL"/>
              </a:rPr>
              <a:t>inflation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dynamics</a:t>
            </a:r>
            <a:r>
              <a:rPr lang="de-DE" sz="1800" dirty="0">
                <a:effectLst/>
                <a:latin typeface="CharisSIL"/>
              </a:rPr>
              <a:t>: The </a:t>
            </a:r>
            <a:r>
              <a:rPr lang="de-DE" sz="1800" dirty="0" err="1">
                <a:effectLst/>
                <a:latin typeface="CharisSIL"/>
              </a:rPr>
              <a:t>role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invoicing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currency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use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during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low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carbon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transition</a:t>
            </a:r>
            <a:r>
              <a:rPr lang="de-DE" sz="1800" dirty="0">
                <a:effectLst/>
                <a:latin typeface="CharisSIL"/>
              </a:rPr>
              <a:t>, p.1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CharisSIL"/>
              </a:rPr>
              <a:t>Volatility </a:t>
            </a:r>
            <a:r>
              <a:rPr lang="de-DE" sz="1800" dirty="0" err="1">
                <a:effectLst/>
                <a:latin typeface="CharisSIL"/>
              </a:rPr>
              <a:t>spillover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between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prices</a:t>
            </a:r>
            <a:r>
              <a:rPr lang="de-DE" sz="1800" dirty="0">
                <a:effectLst/>
                <a:latin typeface="CharisSIL"/>
              </a:rPr>
              <a:t> and main </a:t>
            </a:r>
            <a:r>
              <a:rPr lang="de-DE" sz="1800" dirty="0" err="1">
                <a:effectLst/>
                <a:latin typeface="CharisSIL"/>
              </a:rPr>
              <a:t>exchange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rates</a:t>
            </a:r>
            <a:r>
              <a:rPr lang="de-DE" sz="1800" dirty="0">
                <a:effectLst/>
                <a:latin typeface="CharisSIL"/>
              </a:rPr>
              <a:t>: </a:t>
            </a:r>
            <a:r>
              <a:rPr lang="de-DE" sz="1800" dirty="0" err="1">
                <a:effectLst/>
                <a:latin typeface="CharisSIL"/>
              </a:rPr>
              <a:t>Evidence</a:t>
            </a:r>
            <a:r>
              <a:rPr lang="de-DE" sz="1800" dirty="0">
                <a:effectLst/>
                <a:latin typeface="CharisSIL"/>
              </a:rPr>
              <a:t> from a DCC-GARCH-</a:t>
            </a:r>
            <a:r>
              <a:rPr lang="de-DE" sz="1800" dirty="0" err="1">
                <a:effectLst/>
                <a:latin typeface="CharisSIL"/>
              </a:rPr>
              <a:t>connectedness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approach</a:t>
            </a:r>
            <a:r>
              <a:rPr lang="de-DE" sz="1800" dirty="0">
                <a:effectLst/>
                <a:latin typeface="CharisSIL"/>
              </a:rPr>
              <a:t>, p. 1 and </a:t>
            </a:r>
            <a:r>
              <a:rPr lang="de-DE" sz="1800" dirty="0" err="1">
                <a:effectLst/>
                <a:latin typeface="Times New Roman,Bold" pitchFamily="2" charset="0"/>
              </a:rPr>
              <a:t>How</a:t>
            </a:r>
            <a:r>
              <a:rPr lang="de-DE" sz="1800" dirty="0">
                <a:effectLst/>
                <a:latin typeface="Times New Roman,Bold" pitchFamily="2" charset="0"/>
              </a:rPr>
              <a:t> Exchange Rate Volatility Shapes Commodity Derivatives Market: </a:t>
            </a:r>
            <a:r>
              <a:rPr lang="de-DE" sz="1800" dirty="0" err="1">
                <a:effectLst/>
                <a:latin typeface="Times New Roman,Bold" pitchFamily="2" charset="0"/>
              </a:rPr>
              <a:t>Lessons</a:t>
            </a:r>
            <a:r>
              <a:rPr lang="de-DE" sz="1800" dirty="0">
                <a:effectLst/>
                <a:latin typeface="Times New Roman,Bold" pitchFamily="2" charset="0"/>
              </a:rPr>
              <a:t> from Five Global Shocks (2007–2023), p. 1 and </a:t>
            </a:r>
            <a:r>
              <a:rPr lang="de-DE" sz="1800" dirty="0">
                <a:effectLst/>
                <a:latin typeface="AdvTT5235d5a9"/>
              </a:rPr>
              <a:t>Oil </a:t>
            </a:r>
            <a:r>
              <a:rPr lang="de-DE" sz="1800" dirty="0" err="1">
                <a:effectLst/>
                <a:latin typeface="AdvTT5235d5a9"/>
              </a:rPr>
              <a:t>price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shocks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exchange</a:t>
            </a:r>
            <a:r>
              <a:rPr lang="de-DE" sz="1800" dirty="0">
                <a:effectLst/>
                <a:latin typeface="AdvTT5235d5a9"/>
              </a:rPr>
              <a:t> rate </a:t>
            </a:r>
            <a:r>
              <a:rPr lang="de-DE" sz="1800" dirty="0" err="1">
                <a:effectLst/>
                <a:latin typeface="AdvTT5235d5a9"/>
              </a:rPr>
              <a:t>movements</a:t>
            </a:r>
            <a:r>
              <a:rPr lang="de-DE" sz="1800" dirty="0">
                <a:effectLst/>
                <a:latin typeface="AdvTT5235d5a9"/>
              </a:rPr>
              <a:t>, p. 18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Bank Policy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MathPackOne"/>
              </a:rPr>
              <a:t>Regime </a:t>
            </a:r>
            <a:r>
              <a:rPr lang="de-DE" sz="1800" dirty="0" err="1">
                <a:effectLst/>
                <a:latin typeface="MathPackOne"/>
              </a:rPr>
              <a:t>switching</a:t>
            </a:r>
            <a:r>
              <a:rPr lang="de-DE" sz="1800" dirty="0">
                <a:effectLst/>
                <a:latin typeface="MathPackOne"/>
              </a:rPr>
              <a:t> in </a:t>
            </a:r>
            <a:r>
              <a:rPr lang="de-DE" sz="1800" dirty="0" err="1">
                <a:effectLst/>
                <a:latin typeface="MathPackOne"/>
              </a:rPr>
              <a:t>foreign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exchange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rates</a:t>
            </a:r>
            <a:r>
              <a:rPr lang="de-DE" sz="1800" dirty="0">
                <a:effectLst/>
                <a:latin typeface="MathPackOne"/>
              </a:rPr>
              <a:t>: </a:t>
            </a:r>
            <a:r>
              <a:rPr lang="de-DE" sz="1800" dirty="0" err="1">
                <a:effectLst/>
                <a:latin typeface="MathPackOne"/>
              </a:rPr>
              <a:t>Evidence</a:t>
            </a:r>
            <a:r>
              <a:rPr lang="de-DE" sz="1800" dirty="0">
                <a:effectLst/>
                <a:latin typeface="MathPackOne"/>
              </a:rPr>
              <a:t> from </a:t>
            </a:r>
            <a:r>
              <a:rPr lang="de-DE" sz="1800" dirty="0" err="1">
                <a:effectLst/>
                <a:latin typeface="MathPackOne"/>
              </a:rPr>
              <a:t>currency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option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prices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 240)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AdvTT5235d5a9"/>
              </a:rPr>
              <a:t>The </a:t>
            </a:r>
            <a:r>
              <a:rPr lang="de-DE" sz="1800" dirty="0" err="1">
                <a:effectLst/>
                <a:latin typeface="AdvTT5235d5a9"/>
              </a:rPr>
              <a:t>impact</a:t>
            </a:r>
            <a:r>
              <a:rPr lang="de-DE" sz="1800" dirty="0">
                <a:effectLst/>
                <a:latin typeface="AdvTT5235d5a9"/>
              </a:rPr>
              <a:t> of </a:t>
            </a:r>
            <a:r>
              <a:rPr lang="de-DE" sz="1800" dirty="0" err="1">
                <a:effectLst/>
                <a:latin typeface="AdvTT5235d5a9"/>
              </a:rPr>
              <a:t>oil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shocks</a:t>
            </a:r>
            <a:r>
              <a:rPr lang="de-DE" sz="1800" dirty="0">
                <a:effectLst/>
                <a:latin typeface="AdvTT5235d5a9"/>
              </a:rPr>
              <a:t> on </a:t>
            </a:r>
            <a:r>
              <a:rPr lang="de-DE" sz="1800" dirty="0" err="1">
                <a:effectLst/>
                <a:latin typeface="AdvTT5235d5a9"/>
              </a:rPr>
              <a:t>exchange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rates</a:t>
            </a:r>
            <a:r>
              <a:rPr lang="de-DE" sz="1800" dirty="0">
                <a:effectLst/>
                <a:latin typeface="AdvTT5235d5a9"/>
              </a:rPr>
              <a:t>: A Markov-</a:t>
            </a:r>
            <a:r>
              <a:rPr lang="de-DE" sz="1800" dirty="0" err="1">
                <a:effectLst/>
                <a:latin typeface="AdvTT5235d5a9"/>
              </a:rPr>
              <a:t>switching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approach</a:t>
            </a:r>
            <a:r>
              <a:rPr lang="de-DE" sz="1800" dirty="0">
                <a:effectLst/>
                <a:latin typeface="AdvTT5235d5a9"/>
              </a:rPr>
              <a:t>, p. 11 and </a:t>
            </a:r>
            <a:r>
              <a:rPr lang="de-DE" sz="1800" dirty="0">
                <a:effectLst/>
                <a:latin typeface="AdvTT6120e2aa"/>
              </a:rPr>
              <a:t>Oil </a:t>
            </a:r>
            <a:r>
              <a:rPr lang="de-DE" sz="1800" dirty="0" err="1">
                <a:effectLst/>
                <a:latin typeface="AdvTT6120e2aa"/>
              </a:rPr>
              <a:t>prices</a:t>
            </a:r>
            <a:r>
              <a:rPr lang="de-DE" sz="1800" dirty="0">
                <a:effectLst/>
                <a:latin typeface="AdvTT6120e2aa"/>
              </a:rPr>
              <a:t> and real </a:t>
            </a:r>
            <a:r>
              <a:rPr lang="de-DE" sz="1800" dirty="0" err="1">
                <a:effectLst/>
                <a:latin typeface="AdvTT6120e2aa"/>
              </a:rPr>
              <a:t>exchange</a:t>
            </a:r>
            <a:r>
              <a:rPr lang="de-DE" sz="1800" dirty="0">
                <a:effectLst/>
                <a:latin typeface="AdvTT6120e2aa"/>
              </a:rPr>
              <a:t> </a:t>
            </a:r>
            <a:r>
              <a:rPr lang="de-DE" sz="1800" dirty="0" err="1">
                <a:effectLst/>
                <a:latin typeface="AdvTT6120e2aa"/>
              </a:rPr>
              <a:t>rates</a:t>
            </a:r>
            <a:r>
              <a:rPr lang="de-DE" sz="1800" dirty="0">
                <a:effectLst/>
                <a:latin typeface="AdvTT6120e2aa"/>
              </a:rPr>
              <a:t>, p. 391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CharisSIL"/>
              </a:rPr>
              <a:t>Non-linear </a:t>
            </a:r>
            <a:r>
              <a:rPr lang="de-DE" sz="1800" dirty="0" err="1">
                <a:effectLst/>
                <a:latin typeface="CharisSIL"/>
              </a:rPr>
              <a:t>relationship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between</a:t>
            </a:r>
            <a:r>
              <a:rPr lang="de-DE" sz="1800" dirty="0">
                <a:effectLst/>
                <a:latin typeface="CharisSIL"/>
              </a:rPr>
              <a:t> real </a:t>
            </a:r>
            <a:r>
              <a:rPr lang="de-DE" sz="1800" dirty="0" err="1">
                <a:effectLst/>
                <a:latin typeface="CharisSIL"/>
              </a:rPr>
              <a:t>commodity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price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volatility</a:t>
            </a:r>
            <a:r>
              <a:rPr lang="de-DE" sz="1800" dirty="0">
                <a:effectLst/>
                <a:latin typeface="CharisSIL"/>
              </a:rPr>
              <a:t> and real </a:t>
            </a:r>
            <a:r>
              <a:rPr lang="de-DE" sz="1800" dirty="0" err="1">
                <a:effectLst/>
                <a:latin typeface="CharisSIL"/>
              </a:rPr>
              <a:t>effective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exchange</a:t>
            </a:r>
            <a:r>
              <a:rPr lang="de-DE" sz="1800" dirty="0">
                <a:effectLst/>
                <a:latin typeface="CharisSIL"/>
              </a:rPr>
              <a:t> rate: The </a:t>
            </a:r>
            <a:r>
              <a:rPr lang="de-DE" sz="1800" dirty="0" err="1">
                <a:effectLst/>
                <a:latin typeface="CharisSIL"/>
              </a:rPr>
              <a:t>case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commodity-exporting</a:t>
            </a:r>
            <a:r>
              <a:rPr lang="de-DE" sz="1800" dirty="0">
                <a:effectLst/>
                <a:latin typeface="CharisSIL"/>
              </a:rPr>
              <a:t> countries, p. 212-213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NotoSansSemiCondensed"/>
              </a:rPr>
              <a:t>Oil </a:t>
            </a:r>
            <a:r>
              <a:rPr lang="de-DE" sz="1800" dirty="0" err="1">
                <a:effectLst/>
                <a:latin typeface="NotoSansSemiCondensed"/>
              </a:rPr>
              <a:t>prices</a:t>
            </a:r>
            <a:r>
              <a:rPr lang="de-DE" sz="1800" dirty="0">
                <a:effectLst/>
                <a:latin typeface="NotoSansSemiCondensed"/>
              </a:rPr>
              <a:t>, </a:t>
            </a:r>
            <a:r>
              <a:rPr lang="de-DE" sz="1800" dirty="0" err="1">
                <a:effectLst/>
                <a:latin typeface="NotoSansSemiCondensed"/>
              </a:rPr>
              <a:t>exchange</a:t>
            </a:r>
            <a:r>
              <a:rPr lang="de-DE" sz="1800" dirty="0">
                <a:effectLst/>
                <a:latin typeface="NotoSansSemiCondensed"/>
              </a:rPr>
              <a:t> </a:t>
            </a:r>
            <a:r>
              <a:rPr lang="de-DE" sz="1800" dirty="0" err="1">
                <a:effectLst/>
                <a:latin typeface="NotoSansSemiCondensed"/>
              </a:rPr>
              <a:t>rates</a:t>
            </a:r>
            <a:r>
              <a:rPr lang="de-DE" sz="1800" dirty="0">
                <a:effectLst/>
                <a:latin typeface="NotoSansSemiCondensed"/>
              </a:rPr>
              <a:t> and </a:t>
            </a:r>
            <a:r>
              <a:rPr lang="de-DE" sz="1800" dirty="0" err="1">
                <a:effectLst/>
                <a:latin typeface="NotoSansSemiCondensed"/>
              </a:rPr>
              <a:t>asset</a:t>
            </a:r>
            <a:r>
              <a:rPr lang="de-DE" sz="1800" dirty="0">
                <a:effectLst/>
                <a:latin typeface="NotoSansSemiCondensed"/>
              </a:rPr>
              <a:t> </a:t>
            </a:r>
            <a:r>
              <a:rPr lang="de-DE" sz="1800" dirty="0" err="1">
                <a:effectLst/>
                <a:latin typeface="NotoSansSemiCondensed"/>
              </a:rPr>
              <a:t>prices</a:t>
            </a:r>
            <a:r>
              <a:rPr lang="de-DE" sz="1800" dirty="0">
                <a:effectLst/>
                <a:latin typeface="NotoSansSemiCondensed"/>
              </a:rPr>
              <a:t>, p. 1-3 and </a:t>
            </a:r>
            <a:r>
              <a:rPr lang="de-DE" sz="1800" dirty="0">
                <a:effectLst/>
                <a:latin typeface="CharisSIL"/>
              </a:rPr>
              <a:t>The power </a:t>
            </a:r>
            <a:r>
              <a:rPr lang="de-DE" sz="1800" dirty="0" err="1">
                <a:effectLst/>
                <a:latin typeface="CharisSIL"/>
              </a:rPr>
              <a:t>play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natural</a:t>
            </a:r>
            <a:r>
              <a:rPr lang="de-DE" sz="1800" dirty="0">
                <a:effectLst/>
                <a:latin typeface="CharisSIL"/>
              </a:rPr>
              <a:t> gas and </a:t>
            </a:r>
            <a:r>
              <a:rPr lang="de-DE" sz="1800" dirty="0" err="1">
                <a:effectLst/>
                <a:latin typeface="CharisSIL"/>
              </a:rPr>
              <a:t>crude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 in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move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towards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financialization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energy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</a:t>
            </a:r>
            <a:r>
              <a:rPr lang="de-DE" sz="1800" dirty="0">
                <a:effectLst/>
                <a:latin typeface="CharisSIL"/>
              </a:rPr>
              <a:t>, p. 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 err="1">
                <a:effectLst/>
                <a:latin typeface="AdvTT5235d5a9"/>
              </a:rPr>
              <a:t>Dependence</a:t>
            </a:r>
            <a:r>
              <a:rPr lang="de-DE" sz="1800" dirty="0">
                <a:effectLst/>
                <a:latin typeface="AdvTT5235d5a9"/>
              </a:rPr>
              <a:t> and extreme </a:t>
            </a:r>
            <a:r>
              <a:rPr lang="de-DE" sz="1800" dirty="0" err="1">
                <a:effectLst/>
                <a:latin typeface="AdvTT5235d5a9"/>
              </a:rPr>
              <a:t>dependence</a:t>
            </a:r>
            <a:r>
              <a:rPr lang="de-DE" sz="1800" dirty="0">
                <a:effectLst/>
                <a:latin typeface="AdvTT5235d5a9"/>
              </a:rPr>
              <a:t> of </a:t>
            </a:r>
            <a:r>
              <a:rPr lang="de-DE" sz="1800" dirty="0" err="1">
                <a:effectLst/>
                <a:latin typeface="AdvTT5235d5a9"/>
              </a:rPr>
              <a:t>crude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oil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natural</a:t>
            </a:r>
            <a:r>
              <a:rPr lang="de-DE" sz="1800" dirty="0">
                <a:effectLst/>
                <a:latin typeface="AdvTT5235d5a9"/>
              </a:rPr>
              <a:t> gas </a:t>
            </a:r>
            <a:r>
              <a:rPr lang="de-DE" sz="1800" dirty="0" err="1">
                <a:effectLst/>
                <a:latin typeface="AdvTT5235d5a9"/>
              </a:rPr>
              <a:t>prices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with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applications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to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risk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management</a:t>
            </a:r>
            <a:r>
              <a:rPr lang="de-DE" sz="1800" dirty="0">
                <a:effectLst/>
                <a:latin typeface="AdvTT5235d5a9"/>
              </a:rPr>
              <a:t>, p. 332 and </a:t>
            </a:r>
            <a:r>
              <a:rPr lang="de-DE" sz="1800" dirty="0">
                <a:effectLst/>
                <a:latin typeface="CharisSIL"/>
              </a:rPr>
              <a:t>Dynamic </a:t>
            </a:r>
            <a:r>
              <a:rPr lang="de-DE" sz="1800" dirty="0" err="1">
                <a:effectLst/>
                <a:latin typeface="CharisSIL"/>
              </a:rPr>
              <a:t>frequency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relationships</a:t>
            </a:r>
            <a:r>
              <a:rPr lang="de-DE" sz="1800" dirty="0">
                <a:effectLst/>
                <a:latin typeface="CharisSIL"/>
              </a:rPr>
              <a:t> and </a:t>
            </a:r>
            <a:r>
              <a:rPr lang="de-DE" sz="1800" dirty="0" err="1">
                <a:effectLst/>
                <a:latin typeface="CharisSIL"/>
              </a:rPr>
              <a:t>volatility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spillovers</a:t>
            </a:r>
            <a:r>
              <a:rPr lang="de-DE" sz="1800" dirty="0">
                <a:effectLst/>
                <a:latin typeface="CharisSIL"/>
              </a:rPr>
              <a:t> in </a:t>
            </a:r>
            <a:r>
              <a:rPr lang="de-DE" sz="1800" dirty="0" err="1">
                <a:effectLst/>
                <a:latin typeface="CharisSIL"/>
              </a:rPr>
              <a:t>natural</a:t>
            </a:r>
            <a:r>
              <a:rPr lang="de-DE" sz="1800" dirty="0">
                <a:effectLst/>
                <a:latin typeface="CharisSIL"/>
              </a:rPr>
              <a:t> gas, </a:t>
            </a:r>
            <a:r>
              <a:rPr lang="de-DE" sz="1800" dirty="0" err="1">
                <a:effectLst/>
                <a:latin typeface="CharisSIL"/>
              </a:rPr>
              <a:t>crude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, gas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, </a:t>
            </a:r>
            <a:r>
              <a:rPr lang="de-DE" sz="1800" dirty="0" err="1">
                <a:effectLst/>
                <a:latin typeface="CharisSIL"/>
              </a:rPr>
              <a:t>gasoline</a:t>
            </a:r>
            <a:r>
              <a:rPr lang="de-DE" sz="1800" dirty="0">
                <a:effectLst/>
                <a:latin typeface="CharisSIL"/>
              </a:rPr>
              <a:t>, and </a:t>
            </a:r>
            <a:r>
              <a:rPr lang="de-DE" sz="1800" dirty="0" err="1">
                <a:effectLst/>
                <a:latin typeface="CharisSIL"/>
              </a:rPr>
              <a:t>heating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markets</a:t>
            </a:r>
            <a:r>
              <a:rPr lang="de-DE" sz="1800" dirty="0">
                <a:effectLst/>
                <a:latin typeface="CharisSIL"/>
              </a:rPr>
              <a:t>: </a:t>
            </a:r>
            <a:r>
              <a:rPr lang="de-DE" sz="1800" dirty="0" err="1">
                <a:effectLst/>
                <a:latin typeface="CharisSIL"/>
              </a:rPr>
              <a:t>Implications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for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portfolio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management</a:t>
            </a:r>
            <a:r>
              <a:rPr lang="de-DE" sz="1800" dirty="0">
                <a:effectLst/>
                <a:latin typeface="CharisSIL"/>
              </a:rPr>
              <a:t>, p. 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from: </a:t>
            </a:r>
            <a:r>
              <a:rPr lang="de-DE" sz="1800" dirty="0">
                <a:effectLst/>
                <a:latin typeface="TimesLTStd"/>
              </a:rPr>
              <a:t>Inflation, </a:t>
            </a:r>
            <a:r>
              <a:rPr lang="de-DE" sz="1800" dirty="0" err="1">
                <a:effectLst/>
                <a:latin typeface="TimesLTStd"/>
              </a:rPr>
              <a:t>oil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prices</a:t>
            </a:r>
            <a:r>
              <a:rPr lang="de-DE" sz="1800" dirty="0">
                <a:effectLst/>
                <a:latin typeface="TimesLTStd"/>
              </a:rPr>
              <a:t> and </a:t>
            </a:r>
            <a:r>
              <a:rPr lang="de-DE" sz="1800" dirty="0" err="1">
                <a:effectLst/>
                <a:latin typeface="TimesLTStd"/>
              </a:rPr>
              <a:t>exchange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rates</a:t>
            </a:r>
            <a:r>
              <a:rPr lang="de-DE" sz="1800" dirty="0">
                <a:effectLst/>
                <a:latin typeface="TimesLTStd"/>
              </a:rPr>
              <a:t>. The </a:t>
            </a:r>
            <a:r>
              <a:rPr lang="de-DE" sz="1800" dirty="0" err="1">
                <a:effectLst/>
                <a:latin typeface="TimesLTStd"/>
              </a:rPr>
              <a:t>Euro’s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dampening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effect</a:t>
            </a:r>
            <a:r>
              <a:rPr lang="de-DE" sz="1800" dirty="0">
                <a:effectLst/>
                <a:latin typeface="TimesLTStd"/>
              </a:rPr>
              <a:t>, p. 130 and </a:t>
            </a:r>
            <a:r>
              <a:rPr lang="de-DE" sz="1800" dirty="0">
                <a:effectLst/>
                <a:latin typeface="Times" pitchFamily="2" charset="0"/>
              </a:rPr>
              <a:t>Long-run </a:t>
            </a:r>
            <a:r>
              <a:rPr lang="de-DE" sz="1800" dirty="0" err="1">
                <a:effectLst/>
                <a:latin typeface="Times" pitchFamily="2" charset="0"/>
              </a:rPr>
              <a:t>equilibrium</a:t>
            </a:r>
            <a:r>
              <a:rPr lang="de-DE" sz="1800" dirty="0">
                <a:effectLst/>
                <a:latin typeface="Times" pitchFamily="2" charset="0"/>
              </a:rPr>
              <a:t> real </a:t>
            </a:r>
            <a:r>
              <a:rPr lang="de-DE" sz="1800" dirty="0" err="1">
                <a:effectLst/>
                <a:latin typeface="Times" pitchFamily="2" charset="0"/>
              </a:rPr>
              <a:t>exchange</a:t>
            </a:r>
            <a:r>
              <a:rPr lang="de-DE" sz="1800" dirty="0">
                <a:effectLst/>
                <a:latin typeface="Times" pitchFamily="2" charset="0"/>
              </a:rPr>
              <a:t> </a:t>
            </a:r>
            <a:r>
              <a:rPr lang="de-DE" sz="1800" dirty="0" err="1">
                <a:effectLst/>
                <a:latin typeface="Times" pitchFamily="2" charset="0"/>
              </a:rPr>
              <a:t>rates</a:t>
            </a:r>
            <a:r>
              <a:rPr lang="de-DE" sz="1800" dirty="0">
                <a:effectLst/>
                <a:latin typeface="Times" pitchFamily="2" charset="0"/>
              </a:rPr>
              <a:t> and </a:t>
            </a:r>
            <a:r>
              <a:rPr lang="de-DE" sz="1800" dirty="0" err="1">
                <a:effectLst/>
                <a:latin typeface="Times" pitchFamily="2" charset="0"/>
              </a:rPr>
              <a:t>oil</a:t>
            </a:r>
            <a:r>
              <a:rPr lang="de-DE" sz="1800" dirty="0">
                <a:effectLst/>
                <a:latin typeface="Times" pitchFamily="2" charset="0"/>
              </a:rPr>
              <a:t> </a:t>
            </a:r>
            <a:r>
              <a:rPr lang="de-DE" sz="1800" dirty="0" err="1">
                <a:effectLst/>
                <a:latin typeface="Times" pitchFamily="2" charset="0"/>
              </a:rPr>
              <a:t>prices</a:t>
            </a:r>
            <a:r>
              <a:rPr lang="de-DE" sz="1800" dirty="0">
                <a:effectLst/>
                <a:latin typeface="Times" pitchFamily="2" charset="0"/>
              </a:rPr>
              <a:t>, p. 231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Oil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price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 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+fb"/>
              </a:rPr>
              <a:t>fl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uctuations and U.S.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dollar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exchange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rates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, p. 399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DE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595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</a:t>
            </a:r>
            <a:r>
              <a:rPr lang="de-DE" dirty="0" err="1"/>
              <a:t>Schematic</a:t>
            </a:r>
            <a:r>
              <a:rPr lang="de-DE" dirty="0"/>
              <a:t> </a:t>
            </a:r>
            <a:r>
              <a:rPr lang="de-DE" dirty="0" err="1"/>
              <a:t>overview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prices</a:t>
            </a:r>
            <a:r>
              <a:rPr lang="de-DE" dirty="0"/>
              <a:t> and </a:t>
            </a:r>
            <a:r>
              <a:rPr lang="de-DE" dirty="0" err="1"/>
              <a:t>measurements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various</a:t>
            </a:r>
            <a:r>
              <a:rPr lang="de-DE" dirty="0"/>
              <a:t> </a:t>
            </a:r>
            <a:r>
              <a:rPr lang="de-DE" dirty="0" err="1"/>
              <a:t>exchange</a:t>
            </a:r>
            <a:r>
              <a:rPr lang="de-DE" dirty="0"/>
              <a:t> rate </a:t>
            </a:r>
            <a:r>
              <a:rPr lang="de-DE" dirty="0" err="1"/>
              <a:t>types</a:t>
            </a:r>
            <a:r>
              <a:rPr lang="de-DE" dirty="0"/>
              <a:t>.</a:t>
            </a:r>
          </a:p>
          <a:p>
            <a:r>
              <a:rPr lang="de-DE" dirty="0"/>
              <a:t>Sources:</a:t>
            </a:r>
          </a:p>
          <a:p>
            <a:pPr marL="171450" indent="-171450">
              <a:buFontTx/>
              <a:buChar char="-"/>
            </a:pPr>
            <a:r>
              <a:rPr lang="de-DE" dirty="0"/>
              <a:t>[AL22] Garz ´on Antonio J and Hierro Luis A. “</a:t>
            </a:r>
            <a:r>
              <a:rPr lang="de-DE" dirty="0" err="1"/>
              <a:t>Inﬂation</a:t>
            </a:r>
            <a:r>
              <a:rPr lang="de-DE" dirty="0"/>
              <a:t>, </a:t>
            </a:r>
            <a:r>
              <a:rPr lang="de-DE" dirty="0" err="1"/>
              <a:t>oil</a:t>
            </a:r>
            <a:r>
              <a:rPr lang="de-DE" dirty="0"/>
              <a:t> </a:t>
            </a:r>
            <a:r>
              <a:rPr lang="de-DE" dirty="0" err="1"/>
              <a:t>prices</a:t>
            </a:r>
            <a:r>
              <a:rPr lang="de-DE" dirty="0"/>
              <a:t> and </a:t>
            </a:r>
            <a:r>
              <a:rPr lang="de-DE" dirty="0" err="1"/>
              <a:t>exchange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. The </a:t>
            </a:r>
            <a:r>
              <a:rPr lang="de-DE" dirty="0" err="1"/>
              <a:t>Euro’s</a:t>
            </a:r>
            <a:r>
              <a:rPr lang="de-DE" dirty="0"/>
              <a:t> </a:t>
            </a:r>
            <a:r>
              <a:rPr lang="de-DE" dirty="0" err="1"/>
              <a:t>dampening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”. In: Journal </a:t>
            </a:r>
            <a:r>
              <a:rPr lang="de-DE" dirty="0" err="1"/>
              <a:t>of</a:t>
            </a:r>
            <a:r>
              <a:rPr lang="de-DE" dirty="0"/>
              <a:t> Policy Modeling 44.1 (2022). </a:t>
            </a:r>
            <a:r>
              <a:rPr lang="de-DE" dirty="0" err="1"/>
              <a:t>Ref</a:t>
            </a:r>
            <a:r>
              <a:rPr lang="de-DE" dirty="0"/>
              <a:t> </a:t>
            </a:r>
            <a:r>
              <a:rPr lang="de-DE" dirty="0" err="1"/>
              <a:t>Inﬂation</a:t>
            </a:r>
            <a:r>
              <a:rPr lang="de-DE" dirty="0"/>
              <a:t>, p.130, pp. 130–146.</a:t>
            </a:r>
          </a:p>
          <a:p>
            <a:pPr marL="171450" indent="-171450">
              <a:buFontTx/>
              <a:buChar char="-"/>
            </a:pPr>
            <a:r>
              <a:rPr lang="de-DE" dirty="0"/>
              <a:t>[Alo+14] </a:t>
            </a:r>
            <a:r>
              <a:rPr lang="de-DE" dirty="0" err="1"/>
              <a:t>Riadh</a:t>
            </a:r>
            <a:r>
              <a:rPr lang="de-DE" dirty="0"/>
              <a:t> </a:t>
            </a:r>
            <a:r>
              <a:rPr lang="de-DE" dirty="0" err="1"/>
              <a:t>Aloui</a:t>
            </a:r>
            <a:r>
              <a:rPr lang="de-DE" dirty="0"/>
              <a:t> et al. “</a:t>
            </a:r>
            <a:r>
              <a:rPr lang="de-DE" dirty="0" err="1"/>
              <a:t>Dependence</a:t>
            </a:r>
            <a:r>
              <a:rPr lang="de-DE" dirty="0"/>
              <a:t> and extreme </a:t>
            </a:r>
            <a:r>
              <a:rPr lang="de-DE" dirty="0" err="1"/>
              <a:t>dependence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crude</a:t>
            </a:r>
            <a:r>
              <a:rPr lang="de-DE" dirty="0"/>
              <a:t> </a:t>
            </a:r>
            <a:r>
              <a:rPr lang="de-DE" dirty="0" err="1"/>
              <a:t>oil</a:t>
            </a:r>
            <a:r>
              <a:rPr lang="de-DE" dirty="0"/>
              <a:t> and </a:t>
            </a:r>
            <a:r>
              <a:rPr lang="de-DE" dirty="0" err="1"/>
              <a:t>natural</a:t>
            </a:r>
            <a:r>
              <a:rPr lang="de-DE" dirty="0"/>
              <a:t> gas </a:t>
            </a:r>
            <a:r>
              <a:rPr lang="de-DE" dirty="0" err="1"/>
              <a:t>prices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applications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risk</a:t>
            </a:r>
            <a:r>
              <a:rPr lang="de-DE" dirty="0"/>
              <a:t> </a:t>
            </a:r>
            <a:r>
              <a:rPr lang="de-DE" dirty="0" err="1"/>
              <a:t>management</a:t>
            </a:r>
            <a:r>
              <a:rPr lang="de-DE" dirty="0"/>
              <a:t>”. In: Energy Economics 42 (2014). </a:t>
            </a:r>
            <a:r>
              <a:rPr lang="de-DE" dirty="0" err="1"/>
              <a:t>Ref</a:t>
            </a:r>
            <a:r>
              <a:rPr lang="de-DE" dirty="0"/>
              <a:t> (Risk Parity) Portfolio </a:t>
            </a:r>
            <a:r>
              <a:rPr lang="de-DE" dirty="0" err="1"/>
              <a:t>Rebalancing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, p.332, pp. 332–342.</a:t>
            </a:r>
          </a:p>
          <a:p>
            <a:pPr marL="171450" indent="-171450">
              <a:buFontTx/>
              <a:buChar char="-"/>
            </a:pPr>
            <a:r>
              <a:rPr lang="de-DE" dirty="0"/>
              <a:t>[BGS19] Salem </a:t>
            </a:r>
            <a:r>
              <a:rPr lang="de-DE" dirty="0" err="1"/>
              <a:t>Boubakri</a:t>
            </a:r>
            <a:r>
              <a:rPr lang="de-DE" dirty="0"/>
              <a:t>, </a:t>
            </a:r>
            <a:r>
              <a:rPr lang="de-DE" dirty="0" err="1"/>
              <a:t>Cyriac</a:t>
            </a:r>
            <a:r>
              <a:rPr lang="de-DE" dirty="0"/>
              <a:t> </a:t>
            </a:r>
            <a:r>
              <a:rPr lang="de-DE" dirty="0" err="1"/>
              <a:t>Guillaumin</a:t>
            </a:r>
            <a:r>
              <a:rPr lang="de-DE" dirty="0"/>
              <a:t>, and Alexandre </a:t>
            </a:r>
            <a:r>
              <a:rPr lang="de-DE" dirty="0" err="1"/>
              <a:t>Silanine</a:t>
            </a:r>
            <a:r>
              <a:rPr lang="de-DE" dirty="0"/>
              <a:t>. “Non-linear </a:t>
            </a:r>
            <a:r>
              <a:rPr lang="de-DE" dirty="0" err="1"/>
              <a:t>relationship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real </a:t>
            </a:r>
            <a:r>
              <a:rPr lang="de-DE" dirty="0" err="1"/>
              <a:t>commodity</a:t>
            </a:r>
            <a:r>
              <a:rPr lang="de-DE" dirty="0"/>
              <a:t> </a:t>
            </a:r>
            <a:r>
              <a:rPr lang="de-DE" dirty="0" err="1"/>
              <a:t>price</a:t>
            </a:r>
            <a:r>
              <a:rPr lang="de-DE" dirty="0"/>
              <a:t> </a:t>
            </a:r>
            <a:r>
              <a:rPr lang="de-DE" dirty="0" err="1"/>
              <a:t>volatility</a:t>
            </a:r>
            <a:r>
              <a:rPr lang="de-DE" dirty="0"/>
              <a:t> and real </a:t>
            </a:r>
            <a:r>
              <a:rPr lang="de-DE" dirty="0" err="1"/>
              <a:t>effective</a:t>
            </a:r>
            <a:r>
              <a:rPr lang="de-DE" dirty="0"/>
              <a:t> </a:t>
            </a:r>
            <a:r>
              <a:rPr lang="de-DE" dirty="0" err="1"/>
              <a:t>exchange</a:t>
            </a:r>
            <a:r>
              <a:rPr lang="de-DE" dirty="0"/>
              <a:t> rate: The </a:t>
            </a:r>
            <a:r>
              <a:rPr lang="de-DE" dirty="0" err="1"/>
              <a:t>case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commodity-exporting</a:t>
            </a:r>
            <a:r>
              <a:rPr lang="de-DE" dirty="0"/>
              <a:t> countries”. In: Journal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Macroeconomics</a:t>
            </a:r>
            <a:r>
              <a:rPr lang="de-DE" dirty="0"/>
              <a:t> 60 (2019). </a:t>
            </a:r>
            <a:r>
              <a:rPr lang="de-DE" dirty="0" err="1"/>
              <a:t>Ref</a:t>
            </a:r>
            <a:r>
              <a:rPr lang="de-DE" dirty="0"/>
              <a:t> Oil </a:t>
            </a:r>
            <a:r>
              <a:rPr lang="de-DE" dirty="0" err="1"/>
              <a:t>export</a:t>
            </a:r>
            <a:r>
              <a:rPr lang="de-DE" dirty="0"/>
              <a:t> and </a:t>
            </a:r>
            <a:r>
              <a:rPr lang="de-DE" dirty="0" err="1"/>
              <a:t>import</a:t>
            </a:r>
            <a:r>
              <a:rPr lang="de-DE" dirty="0"/>
              <a:t>, p.212-213, pp. 212–228.</a:t>
            </a:r>
          </a:p>
          <a:p>
            <a:pPr marL="171450" indent="-171450">
              <a:buFontTx/>
              <a:buChar char="-"/>
            </a:pPr>
            <a:r>
              <a:rPr lang="de-DE" dirty="0"/>
              <a:t>[BGW00] Nicolas PB Bollen, Stephen F Gray, and Robert E </a:t>
            </a:r>
            <a:r>
              <a:rPr lang="de-DE" dirty="0" err="1"/>
              <a:t>Whaley</a:t>
            </a:r>
            <a:r>
              <a:rPr lang="de-DE" dirty="0"/>
              <a:t>. “Regime </a:t>
            </a:r>
            <a:r>
              <a:rPr lang="de-DE" dirty="0" err="1"/>
              <a:t>switching</a:t>
            </a:r>
            <a:r>
              <a:rPr lang="de-DE" dirty="0"/>
              <a:t> in </a:t>
            </a:r>
            <a:r>
              <a:rPr lang="de-DE" dirty="0" err="1"/>
              <a:t>foreign</a:t>
            </a:r>
            <a:r>
              <a:rPr lang="de-DE" dirty="0"/>
              <a:t> </a:t>
            </a:r>
            <a:r>
              <a:rPr lang="de-DE" dirty="0" err="1"/>
              <a:t>exchange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:: </a:t>
            </a:r>
            <a:r>
              <a:rPr lang="de-DE" dirty="0" err="1"/>
              <a:t>Evidence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currency</a:t>
            </a:r>
            <a:r>
              <a:rPr lang="de-DE" dirty="0"/>
              <a:t> </a:t>
            </a:r>
            <a:r>
              <a:rPr lang="de-DE" dirty="0" err="1"/>
              <a:t>option</a:t>
            </a:r>
            <a:r>
              <a:rPr lang="de-DE" dirty="0"/>
              <a:t> </a:t>
            </a:r>
            <a:r>
              <a:rPr lang="de-DE" dirty="0" err="1"/>
              <a:t>prices</a:t>
            </a:r>
            <a:r>
              <a:rPr lang="de-DE" dirty="0"/>
              <a:t>”. In: Journal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Econometrics</a:t>
            </a:r>
            <a:r>
              <a:rPr lang="de-DE" dirty="0"/>
              <a:t> 94.1-2 (2000). </a:t>
            </a:r>
            <a:r>
              <a:rPr lang="de-DE" dirty="0" err="1"/>
              <a:t>Ref</a:t>
            </a:r>
            <a:r>
              <a:rPr lang="de-DE" dirty="0"/>
              <a:t> Central Bank Policy, p.240, pp. 239–276.</a:t>
            </a:r>
          </a:p>
          <a:p>
            <a:pPr marL="171450" indent="-171450">
              <a:buFontTx/>
              <a:buChar char="-"/>
            </a:pPr>
            <a:r>
              <a:rPr lang="de-DE" dirty="0"/>
              <a:t>[BHS16a] Syed Abul </a:t>
            </a:r>
            <a:r>
              <a:rPr lang="de-DE" dirty="0" err="1"/>
              <a:t>Basher</a:t>
            </a:r>
            <a:r>
              <a:rPr lang="de-DE" dirty="0"/>
              <a:t>, Alfred A Haug, and Perry </a:t>
            </a:r>
            <a:r>
              <a:rPr lang="de-DE" dirty="0" err="1"/>
              <a:t>Sadorsky</a:t>
            </a:r>
            <a:r>
              <a:rPr lang="de-DE" dirty="0"/>
              <a:t>. “The </a:t>
            </a:r>
            <a:r>
              <a:rPr lang="de-DE" dirty="0" err="1"/>
              <a:t>impact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oil</a:t>
            </a:r>
            <a:r>
              <a:rPr lang="de-DE" dirty="0"/>
              <a:t> </a:t>
            </a:r>
            <a:r>
              <a:rPr lang="de-DE" dirty="0" err="1"/>
              <a:t>shocks</a:t>
            </a:r>
            <a:r>
              <a:rPr lang="de-DE" dirty="0"/>
              <a:t> on </a:t>
            </a:r>
            <a:r>
              <a:rPr lang="de-DE" dirty="0" err="1"/>
              <a:t>exchange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: A Markov-</a:t>
            </a:r>
            <a:r>
              <a:rPr lang="de-DE" dirty="0" err="1"/>
              <a:t>switching</a:t>
            </a:r>
            <a:r>
              <a:rPr lang="de-DE" dirty="0"/>
              <a:t> </a:t>
            </a:r>
            <a:r>
              <a:rPr lang="de-DE" dirty="0" err="1"/>
              <a:t>approach</a:t>
            </a:r>
            <a:r>
              <a:rPr lang="de-DE" dirty="0"/>
              <a:t>”. In: Energy Economics 54 (2016). </a:t>
            </a:r>
            <a:r>
              <a:rPr lang="de-DE" dirty="0" err="1"/>
              <a:t>Ref</a:t>
            </a:r>
            <a:r>
              <a:rPr lang="de-DE" dirty="0"/>
              <a:t> (US) Terms </a:t>
            </a:r>
            <a:r>
              <a:rPr lang="de-DE" dirty="0" err="1"/>
              <a:t>of</a:t>
            </a:r>
            <a:r>
              <a:rPr lang="de-DE" dirty="0"/>
              <a:t> Trade </a:t>
            </a:r>
            <a:r>
              <a:rPr lang="de-DE" dirty="0" err="1"/>
              <a:t>Effect</a:t>
            </a:r>
            <a:r>
              <a:rPr lang="de-DE" dirty="0"/>
              <a:t>, p.11, pp. 11–23.</a:t>
            </a:r>
          </a:p>
          <a:p>
            <a:pPr marL="171450" indent="-171450">
              <a:buFontTx/>
              <a:buChar char="-"/>
            </a:pPr>
            <a:r>
              <a:rPr lang="de-DE" dirty="0"/>
              <a:t>[CDK12] Am ´</a:t>
            </a:r>
            <a:r>
              <a:rPr lang="de-DE" dirty="0" err="1"/>
              <a:t>elie</a:t>
            </a:r>
            <a:r>
              <a:rPr lang="de-DE" dirty="0"/>
              <a:t> Charles, Olivier </a:t>
            </a:r>
            <a:r>
              <a:rPr lang="de-DE" dirty="0" err="1"/>
              <a:t>Darn</a:t>
            </a:r>
            <a:r>
              <a:rPr lang="de-DE" dirty="0"/>
              <a:t> ´</a:t>
            </a:r>
            <a:r>
              <a:rPr lang="de-DE" dirty="0" err="1"/>
              <a:t>e</a:t>
            </a:r>
            <a:r>
              <a:rPr lang="de-DE" dirty="0"/>
              <a:t>, and Jae H Kim. “Exchange-rate </a:t>
            </a:r>
            <a:r>
              <a:rPr lang="de-DE" dirty="0" err="1"/>
              <a:t>return</a:t>
            </a:r>
            <a:r>
              <a:rPr lang="de-DE" dirty="0"/>
              <a:t> </a:t>
            </a:r>
            <a:r>
              <a:rPr lang="de-DE" dirty="0" err="1"/>
              <a:t>predictability</a:t>
            </a:r>
            <a:r>
              <a:rPr lang="de-DE" dirty="0"/>
              <a:t> and </a:t>
            </a:r>
            <a:r>
              <a:rPr lang="de-DE" dirty="0" err="1"/>
              <a:t>the</a:t>
            </a:r>
            <a:r>
              <a:rPr lang="de-DE" dirty="0"/>
              <a:t> adaptive </a:t>
            </a:r>
            <a:r>
              <a:rPr lang="de-DE" dirty="0" err="1"/>
              <a:t>markets</a:t>
            </a:r>
            <a:r>
              <a:rPr lang="de-DE" dirty="0"/>
              <a:t> </a:t>
            </a:r>
            <a:r>
              <a:rPr lang="de-DE" dirty="0" err="1"/>
              <a:t>hypothesis</a:t>
            </a:r>
            <a:r>
              <a:rPr lang="de-DE" dirty="0"/>
              <a:t>: </a:t>
            </a:r>
            <a:r>
              <a:rPr lang="de-DE" dirty="0" err="1"/>
              <a:t>Evidence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major</a:t>
            </a:r>
            <a:r>
              <a:rPr lang="de-DE" dirty="0"/>
              <a:t> </a:t>
            </a:r>
            <a:r>
              <a:rPr lang="de-DE" dirty="0" err="1"/>
              <a:t>foreign</a:t>
            </a:r>
            <a:r>
              <a:rPr lang="de-DE" dirty="0"/>
              <a:t> </a:t>
            </a:r>
            <a:r>
              <a:rPr lang="de-DE" dirty="0" err="1"/>
              <a:t>exchange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”. In: Journal </a:t>
            </a:r>
            <a:r>
              <a:rPr lang="de-DE" dirty="0" err="1"/>
              <a:t>of</a:t>
            </a:r>
            <a:r>
              <a:rPr lang="de-DE" dirty="0"/>
              <a:t> International Money and Finance 31.6 (2012). </a:t>
            </a:r>
            <a:r>
              <a:rPr lang="de-DE" dirty="0" err="1"/>
              <a:t>Ref</a:t>
            </a:r>
            <a:r>
              <a:rPr lang="de-DE" dirty="0"/>
              <a:t> Adaptive Market Hypothesis , p.1607; </a:t>
            </a:r>
            <a:r>
              <a:rPr lang="de-DE" dirty="0" err="1"/>
              <a:t>Ref</a:t>
            </a:r>
            <a:r>
              <a:rPr lang="de-DE" dirty="0"/>
              <a:t> Fundamental Shock, p.1607, pp. 1607–1626.</a:t>
            </a:r>
          </a:p>
          <a:p>
            <a:pPr marL="171450" indent="-171450">
              <a:buFontTx/>
              <a:buChar char="-"/>
            </a:pPr>
            <a:r>
              <a:rPr lang="de-DE" dirty="0"/>
              <a:t>[Evg18] Anastasios </a:t>
            </a:r>
            <a:r>
              <a:rPr lang="de-DE" dirty="0" err="1"/>
              <a:t>Evgenidis</a:t>
            </a:r>
            <a:r>
              <a:rPr lang="de-DE" dirty="0"/>
              <a:t>. “Do all </a:t>
            </a:r>
            <a:r>
              <a:rPr lang="de-DE" dirty="0" err="1"/>
              <a:t>oil</a:t>
            </a:r>
            <a:r>
              <a:rPr lang="de-DE" dirty="0"/>
              <a:t> </a:t>
            </a:r>
            <a:r>
              <a:rPr lang="de-DE" dirty="0" err="1"/>
              <a:t>price</a:t>
            </a:r>
            <a:r>
              <a:rPr lang="de-DE" dirty="0"/>
              <a:t> </a:t>
            </a:r>
            <a:r>
              <a:rPr lang="de-DE" dirty="0" err="1"/>
              <a:t>shocks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impact</a:t>
            </a:r>
            <a:r>
              <a:rPr lang="de-DE" dirty="0"/>
              <a:t>? </a:t>
            </a:r>
            <a:r>
              <a:rPr lang="de-DE" dirty="0" err="1"/>
              <a:t>Evidence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euro</a:t>
            </a:r>
            <a:r>
              <a:rPr lang="de-DE" dirty="0"/>
              <a:t> </a:t>
            </a:r>
            <a:r>
              <a:rPr lang="de-DE" dirty="0" err="1"/>
              <a:t>area</a:t>
            </a:r>
            <a:r>
              <a:rPr lang="de-DE" dirty="0"/>
              <a:t>”. In: Finance Research Letters 26 (2018). </a:t>
            </a:r>
            <a:r>
              <a:rPr lang="de-DE" dirty="0" err="1"/>
              <a:t>Ref</a:t>
            </a:r>
            <a:r>
              <a:rPr lang="de-DE" dirty="0"/>
              <a:t> Business Cycle and </a:t>
            </a:r>
            <a:r>
              <a:rPr lang="de-DE" dirty="0" err="1"/>
              <a:t>Uncertainty</a:t>
            </a:r>
            <a:r>
              <a:rPr lang="de-DE" dirty="0"/>
              <a:t>, p.151, pp. 150–155.</a:t>
            </a:r>
          </a:p>
          <a:p>
            <a:pPr marL="171450" indent="-171450">
              <a:buFontTx/>
              <a:buChar char="-"/>
            </a:pPr>
            <a:r>
              <a:rPr lang="de-DE" dirty="0"/>
              <a:t>[FF16] Eugene F Fama and Kenneth R French. “</a:t>
            </a:r>
            <a:r>
              <a:rPr lang="de-DE" dirty="0" err="1"/>
              <a:t>Commodity</a:t>
            </a:r>
            <a:r>
              <a:rPr lang="de-DE" dirty="0"/>
              <a:t> </a:t>
            </a:r>
            <a:r>
              <a:rPr lang="de-DE" dirty="0" err="1"/>
              <a:t>futures</a:t>
            </a:r>
            <a:r>
              <a:rPr lang="de-DE" dirty="0"/>
              <a:t> </a:t>
            </a:r>
            <a:r>
              <a:rPr lang="de-DE" dirty="0" err="1"/>
              <a:t>prices</a:t>
            </a:r>
            <a:r>
              <a:rPr lang="de-DE" dirty="0"/>
              <a:t>: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evidence</a:t>
            </a:r>
            <a:r>
              <a:rPr lang="de-DE" dirty="0"/>
              <a:t> on </a:t>
            </a:r>
            <a:r>
              <a:rPr lang="de-DE" dirty="0" err="1"/>
              <a:t>forecast</a:t>
            </a:r>
            <a:r>
              <a:rPr lang="de-DE" dirty="0"/>
              <a:t> power, </a:t>
            </a:r>
            <a:r>
              <a:rPr lang="de-DE" dirty="0" err="1"/>
              <a:t>premiums</a:t>
            </a:r>
            <a:r>
              <a:rPr lang="de-DE" dirty="0"/>
              <a:t>, and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theory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storage</a:t>
            </a:r>
            <a:r>
              <a:rPr lang="de-DE" dirty="0"/>
              <a:t>”. In: The World </a:t>
            </a:r>
            <a:r>
              <a:rPr lang="de-DE" dirty="0" err="1"/>
              <a:t>Scientiﬁc</a:t>
            </a:r>
            <a:r>
              <a:rPr lang="de-DE" dirty="0"/>
              <a:t> Handbook </a:t>
            </a:r>
            <a:r>
              <a:rPr lang="de-DE" dirty="0" err="1"/>
              <a:t>of</a:t>
            </a:r>
            <a:r>
              <a:rPr lang="de-DE" dirty="0"/>
              <a:t> Futures </a:t>
            </a:r>
            <a:r>
              <a:rPr lang="de-DE" dirty="0" err="1"/>
              <a:t>Markets</a:t>
            </a:r>
            <a:r>
              <a:rPr lang="de-DE" dirty="0"/>
              <a:t>. </a:t>
            </a:r>
            <a:r>
              <a:rPr lang="de-DE" dirty="0" err="1"/>
              <a:t>Ref</a:t>
            </a:r>
            <a:r>
              <a:rPr lang="de-DE" dirty="0"/>
              <a:t> Theory </a:t>
            </a:r>
            <a:r>
              <a:rPr lang="de-DE" dirty="0" err="1"/>
              <a:t>of</a:t>
            </a:r>
            <a:r>
              <a:rPr lang="de-DE" dirty="0"/>
              <a:t> Storage, p.1; </a:t>
            </a:r>
            <a:r>
              <a:rPr lang="de-DE" dirty="0" err="1"/>
              <a:t>Ref</a:t>
            </a:r>
            <a:r>
              <a:rPr lang="de-DE" dirty="0"/>
              <a:t> </a:t>
            </a:r>
            <a:r>
              <a:rPr lang="de-DE" dirty="0" err="1"/>
              <a:t>Expected</a:t>
            </a:r>
            <a:r>
              <a:rPr lang="de-DE" dirty="0"/>
              <a:t> Risk Premium, p.1; </a:t>
            </a:r>
            <a:r>
              <a:rPr lang="de-DE" dirty="0" err="1"/>
              <a:t>Ref</a:t>
            </a:r>
            <a:r>
              <a:rPr lang="de-DE" dirty="0"/>
              <a:t> Spot – Future </a:t>
            </a:r>
            <a:r>
              <a:rPr lang="de-DE" dirty="0" err="1"/>
              <a:t>Divergence</a:t>
            </a:r>
            <a:r>
              <a:rPr lang="de-DE" dirty="0"/>
              <a:t>, p. 1. World </a:t>
            </a:r>
            <a:r>
              <a:rPr lang="de-DE" dirty="0" err="1"/>
              <a:t>Scientiﬁc</a:t>
            </a:r>
            <a:r>
              <a:rPr lang="de-DE" dirty="0"/>
              <a:t>, 2016, pp. 79–10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374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Main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framework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seminar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, </a:t>
            </a:r>
            <a:r>
              <a:rPr lang="de-DE" dirty="0" err="1"/>
              <a:t>inﬂation</a:t>
            </a:r>
            <a:r>
              <a:rPr lang="de-DE" dirty="0"/>
              <a:t> pass-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commodity</a:t>
            </a:r>
            <a:r>
              <a:rPr lang="de-DE" dirty="0"/>
              <a:t> </a:t>
            </a:r>
            <a:r>
              <a:rPr lang="de-DE" dirty="0" err="1"/>
              <a:t>prices</a:t>
            </a:r>
            <a:r>
              <a:rPr lang="de-DE" dirty="0"/>
              <a:t>.</a:t>
            </a:r>
          </a:p>
          <a:p>
            <a:r>
              <a:rPr lang="de-DE" dirty="0"/>
              <a:t>Sources:</a:t>
            </a:r>
          </a:p>
          <a:p>
            <a:pPr marL="171450" indent="-171450">
              <a:buFontTx/>
              <a:buChar char="-"/>
            </a:pPr>
            <a:r>
              <a:rPr lang="de-DE" dirty="0"/>
              <a:t>Own Illustration </a:t>
            </a:r>
            <a:r>
              <a:rPr lang="de-DE" dirty="0" err="1"/>
              <a:t>based</a:t>
            </a:r>
            <a:r>
              <a:rPr lang="de-DE" dirty="0"/>
              <a:t> on [OUS20], Figure 3, </a:t>
            </a:r>
            <a:r>
              <a:rPr lang="de-DE" dirty="0" err="1"/>
              <a:t>page</a:t>
            </a:r>
            <a:r>
              <a:rPr lang="de-DE" dirty="0"/>
              <a:t> 3.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63514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22B50-0B74-BD45-0208-932BDC367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9EE5A5C-44EE-51BD-52D9-0C8BAF306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C075774-D900-BE82-B783-D2709FFB2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Main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framework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seminar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, </a:t>
            </a:r>
            <a:r>
              <a:rPr lang="de-DE" dirty="0" err="1"/>
              <a:t>main</a:t>
            </a:r>
            <a:r>
              <a:rPr lang="de-DE" dirty="0"/>
              <a:t> variables and benchmark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.</a:t>
            </a:r>
          </a:p>
          <a:p>
            <a:r>
              <a:rPr lang="de-DE" dirty="0"/>
              <a:t>Sources:</a:t>
            </a:r>
          </a:p>
          <a:p>
            <a:pPr marL="171450" indent="-171450">
              <a:buFontTx/>
              <a:buChar char="-"/>
            </a:pPr>
            <a:r>
              <a:rPr lang="de-DE" dirty="0"/>
              <a:t>Own Illustration.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415B48-72A9-6227-B672-BF16C38B0D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8703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Main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framework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seminar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, </a:t>
            </a:r>
            <a:r>
              <a:rPr lang="de-DE" dirty="0" err="1"/>
              <a:t>main</a:t>
            </a:r>
            <a:r>
              <a:rPr lang="de-DE" dirty="0"/>
              <a:t> variables and benchmark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.</a:t>
            </a:r>
          </a:p>
          <a:p>
            <a:r>
              <a:rPr lang="de-DE" dirty="0"/>
              <a:t>Sources:</a:t>
            </a:r>
          </a:p>
          <a:p>
            <a:pPr marL="171450" indent="-171450">
              <a:buFontTx/>
              <a:buChar char="-"/>
            </a:pPr>
            <a:r>
              <a:rPr lang="de-DE" dirty="0"/>
              <a:t>Own Illustration.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0481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21C-764B-E312-EBD8-A2191B4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42189-76E0-D5EF-4A03-0AD11B88D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74E7F6-EE03-7CB9-BBE4-6E1AEC33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Main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framework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seminar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,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algorithms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.</a:t>
            </a:r>
          </a:p>
          <a:p>
            <a:r>
              <a:rPr lang="de-DE" dirty="0"/>
              <a:t>Sources:</a:t>
            </a:r>
          </a:p>
          <a:p>
            <a:pPr marL="171450" indent="-171450">
              <a:buFontTx/>
              <a:buChar char="-"/>
            </a:pPr>
            <a:r>
              <a:rPr lang="de-DE" dirty="0"/>
              <a:t>Own Illustration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formulas</a:t>
            </a:r>
            <a:r>
              <a:rPr lang="de-DE" dirty="0"/>
              <a:t> </a:t>
            </a:r>
            <a:r>
              <a:rPr lang="de-DE" dirty="0" err="1"/>
              <a:t>taken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[Rei25], </a:t>
            </a:r>
            <a:r>
              <a:rPr lang="de-DE" dirty="0" err="1"/>
              <a:t>section</a:t>
            </a:r>
            <a:r>
              <a:rPr lang="de-DE" dirty="0"/>
              <a:t> ”Modeling </a:t>
            </a:r>
            <a:r>
              <a:rPr lang="de-DE" dirty="0" err="1"/>
              <a:t>Nonlinearities</a:t>
            </a:r>
            <a:r>
              <a:rPr lang="de-DE" dirty="0"/>
              <a:t> I: Markov-</a:t>
            </a:r>
            <a:r>
              <a:rPr lang="de-DE" dirty="0" err="1"/>
              <a:t>Switching</a:t>
            </a:r>
            <a:r>
              <a:rPr lang="de-DE" dirty="0"/>
              <a:t>”, </a:t>
            </a:r>
            <a:r>
              <a:rPr lang="de-DE" dirty="0" err="1"/>
              <a:t>page</a:t>
            </a:r>
            <a:r>
              <a:rPr lang="de-DE" dirty="0"/>
              <a:t> 7-15 and </a:t>
            </a:r>
            <a:r>
              <a:rPr lang="de-DE" dirty="0" err="1"/>
              <a:t>algorithms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[dev24a] and </a:t>
            </a:r>
            <a:r>
              <a:rPr lang="de-DE" dirty="0" err="1"/>
              <a:t>implemented</a:t>
            </a:r>
            <a:r>
              <a:rPr lang="de-DE" dirty="0"/>
              <a:t> in [Fou24].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985E8C-65CB-7A58-A867-E7196A226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207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140E9-D8DA-0F5C-912F-D5812481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35CDB25-7B55-9AF2-55AA-7F7151E00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12073E-AF34-9C8E-03E0-34DF8108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Main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framework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seminar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,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evaluation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and </a:t>
            </a:r>
            <a:r>
              <a:rPr lang="de-DE" dirty="0" err="1"/>
              <a:t>crisis</a:t>
            </a:r>
            <a:r>
              <a:rPr lang="de-DE" dirty="0"/>
              <a:t> </a:t>
            </a:r>
            <a:r>
              <a:rPr lang="de-DE" dirty="0" err="1"/>
              <a:t>periods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.</a:t>
            </a:r>
          </a:p>
          <a:p>
            <a:r>
              <a:rPr lang="de-DE" dirty="0"/>
              <a:t>Sources:</a:t>
            </a:r>
          </a:p>
          <a:p>
            <a:pPr marL="171450" indent="-171450">
              <a:buFontTx/>
              <a:buChar char="-"/>
            </a:pPr>
            <a:r>
              <a:rPr lang="de-DE" dirty="0"/>
              <a:t>Own Illustration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taken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[St 25a], last </a:t>
            </a:r>
            <a:r>
              <a:rPr lang="de-DE" dirty="0" err="1"/>
              <a:t>accessed</a:t>
            </a:r>
            <a:r>
              <a:rPr lang="de-DE" dirty="0"/>
              <a:t> 24.10.25.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525F2-FBF3-EF59-AEA5-ABDF1479F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103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2AB5D-DEFE-84C3-4229-5FD48F501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2FA9450-5843-4F07-1A49-D69A83DC94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BCFC3E-D679-9C12-A1D0-7505C317E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Main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framework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seminar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, </a:t>
            </a:r>
            <a:r>
              <a:rPr lang="de-DE" dirty="0" err="1"/>
              <a:t>testing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regime</a:t>
            </a:r>
            <a:r>
              <a:rPr lang="de-DE" dirty="0"/>
              <a:t> </a:t>
            </a:r>
            <a:r>
              <a:rPr lang="de-DE" dirty="0" err="1"/>
              <a:t>dependent</a:t>
            </a:r>
            <a:r>
              <a:rPr lang="de-DE" dirty="0"/>
              <a:t> UIP-</a:t>
            </a:r>
            <a:r>
              <a:rPr lang="de-DE" dirty="0" err="1"/>
              <a:t>relationship</a:t>
            </a:r>
            <a:r>
              <a:rPr lang="de-DE" dirty="0"/>
              <a:t>.</a:t>
            </a:r>
          </a:p>
          <a:p>
            <a:r>
              <a:rPr lang="de-DE" dirty="0"/>
              <a:t>Sources:</a:t>
            </a:r>
          </a:p>
          <a:p>
            <a:pPr marL="171450" indent="-171450">
              <a:buFontTx/>
              <a:buChar char="-"/>
            </a:pPr>
            <a:r>
              <a:rPr lang="de-DE" dirty="0"/>
              <a:t>Own Illustration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formulas</a:t>
            </a:r>
            <a:r>
              <a:rPr lang="de-DE" dirty="0"/>
              <a:t> </a:t>
            </a:r>
            <a:r>
              <a:rPr lang="de-DE" dirty="0" err="1"/>
              <a:t>taken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[Rei25], </a:t>
            </a:r>
            <a:r>
              <a:rPr lang="de-DE" dirty="0" err="1"/>
              <a:t>section</a:t>
            </a:r>
            <a:r>
              <a:rPr lang="de-DE" dirty="0"/>
              <a:t> ”Modeling </a:t>
            </a:r>
            <a:r>
              <a:rPr lang="de-DE" dirty="0" err="1"/>
              <a:t>Nonlinearities</a:t>
            </a:r>
            <a:r>
              <a:rPr lang="de-DE" dirty="0"/>
              <a:t> I: Markov-</a:t>
            </a:r>
            <a:r>
              <a:rPr lang="de-DE" dirty="0" err="1"/>
              <a:t>Switching</a:t>
            </a:r>
            <a:r>
              <a:rPr lang="de-DE" dirty="0"/>
              <a:t>”, </a:t>
            </a:r>
            <a:r>
              <a:rPr lang="de-DE" dirty="0" err="1"/>
              <a:t>page</a:t>
            </a:r>
            <a:r>
              <a:rPr lang="de-DE" dirty="0"/>
              <a:t> 7-15.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535E4-DEDF-2622-707D-A4F9B9681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03775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08B5-DDDB-9CA0-6467-7FD8993A1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E38B0E8-50D1-2899-FF4D-AC62BE9AF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E9AEE5-9D1E-8B69-5FDC-623EA09E7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A8E8DF-B6DE-D715-4E19-36A3DEF46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44398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AA8D9-D78A-48F6-31FD-02214A78B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5C5781C-C53E-A4BB-3025-8671E6096E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9BD623D-6727-B88E-2958-DBA9F9D75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5135A9-75A0-B09F-8787-57C311A69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1191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8C327-288A-75B9-CF50-F76EB6B2E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82830B-6179-A1D4-294B-C392BBB4C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7D4F88-A334-1E4D-585F-2F5F7A11A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11EFFA4-3D92-DCEF-F434-446096856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72356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B3852-12D5-2FC7-E674-2C7E942E0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77C3447-4C92-B18C-F9EF-6E089598F4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4BF1A8C-9EDA-A656-67D8-B34F01435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B63697-1659-FA46-5E0F-408CC0EB6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1501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475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8"/>
          <p:cNvSpPr/>
          <p:nvPr userDrawn="1"/>
        </p:nvSpPr>
        <p:spPr>
          <a:xfrm>
            <a:off x="11196720" y="5540400"/>
            <a:ext cx="357480" cy="10980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/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2000"/>
            <a:ext cx="1152048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0" y="-72000"/>
            <a:ext cx="11592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5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A6815A2-BE6E-C95F-CE44-FF975709C77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77082D84-2C49-30CC-4911-2F058C683FB8}"/>
              </a:ext>
            </a:extLst>
          </p:cNvPr>
          <p:cNvSpPr/>
          <p:nvPr/>
        </p:nvSpPr>
        <p:spPr>
          <a:xfrm>
            <a:off x="184944" y="831954"/>
            <a:ext cx="11150599" cy="20182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000" b="1" dirty="0" err="1"/>
              <a:t>Identifying</a:t>
            </a:r>
            <a:r>
              <a:rPr lang="de-DE" sz="3000" b="1" dirty="0"/>
              <a:t> (</a:t>
            </a:r>
            <a:r>
              <a:rPr lang="de-DE" sz="3000" b="1" dirty="0" err="1"/>
              <a:t>volatility</a:t>
            </a:r>
            <a:r>
              <a:rPr lang="de-DE" sz="3000" b="1" dirty="0"/>
              <a:t>-)</a:t>
            </a:r>
            <a:r>
              <a:rPr lang="de-DE" sz="3000" b="1" dirty="0" err="1"/>
              <a:t>regimes</a:t>
            </a:r>
            <a:r>
              <a:rPr lang="de-DE" sz="3000" b="1" dirty="0"/>
              <a:t> in </a:t>
            </a:r>
            <a:r>
              <a:rPr lang="de-DE" sz="3000" b="1" dirty="0" err="1"/>
              <a:t>the</a:t>
            </a:r>
            <a:r>
              <a:rPr lang="de-DE" sz="3000" b="1" dirty="0"/>
              <a:t> </a:t>
            </a:r>
            <a:r>
              <a:rPr lang="de-DE" sz="3000" b="1" dirty="0" err="1"/>
              <a:t>the</a:t>
            </a:r>
            <a:r>
              <a:rPr lang="de-DE" sz="3000" b="1" dirty="0"/>
              <a:t> EUR/USD</a:t>
            </a:r>
          </a:p>
          <a:p>
            <a:pPr algn="ctr"/>
            <a:r>
              <a:rPr lang="de-DE" sz="3000" b="1" dirty="0" err="1"/>
              <a:t>spot</a:t>
            </a:r>
            <a:r>
              <a:rPr lang="de-DE" sz="3000" b="1" dirty="0"/>
              <a:t> </a:t>
            </a:r>
            <a:r>
              <a:rPr lang="de-DE" sz="3000" b="1" dirty="0" err="1"/>
              <a:t>exchange</a:t>
            </a:r>
            <a:r>
              <a:rPr lang="de-DE" sz="3000" b="1" dirty="0"/>
              <a:t> rate </a:t>
            </a:r>
            <a:r>
              <a:rPr lang="de-DE" sz="3000" b="1" dirty="0" err="1"/>
              <a:t>using</a:t>
            </a:r>
            <a:r>
              <a:rPr lang="de-DE" sz="3000" b="1" dirty="0"/>
              <a:t> </a:t>
            </a:r>
            <a:r>
              <a:rPr lang="de-DE" sz="3000" b="1" dirty="0" err="1"/>
              <a:t>clustering</a:t>
            </a:r>
            <a:r>
              <a:rPr lang="de-DE" sz="3000" b="1" dirty="0"/>
              <a:t> </a:t>
            </a:r>
            <a:r>
              <a:rPr lang="de-DE" sz="3000" b="1" dirty="0" err="1"/>
              <a:t>algorithms</a:t>
            </a:r>
            <a:r>
              <a:rPr lang="de-DE" sz="3000" b="1" dirty="0"/>
              <a:t>:</a:t>
            </a:r>
          </a:p>
          <a:p>
            <a:pPr algn="ctr"/>
            <a:r>
              <a:rPr lang="de-DE" sz="3000" b="1" dirty="0"/>
              <a:t>An Oil and Gas </a:t>
            </a:r>
            <a:r>
              <a:rPr lang="de-DE" sz="3000" b="1" dirty="0" err="1"/>
              <a:t>Perspective</a:t>
            </a:r>
            <a:r>
              <a:rPr lang="de-DE" sz="3000" b="1" dirty="0"/>
              <a:t> on Parity </a:t>
            </a:r>
            <a:r>
              <a:rPr lang="de-DE" sz="3000" b="1" dirty="0" err="1"/>
              <a:t>Conditions</a:t>
            </a:r>
            <a:r>
              <a:rPr lang="de-DE" sz="3000" b="1" dirty="0"/>
              <a:t>.</a:t>
            </a: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Seminar in Applied Financial Economics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Professor Reitz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F1E9C5B-2C8E-C3A1-C2CE-19D641FBBF70}"/>
              </a:ext>
            </a:extLst>
          </p:cNvPr>
          <p:cNvSpPr/>
          <p:nvPr/>
        </p:nvSpPr>
        <p:spPr>
          <a:xfrm>
            <a:off x="2382043" y="2908450"/>
            <a:ext cx="6756400" cy="286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 Fella and Robert 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Christian-Albrechts-University of Kiel</a:t>
            </a:r>
          </a:p>
          <a:p>
            <a:pPr algn="ctr"/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josef.fella@stu.uni-kiel.de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robert.hennings@stu.uni-kiel.de</a:t>
            </a:r>
            <a:endParaRPr lang="de-DE" sz="16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GitHub: https://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RobertHennings</a:t>
            </a:r>
            <a:endParaRPr lang="de-DE" sz="16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Kiel - 14.11.2025</a:t>
            </a: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0BDF84F9-AB7F-07DD-90C2-3A137E12B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6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393D68-7A74-A7D1-B41E-C2468E9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CA5A519-9F13-4080-0A41-4FAC1A64482E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1CF58EC5-18C5-0AB0-F99C-F1220AAA9B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D0ECA64D-A318-4178-0765-4F055AD47E9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2)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207B5E7-3925-0207-0FF8-3F3386325116}"/>
              </a:ext>
            </a:extLst>
          </p:cNvPr>
          <p:cNvSpPr/>
          <p:nvPr/>
        </p:nvSpPr>
        <p:spPr>
          <a:xfrm>
            <a:off x="2982297" y="2996762"/>
            <a:ext cx="5570335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>
                <a:latin typeface="Arial" panose="020B0604020202020204" pitchFamily="34" charset="0"/>
                <a:cs typeface="Arial" panose="020B0604020202020204" pitchFamily="34" charset="0"/>
              </a:rPr>
              <a:t>Literature</a:t>
            </a:r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 Review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45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F995-3419-CCB0-8698-134E2197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7251B7F4-2291-74BA-F3E7-349C8DFA29BC}"/>
              </a:ext>
            </a:extLst>
          </p:cNvPr>
          <p:cNvCxnSpPr>
            <a:cxnSpLocks/>
            <a:stCxn id="5" idx="3"/>
            <a:endCxn id="15" idx="1"/>
          </p:cNvCxnSpPr>
          <p:nvPr/>
        </p:nvCxnSpPr>
        <p:spPr>
          <a:xfrm flipV="1">
            <a:off x="4123594" y="2849865"/>
            <a:ext cx="636862" cy="1537992"/>
          </a:xfrm>
          <a:prstGeom prst="bentConnector3">
            <a:avLst>
              <a:gd name="adj1" fmla="val 7728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89979652-1CC6-B67E-EC59-613F4BB5EDA7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Energy Commodity Prices and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Transmission channels</a:t>
            </a:r>
            <a:r>
              <a:rPr lang="de-DE" sz="1400" b="1" spc="-1" baseline="30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5AEEBE-1DF8-F771-131E-935D08025377}"/>
              </a:ext>
            </a:extLst>
          </p:cNvPr>
          <p:cNvSpPr/>
          <p:nvPr/>
        </p:nvSpPr>
        <p:spPr>
          <a:xfrm>
            <a:off x="1721603" y="4279857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5D90CBC-09A3-7803-2E9C-DFD72C73E45D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4B7565-F55E-DF40-D57D-2723965218E6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E3BA33-3B95-D2A5-9B43-0E705A4C8D38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AF11C45-59BA-4C14-05D4-87A6EA6C01B6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A2E6972-3072-29F8-F919-3BDC31C70019}"/>
              </a:ext>
            </a:extLst>
          </p:cNvPr>
          <p:cNvSpPr/>
          <p:nvPr/>
        </p:nvSpPr>
        <p:spPr>
          <a:xfrm>
            <a:off x="8932020" y="2785471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42BDEA-AD1B-8BB8-D81C-7BA0BB3BDF23}"/>
              </a:ext>
            </a:extLst>
          </p:cNvPr>
          <p:cNvSpPr/>
          <p:nvPr/>
        </p:nvSpPr>
        <p:spPr>
          <a:xfrm>
            <a:off x="5714201" y="3143949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8FA6D9-90C2-BFAF-C91A-D786F0D36A8C}"/>
              </a:ext>
            </a:extLst>
          </p:cNvPr>
          <p:cNvSpPr/>
          <p:nvPr/>
        </p:nvSpPr>
        <p:spPr>
          <a:xfrm>
            <a:off x="5572720" y="4559503"/>
            <a:ext cx="22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F51B29-AF6D-7E13-44AF-D337D241DCB1}"/>
              </a:ext>
            </a:extLst>
          </p:cNvPr>
          <p:cNvSpPr/>
          <p:nvPr/>
        </p:nvSpPr>
        <p:spPr>
          <a:xfrm>
            <a:off x="2215226" y="273778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2D4A6C-6185-B444-11A0-F5D8C242F78C}"/>
              </a:ext>
            </a:extLst>
          </p:cNvPr>
          <p:cNvSpPr/>
          <p:nvPr/>
        </p:nvSpPr>
        <p:spPr>
          <a:xfrm>
            <a:off x="4760456" y="27418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984F82-DCB0-CD0F-FEC0-450BD3B9EBBC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547BB34D-F2E7-62B8-D919-64BBAC3723E3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3E63AF5-9F5E-95D5-6180-0988AF58E0D8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1A67F1B-E3AD-966A-74FA-C42FC64ABA33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C44F8-FDB0-B5C3-7AB6-DAAE91C82D6D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6F986F-1ECF-7BA6-5F28-CF166D13E579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47AC8FF-7365-56DF-F93C-A4ED76F9C2F5}"/>
              </a:ext>
            </a:extLst>
          </p:cNvPr>
          <p:cNvSpPr/>
          <p:nvPr/>
        </p:nvSpPr>
        <p:spPr>
          <a:xfrm>
            <a:off x="257773" y="2048495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583658-2C22-32C2-5D95-15BE6A433D72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E3E1C60-1677-B084-B1C5-91C284BE2062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56F8FC-7512-A6C0-D0F2-1756DF3991F1}"/>
              </a:ext>
            </a:extLst>
          </p:cNvPr>
          <p:cNvSpPr/>
          <p:nvPr/>
        </p:nvSpPr>
        <p:spPr>
          <a:xfrm>
            <a:off x="4928625" y="5330252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E1ABFDC-72F9-38AC-5192-9E813F24C3A5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92C12B1-A82B-DA2B-1B42-93D8F5E91563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1C0A855-8002-6E58-4CE7-1A3A4E3BAFC1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EC91CC7-79C2-687B-D6FE-9B94C5931958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AAD51E-89CC-0CDE-667F-1D52B0CC7937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A21882D-84E7-42C9-52E2-F7F8ECCE1776}"/>
              </a:ext>
            </a:extLst>
          </p:cNvPr>
          <p:cNvSpPr/>
          <p:nvPr/>
        </p:nvSpPr>
        <p:spPr>
          <a:xfrm>
            <a:off x="5253809" y="427009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772846A8-47BF-C5BD-23BD-90268CF4F83D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408456" y="4503239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1E45963D-D85B-6D20-9F28-0C285372AB9E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ADE954ED-9BD3-5B5F-E4F3-05EEC35F98B1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09F5D47B-6B09-7CFC-5444-D852D1F50422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2B0B8714-4735-3D93-DEE2-39EEDF4D561B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F71AE3F4-D833-EE71-8CFE-4CED6B06EF3D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0499263F-B069-F131-A5DE-5772AE971F66}"/>
              </a:ext>
            </a:extLst>
          </p:cNvPr>
          <p:cNvSpPr/>
          <p:nvPr/>
        </p:nvSpPr>
        <p:spPr>
          <a:xfrm>
            <a:off x="5572720" y="4891295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559678-A189-0726-673D-DE1DA2DC70F1}"/>
              </a:ext>
            </a:extLst>
          </p:cNvPr>
          <p:cNvSpPr/>
          <p:nvPr/>
        </p:nvSpPr>
        <p:spPr>
          <a:xfrm>
            <a:off x="2174559" y="3094996"/>
            <a:ext cx="1728000" cy="24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6455752-85AB-249B-351F-AA1A075CC80E}"/>
              </a:ext>
            </a:extLst>
          </p:cNvPr>
          <p:cNvSpPr/>
          <p:nvPr/>
        </p:nvSpPr>
        <p:spPr>
          <a:xfrm>
            <a:off x="1735700" y="5330252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6F90299-E4E6-4840-3DEA-02C2F4B47B65}"/>
              </a:ext>
            </a:extLst>
          </p:cNvPr>
          <p:cNvSpPr/>
          <p:nvPr/>
        </p:nvSpPr>
        <p:spPr>
          <a:xfrm>
            <a:off x="2803691" y="4725778"/>
            <a:ext cx="13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Theory of Storage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9476D061-20A1-950A-6E01-BA9074430BB2}"/>
              </a:ext>
            </a:extLst>
          </p:cNvPr>
          <p:cNvSpPr/>
          <p:nvPr/>
        </p:nvSpPr>
        <p:spPr>
          <a:xfrm>
            <a:off x="2445691" y="5028015"/>
            <a:ext cx="169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Expected Risk Premium</a:t>
            </a:r>
          </a:p>
        </p:txBody>
      </p:sp>
      <p:cxnSp>
        <p:nvCxnSpPr>
          <p:cNvPr id="38" name="Gewinkelte Verbindung 37">
            <a:extLst>
              <a:ext uri="{FF2B5EF4-FFF2-40B4-BE49-F238E27FC236}">
                <a16:creationId xmlns:a16="http://schemas.microsoft.com/office/drawing/2014/main" id="{2B698803-F44F-92D9-D744-F18E762AE8BD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1867460" y="4504772"/>
            <a:ext cx="936231" cy="329006"/>
          </a:xfrm>
          <a:prstGeom prst="bentConnector3">
            <a:avLst>
              <a:gd name="adj1" fmla="val -75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Gewinkelte Verbindung 40">
            <a:extLst>
              <a:ext uri="{FF2B5EF4-FFF2-40B4-BE49-F238E27FC236}">
                <a16:creationId xmlns:a16="http://schemas.microsoft.com/office/drawing/2014/main" id="{F2E07749-C7C5-D03A-BAC6-282D39E61387}"/>
              </a:ext>
            </a:extLst>
          </p:cNvPr>
          <p:cNvCxnSpPr>
            <a:cxnSpLocks/>
            <a:endCxn id="36" idx="1"/>
          </p:cNvCxnSpPr>
          <p:nvPr/>
        </p:nvCxnSpPr>
        <p:spPr>
          <a:xfrm rot="16200000" flipH="1">
            <a:off x="1829635" y="4519958"/>
            <a:ext cx="645599" cy="586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06396FB7-F7AD-F734-8467-C7B76302F764}"/>
              </a:ext>
            </a:extLst>
          </p:cNvPr>
          <p:cNvSpPr/>
          <p:nvPr/>
        </p:nvSpPr>
        <p:spPr>
          <a:xfrm rot="16200000">
            <a:off x="195369" y="4852086"/>
            <a:ext cx="1800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– Future Divergence</a:t>
            </a:r>
          </a:p>
        </p:txBody>
      </p:sp>
      <p:sp>
        <p:nvSpPr>
          <p:cNvPr id="49" name="Geschweifte Klammer links 48">
            <a:extLst>
              <a:ext uri="{FF2B5EF4-FFF2-40B4-BE49-F238E27FC236}">
                <a16:creationId xmlns:a16="http://schemas.microsoft.com/office/drawing/2014/main" id="{147954C5-3C02-AC94-7CD9-4A825155F3B8}"/>
              </a:ext>
            </a:extLst>
          </p:cNvPr>
          <p:cNvSpPr/>
          <p:nvPr/>
        </p:nvSpPr>
        <p:spPr>
          <a:xfrm>
            <a:off x="1255042" y="4270090"/>
            <a:ext cx="419165" cy="1276161"/>
          </a:xfrm>
          <a:prstGeom prst="leftBrace">
            <a:avLst>
              <a:gd name="adj1" fmla="val 8333"/>
              <a:gd name="adj2" fmla="val 515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605E380-74E6-9316-4410-2F9D1B95C05F}"/>
              </a:ext>
            </a:extLst>
          </p:cNvPr>
          <p:cNvSpPr/>
          <p:nvPr/>
        </p:nvSpPr>
        <p:spPr>
          <a:xfrm>
            <a:off x="9076676" y="4615866"/>
            <a:ext cx="1605757" cy="344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Cycle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Uncertainty</a:t>
            </a:r>
          </a:p>
        </p:txBody>
      </p:sp>
      <p:cxnSp>
        <p:nvCxnSpPr>
          <p:cNvPr id="53" name="Gewinkelte Verbindung 52">
            <a:extLst>
              <a:ext uri="{FF2B5EF4-FFF2-40B4-BE49-F238E27FC236}">
                <a16:creationId xmlns:a16="http://schemas.microsoft.com/office/drawing/2014/main" id="{34006D93-F4B6-B129-FE04-761CFA0687E2}"/>
              </a:ext>
            </a:extLst>
          </p:cNvPr>
          <p:cNvCxnSpPr>
            <a:cxnSpLocks/>
            <a:endCxn id="50" idx="1"/>
          </p:cNvCxnSpPr>
          <p:nvPr/>
        </p:nvCxnSpPr>
        <p:spPr>
          <a:xfrm rot="16200000" flipH="1">
            <a:off x="8709178" y="4420478"/>
            <a:ext cx="550026" cy="1849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20CBD6-F4B1-0104-E919-F4240ABA3159}"/>
              </a:ext>
            </a:extLst>
          </p:cNvPr>
          <p:cNvSpPr/>
          <p:nvPr/>
        </p:nvSpPr>
        <p:spPr>
          <a:xfrm>
            <a:off x="9439387" y="3104994"/>
            <a:ext cx="1462885" cy="21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Shock</a:t>
            </a:r>
          </a:p>
        </p:txBody>
      </p:sp>
      <p:cxnSp>
        <p:nvCxnSpPr>
          <p:cNvPr id="57" name="Gewinkelte Verbindung 56">
            <a:extLst>
              <a:ext uri="{FF2B5EF4-FFF2-40B4-BE49-F238E27FC236}">
                <a16:creationId xmlns:a16="http://schemas.microsoft.com/office/drawing/2014/main" id="{485EF787-AA33-D2DA-E051-30ADFDE4B0EF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9017670" y="3000571"/>
            <a:ext cx="421717" cy="214223"/>
          </a:xfrm>
          <a:prstGeom prst="bentConnector3">
            <a:avLst>
              <a:gd name="adj1" fmla="val 540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EFFD1A49-BDA2-BEC0-8F43-22EC830F6F55}"/>
              </a:ext>
            </a:extLst>
          </p:cNvPr>
          <p:cNvSpPr/>
          <p:nvPr/>
        </p:nvSpPr>
        <p:spPr>
          <a:xfrm rot="16200000">
            <a:off x="7682962" y="3075808"/>
            <a:ext cx="1199565" cy="3610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Adaptive Market Hypothesis</a:t>
            </a:r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B0A9FC46-336A-35C6-E3AF-E92310A9D5AA}"/>
              </a:ext>
            </a:extLst>
          </p:cNvPr>
          <p:cNvSpPr/>
          <p:nvPr/>
        </p:nvSpPr>
        <p:spPr>
          <a:xfrm>
            <a:off x="8482015" y="2792410"/>
            <a:ext cx="419165" cy="858750"/>
          </a:xfrm>
          <a:prstGeom prst="leftBrace">
            <a:avLst>
              <a:gd name="adj1" fmla="val 8333"/>
              <a:gd name="adj2" fmla="val 50973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62" name="Gewinkelte Verbindung 61">
            <a:extLst>
              <a:ext uri="{FF2B5EF4-FFF2-40B4-BE49-F238E27FC236}">
                <a16:creationId xmlns:a16="http://schemas.microsoft.com/office/drawing/2014/main" id="{1A9CA3B1-89DE-C524-1B4E-C75799883A8B}"/>
              </a:ext>
            </a:extLst>
          </p:cNvPr>
          <p:cNvCxnSpPr>
            <a:cxnSpLocks/>
            <a:stCxn id="66" idx="1"/>
            <a:endCxn id="6" idx="1"/>
          </p:cNvCxnSpPr>
          <p:nvPr/>
        </p:nvCxnSpPr>
        <p:spPr>
          <a:xfrm flipV="1">
            <a:off x="8164972" y="4113332"/>
            <a:ext cx="581564" cy="7582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Geschweifte Klammer links 65">
            <a:extLst>
              <a:ext uri="{FF2B5EF4-FFF2-40B4-BE49-F238E27FC236}">
                <a16:creationId xmlns:a16="http://schemas.microsoft.com/office/drawing/2014/main" id="{4217CD35-2855-C3CC-880E-22CB9DD435FC}"/>
              </a:ext>
            </a:extLst>
          </p:cNvPr>
          <p:cNvSpPr/>
          <p:nvPr/>
        </p:nvSpPr>
        <p:spPr>
          <a:xfrm rot="10800000">
            <a:off x="7936049" y="4270091"/>
            <a:ext cx="228923" cy="1276159"/>
          </a:xfrm>
          <a:prstGeom prst="leftBrace">
            <a:avLst>
              <a:gd name="adj1" fmla="val 8333"/>
              <a:gd name="adj2" fmla="val 52866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EDA54FD2-EE6F-C979-CD6E-D8152BCD9185}"/>
              </a:ext>
            </a:extLst>
          </p:cNvPr>
          <p:cNvSpPr/>
          <p:nvPr/>
        </p:nvSpPr>
        <p:spPr>
          <a:xfrm>
            <a:off x="9435760" y="3431560"/>
            <a:ext cx="1462879" cy="21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Bank Policy</a:t>
            </a:r>
          </a:p>
        </p:txBody>
      </p:sp>
      <p:cxnSp>
        <p:nvCxnSpPr>
          <p:cNvPr id="85" name="Gewinkelte Verbindung 84">
            <a:extLst>
              <a:ext uri="{FF2B5EF4-FFF2-40B4-BE49-F238E27FC236}">
                <a16:creationId xmlns:a16="http://schemas.microsoft.com/office/drawing/2014/main" id="{DA49C920-6FA4-94C4-83B4-BF1BCA9E7272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 flipV="1">
            <a:off x="4123594" y="3251949"/>
            <a:ext cx="1590607" cy="11359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C2517137-D61D-2942-2436-5D8BCF58DB4E}"/>
              </a:ext>
            </a:extLst>
          </p:cNvPr>
          <p:cNvCxnSpPr>
            <a:stCxn id="11" idx="3"/>
            <a:endCxn id="60" idx="0"/>
          </p:cNvCxnSpPr>
          <p:nvPr/>
        </p:nvCxnSpPr>
        <p:spPr>
          <a:xfrm>
            <a:off x="6477794" y="3251949"/>
            <a:ext cx="1624408" cy="44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512ACE4B-D48F-906A-E3F8-4C90CC6A8713}"/>
              </a:ext>
            </a:extLst>
          </p:cNvPr>
          <p:cNvCxnSpPr>
            <a:cxnSpLocks/>
            <a:stCxn id="5" idx="3"/>
            <a:endCxn id="35" idx="1"/>
          </p:cNvCxnSpPr>
          <p:nvPr/>
        </p:nvCxnSpPr>
        <p:spPr>
          <a:xfrm flipV="1">
            <a:off x="4123594" y="4378092"/>
            <a:ext cx="1130215" cy="97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Gewinkelte Verbindung 110">
            <a:extLst>
              <a:ext uri="{FF2B5EF4-FFF2-40B4-BE49-F238E27FC236}">
                <a16:creationId xmlns:a16="http://schemas.microsoft.com/office/drawing/2014/main" id="{0C445089-6687-256E-1F93-325EC94782C5}"/>
              </a:ext>
            </a:extLst>
          </p:cNvPr>
          <p:cNvCxnSpPr>
            <a:cxnSpLocks/>
            <a:endCxn id="2" idx="1"/>
          </p:cNvCxnSpPr>
          <p:nvPr/>
        </p:nvCxnSpPr>
        <p:spPr>
          <a:xfrm rot="16200000" flipH="1">
            <a:off x="5242559" y="4669133"/>
            <a:ext cx="505807" cy="15451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Gewinkelte Verbindung 121">
            <a:extLst>
              <a:ext uri="{FF2B5EF4-FFF2-40B4-BE49-F238E27FC236}">
                <a16:creationId xmlns:a16="http://schemas.microsoft.com/office/drawing/2014/main" id="{894CE1E4-0E53-6E8A-4ACC-03CD0785B000}"/>
              </a:ext>
            </a:extLst>
          </p:cNvPr>
          <p:cNvCxnSpPr>
            <a:cxnSpLocks/>
            <a:endCxn id="73" idx="1"/>
          </p:cNvCxnSpPr>
          <p:nvPr/>
        </p:nvCxnSpPr>
        <p:spPr>
          <a:xfrm rot="16200000" flipH="1">
            <a:off x="8975556" y="3081155"/>
            <a:ext cx="524729" cy="3956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549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86A40-CC4A-F893-4962-D869B858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3A9A3D-A2C8-0573-AD47-55CA13D2DF5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3D43F778-3670-5763-3D15-15520B8093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25EC4B36-7CB4-55D3-844F-E9E04B22A35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3)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B7DE48D-0905-4FF6-EE4B-25F2631EDCAC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80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559F-668E-4622-25B4-5E8DF490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E7C7C535-5ABA-C8D3-4DBE-69841A10BAC8}"/>
              </a:ext>
            </a:extLst>
          </p:cNvPr>
          <p:cNvCxnSpPr>
            <a:cxnSpLocks/>
          </p:cNvCxnSpPr>
          <p:nvPr/>
        </p:nvCxnSpPr>
        <p:spPr>
          <a:xfrm>
            <a:off x="222029" y="4688326"/>
            <a:ext cx="9756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73EBEBD3-61E4-A52F-5E12-0CD69AEB0132}"/>
              </a:ext>
            </a:extLst>
          </p:cNvPr>
          <p:cNvSpPr/>
          <p:nvPr/>
        </p:nvSpPr>
        <p:spPr>
          <a:xfrm>
            <a:off x="4010060" y="4778337"/>
            <a:ext cx="2102424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Energy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89FE3B-8FB7-30AB-738E-22FF5C48A507}"/>
              </a:ext>
            </a:extLst>
          </p:cNvPr>
          <p:cNvSpPr/>
          <p:nvPr/>
        </p:nvSpPr>
        <p:spPr>
          <a:xfrm>
            <a:off x="7761879" y="3732141"/>
            <a:ext cx="1922827" cy="391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external </a:t>
            </a:r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CPI/PPI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1F86257-349A-21C4-CD28-34331020D005}"/>
              </a:ext>
            </a:extLst>
          </p:cNvPr>
          <p:cNvCxnSpPr>
            <a:cxnSpLocks/>
            <a:stCxn id="75" idx="3"/>
            <a:endCxn id="8" idx="1"/>
          </p:cNvCxnSpPr>
          <p:nvPr/>
        </p:nvCxnSpPr>
        <p:spPr>
          <a:xfrm flipV="1">
            <a:off x="7502548" y="3927972"/>
            <a:ext cx="259331" cy="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85B157F5-10D5-DAAD-F75D-4C2F2CDC03D3}"/>
              </a:ext>
            </a:extLst>
          </p:cNvPr>
          <p:cNvSpPr/>
          <p:nvPr/>
        </p:nvSpPr>
        <p:spPr>
          <a:xfrm>
            <a:off x="7756589" y="4215974"/>
            <a:ext cx="1922827" cy="7835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trade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Ratio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tradable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non-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tradable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goods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D32FAD-24E8-23D4-09CE-3013A5264E7E}"/>
              </a:ext>
            </a:extLst>
          </p:cNvPr>
          <p:cNvSpPr/>
          <p:nvPr/>
        </p:nvSpPr>
        <p:spPr>
          <a:xfrm>
            <a:off x="683171" y="5432471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Futures Markets (prices)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76DFE7-E92B-C4CD-4498-D54F8FEF5A84}"/>
              </a:ext>
            </a:extLst>
          </p:cNvPr>
          <p:cNvCxnSpPr>
            <a:cxnSpLocks/>
            <a:stCxn id="30" idx="2"/>
            <a:endCxn id="13" idx="0"/>
          </p:cNvCxnSpPr>
          <p:nvPr/>
        </p:nvCxnSpPr>
        <p:spPr>
          <a:xfrm flipH="1">
            <a:off x="1849232" y="5226083"/>
            <a:ext cx="1" cy="20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/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Exchange Rates </a:t>
                </a:r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(NER)</a:t>
                </a:r>
              </a:p>
              <a:p>
                <a:pPr algn="ctr"/>
                <a:endParaRPr lang="de-DE" sz="11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f>
                        <m:fPr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hteck 29">
            <a:extLst>
              <a:ext uri="{FF2B5EF4-FFF2-40B4-BE49-F238E27FC236}">
                <a16:creationId xmlns:a16="http://schemas.microsoft.com/office/drawing/2014/main" id="{37A69D8F-5662-E8F0-40A0-6AF2855D9D8D}"/>
              </a:ext>
            </a:extLst>
          </p:cNvPr>
          <p:cNvSpPr/>
          <p:nvPr/>
        </p:nvSpPr>
        <p:spPr>
          <a:xfrm>
            <a:off x="683172" y="4775560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Energy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0CD1860-0A48-293B-D7AB-C8BFB826EE74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3012436" y="3644844"/>
            <a:ext cx="504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EBA84D3F-E99E-C91A-2ED1-359A23F5FD92}"/>
              </a:ext>
            </a:extLst>
          </p:cNvPr>
          <p:cNvCxnSpPr>
            <a:cxnSpLocks/>
          </p:cNvCxnSpPr>
          <p:nvPr/>
        </p:nvCxnSpPr>
        <p:spPr>
          <a:xfrm flipV="1">
            <a:off x="3015293" y="5022042"/>
            <a:ext cx="5326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0EB06B2-8C6F-BA12-1431-DBFA136F6098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766845" y="3648479"/>
            <a:ext cx="243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2C41811-6436-6937-DB44-58904A364F5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763901" y="5003599"/>
            <a:ext cx="24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/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</a:t>
                </a:r>
                <a:r>
                  <a:rPr lang="de-DE" sz="110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</a:t>
                </a:r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Exchange Rates </a:t>
                </a:r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(REER)</a:t>
                </a:r>
              </a:p>
              <a:p>
                <a:pPr algn="ctr"/>
                <a:endParaRPr lang="de-DE" sz="11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𝑟𝑒𝑎𝑙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blipFill>
                <a:blip r:embed="rId4"/>
                <a:stretch>
                  <a:fillRect l="-9813" b="-56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hteck 48">
            <a:extLst>
              <a:ext uri="{FF2B5EF4-FFF2-40B4-BE49-F238E27FC236}">
                <a16:creationId xmlns:a16="http://schemas.microsoft.com/office/drawing/2014/main" id="{25A08158-FA53-A0B1-F15D-78175F0085A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Definitions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What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prices and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they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measured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E4BBC49-B846-94F8-A7D3-B443853B5DEF}"/>
              </a:ext>
            </a:extLst>
          </p:cNvPr>
          <p:cNvSpPr/>
          <p:nvPr/>
        </p:nvSpPr>
        <p:spPr>
          <a:xfrm rot="16200000">
            <a:off x="-512864" y="1950096"/>
            <a:ext cx="1536022" cy="3911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Multilateral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basket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currencies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EB0C0D-1507-F02A-6129-37D3964916FC}"/>
              </a:ext>
            </a:extLst>
          </p:cNvPr>
          <p:cNvSpPr/>
          <p:nvPr/>
        </p:nvSpPr>
        <p:spPr>
          <a:xfrm rot="16200000">
            <a:off x="-510422" y="3751195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Bilaterail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currencies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C703C1D-45F9-A7F9-9246-0E6AFB22B640}"/>
              </a:ext>
            </a:extLst>
          </p:cNvPr>
          <p:cNvCxnSpPr>
            <a:cxnSpLocks/>
          </p:cNvCxnSpPr>
          <p:nvPr/>
        </p:nvCxnSpPr>
        <p:spPr>
          <a:xfrm flipV="1">
            <a:off x="3768748" y="2135745"/>
            <a:ext cx="468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C6A7EBC0-2B86-32D4-2AD3-80F1D3A6F53D}"/>
              </a:ext>
            </a:extLst>
          </p:cNvPr>
          <p:cNvCxnSpPr>
            <a:cxnSpLocks/>
          </p:cNvCxnSpPr>
          <p:nvPr/>
        </p:nvCxnSpPr>
        <p:spPr>
          <a:xfrm>
            <a:off x="118533" y="3014115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2C7F210E-44C2-3C66-C47F-64D444F54765}"/>
              </a:ext>
            </a:extLst>
          </p:cNvPr>
          <p:cNvSpPr/>
          <p:nvPr/>
        </p:nvSpPr>
        <p:spPr>
          <a:xfrm rot="16200000">
            <a:off x="1726727" y="3188909"/>
            <a:ext cx="385834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Inflation/Relative Consumer Prices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E87C37-1AF2-CA03-4404-B86BDC1AA136}"/>
              </a:ext>
            </a:extLst>
          </p:cNvPr>
          <p:cNvSpPr/>
          <p:nvPr/>
        </p:nvSpPr>
        <p:spPr>
          <a:xfrm>
            <a:off x="10329215" y="2376852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Broad Index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28B6CF6-69BF-785B-75DC-3901836C8F31}"/>
              </a:ext>
            </a:extLst>
          </p:cNvPr>
          <p:cNvSpPr/>
          <p:nvPr/>
        </p:nvSpPr>
        <p:spPr>
          <a:xfrm>
            <a:off x="10329215" y="3162640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Narrow Index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FC6C353-D5DB-31EA-1ABD-11B376E66F5C}"/>
              </a:ext>
            </a:extLst>
          </p:cNvPr>
          <p:cNvCxnSpPr>
            <a:cxnSpLocks/>
            <a:stCxn id="57" idx="1"/>
            <a:endCxn id="39" idx="1"/>
          </p:cNvCxnSpPr>
          <p:nvPr/>
        </p:nvCxnSpPr>
        <p:spPr>
          <a:xfrm flipV="1">
            <a:off x="10229680" y="2602114"/>
            <a:ext cx="99535" cy="425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DE0F81B-9E95-B0F4-984D-4CB78B66B8A6}"/>
              </a:ext>
            </a:extLst>
          </p:cNvPr>
          <p:cNvCxnSpPr>
            <a:cxnSpLocks/>
            <a:stCxn id="57" idx="1"/>
            <a:endCxn id="40" idx="1"/>
          </p:cNvCxnSpPr>
          <p:nvPr/>
        </p:nvCxnSpPr>
        <p:spPr>
          <a:xfrm>
            <a:off x="10229680" y="3028026"/>
            <a:ext cx="99535" cy="3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Geschweifte Klammer links 56">
            <a:extLst>
              <a:ext uri="{FF2B5EF4-FFF2-40B4-BE49-F238E27FC236}">
                <a16:creationId xmlns:a16="http://schemas.microsoft.com/office/drawing/2014/main" id="{58DDF9A1-2BD4-6DAF-F9C3-655C565256B0}"/>
              </a:ext>
            </a:extLst>
          </p:cNvPr>
          <p:cNvSpPr/>
          <p:nvPr/>
        </p:nvSpPr>
        <p:spPr>
          <a:xfrm rot="10800000">
            <a:off x="9810515" y="1367734"/>
            <a:ext cx="419165" cy="332058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93F2CF6-BF9C-ABAA-8E14-DE62E3722178}"/>
              </a:ext>
            </a:extLst>
          </p:cNvPr>
          <p:cNvSpPr/>
          <p:nvPr/>
        </p:nvSpPr>
        <p:spPr>
          <a:xfrm>
            <a:off x="683171" y="4214764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Futures Markets (prices)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119E95B4-1BF6-C452-1E1F-2BE496B4BD32}"/>
              </a:ext>
            </a:extLst>
          </p:cNvPr>
          <p:cNvCxnSpPr>
            <a:cxnSpLocks/>
            <a:stCxn id="29" idx="2"/>
            <a:endCxn id="70" idx="0"/>
          </p:cNvCxnSpPr>
          <p:nvPr/>
        </p:nvCxnSpPr>
        <p:spPr>
          <a:xfrm>
            <a:off x="1846957" y="4080016"/>
            <a:ext cx="2275" cy="134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E4478911-13F8-4643-BE07-6BE510CE413D}"/>
              </a:ext>
            </a:extLst>
          </p:cNvPr>
          <p:cNvSpPr/>
          <p:nvPr/>
        </p:nvSpPr>
        <p:spPr>
          <a:xfrm>
            <a:off x="6032683" y="3092033"/>
            <a:ext cx="1469865" cy="5540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 variables:</a:t>
            </a:r>
          </a:p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GDP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deflator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labor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776E1D30-F052-1481-DEF9-9ADB84C06DE1}"/>
              </a:ext>
            </a:extLst>
          </p:cNvPr>
          <p:cNvSpPr/>
          <p:nvPr/>
        </p:nvSpPr>
        <p:spPr>
          <a:xfrm>
            <a:off x="6032685" y="3734298"/>
            <a:ext cx="1469863" cy="391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prices</a:t>
            </a:r>
          </a:p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Producer prices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3777F85-A0C5-0394-7180-6549405BE783}"/>
              </a:ext>
            </a:extLst>
          </p:cNvPr>
          <p:cNvSpPr/>
          <p:nvPr/>
        </p:nvSpPr>
        <p:spPr>
          <a:xfrm>
            <a:off x="6028161" y="4224600"/>
            <a:ext cx="1477333" cy="399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0" name="Gewinkelte Verbindung 89">
            <a:extLst>
              <a:ext uri="{FF2B5EF4-FFF2-40B4-BE49-F238E27FC236}">
                <a16:creationId xmlns:a16="http://schemas.microsoft.com/office/drawing/2014/main" id="{CA409A5D-55EB-43B5-FB41-887ECED819F0}"/>
              </a:ext>
            </a:extLst>
          </p:cNvPr>
          <p:cNvCxnSpPr>
            <a:cxnSpLocks/>
            <a:stCxn id="5" idx="0"/>
            <a:endCxn id="74" idx="1"/>
          </p:cNvCxnSpPr>
          <p:nvPr/>
        </p:nvCxnSpPr>
        <p:spPr>
          <a:xfrm rot="16200000" flipH="1">
            <a:off x="5352811" y="2689185"/>
            <a:ext cx="218766" cy="1140977"/>
          </a:xfrm>
          <a:prstGeom prst="bentConnector4">
            <a:avLst>
              <a:gd name="adj1" fmla="val -37796"/>
              <a:gd name="adj2" fmla="val 886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Rechteck 90">
            <a:extLst>
              <a:ext uri="{FF2B5EF4-FFF2-40B4-BE49-F238E27FC236}">
                <a16:creationId xmlns:a16="http://schemas.microsoft.com/office/drawing/2014/main" id="{07892A80-F4C2-70FF-9EA6-C52FCC6D7005}"/>
              </a:ext>
            </a:extLst>
          </p:cNvPr>
          <p:cNvSpPr/>
          <p:nvPr/>
        </p:nvSpPr>
        <p:spPr>
          <a:xfrm>
            <a:off x="6035629" y="3067690"/>
            <a:ext cx="1469865" cy="15324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D155609F-7F3F-46F3-3787-00D0B2997A8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891705" y="2602114"/>
            <a:ext cx="1" cy="54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hteck 99">
            <a:extLst>
              <a:ext uri="{FF2B5EF4-FFF2-40B4-BE49-F238E27FC236}">
                <a16:creationId xmlns:a16="http://schemas.microsoft.com/office/drawing/2014/main" id="{FAFEEB4E-36E3-F716-444A-A9114AF806CA}"/>
              </a:ext>
            </a:extLst>
          </p:cNvPr>
          <p:cNvSpPr/>
          <p:nvPr/>
        </p:nvSpPr>
        <p:spPr>
          <a:xfrm>
            <a:off x="10119787" y="1693556"/>
            <a:ext cx="1107516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 economies,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since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1994</a:t>
            </a: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9B3B376E-7655-571E-364F-9741AB117740}"/>
              </a:ext>
            </a:extLst>
          </p:cNvPr>
          <p:cNvCxnSpPr>
            <a:cxnSpLocks/>
            <a:stCxn id="39" idx="0"/>
            <a:endCxn id="100" idx="2"/>
          </p:cNvCxnSpPr>
          <p:nvPr/>
        </p:nvCxnSpPr>
        <p:spPr>
          <a:xfrm flipV="1">
            <a:off x="10668592" y="2144079"/>
            <a:ext cx="4953" cy="23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hteck 103">
            <a:extLst>
              <a:ext uri="{FF2B5EF4-FFF2-40B4-BE49-F238E27FC236}">
                <a16:creationId xmlns:a16="http://schemas.microsoft.com/office/drawing/2014/main" id="{62B8B1EA-A050-56BE-2C9B-1D1638B45A49}"/>
              </a:ext>
            </a:extLst>
          </p:cNvPr>
          <p:cNvSpPr/>
          <p:nvPr/>
        </p:nvSpPr>
        <p:spPr>
          <a:xfrm>
            <a:off x="10222285" y="3870095"/>
            <a:ext cx="892068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26/27 economies</a:t>
            </a:r>
          </a:p>
        </p:txBody>
      </p: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121733-0DA9-6D69-117B-692C696959AB}"/>
              </a:ext>
            </a:extLst>
          </p:cNvPr>
          <p:cNvCxnSpPr>
            <a:cxnSpLocks/>
            <a:stCxn id="40" idx="2"/>
            <a:endCxn id="104" idx="0"/>
          </p:cNvCxnSpPr>
          <p:nvPr/>
        </p:nvCxnSpPr>
        <p:spPr>
          <a:xfrm flipH="1">
            <a:off x="10668319" y="3613163"/>
            <a:ext cx="273" cy="25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/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𝒕𝒓𝒂𝒅𝒆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𝒘𝒆𝒊𝒈𝒉𝒕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𝑚𝑎𝑛𝑢𝑓𝑎𝑐𝑡𝑢𝑟𝑖𝑛𝑔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𝑡𝑟𝑎𝑑𝑒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𝑓𝑙𝑜𝑤𝑠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𝑜𝑟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𝑡𝑖𝑚𝑒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𝑣𝑎𝑟𝑦𝑖𝑛𝑔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𝑤𝑒𝑖𝑔h𝑡𝑖𝑛𝑔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𝑝𝑎𝑡𝑡𝑒𝑟𝑛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(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𝑡h𝑟𝑒𝑒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𝑦𝑒𝑎𝑟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𝑏𝑎𝑠𝑖𝑠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/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</a:t>
                </a:r>
                <a:r>
                  <a:rPr lang="de-DE" sz="110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</a:t>
                </a:r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Exchange Rates </a:t>
                </a:r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(NEER)</a:t>
                </a:r>
              </a:p>
              <a:p>
                <a:pPr algn="ctr"/>
                <a:endParaRPr lang="de-DE" sz="8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𝑏𝑖𝑙𝑎𝑡𝑒𝑟𝑎𝑙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blipFill>
                <a:blip r:embed="rId6"/>
                <a:stretch>
                  <a:fillRect l="-7692" b="-5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/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Exchange Rates</a:t>
                </a:r>
              </a:p>
              <a:p>
                <a:pPr algn="ctr"/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(RER)</a:t>
                </a:r>
              </a:p>
              <a:p>
                <a:pPr algn="ctr"/>
                <a:endParaRPr lang="de-DE" sz="11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𝑁𝐸𝑅</m:t>
                        </m:r>
                      </m:e>
                      <m:sub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𝑐𝑜𝑢𝑛𝑡𝑟𝑦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 </m:t>
                    </m:r>
                    <m:f>
                      <m:f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blipFill>
                <a:blip r:embed="rId7"/>
                <a:stretch>
                  <a:fillRect t="-2500" b="-25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5DD9C2D-A4F2-D8FA-BEB7-A058236406E1}"/>
              </a:ext>
            </a:extLst>
          </p:cNvPr>
          <p:cNvCxnSpPr>
            <a:cxnSpLocks/>
          </p:cNvCxnSpPr>
          <p:nvPr/>
        </p:nvCxnSpPr>
        <p:spPr>
          <a:xfrm>
            <a:off x="3448365" y="2133808"/>
            <a:ext cx="72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99CEACD8-00B4-9DDF-2EC9-6EB90A0637EE}"/>
              </a:ext>
            </a:extLst>
          </p:cNvPr>
          <p:cNvCxnSpPr>
            <a:cxnSpLocks/>
            <a:stCxn id="46" idx="3"/>
            <a:endCxn id="122" idx="1"/>
          </p:cNvCxnSpPr>
          <p:nvPr/>
        </p:nvCxnSpPr>
        <p:spPr>
          <a:xfrm flipV="1">
            <a:off x="6955563" y="2117685"/>
            <a:ext cx="194118" cy="4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355F518-263D-D7FB-3A2D-63E27218F735}"/>
              </a:ext>
            </a:extLst>
          </p:cNvPr>
          <p:cNvSpPr/>
          <p:nvPr/>
        </p:nvSpPr>
        <p:spPr>
          <a:xfrm>
            <a:off x="48933" y="850711"/>
            <a:ext cx="3498967" cy="211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terms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152C3B32-94E7-EF18-64BB-E383F284E014}"/>
              </a:ext>
            </a:extLst>
          </p:cNvPr>
          <p:cNvSpPr/>
          <p:nvPr/>
        </p:nvSpPr>
        <p:spPr>
          <a:xfrm>
            <a:off x="3763900" y="845559"/>
            <a:ext cx="6182633" cy="216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terms</a:t>
            </a:r>
          </a:p>
        </p:txBody>
      </p: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3D78F894-3C2F-6134-B3EC-BADC65CB03E3}"/>
              </a:ext>
            </a:extLst>
          </p:cNvPr>
          <p:cNvCxnSpPr>
            <a:cxnSpLocks/>
          </p:cNvCxnSpPr>
          <p:nvPr/>
        </p:nvCxnSpPr>
        <p:spPr>
          <a:xfrm>
            <a:off x="118533" y="1230710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Gewinkelte Verbindung 108">
            <a:extLst>
              <a:ext uri="{FF2B5EF4-FFF2-40B4-BE49-F238E27FC236}">
                <a16:creationId xmlns:a16="http://schemas.microsoft.com/office/drawing/2014/main" id="{EB493B03-5273-8FCE-0725-35CDDF48311C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505494" y="4424527"/>
            <a:ext cx="251095" cy="183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7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C400-169C-12D0-20F6-2EA61B93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winkelte Verbindung 20">
            <a:extLst>
              <a:ext uri="{FF2B5EF4-FFF2-40B4-BE49-F238E27FC236}">
                <a16:creationId xmlns:a16="http://schemas.microsoft.com/office/drawing/2014/main" id="{F32D6AC2-1170-FF45-7100-1F8E19D29D96}"/>
              </a:ext>
            </a:extLst>
          </p:cNvPr>
          <p:cNvCxnSpPr>
            <a:cxnSpLocks/>
            <a:stCxn id="6" idx="2"/>
            <a:endCxn id="19" idx="0"/>
          </p:cNvCxnSpPr>
          <p:nvPr/>
        </p:nvCxnSpPr>
        <p:spPr>
          <a:xfrm rot="16200000" flipH="1">
            <a:off x="5988317" y="1244054"/>
            <a:ext cx="1116897" cy="3189911"/>
          </a:xfrm>
          <a:prstGeom prst="bentConnector3">
            <a:avLst>
              <a:gd name="adj1" fmla="val 4396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920F220-B949-2339-A8C2-BB237B1DB1D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A simple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energy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DB3D19-FB0D-EF49-B5C4-F4FD1FF6DE8D}"/>
              </a:ext>
            </a:extLst>
          </p:cNvPr>
          <p:cNvSpPr/>
          <p:nvPr/>
        </p:nvSpPr>
        <p:spPr>
          <a:xfrm>
            <a:off x="248266" y="1729947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3B20DB-4112-8910-13D9-7A86DEC9A7C4}"/>
              </a:ext>
            </a:extLst>
          </p:cNvPr>
          <p:cNvSpPr/>
          <p:nvPr/>
        </p:nvSpPr>
        <p:spPr>
          <a:xfrm>
            <a:off x="1440374" y="1731970"/>
            <a:ext cx="166784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Adjusted future expectations for demand-supply levels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1EE2EB-33FB-6EDA-10DF-6A28DBAE199A}"/>
              </a:ext>
            </a:extLst>
          </p:cNvPr>
          <p:cNvSpPr/>
          <p:nvPr/>
        </p:nvSpPr>
        <p:spPr>
          <a:xfrm>
            <a:off x="3325347" y="1729950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(Spot) Price adjustments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3B07525-A5A1-F1B4-8FEE-C3582CE113E6}"/>
              </a:ext>
            </a:extLst>
          </p:cNvPr>
          <p:cNvSpPr/>
          <p:nvPr/>
        </p:nvSpPr>
        <p:spPr>
          <a:xfrm>
            <a:off x="4551106" y="1729945"/>
            <a:ext cx="801408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F9704E9-C9FC-0392-9481-18E53C7E54AB}"/>
              </a:ext>
            </a:extLst>
          </p:cNvPr>
          <p:cNvSpPr/>
          <p:nvPr/>
        </p:nvSpPr>
        <p:spPr>
          <a:xfrm>
            <a:off x="5561975" y="1729947"/>
            <a:ext cx="147027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Inflationary pressure driving up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C245E0-1CC8-DB0D-66F1-926593ED389A}"/>
              </a:ext>
            </a:extLst>
          </p:cNvPr>
          <p:cNvSpPr/>
          <p:nvPr/>
        </p:nvSpPr>
        <p:spPr>
          <a:xfrm>
            <a:off x="7241710" y="1731968"/>
            <a:ext cx="1250320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policy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hikes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518F9D-DEDF-B6B2-0E24-08F10E38C0E0}"/>
              </a:ext>
            </a:extLst>
          </p:cNvPr>
          <p:cNvSpPr/>
          <p:nvPr/>
        </p:nvSpPr>
        <p:spPr>
          <a:xfrm>
            <a:off x="3499677" y="737582"/>
            <a:ext cx="4414650" cy="28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Heavily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affect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energy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939E41-E3A2-C747-4064-B68050C474F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261281" y="2005256"/>
            <a:ext cx="179093" cy="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9FAAAE3-A7B8-1029-83FE-3B9AC849744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3108218" y="2005259"/>
            <a:ext cx="217129" cy="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8F030C5-9C48-09E7-A29F-635530C8C3C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338362" y="2005254"/>
            <a:ext cx="212744" cy="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64E26FE-27DB-68F7-2056-B905672248E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52514" y="2005254"/>
            <a:ext cx="209461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05F554B-0FE6-6140-6491-7EA5FEB5711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032249" y="2005256"/>
            <a:ext cx="209461" cy="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0BFEA76D-99AB-C7B1-3409-A2CA2B156445}"/>
              </a:ext>
            </a:extLst>
          </p:cNvPr>
          <p:cNvSpPr/>
          <p:nvPr/>
        </p:nvSpPr>
        <p:spPr>
          <a:xfrm rot="5400000">
            <a:off x="5578026" y="-4297533"/>
            <a:ext cx="257952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8E839D3-8E65-96AC-44BB-A8244DC0C808}"/>
              </a:ext>
            </a:extLst>
          </p:cNvPr>
          <p:cNvSpPr/>
          <p:nvPr/>
        </p:nvSpPr>
        <p:spPr>
          <a:xfrm>
            <a:off x="8701491" y="1729946"/>
            <a:ext cx="993976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 rate differentials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211AE1E-AE25-8A87-F56C-3147B731828B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8492030" y="2005255"/>
            <a:ext cx="209461" cy="2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A3D75D58-23EF-B26E-E6B6-BD808793409E}"/>
              </a:ext>
            </a:extLst>
          </p:cNvPr>
          <p:cNvSpPr/>
          <p:nvPr/>
        </p:nvSpPr>
        <p:spPr>
          <a:xfrm>
            <a:off x="4705254" y="2438771"/>
            <a:ext cx="1764000" cy="2313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Derived proxy variables</a:t>
            </a:r>
          </a:p>
        </p:txBody>
      </p: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FE987C23-781F-B2CF-C7AE-167A9F3DD8D1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6469253" y="2554439"/>
            <a:ext cx="486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Gerade Verbindung 71">
            <a:extLst>
              <a:ext uri="{FF2B5EF4-FFF2-40B4-BE49-F238E27FC236}">
                <a16:creationId xmlns:a16="http://schemas.microsoft.com/office/drawing/2014/main" id="{19AD80B6-AA37-15C4-F4F1-1AB2FCC6B0F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80437" y="2554439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E696DFB3-6C85-FB27-6A91-5EA8F7652298}"/>
              </a:ext>
            </a:extLst>
          </p:cNvPr>
          <p:cNvSpPr/>
          <p:nvPr/>
        </p:nvSpPr>
        <p:spPr>
          <a:xfrm>
            <a:off x="9898266" y="1736307"/>
            <a:ext cx="126747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Parity conditions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(PPP/UIP/CIP)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1F56126-26E4-9EEE-B156-7BAD009C4BFB}"/>
              </a:ext>
            </a:extLst>
          </p:cNvPr>
          <p:cNvCxnSpPr>
            <a:cxnSpLocks/>
            <a:stCxn id="29" idx="3"/>
            <a:endCxn id="75" idx="1"/>
          </p:cNvCxnSpPr>
          <p:nvPr/>
        </p:nvCxnSpPr>
        <p:spPr>
          <a:xfrm>
            <a:off x="9695467" y="2005255"/>
            <a:ext cx="202799" cy="6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Geschweifte Klammer links 93">
            <a:extLst>
              <a:ext uri="{FF2B5EF4-FFF2-40B4-BE49-F238E27FC236}">
                <a16:creationId xmlns:a16="http://schemas.microsoft.com/office/drawing/2014/main" id="{B27D7CBE-6F19-33C5-FAA5-62CCD66AEB24}"/>
              </a:ext>
            </a:extLst>
          </p:cNvPr>
          <p:cNvSpPr/>
          <p:nvPr/>
        </p:nvSpPr>
        <p:spPr>
          <a:xfrm rot="16200000">
            <a:off x="5497420" y="-1324924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546DFDDA-2BBF-08A0-3697-A553591CD972}"/>
              </a:ext>
            </a:extLst>
          </p:cNvPr>
          <p:cNvSpPr/>
          <p:nvPr/>
        </p:nvSpPr>
        <p:spPr>
          <a:xfrm>
            <a:off x="3831854" y="4343398"/>
            <a:ext cx="3770729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Transmission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depending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2278FA6-30BC-7A66-3EC6-1A3FF8DCCFC1}"/>
              </a:ext>
            </a:extLst>
          </p:cNvPr>
          <p:cNvSpPr/>
          <p:nvPr/>
        </p:nvSpPr>
        <p:spPr>
          <a:xfrm>
            <a:off x="5845629" y="4669899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interest in futures markets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EFB9C413-B00B-E725-ECB1-DF29291F41C1}"/>
              </a:ext>
            </a:extLst>
          </p:cNvPr>
          <p:cNvSpPr/>
          <p:nvPr/>
        </p:nvSpPr>
        <p:spPr>
          <a:xfrm>
            <a:off x="4077380" y="3517511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Front Month Future Price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C4E366A-D035-6428-74DE-7B917A0E8EAE}"/>
              </a:ext>
            </a:extLst>
          </p:cNvPr>
          <p:cNvSpPr/>
          <p:nvPr/>
        </p:nvSpPr>
        <p:spPr>
          <a:xfrm>
            <a:off x="4077379" y="3834376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Spot Price</a:t>
            </a:r>
          </a:p>
        </p:txBody>
      </p:sp>
      <p:cxnSp>
        <p:nvCxnSpPr>
          <p:cNvPr id="99" name="Gewinkelte Verbindung 98">
            <a:extLst>
              <a:ext uri="{FF2B5EF4-FFF2-40B4-BE49-F238E27FC236}">
                <a16:creationId xmlns:a16="http://schemas.microsoft.com/office/drawing/2014/main" id="{1A9821BD-B305-851A-88A4-BBE9C6B02007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 rot="16200000" flipH="1">
            <a:off x="3278545" y="2833876"/>
            <a:ext cx="1352144" cy="2455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winkelte Verbindung 102">
            <a:extLst>
              <a:ext uri="{FF2B5EF4-FFF2-40B4-BE49-F238E27FC236}">
                <a16:creationId xmlns:a16="http://schemas.microsoft.com/office/drawing/2014/main" id="{7D31F963-270D-77EB-ED1F-9EB4B0119ED2}"/>
              </a:ext>
            </a:extLst>
          </p:cNvPr>
          <p:cNvCxnSpPr>
            <a:cxnSpLocks/>
            <a:stCxn id="5" idx="2"/>
            <a:endCxn id="98" idx="1"/>
          </p:cNvCxnSpPr>
          <p:nvPr/>
        </p:nvCxnSpPr>
        <p:spPr>
          <a:xfrm rot="16200000" flipH="1">
            <a:off x="3120113" y="2992309"/>
            <a:ext cx="1669009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winkelte Verbindung 105">
            <a:extLst>
              <a:ext uri="{FF2B5EF4-FFF2-40B4-BE49-F238E27FC236}">
                <a16:creationId xmlns:a16="http://schemas.microsoft.com/office/drawing/2014/main" id="{4070ED22-2D8D-88E0-E030-E4339E1626CD}"/>
              </a:ext>
            </a:extLst>
          </p:cNvPr>
          <p:cNvCxnSpPr>
            <a:cxnSpLocks/>
            <a:stCxn id="95" idx="2"/>
            <a:endCxn id="96" idx="1"/>
          </p:cNvCxnSpPr>
          <p:nvPr/>
        </p:nvCxnSpPr>
        <p:spPr>
          <a:xfrm rot="16200000" flipH="1">
            <a:off x="5675774" y="4615243"/>
            <a:ext cx="211301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Gewinkelte Verbindung 117">
            <a:extLst>
              <a:ext uri="{FF2B5EF4-FFF2-40B4-BE49-F238E27FC236}">
                <a16:creationId xmlns:a16="http://schemas.microsoft.com/office/drawing/2014/main" id="{58828655-9B5C-D596-6B15-8E7757820871}"/>
              </a:ext>
            </a:extLst>
          </p:cNvPr>
          <p:cNvCxnSpPr>
            <a:cxnSpLocks/>
            <a:stCxn id="2" idx="2"/>
            <a:endCxn id="121" idx="1"/>
          </p:cNvCxnSpPr>
          <p:nvPr/>
        </p:nvCxnSpPr>
        <p:spPr>
          <a:xfrm rot="16200000" flipH="1">
            <a:off x="91296" y="2944042"/>
            <a:ext cx="1475731" cy="14877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ADA5D6-3FD1-CBB1-749C-1A2DAC0215FD}"/>
              </a:ext>
            </a:extLst>
          </p:cNvPr>
          <p:cNvSpPr/>
          <p:nvPr/>
        </p:nvSpPr>
        <p:spPr>
          <a:xfrm>
            <a:off x="903548" y="3641095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 crisis periods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11C4393-6314-BFD0-EDEF-6CF65E414970}"/>
              </a:ext>
            </a:extLst>
          </p:cNvPr>
          <p:cNvSpPr/>
          <p:nvPr/>
        </p:nvSpPr>
        <p:spPr>
          <a:xfrm>
            <a:off x="2501762" y="2849560"/>
            <a:ext cx="1248465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OPEC volumes</a:t>
            </a:r>
          </a:p>
        </p:txBody>
      </p:sp>
      <p:cxnSp>
        <p:nvCxnSpPr>
          <p:cNvPr id="13" name="Gewinkelte Verbindung 12">
            <a:extLst>
              <a:ext uri="{FF2B5EF4-FFF2-40B4-BE49-F238E27FC236}">
                <a16:creationId xmlns:a16="http://schemas.microsoft.com/office/drawing/2014/main" id="{2B4BDEEF-7E89-B3C5-3FD6-40F4876B0C60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046943" y="2509940"/>
            <a:ext cx="682173" cy="2274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C5B44584-46E0-0BE5-3F1A-2FC7076572F3}"/>
              </a:ext>
            </a:extLst>
          </p:cNvPr>
          <p:cNvSpPr/>
          <p:nvPr/>
        </p:nvSpPr>
        <p:spPr>
          <a:xfrm rot="10800000">
            <a:off x="6994878" y="2862355"/>
            <a:ext cx="419165" cy="1226421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E5CA635-4C49-2BB9-7D73-4A2A0CA141DE}"/>
              </a:ext>
            </a:extLst>
          </p:cNvPr>
          <p:cNvSpPr/>
          <p:nvPr/>
        </p:nvSpPr>
        <p:spPr>
          <a:xfrm>
            <a:off x="7454278" y="3397459"/>
            <a:ext cx="137488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(Rolling) Volatility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C2A845E-3515-0FD7-1B97-5549F6F1C794}"/>
              </a:ext>
            </a:extLst>
          </p:cNvPr>
          <p:cNvSpPr/>
          <p:nvPr/>
        </p:nvSpPr>
        <p:spPr>
          <a:xfrm>
            <a:off x="4935654" y="5685068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dependent</a:t>
            </a:r>
          </a:p>
        </p:txBody>
      </p: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0F6E71F-FFE6-DF2D-BCBE-F758A9BAFC3E}"/>
              </a:ext>
            </a:extLst>
          </p:cNvPr>
          <p:cNvSpPr/>
          <p:nvPr/>
        </p:nvSpPr>
        <p:spPr>
          <a:xfrm rot="16200000">
            <a:off x="5507635" y="-5105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D66E357-8389-AD61-8CAC-077D2B7C2E02}"/>
              </a:ext>
            </a:extLst>
          </p:cNvPr>
          <p:cNvSpPr/>
          <p:nvPr/>
        </p:nvSpPr>
        <p:spPr>
          <a:xfrm>
            <a:off x="9378818" y="3054360"/>
            <a:ext cx="1799342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Central Bank Policy Rates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32D77E-E5BB-792E-3AC5-268CBD4665D8}"/>
              </a:ext>
            </a:extLst>
          </p:cNvPr>
          <p:cNvSpPr/>
          <p:nvPr/>
        </p:nvSpPr>
        <p:spPr>
          <a:xfrm>
            <a:off x="9378818" y="3396185"/>
            <a:ext cx="1799342" cy="3745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3M Interbank lending rates</a:t>
            </a:r>
          </a:p>
        </p:txBody>
      </p:sp>
      <p:cxnSp>
        <p:nvCxnSpPr>
          <p:cNvPr id="36" name="Gewinkelte Verbindung 35">
            <a:extLst>
              <a:ext uri="{FF2B5EF4-FFF2-40B4-BE49-F238E27FC236}">
                <a16:creationId xmlns:a16="http://schemas.microsoft.com/office/drawing/2014/main" id="{5D58BF1E-0267-CD1B-A8D8-D5BA270B2403}"/>
              </a:ext>
            </a:extLst>
          </p:cNvPr>
          <p:cNvCxnSpPr>
            <a:cxnSpLocks/>
            <a:stCxn id="29" idx="2"/>
            <a:endCxn id="34" idx="1"/>
          </p:cNvCxnSpPr>
          <p:nvPr/>
        </p:nvCxnSpPr>
        <p:spPr>
          <a:xfrm rot="16200000" flipH="1">
            <a:off x="8844150" y="2634891"/>
            <a:ext cx="888997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winkelte Verbindung 38">
            <a:extLst>
              <a:ext uri="{FF2B5EF4-FFF2-40B4-BE49-F238E27FC236}">
                <a16:creationId xmlns:a16="http://schemas.microsoft.com/office/drawing/2014/main" id="{AA9E123C-BD88-94BC-D3DD-67CEA79CD5A4}"/>
              </a:ext>
            </a:extLst>
          </p:cNvPr>
          <p:cNvCxnSpPr>
            <a:cxnSpLocks/>
            <a:stCxn id="29" idx="2"/>
            <a:endCxn id="35" idx="1"/>
          </p:cNvCxnSpPr>
          <p:nvPr/>
        </p:nvCxnSpPr>
        <p:spPr>
          <a:xfrm rot="16200000" flipH="1">
            <a:off x="8637196" y="2841845"/>
            <a:ext cx="1302905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4143DB3E-7694-5D50-523F-9E580EE43186}"/>
              </a:ext>
            </a:extLst>
          </p:cNvPr>
          <p:cNvSpPr/>
          <p:nvPr/>
        </p:nvSpPr>
        <p:spPr>
          <a:xfrm>
            <a:off x="8305149" y="2593674"/>
            <a:ext cx="576461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CPI</a:t>
            </a: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75D83B1D-AFD6-D9E6-A4CA-3220113BEC7F}"/>
              </a:ext>
            </a:extLst>
          </p:cNvPr>
          <p:cNvSpPr/>
          <p:nvPr/>
        </p:nvSpPr>
        <p:spPr>
          <a:xfrm rot="16200000">
            <a:off x="6927899" y="919262"/>
            <a:ext cx="215917" cy="291234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A8E3832B-6883-6FD6-2DDE-86585AF6F486}"/>
              </a:ext>
            </a:extLst>
          </p:cNvPr>
          <p:cNvSpPr/>
          <p:nvPr/>
        </p:nvSpPr>
        <p:spPr>
          <a:xfrm rot="5400000">
            <a:off x="2233476" y="-431714"/>
            <a:ext cx="119671" cy="40901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E383347-8861-E3BF-A928-13C2C0E16831}"/>
              </a:ext>
            </a:extLst>
          </p:cNvPr>
          <p:cNvSpPr/>
          <p:nvPr/>
        </p:nvSpPr>
        <p:spPr>
          <a:xfrm>
            <a:off x="977198" y="1306400"/>
            <a:ext cx="263222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information efficiency theory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7D7EC2-4DA3-D574-E32E-60EB0C1F6A5C}"/>
              </a:ext>
            </a:extLst>
          </p:cNvPr>
          <p:cNvSpPr/>
          <p:nvPr/>
        </p:nvSpPr>
        <p:spPr>
          <a:xfrm>
            <a:off x="10689577" y="2607101"/>
            <a:ext cx="792000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EUR/USD</a:t>
            </a:r>
          </a:p>
        </p:txBody>
      </p:sp>
      <p:cxnSp>
        <p:nvCxnSpPr>
          <p:cNvPr id="64" name="Gewinkelte Verbindung 63">
            <a:extLst>
              <a:ext uri="{FF2B5EF4-FFF2-40B4-BE49-F238E27FC236}">
                <a16:creationId xmlns:a16="http://schemas.microsoft.com/office/drawing/2014/main" id="{24B51B47-8D5E-7AF1-5416-AAE5A167318F}"/>
              </a:ext>
            </a:extLst>
          </p:cNvPr>
          <p:cNvCxnSpPr>
            <a:cxnSpLocks/>
            <a:stCxn id="75" idx="2"/>
            <a:endCxn id="63" idx="1"/>
          </p:cNvCxnSpPr>
          <p:nvPr/>
        </p:nvCxnSpPr>
        <p:spPr>
          <a:xfrm rot="16200000" flipH="1">
            <a:off x="10393102" y="2425825"/>
            <a:ext cx="435377" cy="157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FBA6D73B-2EA4-72BF-8355-5763FCEF3193}"/>
              </a:ext>
            </a:extLst>
          </p:cNvPr>
          <p:cNvCxnSpPr>
            <a:cxnSpLocks/>
            <a:stCxn id="53" idx="1"/>
            <a:endCxn id="44" idx="1"/>
          </p:cNvCxnSpPr>
          <p:nvPr/>
        </p:nvCxnSpPr>
        <p:spPr>
          <a:xfrm rot="16200000" flipH="1">
            <a:off x="7557763" y="1961488"/>
            <a:ext cx="225480" cy="1269291"/>
          </a:xfrm>
          <a:prstGeom prst="bentConnector4">
            <a:avLst>
              <a:gd name="adj1" fmla="val 101384"/>
              <a:gd name="adj2" fmla="val 5425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0899C555-34FE-A0FC-A6DA-A49D1F54EF81}"/>
              </a:ext>
            </a:extLst>
          </p:cNvPr>
          <p:cNvSpPr/>
          <p:nvPr/>
        </p:nvSpPr>
        <p:spPr>
          <a:xfrm>
            <a:off x="5845629" y="4965429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Trading volume in futures markets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E79E564-161E-55DB-D07C-F70FF4DCAEA8}"/>
              </a:ext>
            </a:extLst>
          </p:cNvPr>
          <p:cNvSpPr/>
          <p:nvPr/>
        </p:nvSpPr>
        <p:spPr>
          <a:xfrm>
            <a:off x="4077379" y="2841982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Gas Front Month Future Price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001AAF7-1BAC-77FC-6184-6D2824984C15}"/>
              </a:ext>
            </a:extLst>
          </p:cNvPr>
          <p:cNvSpPr/>
          <p:nvPr/>
        </p:nvSpPr>
        <p:spPr>
          <a:xfrm>
            <a:off x="4077379" y="3169560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Gas Spot Price</a:t>
            </a:r>
          </a:p>
        </p:txBody>
      </p:sp>
      <p:cxnSp>
        <p:nvCxnSpPr>
          <p:cNvPr id="24" name="Gewinkelte Verbindung 23">
            <a:extLst>
              <a:ext uri="{FF2B5EF4-FFF2-40B4-BE49-F238E27FC236}">
                <a16:creationId xmlns:a16="http://schemas.microsoft.com/office/drawing/2014/main" id="{A2BFA96B-A1CF-1F21-E29C-BF3013031997}"/>
              </a:ext>
            </a:extLst>
          </p:cNvPr>
          <p:cNvCxnSpPr>
            <a:cxnSpLocks/>
            <a:stCxn id="5" idx="2"/>
            <a:endCxn id="17" idx="1"/>
          </p:cNvCxnSpPr>
          <p:nvPr/>
        </p:nvCxnSpPr>
        <p:spPr>
          <a:xfrm rot="16200000" flipH="1">
            <a:off x="3616310" y="2496112"/>
            <a:ext cx="676615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winkelte Verbindung 29">
            <a:extLst>
              <a:ext uri="{FF2B5EF4-FFF2-40B4-BE49-F238E27FC236}">
                <a16:creationId xmlns:a16="http://schemas.microsoft.com/office/drawing/2014/main" id="{90764E94-68E6-4A03-F8BB-5577A60DBBAD}"/>
              </a:ext>
            </a:extLst>
          </p:cNvPr>
          <p:cNvCxnSpPr>
            <a:cxnSpLocks/>
            <a:stCxn id="5" idx="2"/>
            <a:endCxn id="22" idx="1"/>
          </p:cNvCxnSpPr>
          <p:nvPr/>
        </p:nvCxnSpPr>
        <p:spPr>
          <a:xfrm rot="16200000" flipH="1">
            <a:off x="3452521" y="2659901"/>
            <a:ext cx="1004193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winkelte Verbindung 44">
            <a:extLst>
              <a:ext uri="{FF2B5EF4-FFF2-40B4-BE49-F238E27FC236}">
                <a16:creationId xmlns:a16="http://schemas.microsoft.com/office/drawing/2014/main" id="{E7C9E15D-2B56-31F7-42E4-DB58676C3B4E}"/>
              </a:ext>
            </a:extLst>
          </p:cNvPr>
          <p:cNvCxnSpPr>
            <a:cxnSpLocks/>
            <a:stCxn id="95" idx="2"/>
            <a:endCxn id="14" idx="1"/>
          </p:cNvCxnSpPr>
          <p:nvPr/>
        </p:nvCxnSpPr>
        <p:spPr>
          <a:xfrm rot="16200000" flipH="1">
            <a:off x="5528009" y="4763008"/>
            <a:ext cx="506831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AE980178-4585-1AFF-5C0E-2A6A01308009}"/>
              </a:ext>
            </a:extLst>
          </p:cNvPr>
          <p:cNvSpPr/>
          <p:nvPr/>
        </p:nvSpPr>
        <p:spPr>
          <a:xfrm>
            <a:off x="9288648" y="5541453"/>
            <a:ext cx="324000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72ADB375-89BA-FD19-7379-27DD197F2932}"/>
              </a:ext>
            </a:extLst>
          </p:cNvPr>
          <p:cNvSpPr/>
          <p:nvPr/>
        </p:nvSpPr>
        <p:spPr>
          <a:xfrm>
            <a:off x="9532410" y="5533467"/>
            <a:ext cx="1374885" cy="23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rgbClr val="000000"/>
                </a:solidFill>
                <a:latin typeface="Roboto" panose="02000000000000000000" pitchFamily="2" charset="0"/>
              </a:rPr>
              <a:t>: variable not considered</a:t>
            </a:r>
            <a:endParaRPr lang="de-DE" sz="800" b="0" i="0" u="none" strike="noStrike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EEAF8B1-B3EB-EFC1-4422-D4D9B2AFD791}"/>
              </a:ext>
            </a:extLst>
          </p:cNvPr>
          <p:cNvSpPr/>
          <p:nvPr/>
        </p:nvSpPr>
        <p:spPr>
          <a:xfrm>
            <a:off x="9288648" y="5879852"/>
            <a:ext cx="324000" cy="230400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9B5C8209-522A-5A8C-17F5-4180D2874F17}"/>
              </a:ext>
            </a:extLst>
          </p:cNvPr>
          <p:cNvSpPr/>
          <p:nvPr/>
        </p:nvSpPr>
        <p:spPr>
          <a:xfrm>
            <a:off x="9407281" y="5871866"/>
            <a:ext cx="1374885" cy="23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rgbClr val="000000"/>
                </a:solidFill>
                <a:latin typeface="Roboto" panose="02000000000000000000" pitchFamily="2" charset="0"/>
              </a:rPr>
              <a:t>: variable included</a:t>
            </a:r>
            <a:endParaRPr lang="de-DE" sz="800" b="0" i="0" u="none" strike="noStrike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398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D8354-EA08-90F3-9932-4C1250AF9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396F4A62-D195-1233-36E5-813A74ED4018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65B048C-BBE3-15A1-C2DF-D1FEFBAF1725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F085279-4FCF-A757-2734-F834C2652BD2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088E2888-1241-3105-9A60-970D3CC86E5E}"/>
              </a:ext>
            </a:extLst>
          </p:cNvPr>
          <p:cNvSpPr/>
          <p:nvPr/>
        </p:nvSpPr>
        <p:spPr>
          <a:xfrm>
            <a:off x="735258" y="1336224"/>
            <a:ext cx="2127014" cy="633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endParaRPr lang="de-DE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(high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vs.</a:t>
            </a:r>
          </a:p>
          <a:p>
            <a:pPr algn="ctr"/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6059839-0251-6998-3D69-4B32D55010FF}"/>
              </a:ext>
            </a:extLst>
          </p:cNvPr>
          <p:cNvSpPr/>
          <p:nvPr/>
        </p:nvSpPr>
        <p:spPr>
          <a:xfrm>
            <a:off x="735258" y="3028159"/>
            <a:ext cx="2127014" cy="6444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u="sng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</a:t>
            </a:r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u="sng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approaches</a:t>
            </a:r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Univariate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econometric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modelling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benchmarks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8138E2E-73E1-5964-C0D3-C72FAB52F49C}"/>
              </a:ext>
            </a:extLst>
          </p:cNvPr>
          <p:cNvSpPr/>
          <p:nvPr/>
        </p:nvSpPr>
        <p:spPr>
          <a:xfrm>
            <a:off x="735259" y="2284649"/>
            <a:ext cx="2127014" cy="6004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</a:t>
            </a:r>
            <a:r>
              <a:rPr lang="de-DE" sz="1100" u="sng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approaches</a:t>
            </a:r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Multivariate Clustering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additional variables</a:t>
            </a:r>
          </a:p>
        </p:txBody>
      </p:sp>
      <p:sp>
        <p:nvSpPr>
          <p:cNvPr id="27" name="Pfeil nach links und oben 26">
            <a:extLst>
              <a:ext uri="{FF2B5EF4-FFF2-40B4-BE49-F238E27FC236}">
                <a16:creationId xmlns:a16="http://schemas.microsoft.com/office/drawing/2014/main" id="{D68C2165-1DEA-4384-DC15-58EEF394217F}"/>
              </a:ext>
            </a:extLst>
          </p:cNvPr>
          <p:cNvSpPr/>
          <p:nvPr/>
        </p:nvSpPr>
        <p:spPr>
          <a:xfrm flipH="1">
            <a:off x="3557794" y="981070"/>
            <a:ext cx="7358446" cy="1452644"/>
          </a:xfrm>
          <a:prstGeom prst="leftUpArrow">
            <a:avLst>
              <a:gd name="adj1" fmla="val 2201"/>
              <a:gd name="adj2" fmla="val 3113"/>
              <a:gd name="adj3" fmla="val 2545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F4678AB-A6C8-A168-5F12-CE48E82646FC}"/>
              </a:ext>
            </a:extLst>
          </p:cNvPr>
          <p:cNvSpPr/>
          <p:nvPr/>
        </p:nvSpPr>
        <p:spPr>
          <a:xfrm>
            <a:off x="376323" y="3982375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6AE1A79-FEEA-C486-8822-BA49BD1395C8}"/>
              </a:ext>
            </a:extLst>
          </p:cNvPr>
          <p:cNvSpPr/>
          <p:nvPr/>
        </p:nvSpPr>
        <p:spPr>
          <a:xfrm>
            <a:off x="1112921" y="3982375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compare the regimes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4ACBABB8-2845-9788-9CD6-4B40A938A1C4}"/>
              </a:ext>
            </a:extLst>
          </p:cNvPr>
          <p:cNvSpPr/>
          <p:nvPr/>
        </p:nvSpPr>
        <p:spPr>
          <a:xfrm>
            <a:off x="376318" y="577031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3)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F0EF080E-8FA0-7A23-75CD-8C0554B57F7F}"/>
              </a:ext>
            </a:extLst>
          </p:cNvPr>
          <p:cNvSpPr/>
          <p:nvPr/>
        </p:nvSpPr>
        <p:spPr>
          <a:xfrm>
            <a:off x="1112916" y="577031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UIP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conditional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A4828CEE-9013-0A65-D1E0-BDF185C3E3DE}"/>
              </a:ext>
            </a:extLst>
          </p:cNvPr>
          <p:cNvSpPr/>
          <p:nvPr/>
        </p:nvSpPr>
        <p:spPr>
          <a:xfrm rot="16200000">
            <a:off x="4224303" y="1910499"/>
            <a:ext cx="419165" cy="1552568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Geschweifte Klammer links 64">
            <a:extLst>
              <a:ext uri="{FF2B5EF4-FFF2-40B4-BE49-F238E27FC236}">
                <a16:creationId xmlns:a16="http://schemas.microsoft.com/office/drawing/2014/main" id="{7192A187-02A8-28F8-EE3C-FDCBA864A580}"/>
              </a:ext>
            </a:extLst>
          </p:cNvPr>
          <p:cNvSpPr/>
          <p:nvPr/>
        </p:nvSpPr>
        <p:spPr>
          <a:xfrm>
            <a:off x="2912176" y="989059"/>
            <a:ext cx="419165" cy="1391556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7E695891-9EBC-59CB-2533-0A266EC8FE95}"/>
              </a:ext>
            </a:extLst>
          </p:cNvPr>
          <p:cNvSpPr/>
          <p:nvPr/>
        </p:nvSpPr>
        <p:spPr>
          <a:xfrm>
            <a:off x="4184705" y="2926655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5" name="Tabelle 74">
            <a:extLst>
              <a:ext uri="{FF2B5EF4-FFF2-40B4-BE49-F238E27FC236}">
                <a16:creationId xmlns:a16="http://schemas.microsoft.com/office/drawing/2014/main" id="{59809E8D-20CC-AE8F-089D-0AEA474191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064527"/>
              </p:ext>
            </p:extLst>
          </p:nvPr>
        </p:nvGraphicFramePr>
        <p:xfrm>
          <a:off x="735258" y="4229963"/>
          <a:ext cx="9791910" cy="1085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being best, -1 being worst, values near 0 indicate overlapping clusters.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[AB98]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MSM-Score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 (perfect regime classification),</a:t>
                      </a:r>
                    </a:p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 (failure to detect any regime classification)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overlap percentage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calculations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Combined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overlap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ranging from 0% - 100%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sp>
        <p:nvSpPr>
          <p:cNvPr id="76" name="Pfeil nach unten 75">
            <a:extLst>
              <a:ext uri="{FF2B5EF4-FFF2-40B4-BE49-F238E27FC236}">
                <a16:creationId xmlns:a16="http://schemas.microsoft.com/office/drawing/2014/main" id="{B0DAFBD0-C738-4B3C-2F2B-D800C9A6AAFD}"/>
              </a:ext>
            </a:extLst>
          </p:cNvPr>
          <p:cNvSpPr/>
          <p:nvPr/>
        </p:nvSpPr>
        <p:spPr>
          <a:xfrm>
            <a:off x="5105827" y="3412841"/>
            <a:ext cx="1021595" cy="410896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7" name="Pfeil nach unten 76">
            <a:extLst>
              <a:ext uri="{FF2B5EF4-FFF2-40B4-BE49-F238E27FC236}">
                <a16:creationId xmlns:a16="http://schemas.microsoft.com/office/drawing/2014/main" id="{78C332B9-0B6B-C8B8-C89D-099AFEB16134}"/>
              </a:ext>
            </a:extLst>
          </p:cNvPr>
          <p:cNvSpPr/>
          <p:nvPr/>
        </p:nvSpPr>
        <p:spPr>
          <a:xfrm>
            <a:off x="5120415" y="5372786"/>
            <a:ext cx="1021595" cy="410896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9" name="Gerade Verbindung 78">
            <a:extLst>
              <a:ext uri="{FF2B5EF4-FFF2-40B4-BE49-F238E27FC236}">
                <a16:creationId xmlns:a16="http://schemas.microsoft.com/office/drawing/2014/main" id="{3A99533F-3A72-FF66-4AF2-6A426D1FB590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>
            <a:off x="1798765" y="1970219"/>
            <a:ext cx="1" cy="31443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Gerade Verbindung 79">
            <a:extLst>
              <a:ext uri="{FF2B5EF4-FFF2-40B4-BE49-F238E27FC236}">
                <a16:creationId xmlns:a16="http://schemas.microsoft.com/office/drawing/2014/main" id="{3E7BE7B7-0A58-0C54-D08E-B6978E3BAE58}"/>
              </a:ext>
            </a:extLst>
          </p:cNvPr>
          <p:cNvCxnSpPr>
            <a:cxnSpLocks/>
            <a:stCxn id="23" idx="2"/>
            <a:endCxn id="22" idx="0"/>
          </p:cNvCxnSpPr>
          <p:nvPr/>
        </p:nvCxnSpPr>
        <p:spPr>
          <a:xfrm flipH="1">
            <a:off x="1798765" y="2885052"/>
            <a:ext cx="1" cy="14310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4" name="Grafik 93">
            <a:extLst>
              <a:ext uri="{FF2B5EF4-FFF2-40B4-BE49-F238E27FC236}">
                <a16:creationId xmlns:a16="http://schemas.microsoft.com/office/drawing/2014/main" id="{3ED7B812-7012-F30A-D2F7-D20316C72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2130" y="5840745"/>
            <a:ext cx="2583301" cy="603658"/>
          </a:xfrm>
          <a:prstGeom prst="rect">
            <a:avLst/>
          </a:prstGeom>
        </p:spPr>
      </p:pic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C71864DF-4350-69A5-DE2F-AD1EA2795F57}"/>
              </a:ext>
            </a:extLst>
          </p:cNvPr>
          <p:cNvCxnSpPr>
            <a:cxnSpLocks/>
            <a:stCxn id="2" idx="2"/>
            <a:endCxn id="28" idx="0"/>
          </p:cNvCxnSpPr>
          <p:nvPr/>
        </p:nvCxnSpPr>
        <p:spPr>
          <a:xfrm>
            <a:off x="650123" y="872896"/>
            <a:ext cx="0" cy="310947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Gerade Verbindung mit Pfeil 98">
            <a:extLst>
              <a:ext uri="{FF2B5EF4-FFF2-40B4-BE49-F238E27FC236}">
                <a16:creationId xmlns:a16="http://schemas.microsoft.com/office/drawing/2014/main" id="{AA014E91-0D39-DD23-05F6-E7ABB8D80064}"/>
              </a:ext>
            </a:extLst>
          </p:cNvPr>
          <p:cNvCxnSpPr>
            <a:cxnSpLocks/>
            <a:stCxn id="28" idx="2"/>
            <a:endCxn id="31" idx="0"/>
          </p:cNvCxnSpPr>
          <p:nvPr/>
        </p:nvCxnSpPr>
        <p:spPr>
          <a:xfrm flipH="1">
            <a:off x="650118" y="4126375"/>
            <a:ext cx="5" cy="164394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2" name="Rechteck 101">
            <a:extLst>
              <a:ext uri="{FF2B5EF4-FFF2-40B4-BE49-F238E27FC236}">
                <a16:creationId xmlns:a16="http://schemas.microsoft.com/office/drawing/2014/main" id="{178A804B-FC0B-BDB3-31A8-239237FB24ED}"/>
              </a:ext>
            </a:extLst>
          </p:cNvPr>
          <p:cNvSpPr/>
          <p:nvPr/>
        </p:nvSpPr>
        <p:spPr>
          <a:xfrm>
            <a:off x="10702362" y="2408968"/>
            <a:ext cx="547600" cy="14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B83E8F88-FA15-8CFF-D5C9-3FDB9A8EB241}"/>
              </a:ext>
            </a:extLst>
          </p:cNvPr>
          <p:cNvSpPr/>
          <p:nvPr/>
        </p:nvSpPr>
        <p:spPr>
          <a:xfrm>
            <a:off x="3556630" y="841148"/>
            <a:ext cx="4855387" cy="2677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30-day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rolling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EUR/USD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rate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(log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first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differences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</p:txBody>
      </p:sp>
      <p:pic>
        <p:nvPicPr>
          <p:cNvPr id="119" name="Grafik 118">
            <a:extLst>
              <a:ext uri="{FF2B5EF4-FFF2-40B4-BE49-F238E27FC236}">
                <a16:creationId xmlns:a16="http://schemas.microsoft.com/office/drawing/2014/main" id="{D814F113-09A9-07C0-34D4-6BCC35E21C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534" y="1298099"/>
            <a:ext cx="6931791" cy="1036311"/>
          </a:xfrm>
          <a:prstGeom prst="rect">
            <a:avLst/>
          </a:prstGeom>
        </p:spPr>
      </p:pic>
      <p:sp>
        <p:nvSpPr>
          <p:cNvPr id="120" name="Geschweifte Klammer links 119">
            <a:extLst>
              <a:ext uri="{FF2B5EF4-FFF2-40B4-BE49-F238E27FC236}">
                <a16:creationId xmlns:a16="http://schemas.microsoft.com/office/drawing/2014/main" id="{3B156842-CB83-52FB-04D9-BA10C92B6589}"/>
              </a:ext>
            </a:extLst>
          </p:cNvPr>
          <p:cNvSpPr/>
          <p:nvPr/>
        </p:nvSpPr>
        <p:spPr>
          <a:xfrm rot="16200000">
            <a:off x="5205376" y="2501037"/>
            <a:ext cx="419165" cy="371489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DC966EE2-9866-A66D-0FE3-5E226F888666}"/>
              </a:ext>
            </a:extLst>
          </p:cNvPr>
          <p:cNvSpPr/>
          <p:nvPr/>
        </p:nvSpPr>
        <p:spPr>
          <a:xfrm>
            <a:off x="5184624" y="2933628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2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3" name="Geschweifte Klammer links 122">
            <a:extLst>
              <a:ext uri="{FF2B5EF4-FFF2-40B4-BE49-F238E27FC236}">
                <a16:creationId xmlns:a16="http://schemas.microsoft.com/office/drawing/2014/main" id="{7D19F0C9-761E-197D-6368-8465440BB45A}"/>
              </a:ext>
            </a:extLst>
          </p:cNvPr>
          <p:cNvSpPr/>
          <p:nvPr/>
        </p:nvSpPr>
        <p:spPr>
          <a:xfrm rot="16200000">
            <a:off x="5565917" y="2542493"/>
            <a:ext cx="419165" cy="288576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4" name="Geschweifte Klammer links 123">
            <a:extLst>
              <a:ext uri="{FF2B5EF4-FFF2-40B4-BE49-F238E27FC236}">
                <a16:creationId xmlns:a16="http://schemas.microsoft.com/office/drawing/2014/main" id="{74F9BF88-F450-26CF-67ED-99DEA251A251}"/>
              </a:ext>
            </a:extLst>
          </p:cNvPr>
          <p:cNvSpPr/>
          <p:nvPr/>
        </p:nvSpPr>
        <p:spPr>
          <a:xfrm rot="16200000">
            <a:off x="6405540" y="2044130"/>
            <a:ext cx="419165" cy="1304909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5" name="Geschweifte Klammer links 124">
            <a:extLst>
              <a:ext uri="{FF2B5EF4-FFF2-40B4-BE49-F238E27FC236}">
                <a16:creationId xmlns:a16="http://schemas.microsoft.com/office/drawing/2014/main" id="{239DA7C4-3A42-905A-84B7-D3CBD0FA82F6}"/>
              </a:ext>
            </a:extLst>
          </p:cNvPr>
          <p:cNvSpPr/>
          <p:nvPr/>
        </p:nvSpPr>
        <p:spPr>
          <a:xfrm rot="16200000">
            <a:off x="7430511" y="2371755"/>
            <a:ext cx="419165" cy="647678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Geschweifte Klammer links 125">
            <a:extLst>
              <a:ext uri="{FF2B5EF4-FFF2-40B4-BE49-F238E27FC236}">
                <a16:creationId xmlns:a16="http://schemas.microsoft.com/office/drawing/2014/main" id="{E2411066-648F-5561-B283-5C999FEB003F}"/>
              </a:ext>
            </a:extLst>
          </p:cNvPr>
          <p:cNvSpPr/>
          <p:nvPr/>
        </p:nvSpPr>
        <p:spPr>
          <a:xfrm rot="16200000">
            <a:off x="8011740" y="2504898"/>
            <a:ext cx="419165" cy="381392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7" name="Geschweifte Klammer links 126">
            <a:extLst>
              <a:ext uri="{FF2B5EF4-FFF2-40B4-BE49-F238E27FC236}">
                <a16:creationId xmlns:a16="http://schemas.microsoft.com/office/drawing/2014/main" id="{DB2D06A5-B010-FE5B-00F2-147E433BE033}"/>
              </a:ext>
            </a:extLst>
          </p:cNvPr>
          <p:cNvSpPr/>
          <p:nvPr/>
        </p:nvSpPr>
        <p:spPr>
          <a:xfrm rot="16200000">
            <a:off x="8388967" y="2542490"/>
            <a:ext cx="419165" cy="288579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8" name="Geschweifte Klammer links 127">
            <a:extLst>
              <a:ext uri="{FF2B5EF4-FFF2-40B4-BE49-F238E27FC236}">
                <a16:creationId xmlns:a16="http://schemas.microsoft.com/office/drawing/2014/main" id="{246335B1-4071-BC0C-9AA3-C97FED5EB0E7}"/>
              </a:ext>
            </a:extLst>
          </p:cNvPr>
          <p:cNvSpPr/>
          <p:nvPr/>
        </p:nvSpPr>
        <p:spPr>
          <a:xfrm rot="16200000">
            <a:off x="8952439" y="2323801"/>
            <a:ext cx="419165" cy="725956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9" name="Geschweifte Klammer links 128">
            <a:extLst>
              <a:ext uri="{FF2B5EF4-FFF2-40B4-BE49-F238E27FC236}">
                <a16:creationId xmlns:a16="http://schemas.microsoft.com/office/drawing/2014/main" id="{33430A70-ADA4-9599-87F5-6107DB4FAF68}"/>
              </a:ext>
            </a:extLst>
          </p:cNvPr>
          <p:cNvSpPr/>
          <p:nvPr/>
        </p:nvSpPr>
        <p:spPr>
          <a:xfrm rot="16200000">
            <a:off x="9844604" y="2222611"/>
            <a:ext cx="419165" cy="945965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1" name="Rechteck 130">
            <a:extLst>
              <a:ext uri="{FF2B5EF4-FFF2-40B4-BE49-F238E27FC236}">
                <a16:creationId xmlns:a16="http://schemas.microsoft.com/office/drawing/2014/main" id="{63EE2031-1496-D8D4-EE37-0905C8270F20}"/>
              </a:ext>
            </a:extLst>
          </p:cNvPr>
          <p:cNvSpPr/>
          <p:nvPr/>
        </p:nvSpPr>
        <p:spPr>
          <a:xfrm>
            <a:off x="5643030" y="2933628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2A852461-6F58-90DA-2320-821D608A2744}"/>
              </a:ext>
            </a:extLst>
          </p:cNvPr>
          <p:cNvSpPr/>
          <p:nvPr/>
        </p:nvSpPr>
        <p:spPr>
          <a:xfrm>
            <a:off x="6389597" y="2926655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4139A462-ED73-BFFD-8E79-F4895100817F}"/>
              </a:ext>
            </a:extLst>
          </p:cNvPr>
          <p:cNvSpPr/>
          <p:nvPr/>
        </p:nvSpPr>
        <p:spPr>
          <a:xfrm>
            <a:off x="7424093" y="2956605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EAA5F180-EE0E-C603-1609-1C2304CAAB4B}"/>
              </a:ext>
            </a:extLst>
          </p:cNvPr>
          <p:cNvSpPr/>
          <p:nvPr/>
        </p:nvSpPr>
        <p:spPr>
          <a:xfrm>
            <a:off x="8005322" y="2956605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2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EA667FCF-8993-4407-C3CB-13DD0E8C83AF}"/>
              </a:ext>
            </a:extLst>
          </p:cNvPr>
          <p:cNvSpPr/>
          <p:nvPr/>
        </p:nvSpPr>
        <p:spPr>
          <a:xfrm>
            <a:off x="8498264" y="2956605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F8D442D2-DF8A-62C2-C764-B3F36327F6AD}"/>
              </a:ext>
            </a:extLst>
          </p:cNvPr>
          <p:cNvSpPr/>
          <p:nvPr/>
        </p:nvSpPr>
        <p:spPr>
          <a:xfrm>
            <a:off x="8991206" y="2956605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E5CA599A-ED97-A1CE-FF5E-58E8153B6E3F}"/>
              </a:ext>
            </a:extLst>
          </p:cNvPr>
          <p:cNvSpPr/>
          <p:nvPr/>
        </p:nvSpPr>
        <p:spPr>
          <a:xfrm>
            <a:off x="9838186" y="2964679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2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30312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8F2C-61BE-2FD0-F7A7-D7C43EA5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6047A77A-195C-5F25-75C4-D98FE53FD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A2EC787-A499-C95C-2B1F-49527EB77C3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E29A15-DF4F-765C-A5B2-90347370B95F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7CD823E6-BA5A-5095-3D68-134CDB2F7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007301"/>
              </p:ext>
            </p:extLst>
          </p:nvPr>
        </p:nvGraphicFramePr>
        <p:xfrm>
          <a:off x="1112919" y="1807520"/>
          <a:ext cx="4516837" cy="416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(NER)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Energy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06027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646873"/>
                  </a:ext>
                </a:extLst>
              </a:tr>
            </a:tbl>
          </a:graphicData>
        </a:graphic>
      </p:graphicFrame>
      <p:sp>
        <p:nvSpPr>
          <p:cNvPr id="21" name="Rechteck 20">
            <a:extLst>
              <a:ext uri="{FF2B5EF4-FFF2-40B4-BE49-F238E27FC236}">
                <a16:creationId xmlns:a16="http://schemas.microsoft.com/office/drawing/2014/main" id="{D6B181A9-7423-F64F-C454-DCA25B2E528C}"/>
              </a:ext>
            </a:extLst>
          </p:cNvPr>
          <p:cNvSpPr/>
          <p:nvPr/>
        </p:nvSpPr>
        <p:spPr>
          <a:xfrm>
            <a:off x="4330396" y="759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(high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vs.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C1C51E-5D8B-6F7C-2C37-61818542AA66}"/>
              </a:ext>
            </a:extLst>
          </p:cNvPr>
          <p:cNvSpPr/>
          <p:nvPr/>
        </p:nvSpPr>
        <p:spPr>
          <a:xfrm>
            <a:off x="7547874" y="993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91DC8B-8431-C436-8693-CADE51C6335D}"/>
              </a:ext>
            </a:extLst>
          </p:cNvPr>
          <p:cNvSpPr/>
          <p:nvPr/>
        </p:nvSpPr>
        <p:spPr>
          <a:xfrm>
            <a:off x="1112919" y="993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200B6B33-D0B3-FB61-99FB-DE2B260A16AB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920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D80A1-0057-9041-1EC7-7367B7B25969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920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E43A6DD-BA77-C312-7356-31C55CC89726}"/>
              </a:ext>
            </a:extLst>
          </p:cNvPr>
          <p:cNvSpPr/>
          <p:nvPr/>
        </p:nvSpPr>
        <p:spPr>
          <a:xfrm>
            <a:off x="7547874" y="1498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F7DCFDD3-AEE7-F981-C91B-82C94939F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109881"/>
              </p:ext>
            </p:extLst>
          </p:nvPr>
        </p:nvGraphicFramePr>
        <p:xfrm>
          <a:off x="6640775" y="1807521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CCECF7D-C21A-080D-16C3-E991942BA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059003"/>
              </p:ext>
            </p:extLst>
          </p:nvPr>
        </p:nvGraphicFramePr>
        <p:xfrm>
          <a:off x="6640775" y="2979002"/>
          <a:ext cx="4516837" cy="97557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Market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889717"/>
                  </a:ext>
                </a:extLst>
              </a:tr>
            </a:tbl>
          </a:graphicData>
        </a:graphic>
      </p:graphicFrame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4453D957-4CD6-677D-3418-388D641D0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251013"/>
              </p:ext>
            </p:extLst>
          </p:nvPr>
        </p:nvGraphicFramePr>
        <p:xfrm>
          <a:off x="6640775" y="4150558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398DA32-6A27-A2AC-E754-01DDC2223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755468"/>
              </p:ext>
            </p:extLst>
          </p:nvPr>
        </p:nvGraphicFramePr>
        <p:xfrm>
          <a:off x="6640775" y="5322039"/>
          <a:ext cx="4516837" cy="97557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Market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6968691"/>
                  </a:ext>
                </a:extLst>
              </a:tr>
            </a:tbl>
          </a:graphicData>
        </a:graphic>
      </p:graphicFrame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25035102-A03E-642D-0890-B1829DF8E519}"/>
              </a:ext>
            </a:extLst>
          </p:cNvPr>
          <p:cNvCxnSpPr>
            <a:cxnSpLocks/>
          </p:cNvCxnSpPr>
          <p:nvPr/>
        </p:nvCxnSpPr>
        <p:spPr>
          <a:xfrm>
            <a:off x="6095699" y="4034949"/>
            <a:ext cx="5220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C949EB2E-B95E-ED0E-A4F9-9EF24BF6DB08}"/>
              </a:ext>
            </a:extLst>
          </p:cNvPr>
          <p:cNvSpPr/>
          <p:nvPr/>
        </p:nvSpPr>
        <p:spPr>
          <a:xfrm>
            <a:off x="6313112" y="1807520"/>
            <a:ext cx="268558" cy="214705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A28345E5-C39D-5E21-4FAC-07BD5B89DDAF}"/>
              </a:ext>
            </a:extLst>
          </p:cNvPr>
          <p:cNvSpPr/>
          <p:nvPr/>
        </p:nvSpPr>
        <p:spPr>
          <a:xfrm>
            <a:off x="6303063" y="4181818"/>
            <a:ext cx="268558" cy="211579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6791B51-395C-E8E8-EBCC-7318D0259CC0}"/>
              </a:ext>
            </a:extLst>
          </p:cNvPr>
          <p:cNvSpPr/>
          <p:nvPr/>
        </p:nvSpPr>
        <p:spPr>
          <a:xfrm>
            <a:off x="5923485" y="2629580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2DED74-477A-CA33-8906-5C027DE1CA52}"/>
              </a:ext>
            </a:extLst>
          </p:cNvPr>
          <p:cNvSpPr/>
          <p:nvPr/>
        </p:nvSpPr>
        <p:spPr>
          <a:xfrm>
            <a:off x="5923571" y="4995117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  <p:sp>
        <p:nvSpPr>
          <p:cNvPr id="4" name="Geschweifte Klammer links 3">
            <a:extLst>
              <a:ext uri="{FF2B5EF4-FFF2-40B4-BE49-F238E27FC236}">
                <a16:creationId xmlns:a16="http://schemas.microsoft.com/office/drawing/2014/main" id="{BE1EC463-ED28-F20A-CCF7-8EC6BD6CEB13}"/>
              </a:ext>
            </a:extLst>
          </p:cNvPr>
          <p:cNvSpPr/>
          <p:nvPr/>
        </p:nvSpPr>
        <p:spPr>
          <a:xfrm>
            <a:off x="6144820" y="2979002"/>
            <a:ext cx="268558" cy="975572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9C4D93F-B324-14DF-1ED3-76800033C3CD}"/>
              </a:ext>
            </a:extLst>
          </p:cNvPr>
          <p:cNvSpPr/>
          <p:nvPr/>
        </p:nvSpPr>
        <p:spPr>
          <a:xfrm>
            <a:off x="5695414" y="332428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B1.1</a:t>
            </a:r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FBFE769F-D17B-FEE3-3CB8-D69F69550B0F}"/>
              </a:ext>
            </a:extLst>
          </p:cNvPr>
          <p:cNvSpPr/>
          <p:nvPr/>
        </p:nvSpPr>
        <p:spPr>
          <a:xfrm>
            <a:off x="6144820" y="5322039"/>
            <a:ext cx="268558" cy="97556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359A86C-CD94-06E0-9AF9-7C2B42963CE7}"/>
              </a:ext>
            </a:extLst>
          </p:cNvPr>
          <p:cNvSpPr/>
          <p:nvPr/>
        </p:nvSpPr>
        <p:spPr>
          <a:xfrm>
            <a:off x="5695414" y="569044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B2.1</a:t>
            </a:r>
          </a:p>
        </p:txBody>
      </p:sp>
    </p:spTree>
    <p:extLst>
      <p:ext uri="{BB962C8B-B14F-4D97-AF65-F5344CB8AC3E}">
        <p14:creationId xmlns:p14="http://schemas.microsoft.com/office/powerpoint/2010/main" val="1072306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E120-6908-AEF2-32CE-B08554CB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86A14B4-485E-E5DE-47EA-6A7DC30AF5CC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0965EB1-FCF8-8CEF-2F80-2B6ECAD8BAE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30DB4C-2BFB-A9F7-19E6-03AB89BE61C9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39F194-6AFB-AAE3-6531-6B44F69E4ECD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(high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vs.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BCE0BD48-6E41-7208-0692-E1E72FA27BA1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AB209E-3252-D7DB-0127-6303A85EC043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CB3143E-25CE-4BA2-EF6E-4A975B8643F6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98D6D79-61CE-9212-877A-69D558C2A9D2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DD25FF0-7B9D-D3F4-B308-E3DAFE68A3E0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B35F85-5C60-A2B2-9AED-A39CA8450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362" y="3111943"/>
            <a:ext cx="1509225" cy="920686"/>
          </a:xfrm>
          <a:prstGeom prst="rect">
            <a:avLst/>
          </a:prstGeom>
        </p:spPr>
      </p:pic>
      <p:graphicFrame>
        <p:nvGraphicFramePr>
          <p:cNvPr id="25" name="Tabelle 24">
            <a:extLst>
              <a:ext uri="{FF2B5EF4-FFF2-40B4-BE49-F238E27FC236}">
                <a16:creationId xmlns:a16="http://schemas.microsoft.com/office/drawing/2014/main" id="{191E56BF-65D1-0604-83F1-D404606A6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041432"/>
              </p:ext>
            </p:extLst>
          </p:nvPr>
        </p:nvGraphicFramePr>
        <p:xfrm>
          <a:off x="1102735" y="1670952"/>
          <a:ext cx="4460423" cy="268483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592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AgglomerativeClustering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DBSCAN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SpectralClustering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MeanShift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GaussianMixture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AffinityPropagation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MiniBatchKMeans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</a:tbl>
          </a:graphicData>
        </a:graphic>
      </p:graphicFrame>
      <p:graphicFrame>
        <p:nvGraphicFramePr>
          <p:cNvPr id="26" name="Tabelle 25">
            <a:extLst>
              <a:ext uri="{FF2B5EF4-FFF2-40B4-BE49-F238E27FC236}">
                <a16:creationId xmlns:a16="http://schemas.microsoft.com/office/drawing/2014/main" id="{2CA932F0-FF5E-538B-F33F-F6EA7802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909615"/>
              </p:ext>
            </p:extLst>
          </p:nvPr>
        </p:nvGraphicFramePr>
        <p:xfrm>
          <a:off x="6948697" y="2069493"/>
          <a:ext cx="4168323" cy="7665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671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statsmodels (0.14.5)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 Switching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3" name="Geschweifte Klammer links 2">
            <a:extLst>
              <a:ext uri="{FF2B5EF4-FFF2-40B4-BE49-F238E27FC236}">
                <a16:creationId xmlns:a16="http://schemas.microsoft.com/office/drawing/2014/main" id="{3493DB9E-2C94-8084-D29D-13BDFE0720BD}"/>
              </a:ext>
            </a:extLst>
          </p:cNvPr>
          <p:cNvSpPr/>
          <p:nvPr/>
        </p:nvSpPr>
        <p:spPr>
          <a:xfrm rot="16200000">
            <a:off x="3198670" y="2334275"/>
            <a:ext cx="268558" cy="446042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BFCF98F-771C-0813-20F1-CE1317934E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963421"/>
              </p:ext>
            </p:extLst>
          </p:nvPr>
        </p:nvGraphicFramePr>
        <p:xfrm>
          <a:off x="1072396" y="5046446"/>
          <a:ext cx="4490762" cy="7924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594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801368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73454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GridSearchCV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 Optimization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32FEE27F-95EE-DEED-7397-BB968F5C810B}"/>
              </a:ext>
            </a:extLst>
          </p:cNvPr>
          <p:cNvSpPr/>
          <p:nvPr/>
        </p:nvSpPr>
        <p:spPr>
          <a:xfrm>
            <a:off x="1907678" y="4751167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Hyperparameter Optimisation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FBCD425-D912-7A64-E17D-940F90EC19AF}"/>
              </a:ext>
            </a:extLst>
          </p:cNvPr>
          <p:cNvSpPr/>
          <p:nvPr/>
        </p:nvSpPr>
        <p:spPr>
          <a:xfrm>
            <a:off x="1071562" y="6120513"/>
            <a:ext cx="1620000" cy="2162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TimeSeriesSplit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FE57130-780F-1242-233E-7AF177D7AD84}"/>
              </a:ext>
            </a:extLst>
          </p:cNvPr>
          <p:cNvSpPr/>
          <p:nvPr/>
        </p:nvSpPr>
        <p:spPr>
          <a:xfrm>
            <a:off x="3835158" y="6120513"/>
            <a:ext cx="1728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CombinatorialPurgedCV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0393098-2965-2B68-EAE6-59833D554545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317777" y="5838926"/>
            <a:ext cx="1381381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B800936-FFF5-9A06-3234-0B882F67A212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1881562" y="5838926"/>
            <a:ext cx="1436215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3" name="Grafik 12">
            <a:extLst>
              <a:ext uri="{FF2B5EF4-FFF2-40B4-BE49-F238E27FC236}">
                <a16:creationId xmlns:a16="http://schemas.microsoft.com/office/drawing/2014/main" id="{E5AFA0B1-6FF8-536E-CC3E-746B2D07AA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623" y="3085000"/>
            <a:ext cx="2682597" cy="989748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40224436-2523-8528-741C-F3342D1FAA0F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7863587" y="3572286"/>
            <a:ext cx="485036" cy="7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9" name="Grafik 28">
            <a:extLst>
              <a:ext uri="{FF2B5EF4-FFF2-40B4-BE49-F238E27FC236}">
                <a16:creationId xmlns:a16="http://schemas.microsoft.com/office/drawing/2014/main" id="{482625FE-662A-ACA9-BAF2-D2CD56742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2872" y="4494857"/>
            <a:ext cx="2460115" cy="1042167"/>
          </a:xfrm>
          <a:prstGeom prst="rect">
            <a:avLst/>
          </a:prstGeom>
        </p:spPr>
      </p:pic>
      <p:cxnSp>
        <p:nvCxnSpPr>
          <p:cNvPr id="32" name="Gewinkelte Verbindung 31">
            <a:extLst>
              <a:ext uri="{FF2B5EF4-FFF2-40B4-BE49-F238E27FC236}">
                <a16:creationId xmlns:a16="http://schemas.microsoft.com/office/drawing/2014/main" id="{A35F3922-81FE-51E8-9C3D-4628179894C2}"/>
              </a:ext>
            </a:extLst>
          </p:cNvPr>
          <p:cNvCxnSpPr>
            <a:stCxn id="13" idx="2"/>
            <a:endCxn id="29" idx="0"/>
          </p:cNvCxnSpPr>
          <p:nvPr/>
        </p:nvCxnSpPr>
        <p:spPr>
          <a:xfrm rot="5400000">
            <a:off x="8421372" y="3226306"/>
            <a:ext cx="420109" cy="211699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3" name="Grafik 32">
            <a:extLst>
              <a:ext uri="{FF2B5EF4-FFF2-40B4-BE49-F238E27FC236}">
                <a16:creationId xmlns:a16="http://schemas.microsoft.com/office/drawing/2014/main" id="{034F7BB8-3AF7-E150-B907-FF7B2F41B8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2858" y="4561666"/>
            <a:ext cx="2308808" cy="908547"/>
          </a:xfrm>
          <a:prstGeom prst="rect">
            <a:avLst/>
          </a:prstGeom>
        </p:spPr>
      </p:pic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63E377A-8EB7-EFB0-9C8D-F5764863C467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 flipV="1">
            <a:off x="8802987" y="5015940"/>
            <a:ext cx="22987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Grafik 38">
            <a:extLst>
              <a:ext uri="{FF2B5EF4-FFF2-40B4-BE49-F238E27FC236}">
                <a16:creationId xmlns:a16="http://schemas.microsoft.com/office/drawing/2014/main" id="{7E3C7A32-69D9-4C82-42B5-819C3D6825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7102" y="5714857"/>
            <a:ext cx="3441307" cy="618170"/>
          </a:xfrm>
          <a:prstGeom prst="rect">
            <a:avLst/>
          </a:prstGeom>
        </p:spPr>
      </p:pic>
      <p:cxnSp>
        <p:nvCxnSpPr>
          <p:cNvPr id="40" name="Gewinkelte Verbindung 39">
            <a:extLst>
              <a:ext uri="{FF2B5EF4-FFF2-40B4-BE49-F238E27FC236}">
                <a16:creationId xmlns:a16="http://schemas.microsoft.com/office/drawing/2014/main" id="{A3181C01-0942-A7D3-3598-D635C8DC5058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 rot="5400000">
            <a:off x="9310187" y="4837782"/>
            <a:ext cx="244644" cy="15095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343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E9F-43F9-5DFC-0383-DDDDAC31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02B33C8D-42D8-7A2C-97A8-03E2E749B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(III)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54ADB2-B149-B409-C8E6-C7CD7113A746}"/>
              </a:ext>
            </a:extLst>
          </p:cNvPr>
          <p:cNvSpPr/>
          <p:nvPr/>
        </p:nvSpPr>
        <p:spPr>
          <a:xfrm>
            <a:off x="215456" y="766932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2ED42DC-D506-3763-18CE-273E33265963}"/>
              </a:ext>
            </a:extLst>
          </p:cNvPr>
          <p:cNvSpPr/>
          <p:nvPr/>
        </p:nvSpPr>
        <p:spPr>
          <a:xfrm>
            <a:off x="952054" y="766932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compare the regimes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98ACBCE-853C-2E82-4FCA-204C598A7ABD}"/>
              </a:ext>
            </a:extLst>
          </p:cNvPr>
          <p:cNvSpPr/>
          <p:nvPr/>
        </p:nvSpPr>
        <p:spPr>
          <a:xfrm>
            <a:off x="952059" y="2511217"/>
            <a:ext cx="5004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Theoretically affecting crisis periods - major global shocks and US recessions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C205661-3FB5-27A8-FF0A-613BDC13C5BE}"/>
              </a:ext>
            </a:extLst>
          </p:cNvPr>
          <p:cNvSpPr/>
          <p:nvPr/>
        </p:nvSpPr>
        <p:spPr>
          <a:xfrm>
            <a:off x="952059" y="995344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evaluation and selection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B5C5E8D-2779-73F6-B891-F5883B202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7073623"/>
              </p:ext>
            </p:extLst>
          </p:nvPr>
        </p:nvGraphicFramePr>
        <p:xfrm>
          <a:off x="952055" y="1251370"/>
          <a:ext cx="9791910" cy="1085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being best, -1 being worst, values near 0 indicate overlapping clusters.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[AB98]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MSM-Score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 (perfect regime classification),</a:t>
                      </a:r>
                    </a:p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 (failure to detect any regime classification)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overlap percentage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calculations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Combined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overlap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ranging from 0% - 100%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E309DD-F646-F4A7-64AE-E808C3BCC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555408"/>
              </p:ext>
            </p:extLst>
          </p:nvPr>
        </p:nvGraphicFramePr>
        <p:xfrm>
          <a:off x="952054" y="2771122"/>
          <a:ext cx="9404922" cy="35710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3786">
                  <a:extLst>
                    <a:ext uri="{9D8B030D-6E8A-4147-A177-3AD203B41FA5}">
                      <a16:colId xmlns:a16="http://schemas.microsoft.com/office/drawing/2014/main" val="2975178182"/>
                    </a:ext>
                  </a:extLst>
                </a:gridCol>
                <a:gridCol w="1105345">
                  <a:extLst>
                    <a:ext uri="{9D8B030D-6E8A-4147-A177-3AD203B41FA5}">
                      <a16:colId xmlns:a16="http://schemas.microsoft.com/office/drawing/2014/main" val="2920841970"/>
                    </a:ext>
                  </a:extLst>
                </a:gridCol>
                <a:gridCol w="1090435">
                  <a:extLst>
                    <a:ext uri="{9D8B030D-6E8A-4147-A177-3AD203B41FA5}">
                      <a16:colId xmlns:a16="http://schemas.microsoft.com/office/drawing/2014/main" val="2491132898"/>
                    </a:ext>
                  </a:extLst>
                </a:gridCol>
                <a:gridCol w="1758923">
                  <a:extLst>
                    <a:ext uri="{9D8B030D-6E8A-4147-A177-3AD203B41FA5}">
                      <a16:colId xmlns:a16="http://schemas.microsoft.com/office/drawing/2014/main" val="3640099135"/>
                    </a:ext>
                  </a:extLst>
                </a:gridCol>
                <a:gridCol w="2432381">
                  <a:extLst>
                    <a:ext uri="{9D8B030D-6E8A-4147-A177-3AD203B41FA5}">
                      <a16:colId xmlns:a16="http://schemas.microsoft.com/office/drawing/2014/main" val="1431062659"/>
                    </a:ext>
                  </a:extLst>
                </a:gridCol>
                <a:gridCol w="2444052">
                  <a:extLst>
                    <a:ext uri="{9D8B030D-6E8A-4147-A177-3AD203B41FA5}">
                      <a16:colId xmlns:a16="http://schemas.microsoft.com/office/drawing/2014/main" val="2286573246"/>
                    </a:ext>
                  </a:extLst>
                </a:gridCol>
              </a:tblGrid>
              <a:tr h="171318">
                <a:tc>
                  <a:txBody>
                    <a:bodyPr/>
                    <a:lstStyle/>
                    <a:p>
                      <a:pPr algn="ctr" fontAlgn="b"/>
                      <a:r>
                        <a:rPr lang="de-DE" sz="1100" b="1" i="0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Event-Type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i="0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7314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1970-1970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74865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Bretton Woods Breakdown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[Cor+25]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6544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Nixon Shock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[EF04]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08365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1973-10-17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[T T23]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88204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1975-04-01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1973-1975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329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1979-01-01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II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[T T23]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78746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1980-1980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63906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1982-12-01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1981-1982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47712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Black Monday Crash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[EF04]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4689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1990-08-01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1991-04-01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1990-1991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68524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1997-07-02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Asian Financial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1370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1998-08-17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1998-09-01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Russian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353602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2000-03-01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2002-10-01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Dot-com Bubble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39872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2001-2001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47341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2007-08-09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2009-03-09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 Financial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48998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2009-07-01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2008-2009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800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2008-11-25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QE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776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2009-10-01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Debt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54205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2011-08-20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2011-08-05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Debt Ceiling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2505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2018-03-22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2020-01-15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US-China Trade War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[HR25]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185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2020-02-20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2021-11-16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COVID-19 Pandemic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65812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2020-05-01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2020-2020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981575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2022-02-24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2022-06-01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Russia-Ukraine War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[Cha25]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38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114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86FF-0FA1-FA96-F37A-21BE396C1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2F1D4B39-6ECD-A011-3D89-D6208F0757A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(IV)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026C892-2E94-1107-A258-C8124E337D86}"/>
              </a:ext>
            </a:extLst>
          </p:cNvPr>
          <p:cNvSpPr/>
          <p:nvPr/>
        </p:nvSpPr>
        <p:spPr>
          <a:xfrm>
            <a:off x="215456" y="813584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095F87D-A565-3E72-9DAA-8DD34D44EB8F}"/>
              </a:ext>
            </a:extLst>
          </p:cNvPr>
          <p:cNvSpPr/>
          <p:nvPr/>
        </p:nvSpPr>
        <p:spPr>
          <a:xfrm>
            <a:off x="952054" y="813584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 for UIP conditional on regimes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EADD146-03B0-C365-61EA-2666941F6D64}"/>
              </a:ext>
            </a:extLst>
          </p:cNvPr>
          <p:cNvSpPr/>
          <p:nvPr/>
        </p:nvSpPr>
        <p:spPr>
          <a:xfrm>
            <a:off x="952059" y="1041996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comparison – UIP Testing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7490227-F347-3BC9-1E4F-2037A9ECB8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428" y="1468038"/>
            <a:ext cx="5021278" cy="197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955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F7CBD-8332-74F7-363D-54DEF46BA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50487F7-DEA4-8B5E-6491-7069043AED8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0821FED-5F7F-1FE2-BBE8-E06CCD3120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D8CAB03-51FE-1B16-9670-5131825D91B3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4)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87D3387-6A57-9B3C-BB30-E2DF1C88EF9B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3200" b="1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5" name="Picture 1" descr="page42image37982480">
            <a:extLst>
              <a:ext uri="{FF2B5EF4-FFF2-40B4-BE49-F238E27FC236}">
                <a16:creationId xmlns:a16="http://schemas.microsoft.com/office/drawing/2014/main" id="{A696F850-3878-6B28-8B4C-A825E7CC2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705100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5787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727FD-4D4C-3A23-8D2F-0AA26D9CD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5DB04BC-99C3-D773-5405-558DA30BD45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C0F6949-5D6B-651B-A994-4F1D7AB394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535045"/>
              </p:ext>
            </p:extLst>
          </p:nvPr>
        </p:nvGraphicFramePr>
        <p:xfrm>
          <a:off x="1044903" y="831954"/>
          <a:ext cx="10101465" cy="624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75D85585-C098-EB86-CEAD-AC0003C8F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827094"/>
              </p:ext>
            </p:extLst>
          </p:nvPr>
        </p:nvGraphicFramePr>
        <p:xfrm>
          <a:off x="1044903" y="160999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6.12e-06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-2.266e-05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-0.419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3DA40883-76BD-EE4B-DBA1-EBBC8770B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524323"/>
              </p:ext>
            </p:extLst>
          </p:nvPr>
        </p:nvGraphicFramePr>
        <p:xfrm>
          <a:off x="1044903" y="2525555"/>
          <a:ext cx="10101465" cy="624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2018-12-31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4FAB7142-E32E-4FA3-802C-4049663A24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745536"/>
              </p:ext>
            </p:extLst>
          </p:nvPr>
        </p:nvGraphicFramePr>
        <p:xfrm>
          <a:off x="1044903" y="3240087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1.768e-05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9.05e-05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-0.971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80212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79E11-DA63-4BE9-8194-23C84F2DB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8A63C09E-6A88-14B1-019B-52C7AFADCDC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07633085-5638-DC50-10C4-7D2E9609E3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738071"/>
              </p:ext>
            </p:extLst>
          </p:nvPr>
        </p:nvGraphicFramePr>
        <p:xfrm>
          <a:off x="948651" y="1191455"/>
          <a:ext cx="10142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6C027B4F-682A-A684-6DFF-4439DDC73C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2885574"/>
              </p:ext>
            </p:extLst>
          </p:nvPr>
        </p:nvGraphicFramePr>
        <p:xfrm>
          <a:off x="948650" y="176533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E436F30-2582-ACA4-5233-7082B95ABA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3262130"/>
              </p:ext>
            </p:extLst>
          </p:nvPr>
        </p:nvGraphicFramePr>
        <p:xfrm>
          <a:off x="948651" y="2666210"/>
          <a:ext cx="10142475" cy="145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15812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482427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0341786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E9F7A718-BDA7-D432-6163-449AFD5C7C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430065"/>
              </p:ext>
            </p:extLst>
          </p:nvPr>
        </p:nvGraphicFramePr>
        <p:xfrm>
          <a:off x="948649" y="338262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09BA19BE-9954-F395-AF0D-04520E5D5B59}"/>
              </a:ext>
            </a:extLst>
          </p:cNvPr>
          <p:cNvSpPr/>
          <p:nvPr/>
        </p:nvSpPr>
        <p:spPr>
          <a:xfrm>
            <a:off x="560434" y="1191455"/>
            <a:ext cx="268558" cy="2926275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79C73C5-8148-DB6B-9DC5-2F0D66709768}"/>
              </a:ext>
            </a:extLst>
          </p:cNvPr>
          <p:cNvSpPr/>
          <p:nvPr/>
        </p:nvSpPr>
        <p:spPr>
          <a:xfrm>
            <a:off x="252461" y="2446328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</p:spTree>
    <p:extLst>
      <p:ext uri="{BB962C8B-B14F-4D97-AF65-F5344CB8AC3E}">
        <p14:creationId xmlns:p14="http://schemas.microsoft.com/office/powerpoint/2010/main" val="24740573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F8CA-E295-16B0-5747-D3F32C8B1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93D53EE7-432E-1825-43FF-F209A8BB6D7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2933D3D6-CC4A-96ED-21C9-AB2209A18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958464"/>
              </p:ext>
            </p:extLst>
          </p:nvPr>
        </p:nvGraphicFramePr>
        <p:xfrm>
          <a:off x="785021" y="1389275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BC344C31-F022-4FB8-93CE-14BA42E11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252349"/>
              </p:ext>
            </p:extLst>
          </p:nvPr>
        </p:nvGraphicFramePr>
        <p:xfrm>
          <a:off x="785020" y="196315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29249722-BBAA-3941-69DC-DC74E4E514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329368"/>
              </p:ext>
            </p:extLst>
          </p:nvPr>
        </p:nvGraphicFramePr>
        <p:xfrm>
          <a:off x="785021" y="2864030"/>
          <a:ext cx="10250475" cy="13161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0455384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251722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7428345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4C027EE-57BE-86AB-4D60-3B56C686D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965531"/>
              </p:ext>
            </p:extLst>
          </p:nvPr>
        </p:nvGraphicFramePr>
        <p:xfrm>
          <a:off x="785019" y="3522110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FDC7C83E-AACC-2485-CB4C-5377FA10AE62}"/>
              </a:ext>
            </a:extLst>
          </p:cNvPr>
          <p:cNvSpPr/>
          <p:nvPr/>
        </p:nvSpPr>
        <p:spPr>
          <a:xfrm>
            <a:off x="396804" y="1389275"/>
            <a:ext cx="268558" cy="276862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2A1ADA5-2D13-3A88-C581-1B13B4B0812D}"/>
              </a:ext>
            </a:extLst>
          </p:cNvPr>
          <p:cNvSpPr/>
          <p:nvPr/>
        </p:nvSpPr>
        <p:spPr>
          <a:xfrm>
            <a:off x="88831" y="2644148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</p:spTree>
    <p:extLst>
      <p:ext uri="{BB962C8B-B14F-4D97-AF65-F5344CB8AC3E}">
        <p14:creationId xmlns:p14="http://schemas.microsoft.com/office/powerpoint/2010/main" val="34658195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F3E87-9FB7-BCCC-E76E-84F6CEC96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5575104F-1E7F-62E6-1A3E-305BB9B1A6B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BBB95CF9-0D05-0996-0C82-BA8CC807BD2A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4EB66E07-F5D3-FA59-428E-FA5F9B5B944D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4B84112F-74E5-B870-4975-F4747F9A2170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8239FEC7-76D9-AA20-5031-B7554BA4C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50935"/>
              </p:ext>
            </p:extLst>
          </p:nvPr>
        </p:nvGraphicFramePr>
        <p:xfrm>
          <a:off x="1044903" y="2313301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9A8E479D-FA60-1120-0320-2CAB2F007C70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C2A18132-1E9D-4C0B-9AAA-2200C042A2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451536"/>
              </p:ext>
            </p:extLst>
          </p:nvPr>
        </p:nvGraphicFramePr>
        <p:xfrm>
          <a:off x="1044903" y="3788056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63415FF-986F-3F60-EFDA-0B8C488868E5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639379"/>
      </p:ext>
    </p:extLst>
  </p:cSld>
  <p:clrMapOvr>
    <a:masterClrMapping/>
  </p:clrMapOvr>
</p:sld>
</file>

<file path=ppt/theme/theme1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3458</Words>
  <Application>Microsoft Macintosh PowerPoint</Application>
  <PresentationFormat>Benutzerdefiniert</PresentationFormat>
  <Paragraphs>806</Paragraphs>
  <Slides>16</Slides>
  <Notes>12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20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16</vt:i4>
      </vt:variant>
    </vt:vector>
  </HeadingPairs>
  <TitlesOfParts>
    <vt:vector size="38" baseType="lpstr">
      <vt:lpstr>AdvOT596495f2</vt:lpstr>
      <vt:lpstr>AdvOT863180fb</vt:lpstr>
      <vt:lpstr>AdvTT5235d5a9</vt:lpstr>
      <vt:lpstr>AdvTT5235d5a9+fb</vt:lpstr>
      <vt:lpstr>AdvTT5843c571</vt:lpstr>
      <vt:lpstr>AdvTT6120e2aa</vt:lpstr>
      <vt:lpstr>Aptos</vt:lpstr>
      <vt:lpstr>Arial</vt:lpstr>
      <vt:lpstr>Calibri</vt:lpstr>
      <vt:lpstr>Cambria Math</vt:lpstr>
      <vt:lpstr>CharisSIL</vt:lpstr>
      <vt:lpstr>Code2000</vt:lpstr>
      <vt:lpstr>MathPackOne</vt:lpstr>
      <vt:lpstr>NotoSansSemiCondensed</vt:lpstr>
      <vt:lpstr>Roboto</vt:lpstr>
      <vt:lpstr>Times</vt:lpstr>
      <vt:lpstr>Times New Roman,Bold</vt:lpstr>
      <vt:lpstr>TimesLTStd</vt:lpstr>
      <vt:lpstr>TimesNewRomanPSMT</vt:lpstr>
      <vt:lpstr>UniversLTStd</vt:lpstr>
      <vt:lpstr>Einfache Folie</vt:lpstr>
      <vt:lpstr>Minimale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Muster</dc:title>
  <dc:subject/>
  <dc:creator>Universität Kiel  (CAU)</dc:creator>
  <dc:description/>
  <cp:lastModifiedBy>Robert Hennings</cp:lastModifiedBy>
  <cp:revision>395</cp:revision>
  <cp:lastPrinted>1601-01-01T00:00:00Z</cp:lastPrinted>
  <dcterms:created xsi:type="dcterms:W3CDTF">2010-06-02T10:39:48Z</dcterms:created>
  <dcterms:modified xsi:type="dcterms:W3CDTF">2025-11-08T11:22:15Z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Benutzerdefiniert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