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0A_AE6DAA0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18"/>
  </p:notesMasterIdLst>
  <p:sldIdLst>
    <p:sldId id="260" r:id="rId3"/>
    <p:sldId id="273" r:id="rId4"/>
    <p:sldId id="272" r:id="rId5"/>
    <p:sldId id="262" r:id="rId6"/>
    <p:sldId id="259" r:id="rId7"/>
    <p:sldId id="264" r:id="rId8"/>
    <p:sldId id="267" r:id="rId9"/>
    <p:sldId id="271" r:id="rId10"/>
    <p:sldId id="268" r:id="rId11"/>
    <p:sldId id="270" r:id="rId12"/>
    <p:sldId id="275" r:id="rId13"/>
    <p:sldId id="274" r:id="rId14"/>
    <p:sldId id="263" r:id="rId15"/>
    <p:sldId id="265" r:id="rId16"/>
    <p:sldId id="266" r:id="rId17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96"/>
    <p:restoredTop sz="83924"/>
  </p:normalViewPr>
  <p:slideViewPr>
    <p:cSldViewPr snapToGrid="0">
      <p:cViewPr varScale="1">
        <p:scale>
          <a:sx n="196" d="100"/>
          <a:sy n="196" d="100"/>
        </p:scale>
        <p:origin x="215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21.10.25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Own illustration based on </a:t>
            </a:r>
            <a:r>
              <a:rPr lang="de-DE" sz="18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prices, exchange rate and asset prices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interest in the oil futures market, i.e. the number of open futures contracts (as a proxy for the financialisation of the oil market). </a:t>
            </a:r>
            <a:endParaRPr lang="de-DE" dirty="0"/>
          </a:p>
          <a:p>
            <a:r>
              <a:rPr lang="de-DE" dirty="0"/>
              <a:t>“), page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4976D8-9094-7414-1337-D5BFC0276F17}"/>
              </a:ext>
            </a:extLst>
          </p:cNvPr>
          <p:cNvSpPr/>
          <p:nvPr userDrawn="1"/>
        </p:nvSpPr>
        <p:spPr>
          <a:xfrm>
            <a:off x="-16152" y="6130778"/>
            <a:ext cx="11536640" cy="3493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701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E0FE0D-4DAE-B6C9-D83D-DE0821648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8076" y="-7441"/>
            <a:ext cx="11528564" cy="919449"/>
          </a:xfrm>
          <a:solidFill>
            <a:srgbClr val="00677C"/>
          </a:solidFill>
        </p:spPr>
        <p:txBody>
          <a:bodyPr>
            <a:normAutofit/>
          </a:bodyPr>
          <a:lstStyle>
            <a:lvl1pPr>
              <a:defRPr sz="2835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  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D61AC-10B2-F7A3-5112-6BDAF60F4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F92F16-AEF6-2E22-89FC-2104091B1C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802" y="6130781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J.Fella &amp; R.Hennings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BBC12F-E553-CBC6-B606-9648CB76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6162" y="6130780"/>
            <a:ext cx="3888165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070C56-7719-8376-E309-3BB1B22E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36345" y="6130779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42E4F82-BF2E-49E6-B429-4AFCF17D441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63350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t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 dirty="0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-newspaper-article-on-the-price-of-gasoline-and-petrol-going-higher-26528783.html" TargetMode="External"/><Relationship Id="rId7" Type="http://schemas.openxmlformats.org/officeDocument/2006/relationships/hyperlink" Target="https://www.forbes.com/sites/siladityaray/2022/08/29/us-dollar-hits-two-decade-high-heres-what-that-means/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hyperlink" Target="https://www.dreamstime.com/energy-crisis-fuel-gas-price-newspaper-table-energy-crisis-fuel-gas-electricity-price-newspaper-table-image270150690" TargetMode="Externa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effects of energy commodities on the</a:t>
            </a:r>
          </a:p>
          <a:p>
            <a:pPr algn="ctr"/>
            <a:r>
              <a:rPr lang="de-DE" sz="3000" b="1" dirty="0"/>
              <a:t>EUR/USD spot exchange rate:</a:t>
            </a:r>
          </a:p>
          <a:p>
            <a:pPr algn="ctr"/>
            <a:r>
              <a:rPr lang="de-DE" sz="3000" b="1" dirty="0"/>
              <a:t>An Oil and Gas Perspective on Parity Conditions.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by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 and robert.hennings@stu.uni-kiel.de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https://github.com/RobertHennings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0CB391-C26A-9A35-1E21-6D93032D8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Beginning: Newspaper article about energy + recent USD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9F65C-CE3C-10B2-9C48-57D8786A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J.Fella &amp; R.Hennings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13E4F1-1CC0-A914-4FE5-CABACF87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4F82-BF2E-49E6-B429-4AFCF17D441A}" type="slidenum">
              <a:rPr lang="de-DE" smtClean="0"/>
              <a:pPr/>
              <a:t>2</a:t>
            </a:fld>
            <a:endParaRPr lang="de-DE" dirty="0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24185FFA-9833-3C69-B398-960DD1CF451C}"/>
              </a:ext>
            </a:extLst>
          </p:cNvPr>
          <p:cNvGrpSpPr/>
          <p:nvPr/>
        </p:nvGrpSpPr>
        <p:grpSpPr>
          <a:xfrm>
            <a:off x="755251" y="1106326"/>
            <a:ext cx="3630563" cy="2055842"/>
            <a:chOff x="1658672" y="2046515"/>
            <a:chExt cx="5351728" cy="2979163"/>
          </a:xfrm>
        </p:grpSpPr>
        <p:pic>
          <p:nvPicPr>
            <p:cNvPr id="1026" name="Picture 2" descr="Newspaper article on the price of gasoline and petrol going higher ...">
              <a:extLst>
                <a:ext uri="{FF2B5EF4-FFF2-40B4-BE49-F238E27FC236}">
                  <a16:creationId xmlns:a16="http://schemas.microsoft.com/office/drawing/2014/main" id="{CEE01A1C-C1E6-8111-BF86-EB56D09249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92"/>
            <a:stretch>
              <a:fillRect/>
            </a:stretch>
          </p:blipFill>
          <p:spPr bwMode="auto">
            <a:xfrm>
              <a:off x="1658672" y="2046515"/>
              <a:ext cx="3775120" cy="2423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DFEB2089-8346-085A-472E-BED05ACCB2EC}"/>
                </a:ext>
              </a:extLst>
            </p:cNvPr>
            <p:cNvSpPr txBox="1"/>
            <p:nvPr/>
          </p:nvSpPr>
          <p:spPr>
            <a:xfrm>
              <a:off x="1658672" y="4470401"/>
              <a:ext cx="5351728" cy="555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3"/>
                </a:rPr>
                <a:t>Newspaper article on the price of gasoline and petrol going higher Stock Photo – Alamy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112AC907-D468-D791-9833-6B319EBDB6E2}"/>
              </a:ext>
            </a:extLst>
          </p:cNvPr>
          <p:cNvGrpSpPr/>
          <p:nvPr/>
        </p:nvGrpSpPr>
        <p:grpSpPr>
          <a:xfrm>
            <a:off x="2054915" y="3365625"/>
            <a:ext cx="5794442" cy="2565791"/>
            <a:chOff x="2174632" y="1376363"/>
            <a:chExt cx="6132286" cy="2715389"/>
          </a:xfrm>
        </p:grpSpPr>
        <p:pic>
          <p:nvPicPr>
            <p:cNvPr id="3078" name="Picture 6" descr="Energy Crisis and Fuel Gas Price Newspaper on Table Stock Illustration ...">
              <a:extLst>
                <a:ext uri="{FF2B5EF4-FFF2-40B4-BE49-F238E27FC236}">
                  <a16:creationId xmlns:a16="http://schemas.microsoft.com/office/drawing/2014/main" id="{E5019AC1-CB11-B157-FC73-D73CDF73E4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86000" y="1376363"/>
              <a:ext cx="4361543" cy="2349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E12ADE8-C27B-2931-2BA0-8D926A16A2D1}"/>
                </a:ext>
              </a:extLst>
            </p:cNvPr>
            <p:cNvSpPr txBox="1"/>
            <p:nvPr/>
          </p:nvSpPr>
          <p:spPr>
            <a:xfrm>
              <a:off x="2174632" y="3686229"/>
              <a:ext cx="6132286" cy="405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5"/>
                </a:rPr>
                <a:t>Energy Crisis and Fuel Gas Price Newspaper on Table Stock Illustration - Illustration of fossil, global: 270150690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F817FA9-F532-B5A6-9B9E-9763E13F3C0B}"/>
              </a:ext>
            </a:extLst>
          </p:cNvPr>
          <p:cNvGrpSpPr/>
          <p:nvPr/>
        </p:nvGrpSpPr>
        <p:grpSpPr>
          <a:xfrm>
            <a:off x="5252801" y="1184825"/>
            <a:ext cx="4402406" cy="2299226"/>
            <a:chOff x="972456" y="1913609"/>
            <a:chExt cx="6183084" cy="3023315"/>
          </a:xfrm>
        </p:grpSpPr>
        <p:pic>
          <p:nvPicPr>
            <p:cNvPr id="3080" name="Picture 8" descr="U.S. Dollar Hits 20-Year High: Here’s What That Means">
              <a:extLst>
                <a:ext uri="{FF2B5EF4-FFF2-40B4-BE49-F238E27FC236}">
                  <a16:creationId xmlns:a16="http://schemas.microsoft.com/office/drawing/2014/main" id="{CBB57997-C356-519B-7F9E-4912620614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456" y="1913609"/>
              <a:ext cx="4484227" cy="251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758B12C-5472-C484-C45A-5F4EBC9184B8}"/>
                </a:ext>
              </a:extLst>
            </p:cNvPr>
            <p:cNvSpPr txBox="1"/>
            <p:nvPr/>
          </p:nvSpPr>
          <p:spPr>
            <a:xfrm>
              <a:off x="972456" y="4433067"/>
              <a:ext cx="6183084" cy="5038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945" dirty="0">
                  <a:hlinkClick r:id="rId7"/>
                </a:rPr>
                <a:t>https://www.forbes.com/sites/siladityaray/2022/08/29/us-dollar-hits-two-decade-high-heres-what-that-means/</a:t>
              </a:r>
              <a:r>
                <a:rPr lang="de-DE" sz="945" dirty="0"/>
                <a:t>, 08.10.2025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8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DE2D010-67B4-6208-D9E6-8924D567A34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232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price shock affecting exchange rate through two channels (see impact of oil shocks Markov Switching)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terms/terms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tradable and non-tradable goods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basket of currencies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 currencies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deflator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labor costs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since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867235" y="1365136"/>
            <a:ext cx="1359061" cy="3189911"/>
          </a:xfrm>
          <a:prstGeom prst="bentConnector3">
            <a:avLst>
              <a:gd name="adj1" fmla="val 70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Gewinkelte Verbindung 112">
            <a:extLst>
              <a:ext uri="{FF2B5EF4-FFF2-40B4-BE49-F238E27FC236}">
                <a16:creationId xmlns:a16="http://schemas.microsoft.com/office/drawing/2014/main" id="{CCE8ACD3-57F7-2E1F-A907-CB407544F96B}"/>
              </a:ext>
            </a:extLst>
          </p:cNvPr>
          <p:cNvCxnSpPr>
            <a:cxnSpLocks/>
            <a:stCxn id="6" idx="2"/>
            <a:endCxn id="112" idx="1"/>
          </p:cNvCxnSpPr>
          <p:nvPr/>
        </p:nvCxnSpPr>
        <p:spPr>
          <a:xfrm rot="16200000" flipH="1">
            <a:off x="4704081" y="2528290"/>
            <a:ext cx="658712" cy="163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model of exchange rates and energy commodity prices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hikes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 affect energy commodity importing and exporting economies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873080" y="2447437"/>
            <a:ext cx="1667844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540924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248263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depending on degree of financial integration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941338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oil futures markets</a:t>
            </a:r>
            <a:r>
              <a:rPr lang="de-DE" sz="11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458698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307952" y="2804469"/>
            <a:ext cx="1293331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540054" y="4750963"/>
            <a:ext cx="482740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6092D3C6-5300-19B1-F4E0-268797166176}"/>
              </a:ext>
            </a:extLst>
          </p:cNvPr>
          <p:cNvSpPr/>
          <p:nvPr/>
        </p:nvSpPr>
        <p:spPr>
          <a:xfrm>
            <a:off x="5115065" y="2824074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CBOE Crude Oil ETF Volatility Index</a:t>
            </a:r>
          </a:p>
        </p:txBody>
      </p: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9" y="3450810"/>
            <a:ext cx="419165" cy="63796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639623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2407517"/>
              </p:ext>
            </p:extLst>
          </p:nvPr>
        </p:nvGraphicFramePr>
        <p:xfrm>
          <a:off x="1102735" y="1670952"/>
          <a:ext cx="4516837" cy="476609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commodity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VIX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(Market-) Volatility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463226"/>
              </p:ext>
            </p:extLst>
          </p:nvPr>
        </p:nvGraphicFramePr>
        <p:xfrm>
          <a:off x="6640775" y="2144396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34002"/>
              </p:ext>
            </p:extLst>
          </p:nvPr>
        </p:nvGraphicFramePr>
        <p:xfrm>
          <a:off x="6640775" y="3315877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35950"/>
              </p:ext>
            </p:extLst>
          </p:nvPr>
        </p:nvGraphicFramePr>
        <p:xfrm>
          <a:off x="6640775" y="4381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765819"/>
              </p:ext>
            </p:extLst>
          </p:nvPr>
        </p:nvGraphicFramePr>
        <p:xfrm>
          <a:off x="6640775" y="5553039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217824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2144395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412818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966455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5226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513" y="3469439"/>
            <a:ext cx="1240264" cy="75660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FE0D6D8-413C-B0B5-6FF1-5207E8412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262" y="4038858"/>
            <a:ext cx="1600200" cy="2667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ACD4DEC-1D2B-19A7-8B63-B85590BD6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141" y="3399966"/>
            <a:ext cx="2437821" cy="9055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54D91347-74D8-4128-A021-014DA9906D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64" y="4364294"/>
            <a:ext cx="2347226" cy="9897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9EBC807-DA31-5B87-258C-588C9B52FE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9498" y="4396789"/>
            <a:ext cx="1995464" cy="123955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5C58E6A0-07CE-9181-EF27-C8A2F0276C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135" y="5338659"/>
            <a:ext cx="2373088" cy="906992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62AE5FB-E160-CC98-6E33-3AF3AFC70F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1057" y="5636341"/>
            <a:ext cx="1733905" cy="843834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144543"/>
              </p:ext>
            </p:extLst>
          </p:nvPr>
        </p:nvGraphicFramePr>
        <p:xfrm>
          <a:off x="1102735" y="1670952"/>
          <a:ext cx="4752000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6400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712293"/>
              </p:ext>
            </p:extLst>
          </p:nvPr>
        </p:nvGraphicFramePr>
        <p:xfrm>
          <a:off x="6591953" y="2089730"/>
          <a:ext cx="4752000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6400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68295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68295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427238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1136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00092"/>
              </p:ext>
            </p:extLst>
          </p:nvPr>
        </p:nvGraphicFramePr>
        <p:xfrm>
          <a:off x="952055" y="1167391"/>
          <a:ext cx="9791910" cy="950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computation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483884"/>
              </p:ext>
            </p:extLst>
          </p:nvPr>
        </p:nvGraphicFramePr>
        <p:xfrm>
          <a:off x="952054" y="2687143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27" y="2636365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Time-varying causality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1562920" y="443081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1650705" y="47266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we find a certain relationship we can proceed further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78608" y="36335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1049856" y="571755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2188</Words>
  <Application>Microsoft Macintosh PowerPoint</Application>
  <PresentationFormat>Benutzerdefiniert</PresentationFormat>
  <Paragraphs>617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15</vt:i4>
      </vt:variant>
    </vt:vector>
  </HeadingPairs>
  <TitlesOfParts>
    <vt:vector size="24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Beginning: Newspaper article about energy + recent USD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284</cp:revision>
  <cp:lastPrinted>1601-01-01T00:00:00Z</cp:lastPrinted>
  <dcterms:created xsi:type="dcterms:W3CDTF">2010-06-02T10:39:48Z</dcterms:created>
  <dcterms:modified xsi:type="dcterms:W3CDTF">2025-10-21T18:26:48Z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