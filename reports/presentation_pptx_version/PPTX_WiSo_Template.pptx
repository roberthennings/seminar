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4"/>
  </p:notesMasterIdLst>
  <p:sldIdLst>
    <p:sldId id="260" r:id="rId3"/>
    <p:sldId id="262" r:id="rId4"/>
    <p:sldId id="259" r:id="rId5"/>
    <p:sldId id="264" r:id="rId6"/>
    <p:sldId id="267" r:id="rId7"/>
    <p:sldId id="268" r:id="rId8"/>
    <p:sldId id="282" r:id="rId9"/>
    <p:sldId id="270" r:id="rId10"/>
    <p:sldId id="275" r:id="rId11"/>
    <p:sldId id="274" r:id="rId12"/>
    <p:sldId id="279" r:id="rId13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10"/>
    <p:restoredTop sz="86761"/>
  </p:normalViewPr>
  <p:slideViewPr>
    <p:cSldViewPr snapToGrid="0">
      <p:cViewPr>
        <p:scale>
          <a:sx n="145" d="100"/>
          <a:sy n="145" d="100"/>
        </p:scale>
        <p:origin x="3984" y="13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microsoft.com/office/2018/10/relationships/authors" Target="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07.11.25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</a:t>
            </a:r>
            <a:r>
              <a:rPr lang="de-DE" err="1"/>
              <a:t>Systematic</a:t>
            </a:r>
            <a:r>
              <a:rPr lang="de-DE"/>
              <a:t> </a:t>
            </a:r>
            <a:r>
              <a:rPr lang="de-DE" err="1"/>
              <a:t>Overview</a:t>
            </a:r>
            <a:r>
              <a:rPr lang="de-DE"/>
              <a:t> </a:t>
            </a:r>
            <a:r>
              <a:rPr lang="de-DE" err="1"/>
              <a:t>about</a:t>
            </a:r>
            <a:r>
              <a:rPr lang="de-DE"/>
              <a:t> </a:t>
            </a:r>
            <a:r>
              <a:rPr lang="de-DE" err="1"/>
              <a:t>main</a:t>
            </a:r>
            <a:r>
              <a:rPr lang="de-DE"/>
              <a:t> </a:t>
            </a:r>
            <a:r>
              <a:rPr lang="de-DE" err="1"/>
              <a:t>theoretical</a:t>
            </a:r>
            <a:r>
              <a:rPr lang="de-DE"/>
              <a:t> </a:t>
            </a:r>
            <a:r>
              <a:rPr lang="de-DE" err="1"/>
              <a:t>approaches</a:t>
            </a:r>
            <a:r>
              <a:rPr lang="de-DE"/>
              <a:t>, 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800">
                <a:effectLst/>
                <a:latin typeface="AdvTT5235d5a9"/>
              </a:rPr>
              <a:t>The </a:t>
            </a:r>
            <a:r>
              <a:rPr lang="de-DE" sz="1800" err="1">
                <a:effectLst/>
                <a:latin typeface="AdvTT5235d5a9"/>
              </a:rPr>
              <a:t>relationship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between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oil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prices</a:t>
            </a:r>
            <a:r>
              <a:rPr lang="de-DE" sz="1800">
                <a:effectLst/>
                <a:latin typeface="AdvTT5235d5a9"/>
              </a:rPr>
              <a:t> and </a:t>
            </a:r>
            <a:r>
              <a:rPr lang="de-DE" sz="1800" err="1">
                <a:effectLst/>
                <a:latin typeface="AdvTT5235d5a9"/>
              </a:rPr>
              <a:t>exchange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rates</a:t>
            </a:r>
            <a:r>
              <a:rPr lang="de-DE" sz="1800">
                <a:effectLst/>
                <a:latin typeface="AdvTT5235d5a9"/>
              </a:rPr>
              <a:t>: </a:t>
            </a:r>
            <a:r>
              <a:rPr lang="de-DE" sz="1800" err="1">
                <a:effectLst/>
                <a:latin typeface="AdvTT5235d5a9"/>
              </a:rPr>
              <a:t>Revisiting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theory</a:t>
            </a:r>
            <a:r>
              <a:rPr lang="de-DE" sz="1800">
                <a:effectLst/>
                <a:latin typeface="AdvTT5235d5a9"/>
              </a:rPr>
              <a:t> and </a:t>
            </a:r>
            <a:r>
              <a:rPr lang="de-DE" sz="1800" err="1">
                <a:effectLst/>
                <a:latin typeface="AdvTT5235d5a9"/>
              </a:rPr>
              <a:t>evidence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/>
              <a:t>(</a:t>
            </a:r>
            <a:r>
              <a:rPr lang="de-DE" sz="18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Sources: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/>
              <a:t>Theory of Storage</a:t>
            </a:r>
            <a:r>
              <a:rPr lang="de-DE"/>
              <a:t> (Taken from </a:t>
            </a:r>
            <a:r>
              <a:rPr lang="de-DE" err="1"/>
              <a:t>paper</a:t>
            </a:r>
            <a:r>
              <a:rPr lang="de-DE"/>
              <a:t>: </a:t>
            </a:r>
            <a:r>
              <a:rPr lang="de-DE" sz="1800">
                <a:effectLst/>
                <a:latin typeface="Code2000"/>
              </a:rPr>
              <a:t>Commodity Futures Prices: </a:t>
            </a:r>
            <a:r>
              <a:rPr lang="de-DE" sz="1800" err="1">
                <a:effectLst/>
                <a:latin typeface="Code2000"/>
              </a:rPr>
              <a:t>Some</a:t>
            </a:r>
            <a:r>
              <a:rPr lang="de-DE" sz="1800">
                <a:effectLst/>
                <a:latin typeface="Code2000"/>
              </a:rPr>
              <a:t> </a:t>
            </a:r>
            <a:r>
              <a:rPr lang="de-DE" sz="1800" err="1">
                <a:effectLst/>
                <a:latin typeface="Code2000"/>
              </a:rPr>
              <a:t>Evidence</a:t>
            </a:r>
            <a:r>
              <a:rPr lang="de-DE" sz="1800">
                <a:effectLst/>
                <a:latin typeface="Code2000"/>
              </a:rPr>
              <a:t> on Forecast Power, </a:t>
            </a:r>
            <a:r>
              <a:rPr lang="de-DE" sz="1800" err="1">
                <a:effectLst/>
                <a:latin typeface="Code2000"/>
              </a:rPr>
              <a:t>Premiums</a:t>
            </a:r>
            <a:r>
              <a:rPr lang="de-DE" sz="1800">
                <a:effectLst/>
                <a:latin typeface="Code2000"/>
              </a:rPr>
              <a:t>, and </a:t>
            </a:r>
            <a:r>
              <a:rPr lang="de-DE" sz="1800" err="1">
                <a:effectLst/>
                <a:latin typeface="Code2000"/>
              </a:rPr>
              <a:t>the</a:t>
            </a:r>
            <a:r>
              <a:rPr lang="de-DE" sz="1800">
                <a:effectLst/>
                <a:latin typeface="Code2000"/>
              </a:rPr>
              <a:t> Theory of Storage</a:t>
            </a:r>
            <a:r>
              <a:rPr lang="de-DE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/>
              <a:t>Expected Risk Premium</a:t>
            </a:r>
            <a:r>
              <a:rPr lang="de-DE"/>
              <a:t> (Taken from </a:t>
            </a:r>
            <a:r>
              <a:rPr lang="de-DE" err="1"/>
              <a:t>paper</a:t>
            </a:r>
            <a:r>
              <a:rPr lang="de-DE"/>
              <a:t>: </a:t>
            </a:r>
            <a:r>
              <a:rPr lang="de-DE" sz="1200">
                <a:effectLst/>
                <a:latin typeface="Code2000"/>
              </a:rPr>
              <a:t>Commodity Futures Prices: </a:t>
            </a:r>
            <a:r>
              <a:rPr lang="de-DE" sz="1200" err="1">
                <a:effectLst/>
                <a:latin typeface="Code2000"/>
              </a:rPr>
              <a:t>Some</a:t>
            </a:r>
            <a:r>
              <a:rPr lang="de-DE" sz="1200">
                <a:effectLst/>
                <a:latin typeface="Code2000"/>
              </a:rPr>
              <a:t> </a:t>
            </a:r>
            <a:r>
              <a:rPr lang="de-DE" sz="1200" err="1">
                <a:effectLst/>
                <a:latin typeface="Code2000"/>
              </a:rPr>
              <a:t>Evidence</a:t>
            </a:r>
            <a:r>
              <a:rPr lang="de-DE" sz="1200">
                <a:effectLst/>
                <a:latin typeface="Code2000"/>
              </a:rPr>
              <a:t> on Forecast Power, </a:t>
            </a:r>
            <a:r>
              <a:rPr lang="de-DE" sz="1200" err="1">
                <a:effectLst/>
                <a:latin typeface="Code2000"/>
              </a:rPr>
              <a:t>Premiums</a:t>
            </a:r>
            <a:r>
              <a:rPr lang="de-DE" sz="1200">
                <a:effectLst/>
                <a:latin typeface="Code2000"/>
              </a:rPr>
              <a:t>, and </a:t>
            </a:r>
            <a:r>
              <a:rPr lang="de-DE" sz="1200" err="1">
                <a:effectLst/>
                <a:latin typeface="Code2000"/>
              </a:rPr>
              <a:t>the</a:t>
            </a:r>
            <a:r>
              <a:rPr lang="de-DE" sz="1200">
                <a:effectLst/>
                <a:latin typeface="Code2000"/>
              </a:rPr>
              <a:t> Theory of Storage</a:t>
            </a:r>
            <a:r>
              <a:rPr lang="de-DE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/>
              <a:t>(Taken from </a:t>
            </a:r>
            <a:r>
              <a:rPr lang="de-DE" err="1"/>
              <a:t>paper</a:t>
            </a:r>
            <a:r>
              <a:rPr lang="de-DE"/>
              <a:t>: </a:t>
            </a:r>
            <a:r>
              <a:rPr lang="de-DE" sz="1200">
                <a:effectLst/>
                <a:latin typeface="Code2000"/>
              </a:rPr>
              <a:t>Commodity Futures Prices: </a:t>
            </a:r>
            <a:r>
              <a:rPr lang="de-DE" sz="1200" err="1">
                <a:effectLst/>
                <a:latin typeface="Code2000"/>
              </a:rPr>
              <a:t>Some</a:t>
            </a:r>
            <a:r>
              <a:rPr lang="de-DE" sz="1200">
                <a:effectLst/>
                <a:latin typeface="Code2000"/>
              </a:rPr>
              <a:t> </a:t>
            </a:r>
            <a:r>
              <a:rPr lang="de-DE" sz="1200" err="1">
                <a:effectLst/>
                <a:latin typeface="Code2000"/>
              </a:rPr>
              <a:t>Evidence</a:t>
            </a:r>
            <a:r>
              <a:rPr lang="de-DE" sz="1200">
                <a:effectLst/>
                <a:latin typeface="Code2000"/>
              </a:rPr>
              <a:t> on Forecast Power, </a:t>
            </a:r>
            <a:r>
              <a:rPr lang="de-DE" sz="1200" err="1">
                <a:effectLst/>
                <a:latin typeface="Code2000"/>
              </a:rPr>
              <a:t>Premiums</a:t>
            </a:r>
            <a:r>
              <a:rPr lang="de-DE" sz="1200">
                <a:effectLst/>
                <a:latin typeface="Code2000"/>
              </a:rPr>
              <a:t>, and </a:t>
            </a:r>
            <a:r>
              <a:rPr lang="de-DE" sz="1200" err="1">
                <a:effectLst/>
                <a:latin typeface="Code2000"/>
              </a:rPr>
              <a:t>the</a:t>
            </a:r>
            <a:r>
              <a:rPr lang="de-DE" sz="1200">
                <a:effectLst/>
                <a:latin typeface="Code2000"/>
              </a:rPr>
              <a:t> Theory of Storage</a:t>
            </a:r>
            <a:r>
              <a:rPr lang="de-DE"/>
              <a:t>, p.1 and </a:t>
            </a:r>
            <a:r>
              <a:rPr lang="de-DE" sz="1800" b="0">
                <a:effectLst/>
                <a:latin typeface="Calibri" panose="020F0502020204030204" pitchFamily="34" charset="0"/>
              </a:rPr>
              <a:t>Impact of U.S. </a:t>
            </a:r>
            <a:r>
              <a:rPr lang="de-DE" sz="1800" b="0" err="1">
                <a:effectLst/>
                <a:latin typeface="Calibri" panose="020F0502020204030204" pitchFamily="34" charset="0"/>
              </a:rPr>
              <a:t>Tight</a:t>
            </a:r>
            <a:r>
              <a:rPr lang="de-DE" sz="1800" b="0">
                <a:effectLst/>
                <a:latin typeface="Calibri" panose="020F0502020204030204" pitchFamily="34" charset="0"/>
              </a:rPr>
              <a:t> Oil on NYMEX WTI Futures</a:t>
            </a:r>
            <a:r>
              <a:rPr lang="de-DE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b="0" err="1">
                <a:effectLst/>
                <a:latin typeface="UniversLTStd"/>
              </a:rPr>
              <a:t>What</a:t>
            </a:r>
            <a:r>
              <a:rPr lang="de-DE" sz="1800" b="0">
                <a:effectLst/>
                <a:latin typeface="UniversLTStd"/>
              </a:rPr>
              <a:t> </a:t>
            </a:r>
            <a:r>
              <a:rPr lang="de-DE" sz="1800" b="0" err="1">
                <a:effectLst/>
                <a:latin typeface="UniversLTStd"/>
              </a:rPr>
              <a:t>drives</a:t>
            </a:r>
            <a:r>
              <a:rPr lang="de-DE" sz="1800" b="0">
                <a:effectLst/>
                <a:latin typeface="UniversLTStd"/>
              </a:rPr>
              <a:t> </a:t>
            </a:r>
            <a:r>
              <a:rPr lang="de-DE" sz="1800" b="0" err="1">
                <a:effectLst/>
                <a:latin typeface="UniversLTStd"/>
              </a:rPr>
              <a:t>commodity</a:t>
            </a:r>
            <a:r>
              <a:rPr lang="de-DE" sz="1800" b="0">
                <a:effectLst/>
                <a:latin typeface="UniversLTStd"/>
              </a:rPr>
              <a:t> </a:t>
            </a:r>
            <a:r>
              <a:rPr lang="de-DE" sz="1800" b="0" err="1">
                <a:effectLst/>
                <a:latin typeface="UniversLTStd"/>
              </a:rPr>
              <a:t>price</a:t>
            </a:r>
            <a:r>
              <a:rPr lang="de-DE" sz="1800" b="0">
                <a:effectLst/>
                <a:latin typeface="UniversLTStd"/>
              </a:rPr>
              <a:t> </a:t>
            </a:r>
            <a:r>
              <a:rPr lang="de-DE" sz="1800" b="0" err="1">
                <a:effectLst/>
                <a:latin typeface="UniversLTStd"/>
              </a:rPr>
              <a:t>variation</a:t>
            </a:r>
            <a:r>
              <a:rPr lang="de-DE" sz="1800" b="0">
                <a:effectLst/>
                <a:latin typeface="UniversLTStd"/>
              </a:rPr>
              <a:t>?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349)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TimesNewRomanPSMT"/>
              </a:rPr>
              <a:t>Commodity Price Effects on Currencies, p. 1 and </a:t>
            </a:r>
            <a:r>
              <a:rPr lang="de-DE" sz="1200">
                <a:effectLst/>
                <a:latin typeface="AdvTT5843c571"/>
              </a:rPr>
              <a:t>Commodity </a:t>
            </a:r>
            <a:r>
              <a:rPr lang="de-DE" sz="1200" err="1">
                <a:effectLst/>
                <a:latin typeface="AdvTT5843c571"/>
              </a:rPr>
              <a:t>currencies</a:t>
            </a:r>
            <a:r>
              <a:rPr lang="de-DE" sz="1200">
                <a:effectLst/>
                <a:latin typeface="AdvTT5843c571"/>
              </a:rPr>
              <a:t> and </a:t>
            </a:r>
            <a:r>
              <a:rPr lang="de-DE" sz="1200" err="1">
                <a:effectLst/>
                <a:latin typeface="AdvTT5843c571"/>
              </a:rPr>
              <a:t>the</a:t>
            </a:r>
            <a:r>
              <a:rPr lang="de-DE" sz="1200">
                <a:effectLst/>
                <a:latin typeface="AdvTT5843c571"/>
              </a:rPr>
              <a:t> real </a:t>
            </a:r>
            <a:r>
              <a:rPr lang="de-DE" sz="1200" err="1">
                <a:effectLst/>
                <a:latin typeface="AdvTT5843c571"/>
              </a:rPr>
              <a:t>exchange</a:t>
            </a:r>
            <a:r>
              <a:rPr lang="de-DE" sz="1200">
                <a:effectLst/>
                <a:latin typeface="AdvTT5843c571"/>
              </a:rPr>
              <a:t> rate, p. 239-240 and </a:t>
            </a:r>
            <a:r>
              <a:rPr lang="de-DE" sz="1200">
                <a:effectLst/>
                <a:latin typeface="Times" pitchFamily="2" charset="0"/>
              </a:rPr>
              <a:t>Commodity </a:t>
            </a:r>
            <a:r>
              <a:rPr lang="de-DE" sz="1200" err="1">
                <a:effectLst/>
                <a:latin typeface="Times" pitchFamily="2" charset="0"/>
              </a:rPr>
              <a:t>currencies</a:t>
            </a:r>
            <a:r>
              <a:rPr lang="de-DE" sz="1200">
                <a:effectLst/>
                <a:latin typeface="Times" pitchFamily="2" charset="0"/>
              </a:rPr>
              <a:t>, p. 133-134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 and Uncertainty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AdvOT596495f2"/>
              </a:rPr>
              <a:t>Do all </a:t>
            </a:r>
            <a:r>
              <a:rPr lang="de-DE" sz="1800" err="1">
                <a:effectLst/>
                <a:latin typeface="AdvOT596495f2"/>
              </a:rPr>
              <a:t>oil</a:t>
            </a:r>
            <a:r>
              <a:rPr lang="de-DE" sz="1800">
                <a:effectLst/>
                <a:latin typeface="AdvOT596495f2"/>
              </a:rPr>
              <a:t> </a:t>
            </a:r>
            <a:r>
              <a:rPr lang="de-DE" sz="1800" err="1">
                <a:effectLst/>
                <a:latin typeface="AdvOT596495f2"/>
              </a:rPr>
              <a:t>price</a:t>
            </a:r>
            <a:r>
              <a:rPr lang="de-DE" sz="1800">
                <a:effectLst/>
                <a:latin typeface="AdvOT596495f2"/>
              </a:rPr>
              <a:t> </a:t>
            </a:r>
            <a:r>
              <a:rPr lang="de-DE" sz="1800" err="1">
                <a:effectLst/>
                <a:latin typeface="AdvOT596495f2"/>
              </a:rPr>
              <a:t>shocks</a:t>
            </a:r>
            <a:r>
              <a:rPr lang="de-DE" sz="1800">
                <a:effectLst/>
                <a:latin typeface="AdvOT596495f2"/>
              </a:rPr>
              <a:t> </a:t>
            </a:r>
            <a:r>
              <a:rPr lang="de-DE" sz="1800" err="1">
                <a:effectLst/>
                <a:latin typeface="AdvOT596495f2"/>
              </a:rPr>
              <a:t>have</a:t>
            </a:r>
            <a:r>
              <a:rPr lang="de-DE" sz="1800">
                <a:effectLst/>
                <a:latin typeface="AdvOT596495f2"/>
              </a:rPr>
              <a:t> </a:t>
            </a:r>
            <a:r>
              <a:rPr lang="de-DE" sz="1800" err="1">
                <a:effectLst/>
                <a:latin typeface="AdvOT596495f2"/>
              </a:rPr>
              <a:t>the</a:t>
            </a:r>
            <a:r>
              <a:rPr lang="de-DE" sz="1800">
                <a:effectLst/>
                <a:latin typeface="AdvOT596495f2"/>
              </a:rPr>
              <a:t> same </a:t>
            </a:r>
            <a:r>
              <a:rPr lang="de-DE" sz="1800" err="1">
                <a:effectLst/>
                <a:latin typeface="AdvOT596495f2"/>
              </a:rPr>
              <a:t>impact</a:t>
            </a:r>
            <a:r>
              <a:rPr lang="de-DE" sz="1800">
                <a:effectLst/>
                <a:latin typeface="AdvOT596495f2"/>
              </a:rPr>
              <a:t>? </a:t>
            </a:r>
            <a:r>
              <a:rPr lang="de-DE" sz="1800" err="1">
                <a:effectLst/>
                <a:latin typeface="AdvOT596495f2"/>
              </a:rPr>
              <a:t>Evidence</a:t>
            </a:r>
            <a:r>
              <a:rPr lang="de-DE" sz="1800">
                <a:effectLst/>
                <a:latin typeface="AdvOT596495f2"/>
              </a:rPr>
              <a:t> from </a:t>
            </a:r>
            <a:r>
              <a:rPr lang="de-DE" sz="1800" err="1">
                <a:effectLst/>
                <a:latin typeface="AdvOT596495f2"/>
              </a:rPr>
              <a:t>the</a:t>
            </a:r>
            <a:r>
              <a:rPr lang="de-DE" sz="1800">
                <a:effectLst/>
                <a:latin typeface="AdvOT596495f2"/>
              </a:rPr>
              <a:t> </a:t>
            </a:r>
            <a:r>
              <a:rPr lang="de-DE" sz="1800" err="1">
                <a:effectLst/>
                <a:latin typeface="AdvOT596495f2"/>
              </a:rPr>
              <a:t>euro</a:t>
            </a:r>
            <a:r>
              <a:rPr lang="de-DE" sz="1800">
                <a:effectLst/>
                <a:latin typeface="AdvOT596495f2"/>
              </a:rPr>
              <a:t> </a:t>
            </a:r>
            <a:r>
              <a:rPr lang="de-DE" sz="1800" err="1">
                <a:effectLst/>
                <a:latin typeface="AdvOT596495f2"/>
              </a:rPr>
              <a:t>area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151)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AdvOT863180fb"/>
              </a:rPr>
              <a:t>Exchange-rate </a:t>
            </a:r>
            <a:r>
              <a:rPr lang="de-DE" sz="1800" err="1">
                <a:effectLst/>
                <a:latin typeface="AdvOT863180fb"/>
              </a:rPr>
              <a:t>return</a:t>
            </a:r>
            <a:r>
              <a:rPr lang="de-DE" sz="1800">
                <a:effectLst/>
                <a:latin typeface="AdvOT863180fb"/>
              </a:rPr>
              <a:t> </a:t>
            </a:r>
            <a:r>
              <a:rPr lang="de-DE" sz="1800" err="1">
                <a:effectLst/>
                <a:latin typeface="AdvOT863180fb"/>
              </a:rPr>
              <a:t>predictability</a:t>
            </a:r>
            <a:r>
              <a:rPr lang="de-DE" sz="1800">
                <a:effectLst/>
                <a:latin typeface="AdvOT863180fb"/>
              </a:rPr>
              <a:t> and </a:t>
            </a:r>
            <a:r>
              <a:rPr lang="de-DE" sz="1800" err="1">
                <a:effectLst/>
                <a:latin typeface="AdvOT863180fb"/>
              </a:rPr>
              <a:t>the</a:t>
            </a:r>
            <a:r>
              <a:rPr lang="de-DE" sz="1800">
                <a:effectLst/>
                <a:latin typeface="AdvOT863180fb"/>
              </a:rPr>
              <a:t> adaptive </a:t>
            </a:r>
            <a:r>
              <a:rPr lang="de-DE" sz="1800" err="1">
                <a:effectLst/>
                <a:latin typeface="AdvOT863180fb"/>
              </a:rPr>
              <a:t>markets</a:t>
            </a:r>
            <a:r>
              <a:rPr lang="de-DE" sz="1800">
                <a:effectLst/>
                <a:latin typeface="AdvOT863180fb"/>
              </a:rPr>
              <a:t> </a:t>
            </a:r>
            <a:r>
              <a:rPr lang="de-DE" sz="1800" err="1">
                <a:effectLst/>
                <a:latin typeface="AdvOT863180fb"/>
              </a:rPr>
              <a:t>hypothesis</a:t>
            </a:r>
            <a:r>
              <a:rPr lang="de-DE" sz="1800">
                <a:effectLst/>
                <a:latin typeface="AdvOT863180fb"/>
              </a:rPr>
              <a:t>: </a:t>
            </a:r>
            <a:r>
              <a:rPr lang="de-DE" sz="1800" err="1">
                <a:effectLst/>
                <a:latin typeface="AdvOT863180fb"/>
              </a:rPr>
              <a:t>Evidence</a:t>
            </a:r>
            <a:r>
              <a:rPr lang="de-DE" sz="1800">
                <a:effectLst/>
                <a:latin typeface="AdvOT863180fb"/>
              </a:rPr>
              <a:t> from </a:t>
            </a:r>
            <a:r>
              <a:rPr lang="de-DE" sz="1800" err="1">
                <a:effectLst/>
                <a:latin typeface="AdvOT863180fb"/>
              </a:rPr>
              <a:t>major</a:t>
            </a:r>
            <a:r>
              <a:rPr lang="de-DE" sz="1800">
                <a:effectLst/>
                <a:latin typeface="AdvOT863180fb"/>
              </a:rPr>
              <a:t> </a:t>
            </a:r>
            <a:r>
              <a:rPr lang="de-DE" sz="1800" err="1">
                <a:effectLst/>
                <a:latin typeface="AdvOT863180fb"/>
              </a:rPr>
              <a:t>foreign</a:t>
            </a:r>
            <a:r>
              <a:rPr lang="de-DE" sz="1800">
                <a:effectLst/>
                <a:latin typeface="AdvOT863180fb"/>
              </a:rPr>
              <a:t> </a:t>
            </a:r>
            <a:r>
              <a:rPr lang="de-DE" sz="1800" err="1">
                <a:effectLst/>
                <a:latin typeface="AdvOT863180fb"/>
              </a:rPr>
              <a:t>exchange</a:t>
            </a:r>
            <a:r>
              <a:rPr lang="de-DE" sz="1800">
                <a:effectLst/>
                <a:latin typeface="AdvOT863180fb"/>
              </a:rPr>
              <a:t> </a:t>
            </a:r>
            <a:r>
              <a:rPr lang="de-DE" sz="1800" err="1">
                <a:effectLst/>
                <a:latin typeface="AdvOT863180fb"/>
              </a:rPr>
              <a:t>rates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 and </a:t>
            </a:r>
            <a:r>
              <a:rPr lang="de-DE" sz="1800">
                <a:effectLst/>
                <a:latin typeface="CharisSIL"/>
              </a:rPr>
              <a:t>Time </a:t>
            </a:r>
            <a:r>
              <a:rPr lang="de-DE" sz="1800" err="1">
                <a:effectLst/>
                <a:latin typeface="CharisSIL"/>
              </a:rPr>
              <a:t>varying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market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efficiency</a:t>
            </a:r>
            <a:r>
              <a:rPr lang="de-DE" sz="1800">
                <a:effectLst/>
                <a:latin typeface="CharisSIL"/>
              </a:rPr>
              <a:t> in </a:t>
            </a:r>
            <a:r>
              <a:rPr lang="de-DE" sz="1800" err="1">
                <a:effectLst/>
                <a:latin typeface="CharisSIL"/>
              </a:rPr>
              <a:t>the</a:t>
            </a:r>
            <a:r>
              <a:rPr lang="de-DE" sz="1800">
                <a:effectLst/>
                <a:latin typeface="CharisSIL"/>
              </a:rPr>
              <a:t> Brent and WTI </a:t>
            </a:r>
            <a:r>
              <a:rPr lang="de-DE" sz="1800" err="1">
                <a:effectLst/>
                <a:latin typeface="CharisSIL"/>
              </a:rPr>
              <a:t>crude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market</a:t>
            </a:r>
            <a:r>
              <a:rPr lang="de-DE" sz="1800">
                <a:effectLst/>
                <a:latin typeface="CharisSIL"/>
              </a:rPr>
              <a:t>, p.1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  <a:r>
              <a:rPr lang="de-DE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200">
                <a:effectLst/>
                <a:latin typeface="AdvOT863180fb"/>
              </a:rPr>
              <a:t>Exchange-rate </a:t>
            </a:r>
            <a:r>
              <a:rPr lang="de-DE" sz="1200" err="1">
                <a:effectLst/>
                <a:latin typeface="AdvOT863180fb"/>
              </a:rPr>
              <a:t>return</a:t>
            </a:r>
            <a:r>
              <a:rPr lang="de-DE" sz="1200">
                <a:effectLst/>
                <a:latin typeface="AdvOT863180fb"/>
              </a:rPr>
              <a:t> </a:t>
            </a:r>
            <a:r>
              <a:rPr lang="de-DE" sz="1200" err="1">
                <a:effectLst/>
                <a:latin typeface="AdvOT863180fb"/>
              </a:rPr>
              <a:t>predictability</a:t>
            </a:r>
            <a:r>
              <a:rPr lang="de-DE" sz="1200">
                <a:effectLst/>
                <a:latin typeface="AdvOT863180fb"/>
              </a:rPr>
              <a:t> and </a:t>
            </a:r>
            <a:r>
              <a:rPr lang="de-DE" sz="1200" err="1">
                <a:effectLst/>
                <a:latin typeface="AdvOT863180fb"/>
              </a:rPr>
              <a:t>the</a:t>
            </a:r>
            <a:r>
              <a:rPr lang="de-DE" sz="1200">
                <a:effectLst/>
                <a:latin typeface="AdvOT863180fb"/>
              </a:rPr>
              <a:t> adaptive </a:t>
            </a:r>
            <a:r>
              <a:rPr lang="de-DE" sz="1200" err="1">
                <a:effectLst/>
                <a:latin typeface="AdvOT863180fb"/>
              </a:rPr>
              <a:t>markets</a:t>
            </a:r>
            <a:r>
              <a:rPr lang="de-DE" sz="1200">
                <a:effectLst/>
                <a:latin typeface="AdvOT863180fb"/>
              </a:rPr>
              <a:t> </a:t>
            </a:r>
            <a:r>
              <a:rPr lang="de-DE" sz="1200" err="1">
                <a:effectLst/>
                <a:latin typeface="AdvOT863180fb"/>
              </a:rPr>
              <a:t>hypothesis</a:t>
            </a:r>
            <a:r>
              <a:rPr lang="de-DE" sz="1200">
                <a:effectLst/>
                <a:latin typeface="AdvOT863180fb"/>
              </a:rPr>
              <a:t>: </a:t>
            </a:r>
            <a:r>
              <a:rPr lang="de-DE" sz="1200" err="1">
                <a:effectLst/>
                <a:latin typeface="AdvOT863180fb"/>
              </a:rPr>
              <a:t>Evidence</a:t>
            </a:r>
            <a:r>
              <a:rPr lang="de-DE" sz="1200">
                <a:effectLst/>
                <a:latin typeface="AdvOT863180fb"/>
              </a:rPr>
              <a:t> from </a:t>
            </a:r>
            <a:r>
              <a:rPr lang="de-DE" sz="1200" err="1">
                <a:effectLst/>
                <a:latin typeface="AdvOT863180fb"/>
              </a:rPr>
              <a:t>major</a:t>
            </a:r>
            <a:r>
              <a:rPr lang="de-DE" sz="1200">
                <a:effectLst/>
                <a:latin typeface="AdvOT863180fb"/>
              </a:rPr>
              <a:t> </a:t>
            </a:r>
            <a:r>
              <a:rPr lang="de-DE" sz="1200" err="1">
                <a:effectLst/>
                <a:latin typeface="AdvOT863180fb"/>
              </a:rPr>
              <a:t>foreign</a:t>
            </a:r>
            <a:r>
              <a:rPr lang="de-DE" sz="1200">
                <a:effectLst/>
                <a:latin typeface="AdvOT863180fb"/>
              </a:rPr>
              <a:t> </a:t>
            </a:r>
            <a:r>
              <a:rPr lang="de-DE" sz="1200" err="1">
                <a:effectLst/>
                <a:latin typeface="AdvOT863180fb"/>
              </a:rPr>
              <a:t>exchange</a:t>
            </a:r>
            <a:r>
              <a:rPr lang="de-DE" sz="1200">
                <a:effectLst/>
                <a:latin typeface="AdvOT863180fb"/>
              </a:rPr>
              <a:t> </a:t>
            </a:r>
            <a:r>
              <a:rPr lang="de-DE" sz="1200" err="1">
                <a:effectLst/>
                <a:latin typeface="AdvOT863180fb"/>
              </a:rPr>
              <a:t>rates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CharisSIL"/>
              </a:rPr>
              <a:t>International </a:t>
            </a:r>
            <a:r>
              <a:rPr lang="de-DE" sz="1800" err="1">
                <a:effectLst/>
                <a:latin typeface="CharisSIL"/>
              </a:rPr>
              <a:t>energy</a:t>
            </a:r>
            <a:r>
              <a:rPr lang="de-DE" sz="1800">
                <a:effectLst/>
                <a:latin typeface="CharisSIL"/>
              </a:rPr>
              <a:t> trade and </a:t>
            </a:r>
            <a:r>
              <a:rPr lang="de-DE" sz="1800" err="1">
                <a:effectLst/>
                <a:latin typeface="CharisSIL"/>
              </a:rPr>
              <a:t>inflation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dynamics</a:t>
            </a:r>
            <a:r>
              <a:rPr lang="de-DE" sz="1800">
                <a:effectLst/>
                <a:latin typeface="CharisSIL"/>
              </a:rPr>
              <a:t>: The </a:t>
            </a:r>
            <a:r>
              <a:rPr lang="de-DE" sz="1800" err="1">
                <a:effectLst/>
                <a:latin typeface="CharisSIL"/>
              </a:rPr>
              <a:t>role</a:t>
            </a:r>
            <a:r>
              <a:rPr lang="de-DE" sz="1800">
                <a:effectLst/>
                <a:latin typeface="CharisSIL"/>
              </a:rPr>
              <a:t> of </a:t>
            </a:r>
            <a:r>
              <a:rPr lang="de-DE" sz="1800" err="1">
                <a:effectLst/>
                <a:latin typeface="CharisSIL"/>
              </a:rPr>
              <a:t>invoicing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currency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use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during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the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low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carbon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transition</a:t>
            </a:r>
            <a:r>
              <a:rPr lang="de-DE" sz="1800">
                <a:effectLst/>
                <a:latin typeface="CharisSIL"/>
              </a:rPr>
              <a:t>, p.1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CharisSIL"/>
              </a:rPr>
              <a:t>Volatility </a:t>
            </a:r>
            <a:r>
              <a:rPr lang="de-DE" sz="1800" err="1">
                <a:effectLst/>
                <a:latin typeface="CharisSIL"/>
              </a:rPr>
              <a:t>spillover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between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oil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prices</a:t>
            </a:r>
            <a:r>
              <a:rPr lang="de-DE" sz="1800">
                <a:effectLst/>
                <a:latin typeface="CharisSIL"/>
              </a:rPr>
              <a:t> and main </a:t>
            </a:r>
            <a:r>
              <a:rPr lang="de-DE" sz="1800" err="1">
                <a:effectLst/>
                <a:latin typeface="CharisSIL"/>
              </a:rPr>
              <a:t>exchange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rates</a:t>
            </a:r>
            <a:r>
              <a:rPr lang="de-DE" sz="1800">
                <a:effectLst/>
                <a:latin typeface="CharisSIL"/>
              </a:rPr>
              <a:t>: </a:t>
            </a:r>
            <a:r>
              <a:rPr lang="de-DE" sz="1800" err="1">
                <a:effectLst/>
                <a:latin typeface="CharisSIL"/>
              </a:rPr>
              <a:t>Evidence</a:t>
            </a:r>
            <a:r>
              <a:rPr lang="de-DE" sz="1800">
                <a:effectLst/>
                <a:latin typeface="CharisSIL"/>
              </a:rPr>
              <a:t> from a DCC-GARCH-</a:t>
            </a:r>
            <a:r>
              <a:rPr lang="de-DE" sz="1800" err="1">
                <a:effectLst/>
                <a:latin typeface="CharisSIL"/>
              </a:rPr>
              <a:t>connectedness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approach</a:t>
            </a:r>
            <a:r>
              <a:rPr lang="de-DE" sz="1800">
                <a:effectLst/>
                <a:latin typeface="CharisSIL"/>
              </a:rPr>
              <a:t>, p. 1 and </a:t>
            </a:r>
            <a:r>
              <a:rPr lang="de-DE" sz="1800" err="1">
                <a:effectLst/>
                <a:latin typeface="Times New Roman,Bold" pitchFamily="2" charset="0"/>
              </a:rPr>
              <a:t>How</a:t>
            </a:r>
            <a:r>
              <a:rPr lang="de-DE" sz="180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err="1">
                <a:effectLst/>
                <a:latin typeface="Times New Roman,Bold" pitchFamily="2" charset="0"/>
              </a:rPr>
              <a:t>Lessons</a:t>
            </a:r>
            <a:r>
              <a:rPr lang="de-DE" sz="1800">
                <a:effectLst/>
                <a:latin typeface="Times New Roman,Bold" pitchFamily="2" charset="0"/>
              </a:rPr>
              <a:t> from Five Global Shocks (2007–2023), p. 1 and </a:t>
            </a:r>
            <a:r>
              <a:rPr lang="de-DE" sz="1800">
                <a:effectLst/>
                <a:latin typeface="AdvTT5235d5a9"/>
              </a:rPr>
              <a:t>Oil </a:t>
            </a:r>
            <a:r>
              <a:rPr lang="de-DE" sz="1800" err="1">
                <a:effectLst/>
                <a:latin typeface="AdvTT5235d5a9"/>
              </a:rPr>
              <a:t>price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shocks</a:t>
            </a:r>
            <a:r>
              <a:rPr lang="de-DE" sz="1800">
                <a:effectLst/>
                <a:latin typeface="AdvTT5235d5a9"/>
              </a:rPr>
              <a:t> and </a:t>
            </a:r>
            <a:r>
              <a:rPr lang="de-DE" sz="1800" err="1">
                <a:effectLst/>
                <a:latin typeface="AdvTT5235d5a9"/>
              </a:rPr>
              <a:t>exchange</a:t>
            </a:r>
            <a:r>
              <a:rPr lang="de-DE" sz="1800">
                <a:effectLst/>
                <a:latin typeface="AdvTT5235d5a9"/>
              </a:rPr>
              <a:t> rate </a:t>
            </a:r>
            <a:r>
              <a:rPr lang="de-DE" sz="1800" err="1">
                <a:effectLst/>
                <a:latin typeface="AdvTT5235d5a9"/>
              </a:rPr>
              <a:t>movements</a:t>
            </a:r>
            <a:r>
              <a:rPr lang="de-DE" sz="1800">
                <a:effectLst/>
                <a:latin typeface="AdvTT5235d5a9"/>
              </a:rPr>
              <a:t>, p. 18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MathPackOne"/>
              </a:rPr>
              <a:t>Regime </a:t>
            </a:r>
            <a:r>
              <a:rPr lang="de-DE" sz="1800" err="1">
                <a:effectLst/>
                <a:latin typeface="MathPackOne"/>
              </a:rPr>
              <a:t>switching</a:t>
            </a:r>
            <a:r>
              <a:rPr lang="de-DE" sz="1800">
                <a:effectLst/>
                <a:latin typeface="MathPackOne"/>
              </a:rPr>
              <a:t> in </a:t>
            </a:r>
            <a:r>
              <a:rPr lang="de-DE" sz="1800" err="1">
                <a:effectLst/>
                <a:latin typeface="MathPackOne"/>
              </a:rPr>
              <a:t>foreign</a:t>
            </a:r>
            <a:r>
              <a:rPr lang="de-DE" sz="1800">
                <a:effectLst/>
                <a:latin typeface="MathPackOne"/>
              </a:rPr>
              <a:t> </a:t>
            </a:r>
            <a:r>
              <a:rPr lang="de-DE" sz="1800" err="1">
                <a:effectLst/>
                <a:latin typeface="MathPackOne"/>
              </a:rPr>
              <a:t>exchange</a:t>
            </a:r>
            <a:r>
              <a:rPr lang="de-DE" sz="1800">
                <a:effectLst/>
                <a:latin typeface="MathPackOne"/>
              </a:rPr>
              <a:t> </a:t>
            </a:r>
            <a:r>
              <a:rPr lang="de-DE" sz="1800" err="1">
                <a:effectLst/>
                <a:latin typeface="MathPackOne"/>
              </a:rPr>
              <a:t>rates</a:t>
            </a:r>
            <a:r>
              <a:rPr lang="de-DE" sz="1800">
                <a:effectLst/>
                <a:latin typeface="MathPackOne"/>
              </a:rPr>
              <a:t>: </a:t>
            </a:r>
            <a:r>
              <a:rPr lang="de-DE" sz="1800" err="1">
                <a:effectLst/>
                <a:latin typeface="MathPackOne"/>
              </a:rPr>
              <a:t>Evidence</a:t>
            </a:r>
            <a:r>
              <a:rPr lang="de-DE" sz="1800">
                <a:effectLst/>
                <a:latin typeface="MathPackOne"/>
              </a:rPr>
              <a:t> from </a:t>
            </a:r>
            <a:r>
              <a:rPr lang="de-DE" sz="1800" err="1">
                <a:effectLst/>
                <a:latin typeface="MathPackOne"/>
              </a:rPr>
              <a:t>currency</a:t>
            </a:r>
            <a:r>
              <a:rPr lang="de-DE" sz="1800">
                <a:effectLst/>
                <a:latin typeface="MathPackOne"/>
              </a:rPr>
              <a:t> </a:t>
            </a:r>
            <a:r>
              <a:rPr lang="de-DE" sz="1800" err="1">
                <a:effectLst/>
                <a:latin typeface="MathPackOne"/>
              </a:rPr>
              <a:t>option</a:t>
            </a:r>
            <a:r>
              <a:rPr lang="de-DE" sz="1800">
                <a:effectLst/>
                <a:latin typeface="MathPackOne"/>
              </a:rPr>
              <a:t> </a:t>
            </a:r>
            <a:r>
              <a:rPr lang="de-DE" sz="1800" err="1">
                <a:effectLst/>
                <a:latin typeface="MathPackOne"/>
              </a:rPr>
              <a:t>prices</a:t>
            </a:r>
            <a:r>
              <a:rPr lang="de-DE" sz="1800">
                <a:effectLst/>
                <a:latin typeface="MathPackOne"/>
              </a:rPr>
              <a:t> 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240)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AdvTT5235d5a9"/>
              </a:rPr>
              <a:t>The </a:t>
            </a:r>
            <a:r>
              <a:rPr lang="de-DE" sz="1800" err="1">
                <a:effectLst/>
                <a:latin typeface="AdvTT5235d5a9"/>
              </a:rPr>
              <a:t>impact</a:t>
            </a:r>
            <a:r>
              <a:rPr lang="de-DE" sz="1800">
                <a:effectLst/>
                <a:latin typeface="AdvTT5235d5a9"/>
              </a:rPr>
              <a:t> of </a:t>
            </a:r>
            <a:r>
              <a:rPr lang="de-DE" sz="1800" err="1">
                <a:effectLst/>
                <a:latin typeface="AdvTT5235d5a9"/>
              </a:rPr>
              <a:t>oil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shocks</a:t>
            </a:r>
            <a:r>
              <a:rPr lang="de-DE" sz="1800">
                <a:effectLst/>
                <a:latin typeface="AdvTT5235d5a9"/>
              </a:rPr>
              <a:t> on </a:t>
            </a:r>
            <a:r>
              <a:rPr lang="de-DE" sz="1800" err="1">
                <a:effectLst/>
                <a:latin typeface="AdvTT5235d5a9"/>
              </a:rPr>
              <a:t>exchange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rates</a:t>
            </a:r>
            <a:r>
              <a:rPr lang="de-DE" sz="1800">
                <a:effectLst/>
                <a:latin typeface="AdvTT5235d5a9"/>
              </a:rPr>
              <a:t>: A Markov-</a:t>
            </a:r>
            <a:r>
              <a:rPr lang="de-DE" sz="1800" err="1">
                <a:effectLst/>
                <a:latin typeface="AdvTT5235d5a9"/>
              </a:rPr>
              <a:t>switching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approach</a:t>
            </a:r>
            <a:r>
              <a:rPr lang="de-DE" sz="1800">
                <a:effectLst/>
                <a:latin typeface="AdvTT5235d5a9"/>
              </a:rPr>
              <a:t>, p. 11 and </a:t>
            </a:r>
            <a:r>
              <a:rPr lang="de-DE" sz="1800">
                <a:effectLst/>
                <a:latin typeface="AdvTT6120e2aa"/>
              </a:rPr>
              <a:t>Oil </a:t>
            </a:r>
            <a:r>
              <a:rPr lang="de-DE" sz="1800" err="1">
                <a:effectLst/>
                <a:latin typeface="AdvTT6120e2aa"/>
              </a:rPr>
              <a:t>prices</a:t>
            </a:r>
            <a:r>
              <a:rPr lang="de-DE" sz="1800">
                <a:effectLst/>
                <a:latin typeface="AdvTT6120e2aa"/>
              </a:rPr>
              <a:t> and real </a:t>
            </a:r>
            <a:r>
              <a:rPr lang="de-DE" sz="1800" err="1">
                <a:effectLst/>
                <a:latin typeface="AdvTT6120e2aa"/>
              </a:rPr>
              <a:t>exchange</a:t>
            </a:r>
            <a:r>
              <a:rPr lang="de-DE" sz="1800">
                <a:effectLst/>
                <a:latin typeface="AdvTT6120e2aa"/>
              </a:rPr>
              <a:t> </a:t>
            </a:r>
            <a:r>
              <a:rPr lang="de-DE" sz="1800" err="1">
                <a:effectLst/>
                <a:latin typeface="AdvTT6120e2aa"/>
              </a:rPr>
              <a:t>rates</a:t>
            </a:r>
            <a:r>
              <a:rPr lang="de-DE" sz="1800">
                <a:effectLst/>
                <a:latin typeface="AdvTT6120e2aa"/>
              </a:rPr>
              <a:t>, p. 391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CharisSIL"/>
              </a:rPr>
              <a:t>Non-linear </a:t>
            </a:r>
            <a:r>
              <a:rPr lang="de-DE" sz="1800" err="1">
                <a:effectLst/>
                <a:latin typeface="CharisSIL"/>
              </a:rPr>
              <a:t>relationship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between</a:t>
            </a:r>
            <a:r>
              <a:rPr lang="de-DE" sz="1800">
                <a:effectLst/>
                <a:latin typeface="CharisSIL"/>
              </a:rPr>
              <a:t> real </a:t>
            </a:r>
            <a:r>
              <a:rPr lang="de-DE" sz="1800" err="1">
                <a:effectLst/>
                <a:latin typeface="CharisSIL"/>
              </a:rPr>
              <a:t>commodity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price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volatility</a:t>
            </a:r>
            <a:r>
              <a:rPr lang="de-DE" sz="1800">
                <a:effectLst/>
                <a:latin typeface="CharisSIL"/>
              </a:rPr>
              <a:t> and real </a:t>
            </a:r>
            <a:r>
              <a:rPr lang="de-DE" sz="1800" err="1">
                <a:effectLst/>
                <a:latin typeface="CharisSIL"/>
              </a:rPr>
              <a:t>effective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exchange</a:t>
            </a:r>
            <a:r>
              <a:rPr lang="de-DE" sz="1800">
                <a:effectLst/>
                <a:latin typeface="CharisSIL"/>
              </a:rPr>
              <a:t> rate: The </a:t>
            </a:r>
            <a:r>
              <a:rPr lang="de-DE" sz="1800" err="1">
                <a:effectLst/>
                <a:latin typeface="CharisSIL"/>
              </a:rPr>
              <a:t>case</a:t>
            </a:r>
            <a:r>
              <a:rPr lang="de-DE" sz="1800">
                <a:effectLst/>
                <a:latin typeface="CharisSIL"/>
              </a:rPr>
              <a:t> of </a:t>
            </a:r>
            <a:r>
              <a:rPr lang="de-DE" sz="1800" err="1">
                <a:effectLst/>
                <a:latin typeface="CharisSIL"/>
              </a:rPr>
              <a:t>commodity-exporting</a:t>
            </a:r>
            <a:r>
              <a:rPr lang="de-DE" sz="1800">
                <a:effectLst/>
                <a:latin typeface="CharisSIL"/>
              </a:rPr>
              <a:t> countries, p. 212-213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>
                <a:effectLst/>
                <a:latin typeface="NotoSansSemiCondensed"/>
              </a:rPr>
              <a:t>Oil </a:t>
            </a:r>
            <a:r>
              <a:rPr lang="de-DE" sz="1800" err="1">
                <a:effectLst/>
                <a:latin typeface="NotoSansSemiCondensed"/>
              </a:rPr>
              <a:t>prices</a:t>
            </a:r>
            <a:r>
              <a:rPr lang="de-DE" sz="1800">
                <a:effectLst/>
                <a:latin typeface="NotoSansSemiCondensed"/>
              </a:rPr>
              <a:t>, </a:t>
            </a:r>
            <a:r>
              <a:rPr lang="de-DE" sz="1800" err="1">
                <a:effectLst/>
                <a:latin typeface="NotoSansSemiCondensed"/>
              </a:rPr>
              <a:t>exchange</a:t>
            </a:r>
            <a:r>
              <a:rPr lang="de-DE" sz="1800">
                <a:effectLst/>
                <a:latin typeface="NotoSansSemiCondensed"/>
              </a:rPr>
              <a:t> </a:t>
            </a:r>
            <a:r>
              <a:rPr lang="de-DE" sz="1800" err="1">
                <a:effectLst/>
                <a:latin typeface="NotoSansSemiCondensed"/>
              </a:rPr>
              <a:t>rates</a:t>
            </a:r>
            <a:r>
              <a:rPr lang="de-DE" sz="1800">
                <a:effectLst/>
                <a:latin typeface="NotoSansSemiCondensed"/>
              </a:rPr>
              <a:t> and </a:t>
            </a:r>
            <a:r>
              <a:rPr lang="de-DE" sz="1800" err="1">
                <a:effectLst/>
                <a:latin typeface="NotoSansSemiCondensed"/>
              </a:rPr>
              <a:t>asset</a:t>
            </a:r>
            <a:r>
              <a:rPr lang="de-DE" sz="1800">
                <a:effectLst/>
                <a:latin typeface="NotoSansSemiCondensed"/>
              </a:rPr>
              <a:t> </a:t>
            </a:r>
            <a:r>
              <a:rPr lang="de-DE" sz="1800" err="1">
                <a:effectLst/>
                <a:latin typeface="NotoSansSemiCondensed"/>
              </a:rPr>
              <a:t>prices</a:t>
            </a:r>
            <a:r>
              <a:rPr lang="de-DE" sz="1800">
                <a:effectLst/>
                <a:latin typeface="NotoSansSemiCondensed"/>
              </a:rPr>
              <a:t>, p. 1-3 and </a:t>
            </a:r>
            <a:r>
              <a:rPr lang="de-DE" sz="1800">
                <a:effectLst/>
                <a:latin typeface="CharisSIL"/>
              </a:rPr>
              <a:t>The power </a:t>
            </a:r>
            <a:r>
              <a:rPr lang="de-DE" sz="1800" err="1">
                <a:effectLst/>
                <a:latin typeface="CharisSIL"/>
              </a:rPr>
              <a:t>play</a:t>
            </a:r>
            <a:r>
              <a:rPr lang="de-DE" sz="1800">
                <a:effectLst/>
                <a:latin typeface="CharisSIL"/>
              </a:rPr>
              <a:t> of </a:t>
            </a:r>
            <a:r>
              <a:rPr lang="de-DE" sz="1800" err="1">
                <a:effectLst/>
                <a:latin typeface="CharisSIL"/>
              </a:rPr>
              <a:t>natural</a:t>
            </a:r>
            <a:r>
              <a:rPr lang="de-DE" sz="1800">
                <a:effectLst/>
                <a:latin typeface="CharisSIL"/>
              </a:rPr>
              <a:t> gas and </a:t>
            </a:r>
            <a:r>
              <a:rPr lang="de-DE" sz="1800" err="1">
                <a:effectLst/>
                <a:latin typeface="CharisSIL"/>
              </a:rPr>
              <a:t>crude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oil</a:t>
            </a:r>
            <a:r>
              <a:rPr lang="de-DE" sz="1800">
                <a:effectLst/>
                <a:latin typeface="CharisSIL"/>
              </a:rPr>
              <a:t> in </a:t>
            </a:r>
            <a:r>
              <a:rPr lang="de-DE" sz="1800" err="1">
                <a:effectLst/>
                <a:latin typeface="CharisSIL"/>
              </a:rPr>
              <a:t>the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move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towards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the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financialization</a:t>
            </a:r>
            <a:r>
              <a:rPr lang="de-DE" sz="1800">
                <a:effectLst/>
                <a:latin typeface="CharisSIL"/>
              </a:rPr>
              <a:t> of </a:t>
            </a:r>
            <a:r>
              <a:rPr lang="de-DE" sz="1800" err="1">
                <a:effectLst/>
                <a:latin typeface="CharisSIL"/>
              </a:rPr>
              <a:t>the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energy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market</a:t>
            </a:r>
            <a:r>
              <a:rPr lang="de-DE" sz="1800">
                <a:effectLst/>
                <a:latin typeface="CharisSIL"/>
              </a:rPr>
              <a:t>, p. 1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err="1">
                <a:effectLst/>
                <a:latin typeface="AdvTT5235d5a9"/>
              </a:rPr>
              <a:t>Dependence</a:t>
            </a:r>
            <a:r>
              <a:rPr lang="de-DE" sz="1800">
                <a:effectLst/>
                <a:latin typeface="AdvTT5235d5a9"/>
              </a:rPr>
              <a:t> and extreme </a:t>
            </a:r>
            <a:r>
              <a:rPr lang="de-DE" sz="1800" err="1">
                <a:effectLst/>
                <a:latin typeface="AdvTT5235d5a9"/>
              </a:rPr>
              <a:t>dependence</a:t>
            </a:r>
            <a:r>
              <a:rPr lang="de-DE" sz="1800">
                <a:effectLst/>
                <a:latin typeface="AdvTT5235d5a9"/>
              </a:rPr>
              <a:t> of </a:t>
            </a:r>
            <a:r>
              <a:rPr lang="de-DE" sz="1800" err="1">
                <a:effectLst/>
                <a:latin typeface="AdvTT5235d5a9"/>
              </a:rPr>
              <a:t>crude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oil</a:t>
            </a:r>
            <a:r>
              <a:rPr lang="de-DE" sz="1800">
                <a:effectLst/>
                <a:latin typeface="AdvTT5235d5a9"/>
              </a:rPr>
              <a:t> and </a:t>
            </a:r>
            <a:r>
              <a:rPr lang="de-DE" sz="1800" err="1">
                <a:effectLst/>
                <a:latin typeface="AdvTT5235d5a9"/>
              </a:rPr>
              <a:t>natural</a:t>
            </a:r>
            <a:r>
              <a:rPr lang="de-DE" sz="1800">
                <a:effectLst/>
                <a:latin typeface="AdvTT5235d5a9"/>
              </a:rPr>
              <a:t> gas </a:t>
            </a:r>
            <a:r>
              <a:rPr lang="de-DE" sz="1800" err="1">
                <a:effectLst/>
                <a:latin typeface="AdvTT5235d5a9"/>
              </a:rPr>
              <a:t>prices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with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applications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to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risk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management</a:t>
            </a:r>
            <a:r>
              <a:rPr lang="de-DE" sz="1800">
                <a:effectLst/>
                <a:latin typeface="AdvTT5235d5a9"/>
              </a:rPr>
              <a:t>, p. 332 and </a:t>
            </a:r>
            <a:r>
              <a:rPr lang="de-DE" sz="1800">
                <a:effectLst/>
                <a:latin typeface="CharisSIL"/>
              </a:rPr>
              <a:t>Dynamic </a:t>
            </a:r>
            <a:r>
              <a:rPr lang="de-DE" sz="1800" err="1">
                <a:effectLst/>
                <a:latin typeface="CharisSIL"/>
              </a:rPr>
              <a:t>frequency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relationships</a:t>
            </a:r>
            <a:r>
              <a:rPr lang="de-DE" sz="1800">
                <a:effectLst/>
                <a:latin typeface="CharisSIL"/>
              </a:rPr>
              <a:t> and </a:t>
            </a:r>
            <a:r>
              <a:rPr lang="de-DE" sz="1800" err="1">
                <a:effectLst/>
                <a:latin typeface="CharisSIL"/>
              </a:rPr>
              <a:t>volatility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spillovers</a:t>
            </a:r>
            <a:r>
              <a:rPr lang="de-DE" sz="1800">
                <a:effectLst/>
                <a:latin typeface="CharisSIL"/>
              </a:rPr>
              <a:t> in </a:t>
            </a:r>
            <a:r>
              <a:rPr lang="de-DE" sz="1800" err="1">
                <a:effectLst/>
                <a:latin typeface="CharisSIL"/>
              </a:rPr>
              <a:t>natural</a:t>
            </a:r>
            <a:r>
              <a:rPr lang="de-DE" sz="1800">
                <a:effectLst/>
                <a:latin typeface="CharisSIL"/>
              </a:rPr>
              <a:t> gas, </a:t>
            </a:r>
            <a:r>
              <a:rPr lang="de-DE" sz="1800" err="1">
                <a:effectLst/>
                <a:latin typeface="CharisSIL"/>
              </a:rPr>
              <a:t>crude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oil</a:t>
            </a:r>
            <a:r>
              <a:rPr lang="de-DE" sz="1800">
                <a:effectLst/>
                <a:latin typeface="CharisSIL"/>
              </a:rPr>
              <a:t>, gas </a:t>
            </a:r>
            <a:r>
              <a:rPr lang="de-DE" sz="1800" err="1">
                <a:effectLst/>
                <a:latin typeface="CharisSIL"/>
              </a:rPr>
              <a:t>oil</a:t>
            </a:r>
            <a:r>
              <a:rPr lang="de-DE" sz="1800">
                <a:effectLst/>
                <a:latin typeface="CharisSIL"/>
              </a:rPr>
              <a:t>, </a:t>
            </a:r>
            <a:r>
              <a:rPr lang="de-DE" sz="1800" err="1">
                <a:effectLst/>
                <a:latin typeface="CharisSIL"/>
              </a:rPr>
              <a:t>gasoline</a:t>
            </a:r>
            <a:r>
              <a:rPr lang="de-DE" sz="1800">
                <a:effectLst/>
                <a:latin typeface="CharisSIL"/>
              </a:rPr>
              <a:t>, and </a:t>
            </a:r>
            <a:r>
              <a:rPr lang="de-DE" sz="1800" err="1">
                <a:effectLst/>
                <a:latin typeface="CharisSIL"/>
              </a:rPr>
              <a:t>heating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oil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markets</a:t>
            </a:r>
            <a:r>
              <a:rPr lang="de-DE" sz="1800">
                <a:effectLst/>
                <a:latin typeface="CharisSIL"/>
              </a:rPr>
              <a:t>: </a:t>
            </a:r>
            <a:r>
              <a:rPr lang="de-DE" sz="1800" err="1">
                <a:effectLst/>
                <a:latin typeface="CharisSIL"/>
              </a:rPr>
              <a:t>Implications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for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portfolio</a:t>
            </a:r>
            <a:r>
              <a:rPr lang="de-DE" sz="1800">
                <a:effectLst/>
                <a:latin typeface="CharisSIL"/>
              </a:rPr>
              <a:t> </a:t>
            </a:r>
            <a:r>
              <a:rPr lang="de-DE" sz="1800" err="1">
                <a:effectLst/>
                <a:latin typeface="CharisSIL"/>
              </a:rPr>
              <a:t>management</a:t>
            </a:r>
            <a:r>
              <a:rPr lang="de-DE" sz="1800">
                <a:effectLst/>
                <a:latin typeface="CharisSIL"/>
              </a:rPr>
              <a:t>, p. 1</a:t>
            </a:r>
            <a:r>
              <a:rPr lang="de-DE"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  <a:r>
              <a:rPr lang="de-DE" sz="10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from: </a:t>
            </a:r>
            <a:r>
              <a:rPr lang="de-DE" sz="1800">
                <a:effectLst/>
                <a:latin typeface="TimesLTStd"/>
              </a:rPr>
              <a:t>Inflation, </a:t>
            </a:r>
            <a:r>
              <a:rPr lang="de-DE" sz="1800" err="1">
                <a:effectLst/>
                <a:latin typeface="TimesLTStd"/>
              </a:rPr>
              <a:t>oil</a:t>
            </a:r>
            <a:r>
              <a:rPr lang="de-DE" sz="1800">
                <a:effectLst/>
                <a:latin typeface="TimesLTStd"/>
              </a:rPr>
              <a:t> </a:t>
            </a:r>
            <a:r>
              <a:rPr lang="de-DE" sz="1800" err="1">
                <a:effectLst/>
                <a:latin typeface="TimesLTStd"/>
              </a:rPr>
              <a:t>prices</a:t>
            </a:r>
            <a:r>
              <a:rPr lang="de-DE" sz="1800">
                <a:effectLst/>
                <a:latin typeface="TimesLTStd"/>
              </a:rPr>
              <a:t> and </a:t>
            </a:r>
            <a:r>
              <a:rPr lang="de-DE" sz="1800" err="1">
                <a:effectLst/>
                <a:latin typeface="TimesLTStd"/>
              </a:rPr>
              <a:t>exchange</a:t>
            </a:r>
            <a:r>
              <a:rPr lang="de-DE" sz="1800">
                <a:effectLst/>
                <a:latin typeface="TimesLTStd"/>
              </a:rPr>
              <a:t> </a:t>
            </a:r>
            <a:r>
              <a:rPr lang="de-DE" sz="1800" err="1">
                <a:effectLst/>
                <a:latin typeface="TimesLTStd"/>
              </a:rPr>
              <a:t>rates</a:t>
            </a:r>
            <a:r>
              <a:rPr lang="de-DE" sz="1800">
                <a:effectLst/>
                <a:latin typeface="TimesLTStd"/>
              </a:rPr>
              <a:t>. The </a:t>
            </a:r>
            <a:r>
              <a:rPr lang="de-DE" sz="1800" err="1">
                <a:effectLst/>
                <a:latin typeface="TimesLTStd"/>
              </a:rPr>
              <a:t>Euro’s</a:t>
            </a:r>
            <a:r>
              <a:rPr lang="de-DE" sz="1800">
                <a:effectLst/>
                <a:latin typeface="TimesLTStd"/>
              </a:rPr>
              <a:t> </a:t>
            </a:r>
            <a:r>
              <a:rPr lang="de-DE" sz="1800" err="1">
                <a:effectLst/>
                <a:latin typeface="TimesLTStd"/>
              </a:rPr>
              <a:t>dampening</a:t>
            </a:r>
            <a:r>
              <a:rPr lang="de-DE" sz="1800">
                <a:effectLst/>
                <a:latin typeface="TimesLTStd"/>
              </a:rPr>
              <a:t> </a:t>
            </a:r>
            <a:r>
              <a:rPr lang="de-DE" sz="1800" err="1">
                <a:effectLst/>
                <a:latin typeface="TimesLTStd"/>
              </a:rPr>
              <a:t>effect</a:t>
            </a:r>
            <a:r>
              <a:rPr lang="de-DE" sz="1800">
                <a:effectLst/>
                <a:latin typeface="TimesLTStd"/>
              </a:rPr>
              <a:t>, p. 130 and </a:t>
            </a:r>
            <a:r>
              <a:rPr lang="de-DE" sz="1800">
                <a:effectLst/>
                <a:latin typeface="Times" pitchFamily="2" charset="0"/>
              </a:rPr>
              <a:t>Long-run </a:t>
            </a:r>
            <a:r>
              <a:rPr lang="de-DE" sz="1800" err="1">
                <a:effectLst/>
                <a:latin typeface="Times" pitchFamily="2" charset="0"/>
              </a:rPr>
              <a:t>equilibrium</a:t>
            </a:r>
            <a:r>
              <a:rPr lang="de-DE" sz="1800">
                <a:effectLst/>
                <a:latin typeface="Times" pitchFamily="2" charset="0"/>
              </a:rPr>
              <a:t> real </a:t>
            </a:r>
            <a:r>
              <a:rPr lang="de-DE" sz="1800" err="1">
                <a:effectLst/>
                <a:latin typeface="Times" pitchFamily="2" charset="0"/>
              </a:rPr>
              <a:t>exchange</a:t>
            </a:r>
            <a:r>
              <a:rPr lang="de-DE" sz="1800">
                <a:effectLst/>
                <a:latin typeface="Times" pitchFamily="2" charset="0"/>
              </a:rPr>
              <a:t> </a:t>
            </a:r>
            <a:r>
              <a:rPr lang="de-DE" sz="1800" err="1">
                <a:effectLst/>
                <a:latin typeface="Times" pitchFamily="2" charset="0"/>
              </a:rPr>
              <a:t>rates</a:t>
            </a:r>
            <a:r>
              <a:rPr lang="de-DE" sz="1800">
                <a:effectLst/>
                <a:latin typeface="Times" pitchFamily="2" charset="0"/>
              </a:rPr>
              <a:t> and </a:t>
            </a:r>
            <a:r>
              <a:rPr lang="de-DE" sz="1800" err="1">
                <a:effectLst/>
                <a:latin typeface="Times" pitchFamily="2" charset="0"/>
              </a:rPr>
              <a:t>oil</a:t>
            </a:r>
            <a:r>
              <a:rPr lang="de-DE" sz="1800">
                <a:effectLst/>
                <a:latin typeface="Times" pitchFamily="2" charset="0"/>
              </a:rPr>
              <a:t> </a:t>
            </a:r>
            <a:r>
              <a:rPr lang="de-DE" sz="1800" err="1">
                <a:effectLst/>
                <a:latin typeface="Times" pitchFamily="2" charset="0"/>
              </a:rPr>
              <a:t>prices</a:t>
            </a:r>
            <a:r>
              <a:rPr lang="de-DE" sz="1800">
                <a:effectLst/>
                <a:latin typeface="Times" pitchFamily="2" charset="0"/>
              </a:rPr>
              <a:t>, p. 231</a:t>
            </a:r>
            <a:r>
              <a:rPr lang="de-DE" sz="10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  <a:r>
              <a:rPr lang="de-DE" sz="10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800">
                <a:solidFill>
                  <a:srgbClr val="211E1E"/>
                </a:solidFill>
                <a:effectLst/>
                <a:latin typeface="AdvTT5235d5a9"/>
              </a:rPr>
              <a:t>Oil </a:t>
            </a:r>
            <a:r>
              <a:rPr lang="de-DE" sz="1800" err="1">
                <a:solidFill>
                  <a:srgbClr val="211E1E"/>
                </a:solidFill>
                <a:effectLst/>
                <a:latin typeface="AdvTT5235d5a9"/>
              </a:rPr>
              <a:t>price</a:t>
            </a:r>
            <a:r>
              <a:rPr lang="de-DE" sz="180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>
                <a:solidFill>
                  <a:srgbClr val="211E1E"/>
                </a:solidFill>
                <a:effectLst/>
                <a:latin typeface="AdvTT5235d5a9+fb"/>
              </a:rPr>
              <a:t>fl</a:t>
            </a:r>
            <a:r>
              <a:rPr lang="de-DE" sz="1800">
                <a:solidFill>
                  <a:srgbClr val="211E1E"/>
                </a:solidFill>
                <a:effectLst/>
                <a:latin typeface="AdvTT5235d5a9"/>
              </a:rPr>
              <a:t>uctuations and U.S. </a:t>
            </a:r>
            <a:r>
              <a:rPr lang="de-DE" sz="1800" err="1">
                <a:solidFill>
                  <a:srgbClr val="211E1E"/>
                </a:solidFill>
                <a:effectLst/>
                <a:latin typeface="AdvTT5235d5a9"/>
              </a:rPr>
              <a:t>dollar</a:t>
            </a:r>
            <a:r>
              <a:rPr lang="de-DE" sz="180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err="1">
                <a:solidFill>
                  <a:srgbClr val="211E1E"/>
                </a:solidFill>
                <a:effectLst/>
                <a:latin typeface="AdvTT5235d5a9"/>
              </a:rPr>
              <a:t>exchange</a:t>
            </a:r>
            <a:r>
              <a:rPr lang="de-DE" sz="180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err="1">
                <a:solidFill>
                  <a:srgbClr val="211E1E"/>
                </a:solidFill>
                <a:effectLst/>
                <a:latin typeface="AdvTT5235d5a9"/>
              </a:rPr>
              <a:t>rates</a:t>
            </a:r>
            <a:r>
              <a:rPr lang="de-DE" sz="1800">
                <a:solidFill>
                  <a:srgbClr val="211E1E"/>
                </a:solidFill>
                <a:effectLst/>
                <a:latin typeface="AdvTT5235d5a9"/>
              </a:rPr>
              <a:t>, p. 399</a:t>
            </a:r>
            <a:r>
              <a:rPr lang="de-DE" sz="10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0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</a:t>
            </a:r>
            <a:r>
              <a:rPr lang="de-DE" err="1"/>
              <a:t>Schematic</a:t>
            </a:r>
            <a:r>
              <a:rPr lang="de-DE"/>
              <a:t> </a:t>
            </a:r>
            <a:r>
              <a:rPr lang="de-DE" err="1"/>
              <a:t>overview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 and </a:t>
            </a:r>
            <a:r>
              <a:rPr lang="de-DE" err="1"/>
              <a:t>measurements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various</a:t>
            </a:r>
            <a:r>
              <a:rPr lang="de-DE"/>
              <a:t> </a:t>
            </a:r>
            <a:r>
              <a:rPr lang="de-DE" err="1"/>
              <a:t>exchange</a:t>
            </a:r>
            <a:r>
              <a:rPr lang="de-DE"/>
              <a:t> rate </a:t>
            </a:r>
            <a:r>
              <a:rPr lang="de-DE" err="1"/>
              <a:t>types</a:t>
            </a:r>
            <a:r>
              <a:rPr lang="de-DE"/>
              <a:t>.</a:t>
            </a:r>
          </a:p>
          <a:p>
            <a:r>
              <a:rPr lang="de-DE"/>
              <a:t>Sources:</a:t>
            </a:r>
          </a:p>
          <a:p>
            <a:pPr marL="171450" indent="-171450">
              <a:buFontTx/>
              <a:buChar char="-"/>
            </a:pPr>
            <a:r>
              <a:rPr lang="de-DE"/>
              <a:t>[AL22] Garz ´on Antonio J and Hierro Luis A. “</a:t>
            </a:r>
            <a:r>
              <a:rPr lang="de-DE" err="1"/>
              <a:t>Inﬂation</a:t>
            </a:r>
            <a:r>
              <a:rPr lang="de-DE"/>
              <a:t>, </a:t>
            </a:r>
            <a:r>
              <a:rPr lang="de-DE" err="1"/>
              <a:t>oil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 and </a:t>
            </a:r>
            <a:r>
              <a:rPr lang="de-DE" err="1"/>
              <a:t>exchange</a:t>
            </a:r>
            <a:r>
              <a:rPr lang="de-DE"/>
              <a:t> </a:t>
            </a:r>
            <a:r>
              <a:rPr lang="de-DE" err="1"/>
              <a:t>rates</a:t>
            </a:r>
            <a:r>
              <a:rPr lang="de-DE"/>
              <a:t>. The </a:t>
            </a:r>
            <a:r>
              <a:rPr lang="de-DE" err="1"/>
              <a:t>Euro’s</a:t>
            </a:r>
            <a:r>
              <a:rPr lang="de-DE"/>
              <a:t> </a:t>
            </a:r>
            <a:r>
              <a:rPr lang="de-DE" err="1"/>
              <a:t>dampening</a:t>
            </a:r>
            <a:r>
              <a:rPr lang="de-DE"/>
              <a:t> </a:t>
            </a:r>
            <a:r>
              <a:rPr lang="de-DE" err="1"/>
              <a:t>effect</a:t>
            </a:r>
            <a:r>
              <a:rPr lang="de-DE"/>
              <a:t>”. In: Journal </a:t>
            </a:r>
            <a:r>
              <a:rPr lang="de-DE" err="1"/>
              <a:t>of</a:t>
            </a:r>
            <a:r>
              <a:rPr lang="de-DE"/>
              <a:t> Policy Modeling 44.1 (2022). </a:t>
            </a:r>
            <a:r>
              <a:rPr lang="de-DE" err="1"/>
              <a:t>Ref</a:t>
            </a:r>
            <a:r>
              <a:rPr lang="de-DE"/>
              <a:t> </a:t>
            </a:r>
            <a:r>
              <a:rPr lang="de-DE" err="1"/>
              <a:t>Inﬂation</a:t>
            </a:r>
            <a:r>
              <a:rPr lang="de-DE"/>
              <a:t>, p.130, pp. 130–146.</a:t>
            </a:r>
          </a:p>
          <a:p>
            <a:pPr marL="171450" indent="-171450">
              <a:buFontTx/>
              <a:buChar char="-"/>
            </a:pPr>
            <a:r>
              <a:rPr lang="de-DE"/>
              <a:t>[Alo+14] </a:t>
            </a:r>
            <a:r>
              <a:rPr lang="de-DE" err="1"/>
              <a:t>Riadh</a:t>
            </a:r>
            <a:r>
              <a:rPr lang="de-DE"/>
              <a:t> </a:t>
            </a:r>
            <a:r>
              <a:rPr lang="de-DE" err="1"/>
              <a:t>Aloui</a:t>
            </a:r>
            <a:r>
              <a:rPr lang="de-DE"/>
              <a:t> et al. “</a:t>
            </a:r>
            <a:r>
              <a:rPr lang="de-DE" err="1"/>
              <a:t>Dependence</a:t>
            </a:r>
            <a:r>
              <a:rPr lang="de-DE"/>
              <a:t> and extreme </a:t>
            </a:r>
            <a:r>
              <a:rPr lang="de-DE" err="1"/>
              <a:t>dependence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crude</a:t>
            </a:r>
            <a:r>
              <a:rPr lang="de-DE"/>
              <a:t> </a:t>
            </a:r>
            <a:r>
              <a:rPr lang="de-DE" err="1"/>
              <a:t>oil</a:t>
            </a:r>
            <a:r>
              <a:rPr lang="de-DE"/>
              <a:t> and </a:t>
            </a:r>
            <a:r>
              <a:rPr lang="de-DE" err="1"/>
              <a:t>natural</a:t>
            </a:r>
            <a:r>
              <a:rPr lang="de-DE"/>
              <a:t> gas </a:t>
            </a:r>
            <a:r>
              <a:rPr lang="de-DE" err="1"/>
              <a:t>prices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applications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risk</a:t>
            </a:r>
            <a:r>
              <a:rPr lang="de-DE"/>
              <a:t> </a:t>
            </a:r>
            <a:r>
              <a:rPr lang="de-DE" err="1"/>
              <a:t>management</a:t>
            </a:r>
            <a:r>
              <a:rPr lang="de-DE"/>
              <a:t>”. In: Energy Economics 42 (2014). </a:t>
            </a:r>
            <a:r>
              <a:rPr lang="de-DE" err="1"/>
              <a:t>Ref</a:t>
            </a:r>
            <a:r>
              <a:rPr lang="de-DE"/>
              <a:t> (Risk Parity) Portfolio </a:t>
            </a:r>
            <a:r>
              <a:rPr lang="de-DE" err="1"/>
              <a:t>Rebalancing</a:t>
            </a:r>
            <a:r>
              <a:rPr lang="de-DE"/>
              <a:t> </a:t>
            </a:r>
            <a:r>
              <a:rPr lang="de-DE" err="1"/>
              <a:t>Effect</a:t>
            </a:r>
            <a:r>
              <a:rPr lang="de-DE"/>
              <a:t>, p.332, pp. 332–342.</a:t>
            </a:r>
          </a:p>
          <a:p>
            <a:pPr marL="171450" indent="-171450">
              <a:buFontTx/>
              <a:buChar char="-"/>
            </a:pPr>
            <a:r>
              <a:rPr lang="de-DE"/>
              <a:t>[BGS19] Salem </a:t>
            </a:r>
            <a:r>
              <a:rPr lang="de-DE" err="1"/>
              <a:t>Boubakri</a:t>
            </a:r>
            <a:r>
              <a:rPr lang="de-DE"/>
              <a:t>, </a:t>
            </a:r>
            <a:r>
              <a:rPr lang="de-DE" err="1"/>
              <a:t>Cyriac</a:t>
            </a:r>
            <a:r>
              <a:rPr lang="de-DE"/>
              <a:t> </a:t>
            </a:r>
            <a:r>
              <a:rPr lang="de-DE" err="1"/>
              <a:t>Guillaumin</a:t>
            </a:r>
            <a:r>
              <a:rPr lang="de-DE"/>
              <a:t>, and Alexandre </a:t>
            </a:r>
            <a:r>
              <a:rPr lang="de-DE" err="1"/>
              <a:t>Silanine</a:t>
            </a:r>
            <a:r>
              <a:rPr lang="de-DE"/>
              <a:t>. “Non-linear </a:t>
            </a:r>
            <a:r>
              <a:rPr lang="de-DE" err="1"/>
              <a:t>relationship</a:t>
            </a:r>
            <a:r>
              <a:rPr lang="de-DE"/>
              <a:t> </a:t>
            </a:r>
            <a:r>
              <a:rPr lang="de-DE" err="1"/>
              <a:t>between</a:t>
            </a:r>
            <a:r>
              <a:rPr lang="de-DE"/>
              <a:t> real </a:t>
            </a:r>
            <a:r>
              <a:rPr lang="de-DE" err="1"/>
              <a:t>commodity</a:t>
            </a:r>
            <a:r>
              <a:rPr lang="de-DE"/>
              <a:t> </a:t>
            </a:r>
            <a:r>
              <a:rPr lang="de-DE" err="1"/>
              <a:t>price</a:t>
            </a:r>
            <a:r>
              <a:rPr lang="de-DE"/>
              <a:t> </a:t>
            </a:r>
            <a:r>
              <a:rPr lang="de-DE" err="1"/>
              <a:t>volatility</a:t>
            </a:r>
            <a:r>
              <a:rPr lang="de-DE"/>
              <a:t> and real </a:t>
            </a:r>
            <a:r>
              <a:rPr lang="de-DE" err="1"/>
              <a:t>effective</a:t>
            </a:r>
            <a:r>
              <a:rPr lang="de-DE"/>
              <a:t> </a:t>
            </a:r>
            <a:r>
              <a:rPr lang="de-DE" err="1"/>
              <a:t>exchange</a:t>
            </a:r>
            <a:r>
              <a:rPr lang="de-DE"/>
              <a:t> rate: The </a:t>
            </a:r>
            <a:r>
              <a:rPr lang="de-DE" err="1"/>
              <a:t>case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commodity-exporting</a:t>
            </a:r>
            <a:r>
              <a:rPr lang="de-DE"/>
              <a:t> countries”. In: Journal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Macroeconomics</a:t>
            </a:r>
            <a:r>
              <a:rPr lang="de-DE"/>
              <a:t> 60 (2019). </a:t>
            </a:r>
            <a:r>
              <a:rPr lang="de-DE" err="1"/>
              <a:t>Ref</a:t>
            </a:r>
            <a:r>
              <a:rPr lang="de-DE"/>
              <a:t> Oil </a:t>
            </a:r>
            <a:r>
              <a:rPr lang="de-DE" err="1"/>
              <a:t>export</a:t>
            </a:r>
            <a:r>
              <a:rPr lang="de-DE"/>
              <a:t> and </a:t>
            </a:r>
            <a:r>
              <a:rPr lang="de-DE" err="1"/>
              <a:t>import</a:t>
            </a:r>
            <a:r>
              <a:rPr lang="de-DE"/>
              <a:t>, p.212-213, pp. 212–228.</a:t>
            </a:r>
          </a:p>
          <a:p>
            <a:pPr marL="171450" indent="-171450">
              <a:buFontTx/>
              <a:buChar char="-"/>
            </a:pPr>
            <a:r>
              <a:rPr lang="de-DE"/>
              <a:t>[BGW00] Nicolas PB Bollen, Stephen F Gray, and Robert E </a:t>
            </a:r>
            <a:r>
              <a:rPr lang="de-DE" err="1"/>
              <a:t>Whaley</a:t>
            </a:r>
            <a:r>
              <a:rPr lang="de-DE"/>
              <a:t>. “Regime </a:t>
            </a:r>
            <a:r>
              <a:rPr lang="de-DE" err="1"/>
              <a:t>switching</a:t>
            </a:r>
            <a:r>
              <a:rPr lang="de-DE"/>
              <a:t> in </a:t>
            </a:r>
            <a:r>
              <a:rPr lang="de-DE" err="1"/>
              <a:t>foreign</a:t>
            </a:r>
            <a:r>
              <a:rPr lang="de-DE"/>
              <a:t> </a:t>
            </a:r>
            <a:r>
              <a:rPr lang="de-DE" err="1"/>
              <a:t>exchange</a:t>
            </a:r>
            <a:r>
              <a:rPr lang="de-DE"/>
              <a:t> </a:t>
            </a:r>
            <a:r>
              <a:rPr lang="de-DE" err="1"/>
              <a:t>rates</a:t>
            </a:r>
            <a:r>
              <a:rPr lang="de-DE"/>
              <a:t>:: </a:t>
            </a:r>
            <a:r>
              <a:rPr lang="de-DE" err="1"/>
              <a:t>Evidence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</a:t>
            </a:r>
            <a:r>
              <a:rPr lang="de-DE" err="1"/>
              <a:t>currency</a:t>
            </a:r>
            <a:r>
              <a:rPr lang="de-DE"/>
              <a:t> </a:t>
            </a:r>
            <a:r>
              <a:rPr lang="de-DE" err="1"/>
              <a:t>option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”. In: Journal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Econometrics</a:t>
            </a:r>
            <a:r>
              <a:rPr lang="de-DE"/>
              <a:t> 94.1-2 (2000). </a:t>
            </a:r>
            <a:r>
              <a:rPr lang="de-DE" err="1"/>
              <a:t>Ref</a:t>
            </a:r>
            <a:r>
              <a:rPr lang="de-DE"/>
              <a:t> Central Bank Policy, p.240, pp. 239–276.</a:t>
            </a:r>
          </a:p>
          <a:p>
            <a:pPr marL="171450" indent="-171450">
              <a:buFontTx/>
              <a:buChar char="-"/>
            </a:pPr>
            <a:r>
              <a:rPr lang="de-DE"/>
              <a:t>[BHS16a] Syed Abul </a:t>
            </a:r>
            <a:r>
              <a:rPr lang="de-DE" err="1"/>
              <a:t>Basher</a:t>
            </a:r>
            <a:r>
              <a:rPr lang="de-DE"/>
              <a:t>, Alfred A Haug, and Perry </a:t>
            </a:r>
            <a:r>
              <a:rPr lang="de-DE" err="1"/>
              <a:t>Sadorsky</a:t>
            </a:r>
            <a:r>
              <a:rPr lang="de-DE"/>
              <a:t>. “The </a:t>
            </a:r>
            <a:r>
              <a:rPr lang="de-DE" err="1"/>
              <a:t>impact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oil</a:t>
            </a:r>
            <a:r>
              <a:rPr lang="de-DE"/>
              <a:t> </a:t>
            </a:r>
            <a:r>
              <a:rPr lang="de-DE" err="1"/>
              <a:t>shocks</a:t>
            </a:r>
            <a:r>
              <a:rPr lang="de-DE"/>
              <a:t> on </a:t>
            </a:r>
            <a:r>
              <a:rPr lang="de-DE" err="1"/>
              <a:t>exchange</a:t>
            </a:r>
            <a:r>
              <a:rPr lang="de-DE"/>
              <a:t> </a:t>
            </a:r>
            <a:r>
              <a:rPr lang="de-DE" err="1"/>
              <a:t>rates</a:t>
            </a:r>
            <a:r>
              <a:rPr lang="de-DE"/>
              <a:t>: A Markov-</a:t>
            </a:r>
            <a:r>
              <a:rPr lang="de-DE" err="1"/>
              <a:t>switching</a:t>
            </a:r>
            <a:r>
              <a:rPr lang="de-DE"/>
              <a:t> </a:t>
            </a:r>
            <a:r>
              <a:rPr lang="de-DE" err="1"/>
              <a:t>approach</a:t>
            </a:r>
            <a:r>
              <a:rPr lang="de-DE"/>
              <a:t>”. In: Energy Economics 54 (2016). </a:t>
            </a:r>
            <a:r>
              <a:rPr lang="de-DE" err="1"/>
              <a:t>Ref</a:t>
            </a:r>
            <a:r>
              <a:rPr lang="de-DE"/>
              <a:t> (US) Terms </a:t>
            </a:r>
            <a:r>
              <a:rPr lang="de-DE" err="1"/>
              <a:t>of</a:t>
            </a:r>
            <a:r>
              <a:rPr lang="de-DE"/>
              <a:t> Trade </a:t>
            </a:r>
            <a:r>
              <a:rPr lang="de-DE" err="1"/>
              <a:t>Effect</a:t>
            </a:r>
            <a:r>
              <a:rPr lang="de-DE"/>
              <a:t>, p.11, pp. 11–23.</a:t>
            </a:r>
          </a:p>
          <a:p>
            <a:pPr marL="171450" indent="-171450">
              <a:buFontTx/>
              <a:buChar char="-"/>
            </a:pPr>
            <a:r>
              <a:rPr lang="de-DE"/>
              <a:t>[CDK12] Am ´</a:t>
            </a:r>
            <a:r>
              <a:rPr lang="de-DE" err="1"/>
              <a:t>elie</a:t>
            </a:r>
            <a:r>
              <a:rPr lang="de-DE"/>
              <a:t> Charles, Olivier </a:t>
            </a:r>
            <a:r>
              <a:rPr lang="de-DE" err="1"/>
              <a:t>Darn</a:t>
            </a:r>
            <a:r>
              <a:rPr lang="de-DE"/>
              <a:t> ´</a:t>
            </a:r>
            <a:r>
              <a:rPr lang="de-DE" err="1"/>
              <a:t>e</a:t>
            </a:r>
            <a:r>
              <a:rPr lang="de-DE"/>
              <a:t>, and Jae H Kim. “Exchange-rate </a:t>
            </a:r>
            <a:r>
              <a:rPr lang="de-DE" err="1"/>
              <a:t>return</a:t>
            </a:r>
            <a:r>
              <a:rPr lang="de-DE"/>
              <a:t> </a:t>
            </a:r>
            <a:r>
              <a:rPr lang="de-DE" err="1"/>
              <a:t>predictability</a:t>
            </a:r>
            <a:r>
              <a:rPr lang="de-DE"/>
              <a:t> and </a:t>
            </a:r>
            <a:r>
              <a:rPr lang="de-DE" err="1"/>
              <a:t>the</a:t>
            </a:r>
            <a:r>
              <a:rPr lang="de-DE"/>
              <a:t> adaptive </a:t>
            </a:r>
            <a:r>
              <a:rPr lang="de-DE" err="1"/>
              <a:t>markets</a:t>
            </a:r>
            <a:r>
              <a:rPr lang="de-DE"/>
              <a:t> </a:t>
            </a:r>
            <a:r>
              <a:rPr lang="de-DE" err="1"/>
              <a:t>hypothesis</a:t>
            </a:r>
            <a:r>
              <a:rPr lang="de-DE"/>
              <a:t>: </a:t>
            </a:r>
            <a:r>
              <a:rPr lang="de-DE" err="1"/>
              <a:t>Evidence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</a:t>
            </a:r>
            <a:r>
              <a:rPr lang="de-DE" err="1"/>
              <a:t>major</a:t>
            </a:r>
            <a:r>
              <a:rPr lang="de-DE"/>
              <a:t> </a:t>
            </a:r>
            <a:r>
              <a:rPr lang="de-DE" err="1"/>
              <a:t>foreign</a:t>
            </a:r>
            <a:r>
              <a:rPr lang="de-DE"/>
              <a:t> </a:t>
            </a:r>
            <a:r>
              <a:rPr lang="de-DE" err="1"/>
              <a:t>exchange</a:t>
            </a:r>
            <a:r>
              <a:rPr lang="de-DE"/>
              <a:t> </a:t>
            </a:r>
            <a:r>
              <a:rPr lang="de-DE" err="1"/>
              <a:t>rates</a:t>
            </a:r>
            <a:r>
              <a:rPr lang="de-DE"/>
              <a:t>”. In: Journal </a:t>
            </a:r>
            <a:r>
              <a:rPr lang="de-DE" err="1"/>
              <a:t>of</a:t>
            </a:r>
            <a:r>
              <a:rPr lang="de-DE"/>
              <a:t> International Money and Finance 31.6 (2012). </a:t>
            </a:r>
            <a:r>
              <a:rPr lang="de-DE" err="1"/>
              <a:t>Ref</a:t>
            </a:r>
            <a:r>
              <a:rPr lang="de-DE"/>
              <a:t> Adaptive Market Hypothesis , p.1607; </a:t>
            </a:r>
            <a:r>
              <a:rPr lang="de-DE" err="1"/>
              <a:t>Ref</a:t>
            </a:r>
            <a:r>
              <a:rPr lang="de-DE"/>
              <a:t> Fundamental Shock, p.1607, pp. 1607–1626.</a:t>
            </a:r>
          </a:p>
          <a:p>
            <a:pPr marL="171450" indent="-171450">
              <a:buFontTx/>
              <a:buChar char="-"/>
            </a:pPr>
            <a:r>
              <a:rPr lang="de-DE"/>
              <a:t>[Evg18] Anastasios </a:t>
            </a:r>
            <a:r>
              <a:rPr lang="de-DE" err="1"/>
              <a:t>Evgenidis</a:t>
            </a:r>
            <a:r>
              <a:rPr lang="de-DE"/>
              <a:t>. “Do all </a:t>
            </a:r>
            <a:r>
              <a:rPr lang="de-DE" err="1"/>
              <a:t>oil</a:t>
            </a:r>
            <a:r>
              <a:rPr lang="de-DE"/>
              <a:t> </a:t>
            </a:r>
            <a:r>
              <a:rPr lang="de-DE" err="1"/>
              <a:t>price</a:t>
            </a:r>
            <a:r>
              <a:rPr lang="de-DE"/>
              <a:t> </a:t>
            </a:r>
            <a:r>
              <a:rPr lang="de-DE" err="1"/>
              <a:t>shocks</a:t>
            </a:r>
            <a:r>
              <a:rPr lang="de-DE"/>
              <a:t> </a:t>
            </a:r>
            <a:r>
              <a:rPr lang="de-DE" err="1"/>
              <a:t>have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same </a:t>
            </a:r>
            <a:r>
              <a:rPr lang="de-DE" err="1"/>
              <a:t>impact</a:t>
            </a:r>
            <a:r>
              <a:rPr lang="de-DE"/>
              <a:t>? </a:t>
            </a:r>
            <a:r>
              <a:rPr lang="de-DE" err="1"/>
              <a:t>Evidence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euro</a:t>
            </a:r>
            <a:r>
              <a:rPr lang="de-DE"/>
              <a:t> </a:t>
            </a:r>
            <a:r>
              <a:rPr lang="de-DE" err="1"/>
              <a:t>area</a:t>
            </a:r>
            <a:r>
              <a:rPr lang="de-DE"/>
              <a:t>”. In: Finance Research Letters 26 (2018). </a:t>
            </a:r>
            <a:r>
              <a:rPr lang="de-DE" err="1"/>
              <a:t>Ref</a:t>
            </a:r>
            <a:r>
              <a:rPr lang="de-DE"/>
              <a:t> Business Cycle and </a:t>
            </a:r>
            <a:r>
              <a:rPr lang="de-DE" err="1"/>
              <a:t>Uncertainty</a:t>
            </a:r>
            <a:r>
              <a:rPr lang="de-DE"/>
              <a:t>, p.151, pp. 150–155.</a:t>
            </a:r>
          </a:p>
          <a:p>
            <a:pPr marL="171450" indent="-171450">
              <a:buFontTx/>
              <a:buChar char="-"/>
            </a:pPr>
            <a:r>
              <a:rPr lang="de-DE"/>
              <a:t>[FF16] Eugene F Fama and Kenneth R French. “</a:t>
            </a:r>
            <a:r>
              <a:rPr lang="de-DE" err="1"/>
              <a:t>Commodity</a:t>
            </a:r>
            <a:r>
              <a:rPr lang="de-DE"/>
              <a:t> </a:t>
            </a:r>
            <a:r>
              <a:rPr lang="de-DE" err="1"/>
              <a:t>futures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: </a:t>
            </a:r>
            <a:r>
              <a:rPr lang="de-DE" err="1"/>
              <a:t>Some</a:t>
            </a:r>
            <a:r>
              <a:rPr lang="de-DE"/>
              <a:t> </a:t>
            </a:r>
            <a:r>
              <a:rPr lang="de-DE" err="1"/>
              <a:t>evidence</a:t>
            </a:r>
            <a:r>
              <a:rPr lang="de-DE"/>
              <a:t> on </a:t>
            </a:r>
            <a:r>
              <a:rPr lang="de-DE" err="1"/>
              <a:t>forecast</a:t>
            </a:r>
            <a:r>
              <a:rPr lang="de-DE"/>
              <a:t> power, </a:t>
            </a:r>
            <a:r>
              <a:rPr lang="de-DE" err="1"/>
              <a:t>premiums</a:t>
            </a:r>
            <a:r>
              <a:rPr lang="de-DE"/>
              <a:t>, and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theory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storage</a:t>
            </a:r>
            <a:r>
              <a:rPr lang="de-DE"/>
              <a:t>”. In: The World </a:t>
            </a:r>
            <a:r>
              <a:rPr lang="de-DE" err="1"/>
              <a:t>Scientiﬁc</a:t>
            </a:r>
            <a:r>
              <a:rPr lang="de-DE"/>
              <a:t> Handbook </a:t>
            </a:r>
            <a:r>
              <a:rPr lang="de-DE" err="1"/>
              <a:t>of</a:t>
            </a:r>
            <a:r>
              <a:rPr lang="de-DE"/>
              <a:t> Futures </a:t>
            </a:r>
            <a:r>
              <a:rPr lang="de-DE" err="1"/>
              <a:t>Markets</a:t>
            </a:r>
            <a:r>
              <a:rPr lang="de-DE"/>
              <a:t>. </a:t>
            </a:r>
            <a:r>
              <a:rPr lang="de-DE" err="1"/>
              <a:t>Ref</a:t>
            </a:r>
            <a:r>
              <a:rPr lang="de-DE"/>
              <a:t> Theory </a:t>
            </a:r>
            <a:r>
              <a:rPr lang="de-DE" err="1"/>
              <a:t>of</a:t>
            </a:r>
            <a:r>
              <a:rPr lang="de-DE"/>
              <a:t> Storage, p.1; </a:t>
            </a:r>
            <a:r>
              <a:rPr lang="de-DE" err="1"/>
              <a:t>Ref</a:t>
            </a:r>
            <a:r>
              <a:rPr lang="de-DE"/>
              <a:t> </a:t>
            </a:r>
            <a:r>
              <a:rPr lang="de-DE" err="1"/>
              <a:t>Expected</a:t>
            </a:r>
            <a:r>
              <a:rPr lang="de-DE"/>
              <a:t> Risk Premium, p.1; </a:t>
            </a:r>
            <a:r>
              <a:rPr lang="de-DE" err="1"/>
              <a:t>Ref</a:t>
            </a:r>
            <a:r>
              <a:rPr lang="de-DE"/>
              <a:t> Spot – Future </a:t>
            </a:r>
            <a:r>
              <a:rPr lang="de-DE" err="1"/>
              <a:t>Divergence</a:t>
            </a:r>
            <a:r>
              <a:rPr lang="de-DE"/>
              <a:t>, p. 1. World </a:t>
            </a:r>
            <a:r>
              <a:rPr lang="de-DE" err="1"/>
              <a:t>Scientiﬁc</a:t>
            </a:r>
            <a:r>
              <a:rPr lang="de-DE"/>
              <a:t>, 2016, pp. 79–10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Main </a:t>
            </a:r>
            <a:r>
              <a:rPr lang="de-DE" err="1"/>
              <a:t>theoretical</a:t>
            </a:r>
            <a:r>
              <a:rPr lang="de-DE"/>
              <a:t> </a:t>
            </a:r>
            <a:r>
              <a:rPr lang="de-DE" err="1"/>
              <a:t>framework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seminar</a:t>
            </a:r>
            <a:r>
              <a:rPr lang="de-DE"/>
              <a:t> </a:t>
            </a:r>
            <a:r>
              <a:rPr lang="de-DE" err="1"/>
              <a:t>project</a:t>
            </a:r>
            <a:r>
              <a:rPr lang="de-DE"/>
              <a:t> </a:t>
            </a:r>
            <a:r>
              <a:rPr lang="de-DE" err="1"/>
              <a:t>analysis</a:t>
            </a:r>
            <a:r>
              <a:rPr lang="de-DE"/>
              <a:t>, </a:t>
            </a:r>
            <a:r>
              <a:rPr lang="de-DE" err="1"/>
              <a:t>inﬂation</a:t>
            </a:r>
            <a:r>
              <a:rPr lang="de-DE"/>
              <a:t> pass-</a:t>
            </a:r>
            <a:r>
              <a:rPr lang="de-DE" err="1"/>
              <a:t>through</a:t>
            </a:r>
            <a:r>
              <a:rPr lang="de-DE"/>
              <a:t> </a:t>
            </a:r>
            <a:r>
              <a:rPr lang="de-DE" err="1"/>
              <a:t>effect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energy</a:t>
            </a:r>
            <a:r>
              <a:rPr lang="de-DE"/>
              <a:t> </a:t>
            </a:r>
            <a:r>
              <a:rPr lang="de-DE" err="1"/>
              <a:t>commodity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.</a:t>
            </a:r>
          </a:p>
          <a:p>
            <a:r>
              <a:rPr lang="de-DE"/>
              <a:t>Sources:</a:t>
            </a:r>
          </a:p>
          <a:p>
            <a:pPr marL="171450" indent="-171450">
              <a:buFontTx/>
              <a:buChar char="-"/>
            </a:pPr>
            <a:r>
              <a:rPr lang="de-DE"/>
              <a:t>Own Illustration </a:t>
            </a:r>
            <a:r>
              <a:rPr lang="de-DE" err="1"/>
              <a:t>based</a:t>
            </a:r>
            <a:r>
              <a:rPr lang="de-DE"/>
              <a:t> on [OUS20], Figure 3, </a:t>
            </a:r>
            <a:r>
              <a:rPr lang="de-DE" err="1"/>
              <a:t>page</a:t>
            </a:r>
            <a:r>
              <a:rPr lang="de-DE"/>
              <a:t> 3.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22B50-0B74-BD45-0208-932BDC367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9EE5A5C-44EE-51BD-52D9-0C8BAF306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075774-D900-BE82-B783-D2709FFB2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theoretical framework for the seminar project analysis, main variables and benchmark models used.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415B48-72A9-6227-B672-BF16C38B0D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8703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Main </a:t>
            </a:r>
            <a:r>
              <a:rPr lang="de-DE" err="1"/>
              <a:t>theoretical</a:t>
            </a:r>
            <a:r>
              <a:rPr lang="de-DE"/>
              <a:t> </a:t>
            </a:r>
            <a:r>
              <a:rPr lang="de-DE" err="1"/>
              <a:t>framework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seminar</a:t>
            </a:r>
            <a:r>
              <a:rPr lang="de-DE"/>
              <a:t> </a:t>
            </a:r>
            <a:r>
              <a:rPr lang="de-DE" err="1"/>
              <a:t>project</a:t>
            </a:r>
            <a:r>
              <a:rPr lang="de-DE"/>
              <a:t> </a:t>
            </a:r>
            <a:r>
              <a:rPr lang="de-DE" err="1"/>
              <a:t>analysis</a:t>
            </a:r>
            <a:r>
              <a:rPr lang="de-DE"/>
              <a:t>, </a:t>
            </a:r>
            <a:r>
              <a:rPr lang="de-DE" err="1"/>
              <a:t>main</a:t>
            </a:r>
            <a:r>
              <a:rPr lang="de-DE"/>
              <a:t> variables and benchmark </a:t>
            </a:r>
            <a:r>
              <a:rPr lang="de-DE" err="1"/>
              <a:t>models</a:t>
            </a:r>
            <a:r>
              <a:rPr lang="de-DE"/>
              <a:t> </a:t>
            </a:r>
            <a:r>
              <a:rPr lang="de-DE" err="1"/>
              <a:t>used</a:t>
            </a:r>
            <a:r>
              <a:rPr lang="de-DE"/>
              <a:t>.</a:t>
            </a:r>
          </a:p>
          <a:p>
            <a:r>
              <a:rPr lang="de-DE"/>
              <a:t>Sources:</a:t>
            </a:r>
          </a:p>
          <a:p>
            <a:pPr marL="171450" indent="-171450">
              <a:buFontTx/>
              <a:buChar char="-"/>
            </a:pPr>
            <a:r>
              <a:rPr lang="de-DE"/>
              <a:t>Own Illustration.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Main </a:t>
            </a:r>
            <a:r>
              <a:rPr lang="de-DE" err="1"/>
              <a:t>theoretical</a:t>
            </a:r>
            <a:r>
              <a:rPr lang="de-DE"/>
              <a:t> </a:t>
            </a:r>
            <a:r>
              <a:rPr lang="de-DE" err="1"/>
              <a:t>framework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seminar</a:t>
            </a:r>
            <a:r>
              <a:rPr lang="de-DE"/>
              <a:t> </a:t>
            </a:r>
            <a:r>
              <a:rPr lang="de-DE" err="1"/>
              <a:t>project</a:t>
            </a:r>
            <a:r>
              <a:rPr lang="de-DE"/>
              <a:t> </a:t>
            </a:r>
            <a:r>
              <a:rPr lang="de-DE" err="1"/>
              <a:t>analysis</a:t>
            </a:r>
            <a:r>
              <a:rPr lang="de-DE"/>
              <a:t>, </a:t>
            </a:r>
            <a:r>
              <a:rPr lang="de-DE" err="1"/>
              <a:t>main</a:t>
            </a:r>
            <a:r>
              <a:rPr lang="de-DE"/>
              <a:t> </a:t>
            </a:r>
            <a:r>
              <a:rPr lang="de-DE" err="1"/>
              <a:t>algorithms</a:t>
            </a:r>
            <a:r>
              <a:rPr lang="de-DE"/>
              <a:t> </a:t>
            </a:r>
            <a:r>
              <a:rPr lang="de-DE" err="1"/>
              <a:t>used</a:t>
            </a:r>
            <a:r>
              <a:rPr lang="de-DE"/>
              <a:t>.</a:t>
            </a:r>
          </a:p>
          <a:p>
            <a:r>
              <a:rPr lang="de-DE"/>
              <a:t>Sources:</a:t>
            </a:r>
          </a:p>
          <a:p>
            <a:pPr marL="171450" indent="-171450">
              <a:buFontTx/>
              <a:buChar char="-"/>
            </a:pPr>
            <a:r>
              <a:rPr lang="de-DE"/>
              <a:t>Own Illustration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err="1"/>
              <a:t>formulas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[Rei25], </a:t>
            </a:r>
            <a:r>
              <a:rPr lang="de-DE" err="1"/>
              <a:t>section</a:t>
            </a:r>
            <a:r>
              <a:rPr lang="de-DE"/>
              <a:t> ”Modeling </a:t>
            </a:r>
            <a:r>
              <a:rPr lang="de-DE" err="1"/>
              <a:t>Nonlinearities</a:t>
            </a:r>
            <a:r>
              <a:rPr lang="de-DE"/>
              <a:t> I: Markov-</a:t>
            </a:r>
            <a:r>
              <a:rPr lang="de-DE" err="1"/>
              <a:t>Switching</a:t>
            </a:r>
            <a:r>
              <a:rPr lang="de-DE"/>
              <a:t>”, </a:t>
            </a:r>
            <a:r>
              <a:rPr lang="de-DE" err="1"/>
              <a:t>page</a:t>
            </a:r>
            <a:r>
              <a:rPr lang="de-DE"/>
              <a:t> 7-15 and </a:t>
            </a:r>
            <a:r>
              <a:rPr lang="de-DE" err="1"/>
              <a:t>algorithms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[dev24a] and </a:t>
            </a:r>
            <a:r>
              <a:rPr lang="de-DE" err="1"/>
              <a:t>implemented</a:t>
            </a:r>
            <a:r>
              <a:rPr lang="de-DE"/>
              <a:t> in [Fou24].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Main </a:t>
            </a:r>
            <a:r>
              <a:rPr lang="de-DE" err="1"/>
              <a:t>theoretical</a:t>
            </a:r>
            <a:r>
              <a:rPr lang="de-DE"/>
              <a:t> </a:t>
            </a:r>
            <a:r>
              <a:rPr lang="de-DE" err="1"/>
              <a:t>framework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seminar</a:t>
            </a:r>
            <a:r>
              <a:rPr lang="de-DE"/>
              <a:t> </a:t>
            </a:r>
            <a:r>
              <a:rPr lang="de-DE" err="1"/>
              <a:t>project</a:t>
            </a:r>
            <a:r>
              <a:rPr lang="de-DE"/>
              <a:t> </a:t>
            </a:r>
            <a:r>
              <a:rPr lang="de-DE" err="1"/>
              <a:t>analysis</a:t>
            </a:r>
            <a:r>
              <a:rPr lang="de-DE"/>
              <a:t>, </a:t>
            </a:r>
            <a:r>
              <a:rPr lang="de-DE" err="1"/>
              <a:t>main</a:t>
            </a:r>
            <a:r>
              <a:rPr lang="de-DE"/>
              <a:t> </a:t>
            </a:r>
            <a:r>
              <a:rPr lang="de-DE" err="1"/>
              <a:t>evaluation</a:t>
            </a:r>
            <a:r>
              <a:rPr lang="de-DE"/>
              <a:t> </a:t>
            </a:r>
            <a:r>
              <a:rPr lang="de-DE" err="1"/>
              <a:t>metrics</a:t>
            </a:r>
            <a:r>
              <a:rPr lang="de-DE"/>
              <a:t> and </a:t>
            </a:r>
            <a:r>
              <a:rPr lang="de-DE" err="1"/>
              <a:t>crisis</a:t>
            </a:r>
            <a:r>
              <a:rPr lang="de-DE"/>
              <a:t> </a:t>
            </a:r>
            <a:r>
              <a:rPr lang="de-DE" err="1"/>
              <a:t>periods</a:t>
            </a:r>
            <a:r>
              <a:rPr lang="de-DE"/>
              <a:t> </a:t>
            </a:r>
            <a:r>
              <a:rPr lang="de-DE" err="1"/>
              <a:t>used</a:t>
            </a:r>
            <a:r>
              <a:rPr lang="de-DE"/>
              <a:t>.</a:t>
            </a:r>
          </a:p>
          <a:p>
            <a:r>
              <a:rPr lang="de-DE"/>
              <a:t>Sources:</a:t>
            </a:r>
          </a:p>
          <a:p>
            <a:pPr marL="171450" indent="-171450">
              <a:buFontTx/>
              <a:buChar char="-"/>
            </a:pPr>
            <a:r>
              <a:rPr lang="de-DE"/>
              <a:t>Own Illustration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err="1"/>
              <a:t>data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[St 25a], last </a:t>
            </a:r>
            <a:r>
              <a:rPr lang="de-DE" err="1"/>
              <a:t>accessed</a:t>
            </a:r>
            <a:r>
              <a:rPr lang="de-DE"/>
              <a:t> 24.10.25.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Figure: Main </a:t>
            </a:r>
            <a:r>
              <a:rPr lang="de-DE" err="1"/>
              <a:t>theoretical</a:t>
            </a:r>
            <a:r>
              <a:rPr lang="de-DE"/>
              <a:t> </a:t>
            </a:r>
            <a:r>
              <a:rPr lang="de-DE" err="1"/>
              <a:t>framework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seminar</a:t>
            </a:r>
            <a:r>
              <a:rPr lang="de-DE"/>
              <a:t> </a:t>
            </a:r>
            <a:r>
              <a:rPr lang="de-DE" err="1"/>
              <a:t>project</a:t>
            </a:r>
            <a:r>
              <a:rPr lang="de-DE"/>
              <a:t> </a:t>
            </a:r>
            <a:r>
              <a:rPr lang="de-DE" err="1"/>
              <a:t>analysis</a:t>
            </a:r>
            <a:r>
              <a:rPr lang="de-DE"/>
              <a:t>, </a:t>
            </a:r>
            <a:r>
              <a:rPr lang="de-DE" err="1"/>
              <a:t>testing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regime</a:t>
            </a:r>
            <a:r>
              <a:rPr lang="de-DE"/>
              <a:t> </a:t>
            </a:r>
            <a:r>
              <a:rPr lang="de-DE" err="1"/>
              <a:t>dependent</a:t>
            </a:r>
            <a:r>
              <a:rPr lang="de-DE"/>
              <a:t> UIP-</a:t>
            </a:r>
            <a:r>
              <a:rPr lang="de-DE" err="1"/>
              <a:t>relationship</a:t>
            </a:r>
            <a:r>
              <a:rPr lang="de-DE"/>
              <a:t>.</a:t>
            </a:r>
          </a:p>
          <a:p>
            <a:r>
              <a:rPr lang="de-DE"/>
              <a:t>Sources:</a:t>
            </a:r>
          </a:p>
          <a:p>
            <a:pPr marL="171450" indent="-171450">
              <a:buFontTx/>
              <a:buChar char="-"/>
            </a:pPr>
            <a:r>
              <a:rPr lang="de-DE"/>
              <a:t>Own Illustration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err="1"/>
              <a:t>formulas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 [Rei25], </a:t>
            </a:r>
            <a:r>
              <a:rPr lang="de-DE" err="1"/>
              <a:t>section</a:t>
            </a:r>
            <a:r>
              <a:rPr lang="de-DE"/>
              <a:t> ”Modeling </a:t>
            </a:r>
            <a:r>
              <a:rPr lang="de-DE" err="1"/>
              <a:t>Nonlinearities</a:t>
            </a:r>
            <a:r>
              <a:rPr lang="de-DE"/>
              <a:t> I: Markov-</a:t>
            </a:r>
            <a:r>
              <a:rPr lang="de-DE" err="1"/>
              <a:t>Switching</a:t>
            </a:r>
            <a:r>
              <a:rPr lang="de-DE"/>
              <a:t>”, </a:t>
            </a:r>
            <a:r>
              <a:rPr lang="de-DE" err="1"/>
              <a:t>page</a:t>
            </a:r>
            <a:r>
              <a:rPr lang="de-DE"/>
              <a:t> 7-15.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 err="1"/>
              <a:t>Identifying</a:t>
            </a:r>
            <a:r>
              <a:rPr lang="de-DE" sz="3000" b="1"/>
              <a:t> (</a:t>
            </a:r>
            <a:r>
              <a:rPr lang="de-DE" sz="3000" b="1" err="1"/>
              <a:t>volatility</a:t>
            </a:r>
            <a:r>
              <a:rPr lang="de-DE" sz="3000" b="1"/>
              <a:t>-)</a:t>
            </a:r>
            <a:r>
              <a:rPr lang="de-DE" sz="3000" b="1" err="1"/>
              <a:t>regimes</a:t>
            </a:r>
            <a:r>
              <a:rPr lang="de-DE" sz="3000" b="1"/>
              <a:t> in </a:t>
            </a:r>
            <a:r>
              <a:rPr lang="de-DE" sz="3000" b="1" err="1"/>
              <a:t>the</a:t>
            </a:r>
            <a:r>
              <a:rPr lang="de-DE" sz="3000" b="1"/>
              <a:t> </a:t>
            </a:r>
            <a:r>
              <a:rPr lang="de-DE" sz="3000" b="1" err="1"/>
              <a:t>the</a:t>
            </a:r>
            <a:r>
              <a:rPr lang="de-DE" sz="3000" b="1"/>
              <a:t> EUR/USD</a:t>
            </a:r>
          </a:p>
          <a:p>
            <a:pPr algn="ctr"/>
            <a:r>
              <a:rPr lang="de-DE" sz="3000" b="1" err="1"/>
              <a:t>spot</a:t>
            </a:r>
            <a:r>
              <a:rPr lang="de-DE" sz="3000" b="1"/>
              <a:t> </a:t>
            </a:r>
            <a:r>
              <a:rPr lang="de-DE" sz="3000" b="1" err="1"/>
              <a:t>exchange</a:t>
            </a:r>
            <a:r>
              <a:rPr lang="de-DE" sz="3000" b="1"/>
              <a:t> rate </a:t>
            </a:r>
            <a:r>
              <a:rPr lang="de-DE" sz="3000" b="1" err="1"/>
              <a:t>using</a:t>
            </a:r>
            <a:r>
              <a:rPr lang="de-DE" sz="3000" b="1"/>
              <a:t> </a:t>
            </a:r>
            <a:r>
              <a:rPr lang="de-DE" sz="3000" b="1" err="1"/>
              <a:t>clustering</a:t>
            </a:r>
            <a:r>
              <a:rPr lang="de-DE" sz="3000" b="1"/>
              <a:t> </a:t>
            </a:r>
            <a:r>
              <a:rPr lang="de-DE" sz="3000" b="1" err="1"/>
              <a:t>algorithms</a:t>
            </a:r>
            <a:r>
              <a:rPr lang="de-DE" sz="3000" b="1"/>
              <a:t>:</a:t>
            </a:r>
          </a:p>
          <a:p>
            <a:pPr algn="ctr"/>
            <a:r>
              <a:rPr lang="de-DE" sz="3000" b="1"/>
              <a:t>An Oil and Gas </a:t>
            </a:r>
            <a:r>
              <a:rPr lang="de-DE" sz="3000" b="1" err="1"/>
              <a:t>Perspective</a:t>
            </a:r>
            <a:r>
              <a:rPr lang="de-DE" sz="3000" b="1"/>
              <a:t> on Parity </a:t>
            </a:r>
            <a:r>
              <a:rPr lang="de-DE" sz="3000" b="1" err="1"/>
              <a:t>Conditions</a:t>
            </a:r>
            <a:r>
              <a:rPr lang="de-DE" sz="3000" b="1"/>
              <a:t>.</a:t>
            </a: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/Seminar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7251B7F4-2291-74BA-F3E7-349C8DFA29BC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4123594" y="2849865"/>
            <a:ext cx="636862" cy="1537992"/>
          </a:xfrm>
          <a:prstGeom prst="bentConnector3">
            <a:avLst>
              <a:gd name="adj1" fmla="val 7728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r>
              <a:rPr lang="de-DE" sz="1400" b="1" spc="-1" baseline="30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721603" y="4279857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2020" y="2785471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143949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572720" y="4559503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15226" y="273778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60456" y="27418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257773" y="2048495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4928625" y="5330252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253809" y="427009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408456" y="4503239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572720" y="4891295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174559" y="3094996"/>
            <a:ext cx="1728000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735700" y="5330252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6F90299-E4E6-4840-3DEA-02C2F4B47B65}"/>
              </a:ext>
            </a:extLst>
          </p:cNvPr>
          <p:cNvSpPr/>
          <p:nvPr/>
        </p:nvSpPr>
        <p:spPr>
          <a:xfrm>
            <a:off x="2803691" y="4725778"/>
            <a:ext cx="13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Theory of Storage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476D061-20A1-950A-6E01-BA9074430BB2}"/>
              </a:ext>
            </a:extLst>
          </p:cNvPr>
          <p:cNvSpPr/>
          <p:nvPr/>
        </p:nvSpPr>
        <p:spPr>
          <a:xfrm>
            <a:off x="2445691" y="5028015"/>
            <a:ext cx="169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Expected Risk Premium</a:t>
            </a:r>
          </a:p>
        </p:txBody>
      </p:sp>
      <p:cxnSp>
        <p:nvCxnSpPr>
          <p:cNvPr id="38" name="Gewinkelte Verbindung 37">
            <a:extLst>
              <a:ext uri="{FF2B5EF4-FFF2-40B4-BE49-F238E27FC236}">
                <a16:creationId xmlns:a16="http://schemas.microsoft.com/office/drawing/2014/main" id="{2B698803-F44F-92D9-D744-F18E762AE8B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867460" y="4504772"/>
            <a:ext cx="936231" cy="329006"/>
          </a:xfrm>
          <a:prstGeom prst="bentConnector3">
            <a:avLst>
              <a:gd name="adj1" fmla="val -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winkelte Verbindung 40">
            <a:extLst>
              <a:ext uri="{FF2B5EF4-FFF2-40B4-BE49-F238E27FC236}">
                <a16:creationId xmlns:a16="http://schemas.microsoft.com/office/drawing/2014/main" id="{F2E07749-C7C5-D03A-BAC6-282D39E61387}"/>
              </a:ext>
            </a:extLst>
          </p:cNvPr>
          <p:cNvCxnSpPr>
            <a:cxnSpLocks/>
            <a:endCxn id="36" idx="1"/>
          </p:cNvCxnSpPr>
          <p:nvPr/>
        </p:nvCxnSpPr>
        <p:spPr>
          <a:xfrm rot="16200000" flipH="1">
            <a:off x="1829635" y="4519958"/>
            <a:ext cx="645599" cy="586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6396FB7-F7AD-F734-8467-C7B76302F764}"/>
              </a:ext>
            </a:extLst>
          </p:cNvPr>
          <p:cNvSpPr/>
          <p:nvPr/>
        </p:nvSpPr>
        <p:spPr>
          <a:xfrm rot="16200000">
            <a:off x="195369" y="4852086"/>
            <a:ext cx="1800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</a:p>
        </p:txBody>
      </p:sp>
      <p:sp>
        <p:nvSpPr>
          <p:cNvPr id="49" name="Geschweifte Klammer links 48">
            <a:extLst>
              <a:ext uri="{FF2B5EF4-FFF2-40B4-BE49-F238E27FC236}">
                <a16:creationId xmlns:a16="http://schemas.microsoft.com/office/drawing/2014/main" id="{147954C5-3C02-AC94-7CD9-4A825155F3B8}"/>
              </a:ext>
            </a:extLst>
          </p:cNvPr>
          <p:cNvSpPr/>
          <p:nvPr/>
        </p:nvSpPr>
        <p:spPr>
          <a:xfrm>
            <a:off x="1255042" y="4270090"/>
            <a:ext cx="419165" cy="1276161"/>
          </a:xfrm>
          <a:prstGeom prst="leftBrace">
            <a:avLst>
              <a:gd name="adj1" fmla="val 8333"/>
              <a:gd name="adj2" fmla="val 515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605E380-74E6-9316-4410-2F9D1B95C05F}"/>
              </a:ext>
            </a:extLst>
          </p:cNvPr>
          <p:cNvSpPr/>
          <p:nvPr/>
        </p:nvSpPr>
        <p:spPr>
          <a:xfrm>
            <a:off x="9076676" y="4615866"/>
            <a:ext cx="1605757" cy="344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Uncertainty</a:t>
            </a:r>
          </a:p>
        </p:txBody>
      </p:sp>
      <p:cxnSp>
        <p:nvCxnSpPr>
          <p:cNvPr id="53" name="Gewinkelte Verbindung 52">
            <a:extLst>
              <a:ext uri="{FF2B5EF4-FFF2-40B4-BE49-F238E27FC236}">
                <a16:creationId xmlns:a16="http://schemas.microsoft.com/office/drawing/2014/main" id="{34006D93-F4B6-B129-FE04-761CFA0687E2}"/>
              </a:ext>
            </a:extLst>
          </p:cNvPr>
          <p:cNvCxnSpPr>
            <a:cxnSpLocks/>
            <a:endCxn id="50" idx="1"/>
          </p:cNvCxnSpPr>
          <p:nvPr/>
        </p:nvCxnSpPr>
        <p:spPr>
          <a:xfrm rot="16200000" flipH="1">
            <a:off x="8709178" y="4420478"/>
            <a:ext cx="550026" cy="1849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20CBD6-F4B1-0104-E919-F4240ABA3159}"/>
              </a:ext>
            </a:extLst>
          </p:cNvPr>
          <p:cNvSpPr/>
          <p:nvPr/>
        </p:nvSpPr>
        <p:spPr>
          <a:xfrm>
            <a:off x="9439387" y="3104994"/>
            <a:ext cx="1462885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</a:p>
        </p:txBody>
      </p:sp>
      <p:cxnSp>
        <p:nvCxnSpPr>
          <p:cNvPr id="57" name="Gewinkelte Verbindung 56">
            <a:extLst>
              <a:ext uri="{FF2B5EF4-FFF2-40B4-BE49-F238E27FC236}">
                <a16:creationId xmlns:a16="http://schemas.microsoft.com/office/drawing/2014/main" id="{485EF787-AA33-D2DA-E051-30ADFDE4B0E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9017670" y="3000571"/>
            <a:ext cx="421717" cy="214223"/>
          </a:xfrm>
          <a:prstGeom prst="bentConnector3">
            <a:avLst>
              <a:gd name="adj1" fmla="val 54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FFD1A49-BDA2-BEC0-8F43-22EC830F6F55}"/>
              </a:ext>
            </a:extLst>
          </p:cNvPr>
          <p:cNvSpPr/>
          <p:nvPr/>
        </p:nvSpPr>
        <p:spPr>
          <a:xfrm rot="16200000">
            <a:off x="7682962" y="3075808"/>
            <a:ext cx="1199565" cy="361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B0A9FC46-336A-35C6-E3AF-E92310A9D5AA}"/>
              </a:ext>
            </a:extLst>
          </p:cNvPr>
          <p:cNvSpPr/>
          <p:nvPr/>
        </p:nvSpPr>
        <p:spPr>
          <a:xfrm>
            <a:off x="8482015" y="2792410"/>
            <a:ext cx="419165" cy="858750"/>
          </a:xfrm>
          <a:prstGeom prst="leftBrace">
            <a:avLst>
              <a:gd name="adj1" fmla="val 8333"/>
              <a:gd name="adj2" fmla="val 50973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2" name="Gewinkelte Verbindung 61">
            <a:extLst>
              <a:ext uri="{FF2B5EF4-FFF2-40B4-BE49-F238E27FC236}">
                <a16:creationId xmlns:a16="http://schemas.microsoft.com/office/drawing/2014/main" id="{1A9CA3B1-89DE-C524-1B4E-C75799883A8B}"/>
              </a:ext>
            </a:extLst>
          </p:cNvPr>
          <p:cNvCxnSpPr>
            <a:cxnSpLocks/>
            <a:stCxn id="66" idx="1"/>
            <a:endCxn id="6" idx="1"/>
          </p:cNvCxnSpPr>
          <p:nvPr/>
        </p:nvCxnSpPr>
        <p:spPr>
          <a:xfrm flipV="1">
            <a:off x="8164972" y="4113332"/>
            <a:ext cx="581564" cy="7582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Geschweifte Klammer links 65">
            <a:extLst>
              <a:ext uri="{FF2B5EF4-FFF2-40B4-BE49-F238E27FC236}">
                <a16:creationId xmlns:a16="http://schemas.microsoft.com/office/drawing/2014/main" id="{4217CD35-2855-C3CC-880E-22CB9DD435FC}"/>
              </a:ext>
            </a:extLst>
          </p:cNvPr>
          <p:cNvSpPr/>
          <p:nvPr/>
        </p:nvSpPr>
        <p:spPr>
          <a:xfrm rot="10800000">
            <a:off x="7936049" y="4270091"/>
            <a:ext cx="228923" cy="1276159"/>
          </a:xfrm>
          <a:prstGeom prst="leftBrace">
            <a:avLst>
              <a:gd name="adj1" fmla="val 8333"/>
              <a:gd name="adj2" fmla="val 5286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DA54FD2-EE6F-C979-CD6E-D8152BCD9185}"/>
              </a:ext>
            </a:extLst>
          </p:cNvPr>
          <p:cNvSpPr/>
          <p:nvPr/>
        </p:nvSpPr>
        <p:spPr>
          <a:xfrm>
            <a:off x="9435760" y="3431560"/>
            <a:ext cx="1462879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</a:p>
        </p:txBody>
      </p:sp>
      <p:cxnSp>
        <p:nvCxnSpPr>
          <p:cNvPr id="85" name="Gewinkelte Verbindung 84">
            <a:extLst>
              <a:ext uri="{FF2B5EF4-FFF2-40B4-BE49-F238E27FC236}">
                <a16:creationId xmlns:a16="http://schemas.microsoft.com/office/drawing/2014/main" id="{DA49C920-6FA4-94C4-83B4-BF1BCA9E7272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4123594" y="3251949"/>
            <a:ext cx="1590607" cy="11359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C2517137-D61D-2942-2436-5D8BCF58DB4E}"/>
              </a:ext>
            </a:extLst>
          </p:cNvPr>
          <p:cNvCxnSpPr>
            <a:stCxn id="11" idx="3"/>
            <a:endCxn id="60" idx="0"/>
          </p:cNvCxnSpPr>
          <p:nvPr/>
        </p:nvCxnSpPr>
        <p:spPr>
          <a:xfrm>
            <a:off x="6477794" y="3251949"/>
            <a:ext cx="1624408" cy="44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512ACE4B-D48F-906A-E3F8-4C90CC6A8713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 flipV="1">
            <a:off x="4123594" y="4378092"/>
            <a:ext cx="1130215" cy="9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Gewinkelte Verbindung 110">
            <a:extLst>
              <a:ext uri="{FF2B5EF4-FFF2-40B4-BE49-F238E27FC236}">
                <a16:creationId xmlns:a16="http://schemas.microsoft.com/office/drawing/2014/main" id="{0C445089-6687-256E-1F93-325EC94782C5}"/>
              </a:ext>
            </a:extLst>
          </p:cNvPr>
          <p:cNvCxnSpPr>
            <a:cxnSpLocks/>
            <a:endCxn id="2" idx="1"/>
          </p:cNvCxnSpPr>
          <p:nvPr/>
        </p:nvCxnSpPr>
        <p:spPr>
          <a:xfrm rot="16200000" flipH="1">
            <a:off x="5242559" y="4669133"/>
            <a:ext cx="505807" cy="1545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Gewinkelte Verbindung 121">
            <a:extLst>
              <a:ext uri="{FF2B5EF4-FFF2-40B4-BE49-F238E27FC236}">
                <a16:creationId xmlns:a16="http://schemas.microsoft.com/office/drawing/2014/main" id="{894CE1E4-0E53-6E8A-4ACC-03CD0785B000}"/>
              </a:ext>
            </a:extLst>
          </p:cNvPr>
          <p:cNvCxnSpPr>
            <a:cxnSpLocks/>
            <a:endCxn id="73" idx="1"/>
          </p:cNvCxnSpPr>
          <p:nvPr/>
        </p:nvCxnSpPr>
        <p:spPr>
          <a:xfrm rot="16200000" flipH="1">
            <a:off x="8975556" y="3081155"/>
            <a:ext cx="524729" cy="3956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hikes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8354-EA08-90F3-9932-4C1250AF9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396F4A62-D195-1233-36E5-813A74ED4018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5B048C-BBE3-15A1-C2DF-D1FEFBAF1725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F085279-4FCF-A757-2734-F834C2652BD2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88E2888-1241-3105-9A60-970D3CC86E5E}"/>
              </a:ext>
            </a:extLst>
          </p:cNvPr>
          <p:cNvSpPr/>
          <p:nvPr/>
        </p:nvSpPr>
        <p:spPr>
          <a:xfrm>
            <a:off x="735258" y="1336224"/>
            <a:ext cx="2127014" cy="633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</a:t>
            </a:r>
          </a:p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(high volatility vs.</a:t>
            </a:r>
          </a:p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6059839-0251-6998-3D69-4B32D55010FF}"/>
              </a:ext>
            </a:extLst>
          </p:cNvPr>
          <p:cNvSpPr/>
          <p:nvPr/>
        </p:nvSpPr>
        <p:spPr>
          <a:xfrm>
            <a:off x="735258" y="3028159"/>
            <a:ext cx="2127014" cy="6444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8138E2E-73E1-5964-C0D3-C72FAB52F49C}"/>
              </a:ext>
            </a:extLst>
          </p:cNvPr>
          <p:cNvSpPr/>
          <p:nvPr/>
        </p:nvSpPr>
        <p:spPr>
          <a:xfrm>
            <a:off x="735259" y="2284649"/>
            <a:ext cx="2127014" cy="6004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Multivariate Clustering using additional variables</a:t>
            </a:r>
          </a:p>
        </p:txBody>
      </p:sp>
      <p:sp>
        <p:nvSpPr>
          <p:cNvPr id="27" name="Pfeil nach links und oben 26">
            <a:extLst>
              <a:ext uri="{FF2B5EF4-FFF2-40B4-BE49-F238E27FC236}">
                <a16:creationId xmlns:a16="http://schemas.microsoft.com/office/drawing/2014/main" id="{D68C2165-1DEA-4384-DC15-58EEF394217F}"/>
              </a:ext>
            </a:extLst>
          </p:cNvPr>
          <p:cNvSpPr/>
          <p:nvPr/>
        </p:nvSpPr>
        <p:spPr>
          <a:xfrm flipH="1">
            <a:off x="3557794" y="981070"/>
            <a:ext cx="7358446" cy="1452644"/>
          </a:xfrm>
          <a:prstGeom prst="leftUpArrow">
            <a:avLst>
              <a:gd name="adj1" fmla="val 2201"/>
              <a:gd name="adj2" fmla="val 3113"/>
              <a:gd name="adj3" fmla="val 2545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F4678AB-A6C8-A168-5F12-CE48E82646FC}"/>
              </a:ext>
            </a:extLst>
          </p:cNvPr>
          <p:cNvSpPr/>
          <p:nvPr/>
        </p:nvSpPr>
        <p:spPr>
          <a:xfrm>
            <a:off x="376323" y="3982375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6AE1A79-FEEA-C486-8822-BA49BD1395C8}"/>
              </a:ext>
            </a:extLst>
          </p:cNvPr>
          <p:cNvSpPr/>
          <p:nvPr/>
        </p:nvSpPr>
        <p:spPr>
          <a:xfrm>
            <a:off x="1112921" y="3982375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ACBABB8-2845-9788-9CD6-4B40A938A1C4}"/>
              </a:ext>
            </a:extLst>
          </p:cNvPr>
          <p:cNvSpPr/>
          <p:nvPr/>
        </p:nvSpPr>
        <p:spPr>
          <a:xfrm>
            <a:off x="376318" y="577031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0EF080E-8FA0-7A23-75CD-8C0554B57F7F}"/>
              </a:ext>
            </a:extLst>
          </p:cNvPr>
          <p:cNvSpPr/>
          <p:nvPr/>
        </p:nvSpPr>
        <p:spPr>
          <a:xfrm>
            <a:off x="1112916" y="577031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A4828CEE-9013-0A65-D1E0-BDF185C3E3DE}"/>
              </a:ext>
            </a:extLst>
          </p:cNvPr>
          <p:cNvSpPr/>
          <p:nvPr/>
        </p:nvSpPr>
        <p:spPr>
          <a:xfrm rot="16200000">
            <a:off x="4224303" y="1910499"/>
            <a:ext cx="419165" cy="1552568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5" name="Geschweifte Klammer links 64">
            <a:extLst>
              <a:ext uri="{FF2B5EF4-FFF2-40B4-BE49-F238E27FC236}">
                <a16:creationId xmlns:a16="http://schemas.microsoft.com/office/drawing/2014/main" id="{7192A187-02A8-28F8-EE3C-FDCBA864A580}"/>
              </a:ext>
            </a:extLst>
          </p:cNvPr>
          <p:cNvSpPr/>
          <p:nvPr/>
        </p:nvSpPr>
        <p:spPr>
          <a:xfrm>
            <a:off x="2912176" y="989059"/>
            <a:ext cx="419165" cy="1391556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E695891-9EBC-59CB-2533-0A266EC8FE95}"/>
              </a:ext>
            </a:extLst>
          </p:cNvPr>
          <p:cNvSpPr/>
          <p:nvPr/>
        </p:nvSpPr>
        <p:spPr>
          <a:xfrm>
            <a:off x="4184705" y="292665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5" name="Tabelle 74">
            <a:extLst>
              <a:ext uri="{FF2B5EF4-FFF2-40B4-BE49-F238E27FC236}">
                <a16:creationId xmlns:a16="http://schemas.microsoft.com/office/drawing/2014/main" id="{59809E8D-20CC-AE8F-089D-0AEA47419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004623"/>
              </p:ext>
            </p:extLst>
          </p:nvPr>
        </p:nvGraphicFramePr>
        <p:xfrm>
          <a:off x="735258" y="4229963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overlap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sp>
        <p:nvSpPr>
          <p:cNvPr id="76" name="Pfeil nach unten 75">
            <a:extLst>
              <a:ext uri="{FF2B5EF4-FFF2-40B4-BE49-F238E27FC236}">
                <a16:creationId xmlns:a16="http://schemas.microsoft.com/office/drawing/2014/main" id="{B0DAFBD0-C738-4B3C-2F2B-D800C9A6AAFD}"/>
              </a:ext>
            </a:extLst>
          </p:cNvPr>
          <p:cNvSpPr/>
          <p:nvPr/>
        </p:nvSpPr>
        <p:spPr>
          <a:xfrm>
            <a:off x="5105827" y="3412841"/>
            <a:ext cx="1021595" cy="410896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7" name="Pfeil nach unten 76">
            <a:extLst>
              <a:ext uri="{FF2B5EF4-FFF2-40B4-BE49-F238E27FC236}">
                <a16:creationId xmlns:a16="http://schemas.microsoft.com/office/drawing/2014/main" id="{78C332B9-0B6B-C8B8-C89D-099AFEB16134}"/>
              </a:ext>
            </a:extLst>
          </p:cNvPr>
          <p:cNvSpPr/>
          <p:nvPr/>
        </p:nvSpPr>
        <p:spPr>
          <a:xfrm>
            <a:off x="5120415" y="5372786"/>
            <a:ext cx="1021595" cy="410896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9" name="Gerade Verbindung 78">
            <a:extLst>
              <a:ext uri="{FF2B5EF4-FFF2-40B4-BE49-F238E27FC236}">
                <a16:creationId xmlns:a16="http://schemas.microsoft.com/office/drawing/2014/main" id="{3A99533F-3A72-FF66-4AF2-6A426D1FB590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1798765" y="1970219"/>
            <a:ext cx="1" cy="31443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Gerade Verbindung 79">
            <a:extLst>
              <a:ext uri="{FF2B5EF4-FFF2-40B4-BE49-F238E27FC236}">
                <a16:creationId xmlns:a16="http://schemas.microsoft.com/office/drawing/2014/main" id="{3E7BE7B7-0A58-0C54-D08E-B6978E3BAE58}"/>
              </a:ext>
            </a:extLst>
          </p:cNvPr>
          <p:cNvCxnSpPr>
            <a:cxnSpLocks/>
            <a:stCxn id="23" idx="2"/>
            <a:endCxn id="22" idx="0"/>
          </p:cNvCxnSpPr>
          <p:nvPr/>
        </p:nvCxnSpPr>
        <p:spPr>
          <a:xfrm flipH="1">
            <a:off x="1798765" y="2885052"/>
            <a:ext cx="1" cy="14310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4" name="Grafik 93">
            <a:extLst>
              <a:ext uri="{FF2B5EF4-FFF2-40B4-BE49-F238E27FC236}">
                <a16:creationId xmlns:a16="http://schemas.microsoft.com/office/drawing/2014/main" id="{3ED7B812-7012-F30A-D2F7-D20316C72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2130" y="5840745"/>
            <a:ext cx="2583301" cy="603658"/>
          </a:xfrm>
          <a:prstGeom prst="rect">
            <a:avLst/>
          </a:prstGeom>
        </p:spPr>
      </p:pic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C71864DF-4350-69A5-DE2F-AD1EA2795F57}"/>
              </a:ext>
            </a:extLst>
          </p:cNvPr>
          <p:cNvCxnSpPr>
            <a:cxnSpLocks/>
            <a:stCxn id="2" idx="2"/>
            <a:endCxn id="28" idx="0"/>
          </p:cNvCxnSpPr>
          <p:nvPr/>
        </p:nvCxnSpPr>
        <p:spPr>
          <a:xfrm>
            <a:off x="650123" y="872896"/>
            <a:ext cx="0" cy="310947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Gerade Verbindung mit Pfeil 98">
            <a:extLst>
              <a:ext uri="{FF2B5EF4-FFF2-40B4-BE49-F238E27FC236}">
                <a16:creationId xmlns:a16="http://schemas.microsoft.com/office/drawing/2014/main" id="{AA014E91-0D39-DD23-05F6-E7ABB8D80064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650118" y="4126375"/>
            <a:ext cx="5" cy="164394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Rechteck 101">
            <a:extLst>
              <a:ext uri="{FF2B5EF4-FFF2-40B4-BE49-F238E27FC236}">
                <a16:creationId xmlns:a16="http://schemas.microsoft.com/office/drawing/2014/main" id="{178A804B-FC0B-BDB3-31A8-239237FB24ED}"/>
              </a:ext>
            </a:extLst>
          </p:cNvPr>
          <p:cNvSpPr/>
          <p:nvPr/>
        </p:nvSpPr>
        <p:spPr>
          <a:xfrm>
            <a:off x="10702362" y="2408968"/>
            <a:ext cx="547600" cy="14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B83E8F88-FA15-8CFF-D5C9-3FDB9A8EB241}"/>
              </a:ext>
            </a:extLst>
          </p:cNvPr>
          <p:cNvSpPr/>
          <p:nvPr/>
        </p:nvSpPr>
        <p:spPr>
          <a:xfrm>
            <a:off x="3556630" y="841148"/>
            <a:ext cx="4855387" cy="2677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30-day rolling EUR/USD spot exchange rate volatility (log first differences) </a:t>
            </a:r>
          </a:p>
        </p:txBody>
      </p:sp>
      <p:pic>
        <p:nvPicPr>
          <p:cNvPr id="119" name="Grafik 118">
            <a:extLst>
              <a:ext uri="{FF2B5EF4-FFF2-40B4-BE49-F238E27FC236}">
                <a16:creationId xmlns:a16="http://schemas.microsoft.com/office/drawing/2014/main" id="{D814F113-09A9-07C0-34D4-6BCC35E21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534" y="1298099"/>
            <a:ext cx="6931791" cy="1036311"/>
          </a:xfrm>
          <a:prstGeom prst="rect">
            <a:avLst/>
          </a:prstGeom>
        </p:spPr>
      </p:pic>
      <p:sp>
        <p:nvSpPr>
          <p:cNvPr id="120" name="Geschweifte Klammer links 119">
            <a:extLst>
              <a:ext uri="{FF2B5EF4-FFF2-40B4-BE49-F238E27FC236}">
                <a16:creationId xmlns:a16="http://schemas.microsoft.com/office/drawing/2014/main" id="{3B156842-CB83-52FB-04D9-BA10C92B6589}"/>
              </a:ext>
            </a:extLst>
          </p:cNvPr>
          <p:cNvSpPr/>
          <p:nvPr/>
        </p:nvSpPr>
        <p:spPr>
          <a:xfrm rot="16200000">
            <a:off x="5205376" y="2501037"/>
            <a:ext cx="419165" cy="371489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DC966EE2-9866-A66D-0FE3-5E226F888666}"/>
              </a:ext>
            </a:extLst>
          </p:cNvPr>
          <p:cNvSpPr/>
          <p:nvPr/>
        </p:nvSpPr>
        <p:spPr>
          <a:xfrm>
            <a:off x="5184624" y="2933628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2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Geschweifte Klammer links 122">
            <a:extLst>
              <a:ext uri="{FF2B5EF4-FFF2-40B4-BE49-F238E27FC236}">
                <a16:creationId xmlns:a16="http://schemas.microsoft.com/office/drawing/2014/main" id="{7D19F0C9-761E-197D-6368-8465440BB45A}"/>
              </a:ext>
            </a:extLst>
          </p:cNvPr>
          <p:cNvSpPr/>
          <p:nvPr/>
        </p:nvSpPr>
        <p:spPr>
          <a:xfrm rot="16200000">
            <a:off x="5565917" y="2542493"/>
            <a:ext cx="419165" cy="288576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4" name="Geschweifte Klammer links 123">
            <a:extLst>
              <a:ext uri="{FF2B5EF4-FFF2-40B4-BE49-F238E27FC236}">
                <a16:creationId xmlns:a16="http://schemas.microsoft.com/office/drawing/2014/main" id="{74F9BF88-F450-26CF-67ED-99DEA251A251}"/>
              </a:ext>
            </a:extLst>
          </p:cNvPr>
          <p:cNvSpPr/>
          <p:nvPr/>
        </p:nvSpPr>
        <p:spPr>
          <a:xfrm rot="16200000">
            <a:off x="6405540" y="2044130"/>
            <a:ext cx="419165" cy="1304909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5" name="Geschweifte Klammer links 124">
            <a:extLst>
              <a:ext uri="{FF2B5EF4-FFF2-40B4-BE49-F238E27FC236}">
                <a16:creationId xmlns:a16="http://schemas.microsoft.com/office/drawing/2014/main" id="{239DA7C4-3A42-905A-84B7-D3CBD0FA82F6}"/>
              </a:ext>
            </a:extLst>
          </p:cNvPr>
          <p:cNvSpPr/>
          <p:nvPr/>
        </p:nvSpPr>
        <p:spPr>
          <a:xfrm rot="16200000">
            <a:off x="7430511" y="2371755"/>
            <a:ext cx="419165" cy="647678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6" name="Geschweifte Klammer links 125">
            <a:extLst>
              <a:ext uri="{FF2B5EF4-FFF2-40B4-BE49-F238E27FC236}">
                <a16:creationId xmlns:a16="http://schemas.microsoft.com/office/drawing/2014/main" id="{E2411066-648F-5561-B283-5C999FEB003F}"/>
              </a:ext>
            </a:extLst>
          </p:cNvPr>
          <p:cNvSpPr/>
          <p:nvPr/>
        </p:nvSpPr>
        <p:spPr>
          <a:xfrm rot="16200000">
            <a:off x="8011740" y="2504898"/>
            <a:ext cx="419165" cy="381392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7" name="Geschweifte Klammer links 126">
            <a:extLst>
              <a:ext uri="{FF2B5EF4-FFF2-40B4-BE49-F238E27FC236}">
                <a16:creationId xmlns:a16="http://schemas.microsoft.com/office/drawing/2014/main" id="{DB2D06A5-B010-FE5B-00F2-147E433BE033}"/>
              </a:ext>
            </a:extLst>
          </p:cNvPr>
          <p:cNvSpPr/>
          <p:nvPr/>
        </p:nvSpPr>
        <p:spPr>
          <a:xfrm rot="16200000">
            <a:off x="8388967" y="2542490"/>
            <a:ext cx="419165" cy="288579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8" name="Geschweifte Klammer links 127">
            <a:extLst>
              <a:ext uri="{FF2B5EF4-FFF2-40B4-BE49-F238E27FC236}">
                <a16:creationId xmlns:a16="http://schemas.microsoft.com/office/drawing/2014/main" id="{246335B1-4071-BC0C-9AA3-C97FED5EB0E7}"/>
              </a:ext>
            </a:extLst>
          </p:cNvPr>
          <p:cNvSpPr/>
          <p:nvPr/>
        </p:nvSpPr>
        <p:spPr>
          <a:xfrm rot="16200000">
            <a:off x="8952439" y="2323801"/>
            <a:ext cx="419165" cy="725956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9" name="Geschweifte Klammer links 128">
            <a:extLst>
              <a:ext uri="{FF2B5EF4-FFF2-40B4-BE49-F238E27FC236}">
                <a16:creationId xmlns:a16="http://schemas.microsoft.com/office/drawing/2014/main" id="{33430A70-ADA4-9599-87F5-6107DB4FAF68}"/>
              </a:ext>
            </a:extLst>
          </p:cNvPr>
          <p:cNvSpPr/>
          <p:nvPr/>
        </p:nvSpPr>
        <p:spPr>
          <a:xfrm rot="16200000">
            <a:off x="9844604" y="2222611"/>
            <a:ext cx="419165" cy="945965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1" name="Rechteck 130">
            <a:extLst>
              <a:ext uri="{FF2B5EF4-FFF2-40B4-BE49-F238E27FC236}">
                <a16:creationId xmlns:a16="http://schemas.microsoft.com/office/drawing/2014/main" id="{63EE2031-1496-D8D4-EE37-0905C8270F20}"/>
              </a:ext>
            </a:extLst>
          </p:cNvPr>
          <p:cNvSpPr/>
          <p:nvPr/>
        </p:nvSpPr>
        <p:spPr>
          <a:xfrm>
            <a:off x="5643030" y="2933628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2A852461-6F58-90DA-2320-821D608A2744}"/>
              </a:ext>
            </a:extLst>
          </p:cNvPr>
          <p:cNvSpPr/>
          <p:nvPr/>
        </p:nvSpPr>
        <p:spPr>
          <a:xfrm>
            <a:off x="6389597" y="292665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4139A462-ED73-BFFD-8E79-F4895100817F}"/>
              </a:ext>
            </a:extLst>
          </p:cNvPr>
          <p:cNvSpPr/>
          <p:nvPr/>
        </p:nvSpPr>
        <p:spPr>
          <a:xfrm>
            <a:off x="7424093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EAA5F180-EE0E-C603-1609-1C2304CAAB4B}"/>
              </a:ext>
            </a:extLst>
          </p:cNvPr>
          <p:cNvSpPr/>
          <p:nvPr/>
        </p:nvSpPr>
        <p:spPr>
          <a:xfrm>
            <a:off x="8005322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2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A667FCF-8993-4407-C3CB-13DD0E8C83AF}"/>
              </a:ext>
            </a:extLst>
          </p:cNvPr>
          <p:cNvSpPr/>
          <p:nvPr/>
        </p:nvSpPr>
        <p:spPr>
          <a:xfrm>
            <a:off x="8498264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F8D442D2-DF8A-62C2-C764-B3F36327F6AD}"/>
              </a:ext>
            </a:extLst>
          </p:cNvPr>
          <p:cNvSpPr/>
          <p:nvPr/>
        </p:nvSpPr>
        <p:spPr>
          <a:xfrm>
            <a:off x="8991206" y="2956605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E5CA599A-ED97-A1CE-FF5E-58E8153B6E3F}"/>
              </a:ext>
            </a:extLst>
          </p:cNvPr>
          <p:cNvSpPr/>
          <p:nvPr/>
        </p:nvSpPr>
        <p:spPr>
          <a:xfrm>
            <a:off x="9838186" y="2964679"/>
            <a:ext cx="432000" cy="203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2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031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555408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[HR25]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2873</Words>
  <Application>Microsoft Macintosh PowerPoint</Application>
  <PresentationFormat>Benutzerdefiniert</PresentationFormat>
  <Paragraphs>552</Paragraphs>
  <Slides>11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20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11</vt:i4>
      </vt:variant>
    </vt:vector>
  </HeadingPairs>
  <TitlesOfParts>
    <vt:vector size="33" baseType="lpstr">
      <vt:lpstr>AdvOT596495f2</vt:lpstr>
      <vt:lpstr>AdvOT863180fb</vt:lpstr>
      <vt:lpstr>AdvTT5235d5a9</vt:lpstr>
      <vt:lpstr>AdvTT5235d5a9+fb</vt:lpstr>
      <vt:lpstr>AdvTT5843c571</vt:lpstr>
      <vt:lpstr>AdvTT6120e2aa</vt:lpstr>
      <vt:lpstr>Aptos</vt:lpstr>
      <vt:lpstr>Arial</vt:lpstr>
      <vt:lpstr>Calibri</vt:lpstr>
      <vt:lpstr>Cambria Math</vt:lpstr>
      <vt:lpstr>CharisSIL</vt:lpstr>
      <vt:lpstr>Code2000</vt:lpstr>
      <vt:lpstr>MathPackOne</vt:lpstr>
      <vt:lpstr>NotoSansSemiCondensed</vt:lpstr>
      <vt:lpstr>Roboto</vt:lpstr>
      <vt:lpstr>Times</vt:lpstr>
      <vt:lpstr>Times New Roman,Bold</vt:lpstr>
      <vt:lpstr>TimesLTStd</vt:lpstr>
      <vt:lpstr>TimesNewRomanPSMT</vt:lpstr>
      <vt:lpstr>UniversLTStd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399</cp:revision>
  <cp:lastPrinted>1601-01-01T00:00:00Z</cp:lastPrinted>
  <dcterms:created xsi:type="dcterms:W3CDTF">2010-06-02T10:39:48Z</dcterms:created>
  <dcterms:modified xsi:type="dcterms:W3CDTF">2025-11-08T19:19:45Z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