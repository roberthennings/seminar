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C_4AD3DAFF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omments/modernComment_10A_AE6DAA06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  <p:sldMasterId id="2147483652" r:id="rId2"/>
  </p:sldMasterIdLst>
  <p:notesMasterIdLst>
    <p:notesMasterId r:id="rId18"/>
  </p:notesMasterIdLst>
  <p:sldIdLst>
    <p:sldId id="260" r:id="rId3"/>
    <p:sldId id="273" r:id="rId4"/>
    <p:sldId id="272" r:id="rId5"/>
    <p:sldId id="262" r:id="rId6"/>
    <p:sldId id="259" r:id="rId7"/>
    <p:sldId id="264" r:id="rId8"/>
    <p:sldId id="267" r:id="rId9"/>
    <p:sldId id="271" r:id="rId10"/>
    <p:sldId id="268" r:id="rId11"/>
    <p:sldId id="270" r:id="rId12"/>
    <p:sldId id="274" r:id="rId13"/>
    <p:sldId id="263" r:id="rId14"/>
    <p:sldId id="265" r:id="rId15"/>
    <p:sldId id="275" r:id="rId16"/>
    <p:sldId id="266" r:id="rId17"/>
  </p:sldIdLst>
  <p:sldSz cx="11520488" cy="6480175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6F2EB9-0F9D-11FF-3725-6E6478E33E3F}" name="Robert Hennings" initials="RH" userId="0c30f06d2451ee7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0528" autoAdjust="0"/>
  </p:normalViewPr>
  <p:slideViewPr>
    <p:cSldViewPr snapToGrid="0">
      <p:cViewPr>
        <p:scale>
          <a:sx n="100" d="100"/>
          <a:sy n="100" d="100"/>
        </p:scale>
        <p:origin x="112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omments/modernComment_10A_AE6DAA0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5A96090-170E-744F-9C59-E88DB52DF9A8}" authorId="{BD6F2EB9-0F9D-11FF-3725-6E6478E33E3F}" created="2025-09-17T08:31:46.4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926422534" sldId="266"/>
      <ac:spMk id="41" creationId="{65D3966F-C84D-34A4-3CA7-4B256E8F79D0}"/>
    </ac:deMkLst>
    <p188:txBody>
      <a:bodyPr/>
      <a:lstStyle/>
      <a:p>
        <a:r>
          <a:rPr lang="de-DE"/>
          <a:t>Dont know if only linear of if they also offer a non-linear equivalent</a:t>
        </a:r>
      </a:p>
    </p188:txBody>
  </p188:cm>
</p188:cmLst>
</file>

<file path=ppt/comments/modernComment_10C_4AD3DAF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2115A85-EC5A-8144-BBF0-5D80C8C95716}" authorId="{BD6F2EB9-0F9D-11FF-3725-6E6478E33E3F}" created="2025-10-01T07:44:37.9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255398143" sldId="268"/>
      <ac:spMk id="112" creationId="{6092D3C6-5300-19B1-F4E0-268797166176}"/>
    </ac:deMkLst>
    <p188:txBody>
      <a:bodyPr/>
      <a:lstStyle/>
      <a:p>
        <a:r>
          <a:rPr lang="de-DE"/>
          <a:t>Problem: This is from the CBOE and we use Open Interest and other stuff from the NYMEX?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2E0DD-2BD6-4943-A289-4CB69F215D9E}" type="datetimeFigureOut">
              <a:rPr lang="de-DE" smtClean="0"/>
              <a:t>21.10.2025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6613-3B1F-DD4D-99CB-38F4196ACF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40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Own </a:t>
            </a:r>
            <a:r>
              <a:rPr lang="de-DE" dirty="0" err="1"/>
              <a:t>illustration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sz="1800" dirty="0">
                <a:effectLst/>
                <a:latin typeface="AdvTT5235d5a9"/>
              </a:rPr>
              <a:t>The </a:t>
            </a:r>
            <a:r>
              <a:rPr lang="de-DE" sz="1800" dirty="0" err="1">
                <a:effectLst/>
                <a:latin typeface="AdvTT5235d5a9"/>
              </a:rPr>
              <a:t>relationship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between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oil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prices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exchange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rates</a:t>
            </a:r>
            <a:r>
              <a:rPr lang="de-DE" sz="1800" dirty="0">
                <a:effectLst/>
                <a:latin typeface="AdvTT5235d5a9"/>
              </a:rPr>
              <a:t>: </a:t>
            </a:r>
            <a:r>
              <a:rPr lang="de-DE" sz="1800" dirty="0" err="1">
                <a:effectLst/>
                <a:latin typeface="AdvTT5235d5a9"/>
              </a:rPr>
              <a:t>Revisiting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theory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evidence</a:t>
            </a:r>
            <a:r>
              <a:rPr lang="de-DE" sz="1800" dirty="0">
                <a:effectLst/>
                <a:latin typeface="AdvTT5235d5a9"/>
              </a:rPr>
              <a:t>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8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</a:t>
            </a:r>
            <a:r>
              <a:rPr lang="de-DE" dirty="0" err="1"/>
              <a:t>pages</a:t>
            </a:r>
            <a:r>
              <a:rPr lang="de-DE" dirty="0"/>
              <a:t> 3-8.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595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https://www.bis.org/ifc/events/6ifcconf/takats_pres.pdf</a:t>
            </a:r>
          </a:p>
          <a:p>
            <a:pPr marL="228600" indent="-228600">
              <a:buAutoNum type="arabicParenR"/>
            </a:pPr>
            <a:r>
              <a:rPr lang="de-DE" dirty="0"/>
              <a:t>https://data.bis.org/topics/EER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1374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89C31-3F15-B798-AEAC-4C4E153BC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0940DD-E69D-7B38-3803-94675999F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CBEB96-7C04-77BB-135C-5C3484FCD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https://www.bis.org/ifc/events/6ifcconf/takats_pres.pdf</a:t>
            </a:r>
          </a:p>
          <a:p>
            <a:pPr marL="228600" indent="-228600">
              <a:buAutoNum type="arabicParenR"/>
            </a:pPr>
            <a:r>
              <a:rPr lang="de-DE" dirty="0"/>
              <a:t>https://data.bis.org/topics/EER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3835CE-F727-9D2F-05A5-A9B1F9B1C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519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1) See Paper: Oil </a:t>
            </a:r>
            <a:r>
              <a:rPr lang="de-DE" err="1"/>
              <a:t>prices</a:t>
            </a:r>
            <a:r>
              <a:rPr lang="de-DE"/>
              <a:t>, </a:t>
            </a:r>
            <a:r>
              <a:rPr lang="de-DE" err="1"/>
              <a:t>exchange</a:t>
            </a:r>
            <a:r>
              <a:rPr lang="de-DE"/>
              <a:t> rate and </a:t>
            </a:r>
            <a:r>
              <a:rPr lang="de-DE" err="1"/>
              <a:t>asset</a:t>
            </a:r>
            <a:r>
              <a:rPr lang="de-DE"/>
              <a:t> </a:t>
            </a:r>
            <a:r>
              <a:rPr lang="de-DE" err="1"/>
              <a:t>prices</a:t>
            </a:r>
            <a:r>
              <a:rPr lang="de-DE"/>
              <a:t> („</a:t>
            </a:r>
            <a:r>
              <a:rPr lang="de-DE" sz="1800">
                <a:effectLst/>
                <a:latin typeface="Calibri" panose="020F0502020204030204" pitchFamily="34" charset="0"/>
              </a:rPr>
              <a:t>open </a:t>
            </a:r>
            <a:r>
              <a:rPr lang="de-DE" sz="1800" err="1">
                <a:effectLst/>
                <a:latin typeface="Calibri" panose="020F0502020204030204" pitchFamily="34" charset="0"/>
              </a:rPr>
              <a:t>interest</a:t>
            </a:r>
            <a:r>
              <a:rPr lang="de-DE" sz="1800">
                <a:effectLst/>
                <a:latin typeface="Calibri" panose="020F0502020204030204" pitchFamily="34" charset="0"/>
              </a:rPr>
              <a:t> in </a:t>
            </a:r>
            <a:r>
              <a:rPr lang="de-DE" sz="180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oil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futures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market</a:t>
            </a:r>
            <a:r>
              <a:rPr lang="de-DE" sz="1800">
                <a:effectLst/>
                <a:latin typeface="Calibri" panose="020F0502020204030204" pitchFamily="34" charset="0"/>
              </a:rPr>
              <a:t>, i.e. </a:t>
            </a:r>
            <a:r>
              <a:rPr lang="de-DE" sz="180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number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of</a:t>
            </a:r>
            <a:r>
              <a:rPr lang="de-DE" sz="1800">
                <a:effectLst/>
                <a:latin typeface="Calibri" panose="020F0502020204030204" pitchFamily="34" charset="0"/>
              </a:rPr>
              <a:t> open </a:t>
            </a:r>
            <a:r>
              <a:rPr lang="de-DE" sz="1800" err="1">
                <a:effectLst/>
                <a:latin typeface="Calibri" panose="020F0502020204030204" pitchFamily="34" charset="0"/>
              </a:rPr>
              <a:t>futures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contracts</a:t>
            </a:r>
            <a:r>
              <a:rPr lang="de-DE" sz="1800">
                <a:effectLst/>
                <a:latin typeface="Calibri" panose="020F0502020204030204" pitchFamily="34" charset="0"/>
              </a:rPr>
              <a:t> (</a:t>
            </a:r>
            <a:r>
              <a:rPr lang="de-DE" sz="1800" err="1">
                <a:effectLst/>
                <a:latin typeface="Calibri" panose="020F0502020204030204" pitchFamily="34" charset="0"/>
              </a:rPr>
              <a:t>as</a:t>
            </a:r>
            <a:r>
              <a:rPr lang="de-DE" sz="1800">
                <a:effectLst/>
                <a:latin typeface="Calibri" panose="020F0502020204030204" pitchFamily="34" charset="0"/>
              </a:rPr>
              <a:t> a </a:t>
            </a:r>
            <a:r>
              <a:rPr lang="de-DE" sz="1800" err="1">
                <a:effectLst/>
                <a:latin typeface="Calibri" panose="020F0502020204030204" pitchFamily="34" charset="0"/>
              </a:rPr>
              <a:t>proxy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for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financialisation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of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oil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market</a:t>
            </a:r>
            <a:r>
              <a:rPr lang="de-DE" sz="1800">
                <a:effectLst/>
                <a:latin typeface="Calibri" panose="020F0502020204030204" pitchFamily="34" charset="0"/>
              </a:rPr>
              <a:t>). </a:t>
            </a:r>
            <a:endParaRPr lang="de-DE"/>
          </a:p>
          <a:p>
            <a:r>
              <a:rPr lang="de-DE"/>
              <a:t>“), </a:t>
            </a:r>
            <a:r>
              <a:rPr lang="de-DE" err="1"/>
              <a:t>page</a:t>
            </a:r>
            <a:r>
              <a:rPr lang="de-DE"/>
              <a:t> 2.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Own </a:t>
            </a:r>
            <a:r>
              <a:rPr lang="de-DE" err="1"/>
              <a:t>illustration</a:t>
            </a:r>
            <a:r>
              <a:rPr lang="de-DE"/>
              <a:t> </a:t>
            </a:r>
            <a:r>
              <a:rPr lang="de-DE" err="1"/>
              <a:t>based</a:t>
            </a:r>
            <a:r>
              <a:rPr lang="de-DE"/>
              <a:t> on </a:t>
            </a:r>
            <a:r>
              <a:rPr lang="de-DE" sz="1200">
                <a:effectLst/>
                <a:latin typeface="AdvTT5235d5a9"/>
              </a:rPr>
              <a:t>The </a:t>
            </a:r>
            <a:r>
              <a:rPr lang="de-DE" sz="1200" err="1">
                <a:effectLst/>
                <a:latin typeface="AdvTT5235d5a9"/>
              </a:rPr>
              <a:t>relationship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between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oil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prices</a:t>
            </a:r>
            <a:r>
              <a:rPr lang="de-DE" sz="1200">
                <a:effectLst/>
                <a:latin typeface="AdvTT5235d5a9"/>
              </a:rPr>
              <a:t> and </a:t>
            </a:r>
            <a:r>
              <a:rPr lang="de-DE" sz="1200" err="1">
                <a:effectLst/>
                <a:latin typeface="AdvTT5235d5a9"/>
              </a:rPr>
              <a:t>exchange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rates</a:t>
            </a:r>
            <a:r>
              <a:rPr lang="de-DE" sz="1200">
                <a:effectLst/>
                <a:latin typeface="AdvTT5235d5a9"/>
              </a:rPr>
              <a:t>: </a:t>
            </a:r>
            <a:r>
              <a:rPr lang="de-DE" sz="1200" err="1">
                <a:effectLst/>
                <a:latin typeface="AdvTT5235d5a9"/>
              </a:rPr>
              <a:t>Revisiting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theory</a:t>
            </a:r>
            <a:r>
              <a:rPr lang="de-DE" sz="1200">
                <a:effectLst/>
                <a:latin typeface="AdvTT5235d5a9"/>
              </a:rPr>
              <a:t> and </a:t>
            </a:r>
            <a:r>
              <a:rPr lang="de-DE" sz="1200" err="1">
                <a:effectLst/>
                <a:latin typeface="AdvTT5235d5a9"/>
              </a:rPr>
              <a:t>evidence</a:t>
            </a:r>
            <a:r>
              <a:rPr lang="de-DE" sz="1200">
                <a:effectLst/>
                <a:latin typeface="AdvTT5235d5a9"/>
              </a:rPr>
              <a:t> </a:t>
            </a:r>
            <a:endParaRPr lang="de-DE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(</a:t>
            </a:r>
            <a:r>
              <a:rPr lang="de-DE" sz="120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/>
              <a:t>), </a:t>
            </a:r>
            <a:r>
              <a:rPr lang="de-DE" err="1"/>
              <a:t>pages</a:t>
            </a:r>
            <a:r>
              <a:rPr lang="de-DE"/>
              <a:t> 3-4.</a:t>
            </a:r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6351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1) List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theoretically</a:t>
            </a:r>
            <a:r>
              <a:rPr lang="de-DE"/>
              <a:t> </a:t>
            </a:r>
            <a:r>
              <a:rPr lang="de-DE" err="1"/>
              <a:t>affecting</a:t>
            </a:r>
            <a:r>
              <a:rPr lang="de-DE"/>
              <a:t> </a:t>
            </a:r>
            <a:r>
              <a:rPr lang="de-DE" err="1"/>
              <a:t>crisis</a:t>
            </a:r>
            <a:r>
              <a:rPr lang="de-DE"/>
              <a:t> </a:t>
            </a:r>
            <a:r>
              <a:rPr lang="de-DE" err="1"/>
              <a:t>periods</a:t>
            </a:r>
            <a:r>
              <a:rPr lang="de-DE"/>
              <a:t> </a:t>
            </a:r>
            <a:r>
              <a:rPr lang="de-DE" err="1"/>
              <a:t>taken</a:t>
            </a:r>
            <a:r>
              <a:rPr lang="de-DE"/>
              <a:t> </a:t>
            </a:r>
            <a:r>
              <a:rPr lang="de-DE" err="1"/>
              <a:t>from</a:t>
            </a:r>
            <a:r>
              <a:rPr lang="de-DE"/>
              <a:t>: </a:t>
            </a:r>
            <a:r>
              <a:rPr lang="de-DE" sz="1800" err="1">
                <a:effectLst/>
                <a:latin typeface="Times New Roman,Bold" pitchFamily="2" charset="0"/>
              </a:rPr>
              <a:t>How</a:t>
            </a:r>
            <a:r>
              <a:rPr lang="de-DE" sz="1800">
                <a:effectLst/>
                <a:latin typeface="Times New Roman,Bold" pitchFamily="2" charset="0"/>
              </a:rPr>
              <a:t> Exchange Rate </a:t>
            </a:r>
            <a:r>
              <a:rPr lang="de-DE" sz="1800" err="1">
                <a:effectLst/>
                <a:latin typeface="Times New Roman,Bold" pitchFamily="2" charset="0"/>
              </a:rPr>
              <a:t>Volatility</a:t>
            </a:r>
            <a:r>
              <a:rPr lang="de-DE" sz="1800">
                <a:effectLst/>
                <a:latin typeface="Times New Roman,Bold" pitchFamily="2" charset="0"/>
              </a:rPr>
              <a:t> Shapes </a:t>
            </a:r>
            <a:r>
              <a:rPr lang="de-DE" sz="1800" err="1">
                <a:effectLst/>
                <a:latin typeface="Times New Roman,Bold" pitchFamily="2" charset="0"/>
              </a:rPr>
              <a:t>Commodity</a:t>
            </a:r>
            <a:r>
              <a:rPr lang="de-DE" sz="1800">
                <a:effectLst/>
                <a:latin typeface="Times New Roman,Bold" pitchFamily="2" charset="0"/>
              </a:rPr>
              <a:t> Derivatives Market: </a:t>
            </a:r>
            <a:r>
              <a:rPr lang="de-DE" sz="1800" err="1">
                <a:effectLst/>
                <a:latin typeface="Times New Roman,Bold" pitchFamily="2" charset="0"/>
              </a:rPr>
              <a:t>Lessons</a:t>
            </a:r>
            <a:r>
              <a:rPr lang="de-DE" sz="1800">
                <a:effectLst/>
                <a:latin typeface="Times New Roman,Bold" pitchFamily="2" charset="0"/>
              </a:rPr>
              <a:t> </a:t>
            </a:r>
            <a:r>
              <a:rPr lang="de-DE" sz="1800" err="1">
                <a:effectLst/>
                <a:latin typeface="Times New Roman,Bold" pitchFamily="2" charset="0"/>
              </a:rPr>
              <a:t>from</a:t>
            </a:r>
            <a:r>
              <a:rPr lang="de-DE" sz="1800">
                <a:effectLst/>
                <a:latin typeface="Times New Roman,Bold" pitchFamily="2" charset="0"/>
              </a:rPr>
              <a:t> Five Global Shocks (2007–2023), </a:t>
            </a:r>
            <a:r>
              <a:rPr lang="de-DE" sz="1800" err="1">
                <a:effectLst/>
                <a:latin typeface="Times New Roman,Bold" pitchFamily="2" charset="0"/>
              </a:rPr>
              <a:t>page</a:t>
            </a:r>
            <a:r>
              <a:rPr lang="de-DE" sz="1800">
                <a:effectLst/>
                <a:latin typeface="Times New Roman,Bold" pitchFamily="2" charset="0"/>
              </a:rPr>
              <a:t>: 2.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0481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140E9-D8DA-0F5C-912F-D5812481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35CDB25-7B55-9AF2-55AA-7F7151E00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12073E-AF34-9C8E-03E0-34DF8108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1) List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theoretically</a:t>
            </a:r>
            <a:r>
              <a:rPr lang="de-DE"/>
              <a:t> </a:t>
            </a:r>
            <a:r>
              <a:rPr lang="de-DE" err="1"/>
              <a:t>affecting</a:t>
            </a:r>
            <a:r>
              <a:rPr lang="de-DE"/>
              <a:t> </a:t>
            </a:r>
            <a:r>
              <a:rPr lang="de-DE" err="1"/>
              <a:t>crisis</a:t>
            </a:r>
            <a:r>
              <a:rPr lang="de-DE"/>
              <a:t> </a:t>
            </a:r>
            <a:r>
              <a:rPr lang="de-DE" err="1"/>
              <a:t>periods</a:t>
            </a:r>
            <a:r>
              <a:rPr lang="de-DE"/>
              <a:t> </a:t>
            </a:r>
            <a:r>
              <a:rPr lang="de-DE" err="1"/>
              <a:t>taken</a:t>
            </a:r>
            <a:r>
              <a:rPr lang="de-DE"/>
              <a:t> </a:t>
            </a:r>
            <a:r>
              <a:rPr lang="de-DE" err="1"/>
              <a:t>from</a:t>
            </a:r>
            <a:r>
              <a:rPr lang="de-DE"/>
              <a:t>: </a:t>
            </a:r>
            <a:r>
              <a:rPr lang="de-DE" sz="1800" err="1">
                <a:effectLst/>
                <a:latin typeface="Times New Roman,Bold" pitchFamily="2" charset="0"/>
              </a:rPr>
              <a:t>How</a:t>
            </a:r>
            <a:r>
              <a:rPr lang="de-DE" sz="1800">
                <a:effectLst/>
                <a:latin typeface="Times New Roman,Bold" pitchFamily="2" charset="0"/>
              </a:rPr>
              <a:t> Exchange Rate </a:t>
            </a:r>
            <a:r>
              <a:rPr lang="de-DE" sz="1800" err="1">
                <a:effectLst/>
                <a:latin typeface="Times New Roman,Bold" pitchFamily="2" charset="0"/>
              </a:rPr>
              <a:t>Volatility</a:t>
            </a:r>
            <a:r>
              <a:rPr lang="de-DE" sz="1800">
                <a:effectLst/>
                <a:latin typeface="Times New Roman,Bold" pitchFamily="2" charset="0"/>
              </a:rPr>
              <a:t> Shapes </a:t>
            </a:r>
            <a:r>
              <a:rPr lang="de-DE" sz="1800" err="1">
                <a:effectLst/>
                <a:latin typeface="Times New Roman,Bold" pitchFamily="2" charset="0"/>
              </a:rPr>
              <a:t>Commodity</a:t>
            </a:r>
            <a:r>
              <a:rPr lang="de-DE" sz="1800">
                <a:effectLst/>
                <a:latin typeface="Times New Roman,Bold" pitchFamily="2" charset="0"/>
              </a:rPr>
              <a:t> Derivatives Market: </a:t>
            </a:r>
            <a:r>
              <a:rPr lang="de-DE" sz="1800" err="1">
                <a:effectLst/>
                <a:latin typeface="Times New Roman,Bold" pitchFamily="2" charset="0"/>
              </a:rPr>
              <a:t>Lessons</a:t>
            </a:r>
            <a:r>
              <a:rPr lang="de-DE" sz="1800">
                <a:effectLst/>
                <a:latin typeface="Times New Roman,Bold" pitchFamily="2" charset="0"/>
              </a:rPr>
              <a:t> </a:t>
            </a:r>
            <a:r>
              <a:rPr lang="de-DE" sz="1800" err="1">
                <a:effectLst/>
                <a:latin typeface="Times New Roman,Bold" pitchFamily="2" charset="0"/>
              </a:rPr>
              <a:t>from</a:t>
            </a:r>
            <a:r>
              <a:rPr lang="de-DE" sz="1800">
                <a:effectLst/>
                <a:latin typeface="Times New Roman,Bold" pitchFamily="2" charset="0"/>
              </a:rPr>
              <a:t> Five Global Shocks (2007–2023), </a:t>
            </a:r>
            <a:r>
              <a:rPr lang="de-DE" sz="1800" err="1">
                <a:effectLst/>
                <a:latin typeface="Times New Roman,Bold" pitchFamily="2" charset="0"/>
              </a:rPr>
              <a:t>page</a:t>
            </a:r>
            <a:r>
              <a:rPr lang="de-DE" sz="1800">
                <a:effectLst/>
                <a:latin typeface="Times New Roman,Bold" pitchFamily="2" charset="0"/>
              </a:rPr>
              <a:t>: 2.</a:t>
            </a:r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525F2-FBF3-EF59-AEA5-ABDF1479F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1038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</a:t>
            </a:r>
            <a:r>
              <a:rPr lang="de-DE" dirty="0" err="1"/>
              <a:t>illustration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sz="1200" dirty="0">
                <a:effectLst/>
                <a:latin typeface="AdvTT5235d5a9"/>
              </a:rPr>
              <a:t>The </a:t>
            </a:r>
            <a:r>
              <a:rPr lang="de-DE" sz="1200" dirty="0" err="1">
                <a:effectLst/>
                <a:latin typeface="AdvTT5235d5a9"/>
              </a:rPr>
              <a:t>relationship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between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oil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prices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exchange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rates</a:t>
            </a:r>
            <a:r>
              <a:rPr lang="de-DE" sz="1200" dirty="0">
                <a:effectLst/>
                <a:latin typeface="AdvTT5235d5a9"/>
              </a:rPr>
              <a:t>: </a:t>
            </a:r>
            <a:r>
              <a:rPr lang="de-DE" sz="1200" dirty="0" err="1">
                <a:effectLst/>
                <a:latin typeface="AdvTT5235d5a9"/>
              </a:rPr>
              <a:t>Revisiting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theory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evidence</a:t>
            </a:r>
            <a:r>
              <a:rPr lang="de-DE" sz="1200" dirty="0">
                <a:effectLst/>
                <a:latin typeface="AdvTT5235d5a9"/>
              </a:rPr>
              <a:t>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</a:t>
            </a:r>
            <a:r>
              <a:rPr lang="de-DE" dirty="0" err="1"/>
              <a:t>pages</a:t>
            </a:r>
            <a:r>
              <a:rPr lang="de-DE" dirty="0"/>
              <a:t>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1792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57611-CE12-0294-5C6B-30CDB9C13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26B9A7B-BCE0-713D-C551-DCFA44350C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FE957FF-DDD1-42A3-F8D2-407510E6DB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Own </a:t>
            </a:r>
            <a:r>
              <a:rPr lang="de-DE" err="1"/>
              <a:t>illustration</a:t>
            </a:r>
            <a:r>
              <a:rPr lang="de-DE"/>
              <a:t> </a:t>
            </a:r>
            <a:r>
              <a:rPr lang="de-DE" err="1"/>
              <a:t>based</a:t>
            </a:r>
            <a:r>
              <a:rPr lang="de-DE"/>
              <a:t> on </a:t>
            </a:r>
            <a:r>
              <a:rPr lang="de-DE" sz="1200">
                <a:effectLst/>
                <a:latin typeface="AdvTT5235d5a9"/>
              </a:rPr>
              <a:t>The </a:t>
            </a:r>
            <a:r>
              <a:rPr lang="de-DE" sz="1200" err="1">
                <a:effectLst/>
                <a:latin typeface="AdvTT5235d5a9"/>
              </a:rPr>
              <a:t>relationship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between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oil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prices</a:t>
            </a:r>
            <a:r>
              <a:rPr lang="de-DE" sz="1200">
                <a:effectLst/>
                <a:latin typeface="AdvTT5235d5a9"/>
              </a:rPr>
              <a:t> and </a:t>
            </a:r>
            <a:r>
              <a:rPr lang="de-DE" sz="1200" err="1">
                <a:effectLst/>
                <a:latin typeface="AdvTT5235d5a9"/>
              </a:rPr>
              <a:t>exchange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rates</a:t>
            </a:r>
            <a:r>
              <a:rPr lang="de-DE" sz="1200">
                <a:effectLst/>
                <a:latin typeface="AdvTT5235d5a9"/>
              </a:rPr>
              <a:t>: </a:t>
            </a:r>
            <a:r>
              <a:rPr lang="de-DE" sz="1200" err="1">
                <a:effectLst/>
                <a:latin typeface="AdvTT5235d5a9"/>
              </a:rPr>
              <a:t>Revisiting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theory</a:t>
            </a:r>
            <a:r>
              <a:rPr lang="de-DE" sz="1200">
                <a:effectLst/>
                <a:latin typeface="AdvTT5235d5a9"/>
              </a:rPr>
              <a:t> and </a:t>
            </a:r>
            <a:r>
              <a:rPr lang="de-DE" sz="1200" err="1">
                <a:effectLst/>
                <a:latin typeface="AdvTT5235d5a9"/>
              </a:rPr>
              <a:t>evidence</a:t>
            </a:r>
            <a:r>
              <a:rPr lang="de-DE" sz="1200">
                <a:effectLst/>
                <a:latin typeface="AdvTT5235d5a9"/>
              </a:rPr>
              <a:t> </a:t>
            </a:r>
            <a:endParaRPr lang="de-DE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(</a:t>
            </a:r>
            <a:r>
              <a:rPr lang="de-DE" sz="120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/>
              <a:t>), </a:t>
            </a:r>
            <a:r>
              <a:rPr lang="de-DE" err="1"/>
              <a:t>pages</a:t>
            </a:r>
            <a:r>
              <a:rPr lang="de-DE"/>
              <a:t> 3-8.</a:t>
            </a:r>
          </a:p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842E01-8ABA-866E-881C-A792FA9F4C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9734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</a:t>
            </a:r>
            <a:r>
              <a:rPr lang="de-DE" dirty="0" err="1"/>
              <a:t>illustration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sz="1200" dirty="0">
                <a:effectLst/>
                <a:latin typeface="AdvTT5235d5a9"/>
              </a:rPr>
              <a:t>The </a:t>
            </a:r>
            <a:r>
              <a:rPr lang="de-DE" sz="1200" dirty="0" err="1">
                <a:effectLst/>
                <a:latin typeface="AdvTT5235d5a9"/>
              </a:rPr>
              <a:t>relationship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between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oil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prices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exchange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rates</a:t>
            </a:r>
            <a:r>
              <a:rPr lang="de-DE" sz="1200" dirty="0">
                <a:effectLst/>
                <a:latin typeface="AdvTT5235d5a9"/>
              </a:rPr>
              <a:t>: </a:t>
            </a:r>
            <a:r>
              <a:rPr lang="de-DE" sz="1200" dirty="0" err="1">
                <a:effectLst/>
                <a:latin typeface="AdvTT5235d5a9"/>
              </a:rPr>
              <a:t>Revisiting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theory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evidence</a:t>
            </a:r>
            <a:r>
              <a:rPr lang="de-DE" sz="1200" dirty="0">
                <a:effectLst/>
                <a:latin typeface="AdvTT5235d5a9"/>
              </a:rPr>
              <a:t>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</a:t>
            </a:r>
            <a:r>
              <a:rPr lang="de-DE" dirty="0" err="1"/>
              <a:t>pages</a:t>
            </a:r>
            <a:r>
              <a:rPr lang="de-DE" dirty="0"/>
              <a:t>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66460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475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F4976D8-9094-7414-1337-D5BFC0276F17}"/>
              </a:ext>
            </a:extLst>
          </p:cNvPr>
          <p:cNvSpPr/>
          <p:nvPr userDrawn="1"/>
        </p:nvSpPr>
        <p:spPr>
          <a:xfrm>
            <a:off x="-16152" y="6130778"/>
            <a:ext cx="11536640" cy="34939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70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E0FE0D-4DAE-B6C9-D83D-DE0821648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8076" y="-7441"/>
            <a:ext cx="11528564" cy="919449"/>
          </a:xfrm>
          <a:solidFill>
            <a:srgbClr val="00677C"/>
          </a:solidFill>
        </p:spPr>
        <p:txBody>
          <a:bodyPr>
            <a:normAutofit/>
          </a:bodyPr>
          <a:lstStyle>
            <a:lvl1pPr>
              <a:defRPr sz="2835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  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ED61AC-10B2-F7A3-5112-6BDAF60F4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F92F16-AEF6-2E22-89FC-2104091B1C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8802" y="6130781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J.Fella &amp; R.Hennings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BBC12F-E553-CBC6-B606-9648CB76B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6162" y="6130780"/>
            <a:ext cx="3888165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070C56-7719-8376-E309-3BB1B22E8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36345" y="6130779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42E4F82-BF2E-49E6-B429-4AFCF17D441A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63350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t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8"/>
          <p:cNvSpPr/>
          <p:nvPr userDrawn="1"/>
        </p:nvSpPr>
        <p:spPr>
          <a:xfrm>
            <a:off x="11196720" y="5540400"/>
            <a:ext cx="357480" cy="10980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/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94" y="0"/>
            <a:ext cx="11520488" cy="1142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0" y="-72000"/>
            <a:ext cx="11592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5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amy.com/stock-photo-newspaper-article-on-the-price-of-gasoline-and-petrol-going-higher-26528783.html" TargetMode="External"/><Relationship Id="rId7" Type="http://schemas.openxmlformats.org/officeDocument/2006/relationships/hyperlink" Target="https://www.forbes.com/sites/siladityaray/2022/08/29/us-dollar-hits-two-decade-high-heres-what-that-means/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hyperlink" Target="https://www.dreamstime.com/energy-crisis-fuel-gas-price-newspaper-table-energy-crisis-fuel-gas-electricity-price-newspaper-table-image270150690" TargetMode="Externa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4AD3DAFF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A_AE6DAA0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A6815A2-BE6E-C95F-CE44-FF975709C775}"/>
              </a:ext>
            </a:extLst>
          </p:cNvPr>
          <p:cNvSpPr/>
          <p:nvPr/>
        </p:nvSpPr>
        <p:spPr>
          <a:xfrm>
            <a:off x="-59689" y="-81230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77082D84-2C49-30CC-4911-2F058C683FB8}"/>
              </a:ext>
            </a:extLst>
          </p:cNvPr>
          <p:cNvSpPr/>
          <p:nvPr/>
        </p:nvSpPr>
        <p:spPr>
          <a:xfrm>
            <a:off x="184944" y="831954"/>
            <a:ext cx="11150599" cy="20182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000" b="1" dirty="0"/>
              <a:t>Non-linear </a:t>
            </a:r>
            <a:r>
              <a:rPr lang="de-DE" sz="3000" b="1" dirty="0" err="1"/>
              <a:t>effects</a:t>
            </a:r>
            <a:r>
              <a:rPr lang="de-DE" sz="3000" b="1" dirty="0"/>
              <a:t> </a:t>
            </a:r>
            <a:r>
              <a:rPr lang="de-DE" sz="3000" b="1" dirty="0" err="1"/>
              <a:t>of</a:t>
            </a:r>
            <a:r>
              <a:rPr lang="de-DE" sz="3000" b="1" dirty="0"/>
              <a:t> </a:t>
            </a:r>
            <a:r>
              <a:rPr lang="de-DE" sz="3000" b="1" dirty="0" err="1"/>
              <a:t>energy</a:t>
            </a:r>
            <a:r>
              <a:rPr lang="de-DE" sz="3000" b="1" dirty="0"/>
              <a:t> </a:t>
            </a:r>
            <a:r>
              <a:rPr lang="de-DE" sz="3000" b="1" dirty="0" err="1"/>
              <a:t>commodites</a:t>
            </a:r>
            <a:r>
              <a:rPr lang="de-DE" sz="3000" b="1" dirty="0"/>
              <a:t> on </a:t>
            </a:r>
            <a:r>
              <a:rPr lang="de-DE" sz="3000" b="1" dirty="0" err="1"/>
              <a:t>the</a:t>
            </a:r>
            <a:r>
              <a:rPr lang="de-DE" sz="3000" b="1" dirty="0"/>
              <a:t> EUR/USD </a:t>
            </a:r>
            <a:r>
              <a:rPr lang="de-DE" sz="3000" b="1" dirty="0" err="1"/>
              <a:t>spot</a:t>
            </a:r>
            <a:r>
              <a:rPr lang="de-DE" sz="3000" b="1" dirty="0"/>
              <a:t> </a:t>
            </a:r>
            <a:r>
              <a:rPr lang="de-DE" sz="3000" b="1" dirty="0" err="1"/>
              <a:t>exchange</a:t>
            </a:r>
            <a:r>
              <a:rPr lang="de-DE" sz="3000" b="1" dirty="0"/>
              <a:t> rate:</a:t>
            </a:r>
            <a:r>
              <a:rPr lang="de-DE" sz="3200" b="1" dirty="0"/>
              <a:t> </a:t>
            </a:r>
          </a:p>
          <a:p>
            <a:pPr algn="ctr"/>
            <a:r>
              <a:rPr lang="de-DE" sz="3200" dirty="0"/>
              <a:t>An </a:t>
            </a:r>
            <a:r>
              <a:rPr lang="de-DE" sz="3200" dirty="0" err="1"/>
              <a:t>oil</a:t>
            </a:r>
            <a:r>
              <a:rPr lang="de-DE" sz="3200" dirty="0"/>
              <a:t> and gas </a:t>
            </a:r>
            <a:r>
              <a:rPr lang="de-DE" sz="3200" dirty="0" err="1"/>
              <a:t>perspective</a:t>
            </a:r>
            <a:r>
              <a:rPr lang="de-DE" sz="3200" dirty="0"/>
              <a:t>.</a:t>
            </a:r>
          </a:p>
          <a:p>
            <a:pPr algn="ctr"/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Seminar in Applied Financial Economics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Professor Reitz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F1E9C5B-2C8E-C3A1-C2CE-19D641FBBF70}"/>
              </a:ext>
            </a:extLst>
          </p:cNvPr>
          <p:cNvSpPr/>
          <p:nvPr/>
        </p:nvSpPr>
        <p:spPr>
          <a:xfrm>
            <a:off x="2382043" y="2499887"/>
            <a:ext cx="6756400" cy="286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 Fella and Robert Hennings</a:t>
            </a:r>
          </a:p>
          <a:p>
            <a:pPr algn="ctr"/>
            <a:endParaRPr lang="de-DE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Christian-Albrechts-University of Kiel</a:t>
            </a:r>
          </a:p>
          <a:p>
            <a:pPr algn="ctr"/>
            <a:r>
              <a:rPr lang="de-DE" sz="1600" i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josef.fella@stu.uni-kiel.de and robert.hennings@stu.uni-kiel.de</a:t>
            </a:r>
          </a:p>
          <a:p>
            <a:pPr algn="ctr"/>
            <a:r>
              <a:rPr lang="de-DE" sz="1600" i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GitHub: https://github.com/RobertHennings</a:t>
            </a:r>
          </a:p>
          <a:p>
            <a:pPr algn="ctr"/>
            <a:endParaRPr lang="de-DE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Kiel - 14.11.2025</a:t>
            </a: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0BDF84F9-AB7F-07DD-90C2-3A137E12B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6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0CB391-C26A-9A35-1E21-6D93032D8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/>
              <a:t>Beginning</a:t>
            </a:r>
            <a:r>
              <a:rPr lang="de-DE"/>
              <a:t>: Newspaper </a:t>
            </a:r>
            <a:r>
              <a:rPr lang="de-DE" err="1"/>
              <a:t>article</a:t>
            </a:r>
            <a:r>
              <a:rPr lang="de-DE"/>
              <a:t> </a:t>
            </a:r>
            <a:r>
              <a:rPr lang="de-DE" err="1"/>
              <a:t>about</a:t>
            </a:r>
            <a:r>
              <a:rPr lang="de-DE"/>
              <a:t> </a:t>
            </a:r>
            <a:r>
              <a:rPr lang="de-DE" err="1"/>
              <a:t>energy</a:t>
            </a:r>
            <a:r>
              <a:rPr lang="de-DE"/>
              <a:t> + </a:t>
            </a:r>
            <a:r>
              <a:rPr lang="de-DE" err="1"/>
              <a:t>recent</a:t>
            </a:r>
            <a:r>
              <a:rPr lang="de-DE"/>
              <a:t> USD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B9F65C-CE3C-10B2-9C48-57D8786AF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J.Fella &amp; R.Hennings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13E4F1-1CC0-A914-4FE5-CABACF879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E4F82-BF2E-49E6-B429-4AFCF17D441A}" type="slidenum">
              <a:rPr lang="de-DE" smtClean="0"/>
              <a:pPr/>
              <a:t>2</a:t>
            </a:fld>
            <a:endParaRPr lang="de-DE"/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24185FFA-9833-3C69-B398-960DD1CF451C}"/>
              </a:ext>
            </a:extLst>
          </p:cNvPr>
          <p:cNvGrpSpPr/>
          <p:nvPr/>
        </p:nvGrpSpPr>
        <p:grpSpPr>
          <a:xfrm>
            <a:off x="755251" y="1106326"/>
            <a:ext cx="3630563" cy="2055842"/>
            <a:chOff x="1658672" y="2046515"/>
            <a:chExt cx="5351728" cy="2979163"/>
          </a:xfrm>
        </p:grpSpPr>
        <p:pic>
          <p:nvPicPr>
            <p:cNvPr id="1026" name="Picture 2" descr="Newspaper article on the price of gasoline and petrol going higher ...">
              <a:extLst>
                <a:ext uri="{FF2B5EF4-FFF2-40B4-BE49-F238E27FC236}">
                  <a16:creationId xmlns:a16="http://schemas.microsoft.com/office/drawing/2014/main" id="{CEE01A1C-C1E6-8111-BF86-EB56D09249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592"/>
            <a:stretch>
              <a:fillRect/>
            </a:stretch>
          </p:blipFill>
          <p:spPr bwMode="auto">
            <a:xfrm>
              <a:off x="1658672" y="2046515"/>
              <a:ext cx="3775120" cy="2423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DFEB2089-8346-085A-472E-BED05ACCB2EC}"/>
                </a:ext>
              </a:extLst>
            </p:cNvPr>
            <p:cNvSpPr txBox="1"/>
            <p:nvPr/>
          </p:nvSpPr>
          <p:spPr>
            <a:xfrm>
              <a:off x="1658672" y="4470401"/>
              <a:ext cx="5351728" cy="5552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>
                  <a:hlinkClick r:id="rId3"/>
                </a:rPr>
                <a:t>Newspaper article on the price of gasoline and petrol going higher Stock Photo – </a:t>
              </a:r>
              <a:r>
                <a:rPr lang="en-US" sz="945" err="1">
                  <a:hlinkClick r:id="rId3"/>
                </a:rPr>
                <a:t>Alamy</a:t>
              </a:r>
              <a:r>
                <a:rPr lang="en-US" sz="945"/>
                <a:t>, 08.10.2025</a:t>
              </a:r>
              <a:endParaRPr lang="de-DE" sz="945"/>
            </a:p>
          </p:txBody>
        </p: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112AC907-D468-D791-9833-6B319EBDB6E2}"/>
              </a:ext>
            </a:extLst>
          </p:cNvPr>
          <p:cNvGrpSpPr/>
          <p:nvPr/>
        </p:nvGrpSpPr>
        <p:grpSpPr>
          <a:xfrm>
            <a:off x="1912040" y="3240088"/>
            <a:ext cx="5794442" cy="2565791"/>
            <a:chOff x="2174632" y="1376363"/>
            <a:chExt cx="6132286" cy="2715389"/>
          </a:xfrm>
        </p:grpSpPr>
        <p:pic>
          <p:nvPicPr>
            <p:cNvPr id="3078" name="Picture 6" descr="Energy Crisis and Fuel Gas Price Newspaper on Table Stock Illustration ...">
              <a:extLst>
                <a:ext uri="{FF2B5EF4-FFF2-40B4-BE49-F238E27FC236}">
                  <a16:creationId xmlns:a16="http://schemas.microsoft.com/office/drawing/2014/main" id="{E5019AC1-CB11-B157-FC73-D73CDF73E4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86000" y="1376363"/>
              <a:ext cx="4361543" cy="2349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4E12ADE8-C27B-2931-2BA0-8D926A16A2D1}"/>
                </a:ext>
              </a:extLst>
            </p:cNvPr>
            <p:cNvSpPr txBox="1"/>
            <p:nvPr/>
          </p:nvSpPr>
          <p:spPr>
            <a:xfrm>
              <a:off x="2174632" y="3686229"/>
              <a:ext cx="6132286" cy="405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>
                  <a:hlinkClick r:id="rId5"/>
                </a:rPr>
                <a:t>Energy Crisis and Fuel Gas Price Newspaper on Table Stock Illustration - Illustration of fossil, global: 270150690</a:t>
              </a:r>
              <a:r>
                <a:rPr lang="en-US" sz="945"/>
                <a:t>, 08.10.2025</a:t>
              </a:r>
              <a:endParaRPr lang="de-DE" sz="945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9F817FA9-F532-B5A6-9B9E-9763E13F3C0B}"/>
              </a:ext>
            </a:extLst>
          </p:cNvPr>
          <p:cNvGrpSpPr/>
          <p:nvPr/>
        </p:nvGrpSpPr>
        <p:grpSpPr>
          <a:xfrm>
            <a:off x="6362831" y="1008091"/>
            <a:ext cx="4402406" cy="2299226"/>
            <a:chOff x="972456" y="1913609"/>
            <a:chExt cx="6183084" cy="3023315"/>
          </a:xfrm>
        </p:grpSpPr>
        <p:pic>
          <p:nvPicPr>
            <p:cNvPr id="3080" name="Picture 8" descr="U.S. Dollar Hits 20-Year High: Here’s What That Means">
              <a:extLst>
                <a:ext uri="{FF2B5EF4-FFF2-40B4-BE49-F238E27FC236}">
                  <a16:creationId xmlns:a16="http://schemas.microsoft.com/office/drawing/2014/main" id="{CBB57997-C356-519B-7F9E-4912620614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2456" y="1913609"/>
              <a:ext cx="4484227" cy="2519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3758B12C-5472-C484-C45A-5F4EBC9184B8}"/>
                </a:ext>
              </a:extLst>
            </p:cNvPr>
            <p:cNvSpPr txBox="1"/>
            <p:nvPr/>
          </p:nvSpPr>
          <p:spPr>
            <a:xfrm>
              <a:off x="972456" y="4433067"/>
              <a:ext cx="6183084" cy="5038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945">
                  <a:hlinkClick r:id="rId7"/>
                </a:rPr>
                <a:t>https://www.forbes.com/sites/siladityaray/2022/08/29/us-dollar-hits-two-decade-high-heres-what-that-means/</a:t>
              </a:r>
              <a:r>
                <a:rPr lang="de-DE" sz="945"/>
                <a:t>, 08.10.2025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78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6232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393D68-7A74-A7D1-B41E-C2468E9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CA5A519-9F13-4080-0A41-4FAC1A64482E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1CF58EC5-18C5-0AB0-F99C-F1220AAA9B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D0ECA64D-A318-4178-0765-4F055AD47E9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3)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207B5E7-3925-0207-0FF8-3F3386325116}"/>
              </a:ext>
            </a:extLst>
          </p:cNvPr>
          <p:cNvSpPr/>
          <p:nvPr/>
        </p:nvSpPr>
        <p:spPr>
          <a:xfrm>
            <a:off x="2982297" y="2996762"/>
            <a:ext cx="5570335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>
                <a:latin typeface="Arial" panose="020B0604020202020204" pitchFamily="34" charset="0"/>
                <a:cs typeface="Arial" panose="020B0604020202020204" pitchFamily="34" charset="0"/>
              </a:rPr>
              <a:t>Literature</a:t>
            </a:r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 Review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45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F995-3419-CCB0-8698-134E2197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89979652-1CC6-B67E-EC59-613F4BB5EDA7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r>
              <a:rPr lang="de-DE" sz="1400" b="1" spc="-1" baseline="30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400" b="0" strike="noStrike" spc="-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5AEEBE-1DF8-F771-131E-935D08025377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5D90CBC-09A3-7803-2E9C-DFD72C73E45D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4B7565-F55E-DF40-D57D-2723965218E6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E3BA33-3B95-D2A5-9B43-0E705A4C8D38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AF11C45-59BA-4C14-05D4-87A6EA6C01B6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A2E6972-3072-29F8-F919-3BDC31C70019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42BDEA-AD1B-8BB8-D81C-7BA0BB3BDF23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8FA6D9-90C2-BFAF-C91A-D786F0D36A8C}"/>
              </a:ext>
            </a:extLst>
          </p:cNvPr>
          <p:cNvSpPr/>
          <p:nvPr/>
        </p:nvSpPr>
        <p:spPr>
          <a:xfrm>
            <a:off x="5682450" y="4303966"/>
            <a:ext cx="22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Numeraire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F51B29-AF6D-7E13-44AF-D337D241DCB1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2D4A6C-6185-B444-11A0-F5D8C242F78C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984F82-DCB0-CD0F-FEC0-450BD3B9EBBC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547BB34D-F2E7-62B8-D919-64BBAC3723E3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3E63AF5-9F5E-95D5-6180-0988AF58E0D8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1A67F1B-E3AD-966A-74FA-C42FC64ABA33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C44F8-FDB0-B5C3-7AB6-DAAE91C82D6D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6F986F-1ECF-7BA6-5F28-CF166D13E579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47AC8FF-7365-56DF-F93C-A4ED76F9C2F5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583658-2C22-32C2-5D95-15BE6A433D72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E3E1C60-1677-B084-B1C5-91C284BE2062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56F8FC-7512-A6C0-D0F2-1756DF3991F1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E1ABFDC-72F9-38AC-5192-9E813F24C3A5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92C12B1-A82B-DA2B-1B42-93D8F5E91563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1C0A855-8002-6E58-4CE7-1A3A4E3BAFC1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EC91CC7-79C2-687B-D6FE-9B94C5931958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AAD51E-89CC-0CDE-667F-1D52B0CC7937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A21882D-84E7-42C9-52E2-F7F8ECCE177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772846A8-47BF-C5BD-23BD-90268CF4F83D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1E45963D-D85B-6D20-9F28-0C285372AB9E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ADE954ED-9BD3-5B5F-E4F3-05EEC35F98B1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09F5D47B-6B09-7CFC-5444-D852D1F50422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2B0B8714-4735-3D93-DEE2-39EEDF4D561B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F71AE3F4-D833-EE71-8CFE-4CED6B06EF3D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0499263F-B069-F131-A5DE-5772AE971F6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559678-A189-0726-673D-DE1DA2DC70F1}"/>
              </a:ext>
            </a:extLst>
          </p:cNvPr>
          <p:cNvSpPr/>
          <p:nvPr/>
        </p:nvSpPr>
        <p:spPr>
          <a:xfrm>
            <a:off x="2204318" y="3276798"/>
            <a:ext cx="1755627" cy="24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Value Approach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8541E07-E6F4-ED82-136D-E8DFBDF1A366}"/>
              </a:ext>
            </a:extLst>
          </p:cNvPr>
          <p:cNvSpPr/>
          <p:nvPr/>
        </p:nvSpPr>
        <p:spPr>
          <a:xfrm>
            <a:off x="3317272" y="5961248"/>
            <a:ext cx="2373309" cy="3473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affecting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rate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channels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Markov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Switching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1B0DD7A-7D17-5AF6-8729-84131D833385}"/>
              </a:ext>
            </a:extLst>
          </p:cNvPr>
          <p:cNvCxnSpPr>
            <a:cxnSpLocks/>
            <a:stCxn id="12" idx="0"/>
            <a:endCxn id="14" idx="3"/>
          </p:cNvCxnSpPr>
          <p:nvPr/>
        </p:nvCxnSpPr>
        <p:spPr>
          <a:xfrm flipH="1" flipV="1">
            <a:off x="3872163" y="2959296"/>
            <a:ext cx="631764" cy="30019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58D72F1-5BD3-BE92-5474-39202431B984}"/>
              </a:ext>
            </a:extLst>
          </p:cNvPr>
          <p:cNvCxnSpPr>
            <a:cxnSpLocks/>
            <a:stCxn id="12" idx="0"/>
            <a:endCxn id="29" idx="1"/>
          </p:cNvCxnSpPr>
          <p:nvPr/>
        </p:nvCxnSpPr>
        <p:spPr>
          <a:xfrm flipV="1">
            <a:off x="4503927" y="4904163"/>
            <a:ext cx="537110" cy="1057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D6455752-85AB-249B-351F-AA1A075CC80E}"/>
              </a:ext>
            </a:extLst>
          </p:cNvPr>
          <p:cNvSpPr/>
          <p:nvPr/>
        </p:nvSpPr>
        <p:spPr>
          <a:xfrm>
            <a:off x="1843534" y="5140383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Effects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9549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86A40-CC4A-F893-4962-D869B858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3A9A3D-A2C8-0573-AD47-55CA13D2DF5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3D43F778-3670-5763-3D15-15520B8093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25EC4B36-7CB4-55D3-844F-E9E04B22A35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4)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B7DE48D-0905-4FF6-EE4B-25F2631EDCAC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 Framework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80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559F-668E-4622-25B4-5E8DF490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E7C7C535-5ABA-C8D3-4DBE-69841A10BAC8}"/>
              </a:ext>
            </a:extLst>
          </p:cNvPr>
          <p:cNvCxnSpPr>
            <a:cxnSpLocks/>
          </p:cNvCxnSpPr>
          <p:nvPr/>
        </p:nvCxnSpPr>
        <p:spPr>
          <a:xfrm>
            <a:off x="222029" y="4688326"/>
            <a:ext cx="9756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73EBEBD3-61E4-A52F-5E12-0CD69AEB0132}"/>
              </a:ext>
            </a:extLst>
          </p:cNvPr>
          <p:cNvSpPr/>
          <p:nvPr/>
        </p:nvSpPr>
        <p:spPr>
          <a:xfrm>
            <a:off x="4010060" y="4778337"/>
            <a:ext cx="2102424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Energy commodity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89FE3B-8FB7-30AB-738E-22FF5C48A507}"/>
              </a:ext>
            </a:extLst>
          </p:cNvPr>
          <p:cNvSpPr/>
          <p:nvPr/>
        </p:nvSpPr>
        <p:spPr>
          <a:xfrm>
            <a:off x="7761879" y="3732141"/>
            <a:ext cx="1922827" cy="391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external terms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CPI/PPI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1F86257-349A-21C4-CD28-34331020D005}"/>
              </a:ext>
            </a:extLst>
          </p:cNvPr>
          <p:cNvCxnSpPr>
            <a:cxnSpLocks/>
            <a:stCxn id="75" idx="3"/>
            <a:endCxn id="8" idx="1"/>
          </p:cNvCxnSpPr>
          <p:nvPr/>
        </p:nvCxnSpPr>
        <p:spPr>
          <a:xfrm flipV="1">
            <a:off x="7502548" y="3927972"/>
            <a:ext cx="259331" cy="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85B157F5-10D5-DAAD-F75D-4C2F2CDC03D3}"/>
              </a:ext>
            </a:extLst>
          </p:cNvPr>
          <p:cNvSpPr/>
          <p:nvPr/>
        </p:nvSpPr>
        <p:spPr>
          <a:xfrm>
            <a:off x="7756589" y="4215974"/>
            <a:ext cx="1922827" cy="7835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terms/terms of trade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Ratio tradable and non-tradable goods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D32FAD-24E8-23D4-09CE-3013A5264E7E}"/>
              </a:ext>
            </a:extLst>
          </p:cNvPr>
          <p:cNvSpPr/>
          <p:nvPr/>
        </p:nvSpPr>
        <p:spPr>
          <a:xfrm>
            <a:off x="683171" y="5432471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76DFE7-E92B-C4CD-4498-D54F8FEF5A84}"/>
              </a:ext>
            </a:extLst>
          </p:cNvPr>
          <p:cNvCxnSpPr>
            <a:cxnSpLocks/>
            <a:stCxn id="30" idx="2"/>
            <a:endCxn id="13" idx="0"/>
          </p:cNvCxnSpPr>
          <p:nvPr/>
        </p:nvCxnSpPr>
        <p:spPr>
          <a:xfrm flipH="1">
            <a:off x="1849232" y="5226083"/>
            <a:ext cx="1" cy="20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/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f>
                        <m:fPr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hteck 29">
            <a:extLst>
              <a:ext uri="{FF2B5EF4-FFF2-40B4-BE49-F238E27FC236}">
                <a16:creationId xmlns:a16="http://schemas.microsoft.com/office/drawing/2014/main" id="{37A69D8F-5662-E8F0-40A0-6AF2855D9D8D}"/>
              </a:ext>
            </a:extLst>
          </p:cNvPr>
          <p:cNvSpPr/>
          <p:nvPr/>
        </p:nvSpPr>
        <p:spPr>
          <a:xfrm>
            <a:off x="683172" y="4775560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Energy commodity prices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0CD1860-0A48-293B-D7AB-C8BFB826EE74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3012436" y="3644844"/>
            <a:ext cx="504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EBA84D3F-E99E-C91A-2ED1-359A23F5FD92}"/>
              </a:ext>
            </a:extLst>
          </p:cNvPr>
          <p:cNvCxnSpPr>
            <a:cxnSpLocks/>
          </p:cNvCxnSpPr>
          <p:nvPr/>
        </p:nvCxnSpPr>
        <p:spPr>
          <a:xfrm flipV="1">
            <a:off x="3015293" y="5022042"/>
            <a:ext cx="5326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0EB06B2-8C6F-BA12-1431-DBFA136F6098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766845" y="3648479"/>
            <a:ext cx="243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2C41811-6436-6937-DB44-58904A364F5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763901" y="5003599"/>
            <a:ext cx="24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/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(REER)</a:t>
                </a:r>
              </a:p>
              <a:p>
                <a:pPr algn="ctr"/>
                <a:endParaRPr lang="de-DE" sz="11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𝑟𝑒𝑎𝑙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blipFill>
                <a:blip r:embed="rId4"/>
                <a:stretch>
                  <a:fillRect l="-9813" b="-56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hteck 48">
            <a:extLst>
              <a:ext uri="{FF2B5EF4-FFF2-40B4-BE49-F238E27FC236}">
                <a16:creationId xmlns:a16="http://schemas.microsoft.com/office/drawing/2014/main" id="{25A08158-FA53-A0B1-F15D-78175F0085A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What are prices and how are they measured?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E4BBC49-B846-94F8-A7D3-B443853B5DEF}"/>
              </a:ext>
            </a:extLst>
          </p:cNvPr>
          <p:cNvSpPr/>
          <p:nvPr/>
        </p:nvSpPr>
        <p:spPr>
          <a:xfrm rot="16200000">
            <a:off x="-512864" y="1950096"/>
            <a:ext cx="1536022" cy="3911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Multilateral basket of currencies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EB0C0D-1507-F02A-6129-37D3964916FC}"/>
              </a:ext>
            </a:extLst>
          </p:cNvPr>
          <p:cNvSpPr/>
          <p:nvPr/>
        </p:nvSpPr>
        <p:spPr>
          <a:xfrm rot="16200000">
            <a:off x="-510422" y="3751195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Bilaterail currencies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C703C1D-45F9-A7F9-9246-0E6AFB22B640}"/>
              </a:ext>
            </a:extLst>
          </p:cNvPr>
          <p:cNvCxnSpPr>
            <a:cxnSpLocks/>
          </p:cNvCxnSpPr>
          <p:nvPr/>
        </p:nvCxnSpPr>
        <p:spPr>
          <a:xfrm flipV="1">
            <a:off x="3768748" y="2135745"/>
            <a:ext cx="468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C6A7EBC0-2B86-32D4-2AD3-80F1D3A6F53D}"/>
              </a:ext>
            </a:extLst>
          </p:cNvPr>
          <p:cNvCxnSpPr>
            <a:cxnSpLocks/>
          </p:cNvCxnSpPr>
          <p:nvPr/>
        </p:nvCxnSpPr>
        <p:spPr>
          <a:xfrm>
            <a:off x="118533" y="3014115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2C7F210E-44C2-3C66-C47F-64D444F54765}"/>
              </a:ext>
            </a:extLst>
          </p:cNvPr>
          <p:cNvSpPr/>
          <p:nvPr/>
        </p:nvSpPr>
        <p:spPr>
          <a:xfrm rot="16200000">
            <a:off x="1726727" y="3188909"/>
            <a:ext cx="385834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Inflation/Relative Consumer Prices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E87C37-1AF2-CA03-4404-B86BDC1AA136}"/>
              </a:ext>
            </a:extLst>
          </p:cNvPr>
          <p:cNvSpPr/>
          <p:nvPr/>
        </p:nvSpPr>
        <p:spPr>
          <a:xfrm>
            <a:off x="10329215" y="2376852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Broad Index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28B6CF6-69BF-785B-75DC-3901836C8F31}"/>
              </a:ext>
            </a:extLst>
          </p:cNvPr>
          <p:cNvSpPr/>
          <p:nvPr/>
        </p:nvSpPr>
        <p:spPr>
          <a:xfrm>
            <a:off x="10329215" y="3162640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Narrow Index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FC6C353-D5DB-31EA-1ABD-11B376E66F5C}"/>
              </a:ext>
            </a:extLst>
          </p:cNvPr>
          <p:cNvCxnSpPr>
            <a:cxnSpLocks/>
            <a:stCxn id="57" idx="1"/>
            <a:endCxn id="39" idx="1"/>
          </p:cNvCxnSpPr>
          <p:nvPr/>
        </p:nvCxnSpPr>
        <p:spPr>
          <a:xfrm flipV="1">
            <a:off x="10229680" y="2602114"/>
            <a:ext cx="99535" cy="425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DE0F81B-9E95-B0F4-984D-4CB78B66B8A6}"/>
              </a:ext>
            </a:extLst>
          </p:cNvPr>
          <p:cNvCxnSpPr>
            <a:cxnSpLocks/>
            <a:stCxn id="57" idx="1"/>
            <a:endCxn id="40" idx="1"/>
          </p:cNvCxnSpPr>
          <p:nvPr/>
        </p:nvCxnSpPr>
        <p:spPr>
          <a:xfrm>
            <a:off x="10229680" y="3028026"/>
            <a:ext cx="99535" cy="3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Geschweifte Klammer links 56">
            <a:extLst>
              <a:ext uri="{FF2B5EF4-FFF2-40B4-BE49-F238E27FC236}">
                <a16:creationId xmlns:a16="http://schemas.microsoft.com/office/drawing/2014/main" id="{58DDF9A1-2BD4-6DAF-F9C3-655C565256B0}"/>
              </a:ext>
            </a:extLst>
          </p:cNvPr>
          <p:cNvSpPr/>
          <p:nvPr/>
        </p:nvSpPr>
        <p:spPr>
          <a:xfrm rot="10800000">
            <a:off x="9810515" y="1367734"/>
            <a:ext cx="419165" cy="332058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93F2CF6-BF9C-ABAA-8E14-DE62E3722178}"/>
              </a:ext>
            </a:extLst>
          </p:cNvPr>
          <p:cNvSpPr/>
          <p:nvPr/>
        </p:nvSpPr>
        <p:spPr>
          <a:xfrm>
            <a:off x="683171" y="4214764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119E95B4-1BF6-C452-1E1F-2BE496B4BD32}"/>
              </a:ext>
            </a:extLst>
          </p:cNvPr>
          <p:cNvCxnSpPr>
            <a:cxnSpLocks/>
            <a:stCxn id="29" idx="2"/>
            <a:endCxn id="70" idx="0"/>
          </p:cNvCxnSpPr>
          <p:nvPr/>
        </p:nvCxnSpPr>
        <p:spPr>
          <a:xfrm>
            <a:off x="1846957" y="4080016"/>
            <a:ext cx="2275" cy="134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E4478911-13F8-4643-BE07-6BE510CE413D}"/>
              </a:ext>
            </a:extLst>
          </p:cNvPr>
          <p:cNvSpPr/>
          <p:nvPr/>
        </p:nvSpPr>
        <p:spPr>
          <a:xfrm>
            <a:off x="6032683" y="3092033"/>
            <a:ext cx="1469865" cy="5540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 variables: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GDP deflator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Unit labor costs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776E1D30-F052-1481-DEF9-9ADB84C06DE1}"/>
              </a:ext>
            </a:extLst>
          </p:cNvPr>
          <p:cNvSpPr/>
          <p:nvPr/>
        </p:nvSpPr>
        <p:spPr>
          <a:xfrm>
            <a:off x="6032685" y="3734298"/>
            <a:ext cx="1469863" cy="391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prices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Producer prices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3777F85-A0C5-0394-7180-6549405BE783}"/>
              </a:ext>
            </a:extLst>
          </p:cNvPr>
          <p:cNvSpPr/>
          <p:nvPr/>
        </p:nvSpPr>
        <p:spPr>
          <a:xfrm>
            <a:off x="6028161" y="4224600"/>
            <a:ext cx="1477333" cy="399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prices</a:t>
            </a:r>
          </a:p>
        </p:txBody>
      </p:sp>
      <p:cxnSp>
        <p:nvCxnSpPr>
          <p:cNvPr id="90" name="Gewinkelte Verbindung 89">
            <a:extLst>
              <a:ext uri="{FF2B5EF4-FFF2-40B4-BE49-F238E27FC236}">
                <a16:creationId xmlns:a16="http://schemas.microsoft.com/office/drawing/2014/main" id="{CA409A5D-55EB-43B5-FB41-887ECED819F0}"/>
              </a:ext>
            </a:extLst>
          </p:cNvPr>
          <p:cNvCxnSpPr>
            <a:cxnSpLocks/>
            <a:stCxn id="5" idx="0"/>
            <a:endCxn id="74" idx="1"/>
          </p:cNvCxnSpPr>
          <p:nvPr/>
        </p:nvCxnSpPr>
        <p:spPr>
          <a:xfrm rot="16200000" flipH="1">
            <a:off x="5352811" y="2689185"/>
            <a:ext cx="218766" cy="1140977"/>
          </a:xfrm>
          <a:prstGeom prst="bentConnector4">
            <a:avLst>
              <a:gd name="adj1" fmla="val -37796"/>
              <a:gd name="adj2" fmla="val 886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Rechteck 90">
            <a:extLst>
              <a:ext uri="{FF2B5EF4-FFF2-40B4-BE49-F238E27FC236}">
                <a16:creationId xmlns:a16="http://schemas.microsoft.com/office/drawing/2014/main" id="{07892A80-F4C2-70FF-9EA6-C52FCC6D7005}"/>
              </a:ext>
            </a:extLst>
          </p:cNvPr>
          <p:cNvSpPr/>
          <p:nvPr/>
        </p:nvSpPr>
        <p:spPr>
          <a:xfrm>
            <a:off x="6035629" y="3067690"/>
            <a:ext cx="1469865" cy="15324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D155609F-7F3F-46F3-3787-00D0B2997A8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891705" y="2602114"/>
            <a:ext cx="1" cy="54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hteck 99">
            <a:extLst>
              <a:ext uri="{FF2B5EF4-FFF2-40B4-BE49-F238E27FC236}">
                <a16:creationId xmlns:a16="http://schemas.microsoft.com/office/drawing/2014/main" id="{FAFEEB4E-36E3-F716-444A-A9114AF806CA}"/>
              </a:ext>
            </a:extLst>
          </p:cNvPr>
          <p:cNvSpPr/>
          <p:nvPr/>
        </p:nvSpPr>
        <p:spPr>
          <a:xfrm>
            <a:off x="10119787" y="1693556"/>
            <a:ext cx="1107516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 economies, since 1994</a:t>
            </a: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9B3B376E-7655-571E-364F-9741AB117740}"/>
              </a:ext>
            </a:extLst>
          </p:cNvPr>
          <p:cNvCxnSpPr>
            <a:cxnSpLocks/>
            <a:stCxn id="39" idx="0"/>
            <a:endCxn id="100" idx="2"/>
          </p:cNvCxnSpPr>
          <p:nvPr/>
        </p:nvCxnSpPr>
        <p:spPr>
          <a:xfrm flipV="1">
            <a:off x="10668592" y="2144079"/>
            <a:ext cx="4953" cy="23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hteck 103">
            <a:extLst>
              <a:ext uri="{FF2B5EF4-FFF2-40B4-BE49-F238E27FC236}">
                <a16:creationId xmlns:a16="http://schemas.microsoft.com/office/drawing/2014/main" id="{62B8B1EA-A050-56BE-2C9B-1D1638B45A49}"/>
              </a:ext>
            </a:extLst>
          </p:cNvPr>
          <p:cNvSpPr/>
          <p:nvPr/>
        </p:nvSpPr>
        <p:spPr>
          <a:xfrm>
            <a:off x="10222285" y="3870095"/>
            <a:ext cx="892068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26/27 economies</a:t>
            </a:r>
          </a:p>
        </p:txBody>
      </p: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121733-0DA9-6D69-117B-692C696959AB}"/>
              </a:ext>
            </a:extLst>
          </p:cNvPr>
          <p:cNvCxnSpPr>
            <a:cxnSpLocks/>
            <a:stCxn id="40" idx="2"/>
            <a:endCxn id="104" idx="0"/>
          </p:cNvCxnSpPr>
          <p:nvPr/>
        </p:nvCxnSpPr>
        <p:spPr>
          <a:xfrm flipH="1">
            <a:off x="10668319" y="3613163"/>
            <a:ext cx="273" cy="25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/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𝒕𝒓𝒂𝒅𝒆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𝒘𝒆𝒊𝒈𝒉𝒕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𝑚𝑎𝑛𝑢𝑓𝑎𝑐𝑡𝑢𝑟𝑖𝑛𝑔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𝑡𝑟𝑎𝑑𝑒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𝑓𝑙𝑜𝑤𝑠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𝑜𝑟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𝑡𝑖𝑚𝑒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𝑣𝑎𝑟𝑦𝑖𝑛𝑔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𝑤𝑒𝑖𝑔h𝑡𝑖𝑛𝑔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𝑝𝑎𝑡𝑡𝑒𝑟𝑛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(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𝑡h𝑟𝑒𝑒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𝑦𝑒𝑎𝑟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𝑏𝑎𝑠𝑖𝑠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/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(NEER)</a:t>
                </a:r>
              </a:p>
              <a:p>
                <a:pPr algn="ctr"/>
                <a:endParaRPr lang="de-DE" sz="8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𝑏𝑖𝑙𝑎𝑡𝑒𝑟𝑎𝑙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blipFill>
                <a:blip r:embed="rId6"/>
                <a:stretch>
                  <a:fillRect l="-7692" b="-5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/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Exchange Rates</a:t>
                </a:r>
              </a:p>
              <a:p>
                <a:pPr algn="ctr"/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𝑁𝐸𝑅</m:t>
                        </m:r>
                      </m:e>
                      <m:sub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𝑐𝑜𝑢𝑛𝑡𝑟𝑦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 </m:t>
                    </m:r>
                    <m:f>
                      <m:f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blipFill>
                <a:blip r:embed="rId7"/>
                <a:stretch>
                  <a:fillRect t="-2500" b="-25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5DD9C2D-A4F2-D8FA-BEB7-A058236406E1}"/>
              </a:ext>
            </a:extLst>
          </p:cNvPr>
          <p:cNvCxnSpPr>
            <a:cxnSpLocks/>
          </p:cNvCxnSpPr>
          <p:nvPr/>
        </p:nvCxnSpPr>
        <p:spPr>
          <a:xfrm>
            <a:off x="3448365" y="2133808"/>
            <a:ext cx="72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99CEACD8-00B4-9DDF-2EC9-6EB90A0637EE}"/>
              </a:ext>
            </a:extLst>
          </p:cNvPr>
          <p:cNvCxnSpPr>
            <a:cxnSpLocks/>
            <a:stCxn id="46" idx="3"/>
            <a:endCxn id="122" idx="1"/>
          </p:cNvCxnSpPr>
          <p:nvPr/>
        </p:nvCxnSpPr>
        <p:spPr>
          <a:xfrm flipV="1">
            <a:off x="6955563" y="2117685"/>
            <a:ext cx="194118" cy="4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355F518-263D-D7FB-3A2D-63E27218F735}"/>
              </a:ext>
            </a:extLst>
          </p:cNvPr>
          <p:cNvSpPr/>
          <p:nvPr/>
        </p:nvSpPr>
        <p:spPr>
          <a:xfrm>
            <a:off x="48933" y="850711"/>
            <a:ext cx="3498967" cy="211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terms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152C3B32-94E7-EF18-64BB-E383F284E014}"/>
              </a:ext>
            </a:extLst>
          </p:cNvPr>
          <p:cNvSpPr/>
          <p:nvPr/>
        </p:nvSpPr>
        <p:spPr>
          <a:xfrm>
            <a:off x="3763900" y="845559"/>
            <a:ext cx="6182633" cy="216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terms</a:t>
            </a:r>
          </a:p>
        </p:txBody>
      </p: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3D78F894-3C2F-6134-B3EC-BADC65CB03E3}"/>
              </a:ext>
            </a:extLst>
          </p:cNvPr>
          <p:cNvCxnSpPr>
            <a:cxnSpLocks/>
          </p:cNvCxnSpPr>
          <p:nvPr/>
        </p:nvCxnSpPr>
        <p:spPr>
          <a:xfrm>
            <a:off x="118533" y="1230710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Gewinkelte Verbindung 108">
            <a:extLst>
              <a:ext uri="{FF2B5EF4-FFF2-40B4-BE49-F238E27FC236}">
                <a16:creationId xmlns:a16="http://schemas.microsoft.com/office/drawing/2014/main" id="{EB493B03-5273-8FCE-0725-35CDDF48311C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505494" y="4424527"/>
            <a:ext cx="251095" cy="183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818E8-0211-888C-8857-FDE54C24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FD8C67DD-13EC-925C-11D1-E7C9636FD94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What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they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measured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21FE59F2-2736-539D-7563-2FEDF9020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828474"/>
              </p:ext>
            </p:extLst>
          </p:nvPr>
        </p:nvGraphicFramePr>
        <p:xfrm>
          <a:off x="626492" y="1280047"/>
          <a:ext cx="10267504" cy="42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2781">
                  <a:extLst>
                    <a:ext uri="{9D8B030D-6E8A-4147-A177-3AD203B41FA5}">
                      <a16:colId xmlns:a16="http://schemas.microsoft.com/office/drawing/2014/main" val="1829092657"/>
                    </a:ext>
                  </a:extLst>
                </a:gridCol>
                <a:gridCol w="1618518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15299">
                  <a:extLst>
                    <a:ext uri="{9D8B030D-6E8A-4147-A177-3AD203B41FA5}">
                      <a16:colId xmlns:a16="http://schemas.microsoft.com/office/drawing/2014/main" val="3044762045"/>
                    </a:ext>
                  </a:extLst>
                </a:gridCol>
                <a:gridCol w="1203089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21243430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414635185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306773420"/>
                    </a:ext>
                  </a:extLst>
                </a:gridCol>
                <a:gridCol w="658070">
                  <a:extLst>
                    <a:ext uri="{9D8B030D-6E8A-4147-A177-3AD203B41FA5}">
                      <a16:colId xmlns:a16="http://schemas.microsoft.com/office/drawing/2014/main" val="3105118240"/>
                    </a:ext>
                  </a:extLst>
                </a:gridCol>
                <a:gridCol w="1022667">
                  <a:extLst>
                    <a:ext uri="{9D8B030D-6E8A-4147-A177-3AD203B41FA5}">
                      <a16:colId xmlns:a16="http://schemas.microsoft.com/office/drawing/2014/main" val="3855398356"/>
                    </a:ext>
                  </a:extLst>
                </a:gridCol>
                <a:gridCol w="782717">
                  <a:extLst>
                    <a:ext uri="{9D8B030D-6E8A-4147-A177-3AD203B41FA5}">
                      <a16:colId xmlns:a16="http://schemas.microsoft.com/office/drawing/2014/main" val="1668350418"/>
                    </a:ext>
                  </a:extLst>
                </a:gridCol>
              </a:tblGrid>
              <a:tr h="428400"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Frequency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availability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</a:p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 or 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  <a:endParaRPr lang="de-DE" sz="11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algn="ctr"/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  <a:endParaRPr lang="de-DE" sz="11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  <a:endParaRPr lang="de-DE" sz="11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37330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  <a:endParaRPr lang="de-DE" sz="11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75791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  <a:endParaRPr lang="de-DE" sz="11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1983-10-03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67436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  <a:endParaRPr lang="de-DE" sz="11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1996-04-11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877748"/>
                  </a:ext>
                </a:extLst>
              </a:tr>
              <a:tr h="257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USD-EUR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  <a:endParaRPr lang="de-DE" sz="11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1999-01-04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fred.stlouisfed.org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series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377485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Broad U.S.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2006-01-02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b="0" i="0" u="none" strike="noStrike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DTWEXBGS</a:t>
                      </a:r>
                    </a:p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fred.stlouisfed.org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series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/DTWEXBGS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7079788"/>
                  </a:ext>
                </a:extLst>
              </a:tr>
              <a:tr h="4243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Broad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2006-01-01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7591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7843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C400-169C-12D0-20F6-2EA61B93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3" name="Gewinkelte Verbindung 112">
            <a:extLst>
              <a:ext uri="{FF2B5EF4-FFF2-40B4-BE49-F238E27FC236}">
                <a16:creationId xmlns:a16="http://schemas.microsoft.com/office/drawing/2014/main" id="{CCE8ACD3-57F7-2E1F-A907-CB407544F96B}"/>
              </a:ext>
            </a:extLst>
          </p:cNvPr>
          <p:cNvCxnSpPr>
            <a:cxnSpLocks/>
            <a:stCxn id="6" idx="2"/>
            <a:endCxn id="112" idx="1"/>
          </p:cNvCxnSpPr>
          <p:nvPr/>
        </p:nvCxnSpPr>
        <p:spPr>
          <a:xfrm rot="16200000" flipH="1">
            <a:off x="4697861" y="2378862"/>
            <a:ext cx="671153" cy="163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920F220-B949-2339-A8C2-BB237B1DB1D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A simple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energy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DB3D19-FB0D-EF49-B5C4-F4FD1FF6DE8D}"/>
              </a:ext>
            </a:extLst>
          </p:cNvPr>
          <p:cNvSpPr/>
          <p:nvPr/>
        </p:nvSpPr>
        <p:spPr>
          <a:xfrm>
            <a:off x="248266" y="1574299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3B20DB-4112-8910-13D9-7A86DEC9A7C4}"/>
              </a:ext>
            </a:extLst>
          </p:cNvPr>
          <p:cNvSpPr/>
          <p:nvPr/>
        </p:nvSpPr>
        <p:spPr>
          <a:xfrm>
            <a:off x="1440374" y="1576322"/>
            <a:ext cx="166784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Adjusted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Demand-Supply Levels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1EE2EB-33FB-6EDA-10DF-6A28DBAE199A}"/>
              </a:ext>
            </a:extLst>
          </p:cNvPr>
          <p:cNvSpPr/>
          <p:nvPr/>
        </p:nvSpPr>
        <p:spPr>
          <a:xfrm>
            <a:off x="3325347" y="1574302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(Spot) Price Adjustments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3B07525-A5A1-F1B4-8FEE-C3582CE113E6}"/>
              </a:ext>
            </a:extLst>
          </p:cNvPr>
          <p:cNvSpPr/>
          <p:nvPr/>
        </p:nvSpPr>
        <p:spPr>
          <a:xfrm>
            <a:off x="4551106" y="1574297"/>
            <a:ext cx="801408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F9704E9-C9FC-0392-9481-18E53C7E54AB}"/>
              </a:ext>
            </a:extLst>
          </p:cNvPr>
          <p:cNvSpPr/>
          <p:nvPr/>
        </p:nvSpPr>
        <p:spPr>
          <a:xfrm>
            <a:off x="5561975" y="1574299"/>
            <a:ext cx="147027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Inflationary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Pressure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driving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C245E0-1CC8-DB0D-66F1-926593ED389A}"/>
              </a:ext>
            </a:extLst>
          </p:cNvPr>
          <p:cNvSpPr/>
          <p:nvPr/>
        </p:nvSpPr>
        <p:spPr>
          <a:xfrm>
            <a:off x="7241710" y="1576320"/>
            <a:ext cx="1250320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Policy: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Hikes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518F9D-DEDF-B6B2-0E24-08F10E38C0E0}"/>
              </a:ext>
            </a:extLst>
          </p:cNvPr>
          <p:cNvSpPr/>
          <p:nvPr/>
        </p:nvSpPr>
        <p:spPr>
          <a:xfrm>
            <a:off x="4077380" y="748166"/>
            <a:ext cx="3259243" cy="28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Heavily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affect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importing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exporting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economies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939E41-E3A2-C747-4064-B68050C474F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261281" y="1849608"/>
            <a:ext cx="179093" cy="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9FAAAE3-A7B8-1029-83FE-3B9AC849744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3108218" y="1849611"/>
            <a:ext cx="217129" cy="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8F030C5-9C48-09E7-A29F-635530C8C3C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338362" y="1849606"/>
            <a:ext cx="212744" cy="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64E26FE-27DB-68F7-2056-B905672248E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52514" y="1849606"/>
            <a:ext cx="209461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05F554B-0FE6-6140-6491-7EA5FEB5711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032249" y="1849608"/>
            <a:ext cx="209461" cy="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0BFEA76D-99AB-C7B1-3409-A2CA2B156445}"/>
              </a:ext>
            </a:extLst>
          </p:cNvPr>
          <p:cNvSpPr/>
          <p:nvPr/>
        </p:nvSpPr>
        <p:spPr>
          <a:xfrm rot="5400000">
            <a:off x="5497420" y="-4216927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8E839D3-8E65-96AC-44BB-A8244DC0C808}"/>
              </a:ext>
            </a:extLst>
          </p:cNvPr>
          <p:cNvSpPr/>
          <p:nvPr/>
        </p:nvSpPr>
        <p:spPr>
          <a:xfrm>
            <a:off x="8701491" y="1574298"/>
            <a:ext cx="993976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 Rate Differentials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211AE1E-AE25-8A87-F56C-3147B731828B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8492030" y="1849607"/>
            <a:ext cx="209461" cy="2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A3D75D58-23EF-B26E-E6B6-BD808793409E}"/>
              </a:ext>
            </a:extLst>
          </p:cNvPr>
          <p:cNvSpPr/>
          <p:nvPr/>
        </p:nvSpPr>
        <p:spPr>
          <a:xfrm>
            <a:off x="4873080" y="2291789"/>
            <a:ext cx="1667844" cy="2313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u="sng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Derived</a:t>
            </a:r>
            <a:r>
              <a:rPr lang="de-DE" sz="1100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u="sng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proxy</a:t>
            </a:r>
            <a:r>
              <a:rPr lang="de-DE" sz="1100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variables</a:t>
            </a:r>
          </a:p>
        </p:txBody>
      </p: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FE987C23-781F-B2CF-C7AE-167A9F3DD8D1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6540924" y="2407457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Gerade Verbindung 71">
            <a:extLst>
              <a:ext uri="{FF2B5EF4-FFF2-40B4-BE49-F238E27FC236}">
                <a16:creationId xmlns:a16="http://schemas.microsoft.com/office/drawing/2014/main" id="{19AD80B6-AA37-15C4-F4F1-1AB2FCC6B0F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248263" y="2407457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E696DFB3-6C85-FB27-6A91-5EA8F7652298}"/>
              </a:ext>
            </a:extLst>
          </p:cNvPr>
          <p:cNvSpPr/>
          <p:nvPr/>
        </p:nvSpPr>
        <p:spPr>
          <a:xfrm>
            <a:off x="9898266" y="1580659"/>
            <a:ext cx="126747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Parity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Conditions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(PPP/UIP/CIP)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1F56126-26E4-9EEE-B156-7BAD009C4BFB}"/>
              </a:ext>
            </a:extLst>
          </p:cNvPr>
          <p:cNvCxnSpPr>
            <a:cxnSpLocks/>
            <a:stCxn id="29" idx="3"/>
            <a:endCxn id="75" idx="1"/>
          </p:cNvCxnSpPr>
          <p:nvPr/>
        </p:nvCxnSpPr>
        <p:spPr>
          <a:xfrm>
            <a:off x="9695467" y="1849607"/>
            <a:ext cx="202799" cy="6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Geschweifte Klammer links 93">
            <a:extLst>
              <a:ext uri="{FF2B5EF4-FFF2-40B4-BE49-F238E27FC236}">
                <a16:creationId xmlns:a16="http://schemas.microsoft.com/office/drawing/2014/main" id="{B27D7CBE-6F19-33C5-FAA5-62CCD66AEB24}"/>
              </a:ext>
            </a:extLst>
          </p:cNvPr>
          <p:cNvSpPr/>
          <p:nvPr/>
        </p:nvSpPr>
        <p:spPr>
          <a:xfrm rot="16200000">
            <a:off x="5497420" y="-1480572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546DFDDA-2BBF-08A0-3697-A553591CD972}"/>
              </a:ext>
            </a:extLst>
          </p:cNvPr>
          <p:cNvSpPr/>
          <p:nvPr/>
        </p:nvSpPr>
        <p:spPr>
          <a:xfrm>
            <a:off x="3831854" y="4187750"/>
            <a:ext cx="3770729" cy="4191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Transmission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depending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2278FA6-30BC-7A66-3EC6-1A3FF8DCCFC1}"/>
              </a:ext>
            </a:extLst>
          </p:cNvPr>
          <p:cNvSpPr/>
          <p:nvPr/>
        </p:nvSpPr>
        <p:spPr>
          <a:xfrm>
            <a:off x="5845629" y="4785690"/>
            <a:ext cx="2646401" cy="255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Interest in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markets</a:t>
            </a:r>
            <a:r>
              <a:rPr lang="de-DE" sz="1100" baseline="30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EFB9C413-B00B-E725-ECB1-DF29291F41C1}"/>
              </a:ext>
            </a:extLst>
          </p:cNvPr>
          <p:cNvSpPr/>
          <p:nvPr/>
        </p:nvSpPr>
        <p:spPr>
          <a:xfrm>
            <a:off x="4077380" y="3303050"/>
            <a:ext cx="2851717" cy="255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Oil WTI Front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 Price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C4E366A-D035-6428-74DE-7B917A0E8EAE}"/>
              </a:ext>
            </a:extLst>
          </p:cNvPr>
          <p:cNvSpPr/>
          <p:nvPr/>
        </p:nvSpPr>
        <p:spPr>
          <a:xfrm>
            <a:off x="4077379" y="3678728"/>
            <a:ext cx="2851717" cy="255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Oil WTI Spot Price</a:t>
            </a:r>
          </a:p>
        </p:txBody>
      </p:sp>
      <p:cxnSp>
        <p:nvCxnSpPr>
          <p:cNvPr id="99" name="Gewinkelte Verbindung 98">
            <a:extLst>
              <a:ext uri="{FF2B5EF4-FFF2-40B4-BE49-F238E27FC236}">
                <a16:creationId xmlns:a16="http://schemas.microsoft.com/office/drawing/2014/main" id="{1A9821BD-B305-851A-88A4-BBE9C6B02007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 rot="16200000" flipH="1">
            <a:off x="3301731" y="2655042"/>
            <a:ext cx="1305772" cy="2455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winkelte Verbindung 102">
            <a:extLst>
              <a:ext uri="{FF2B5EF4-FFF2-40B4-BE49-F238E27FC236}">
                <a16:creationId xmlns:a16="http://schemas.microsoft.com/office/drawing/2014/main" id="{7D31F963-270D-77EB-ED1F-9EB4B0119ED2}"/>
              </a:ext>
            </a:extLst>
          </p:cNvPr>
          <p:cNvCxnSpPr>
            <a:cxnSpLocks/>
            <a:stCxn id="5" idx="2"/>
            <a:endCxn id="98" idx="1"/>
          </p:cNvCxnSpPr>
          <p:nvPr/>
        </p:nvCxnSpPr>
        <p:spPr>
          <a:xfrm rot="16200000" flipH="1">
            <a:off x="3113892" y="2842882"/>
            <a:ext cx="1681450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winkelte Verbindung 105">
            <a:extLst>
              <a:ext uri="{FF2B5EF4-FFF2-40B4-BE49-F238E27FC236}">
                <a16:creationId xmlns:a16="http://schemas.microsoft.com/office/drawing/2014/main" id="{4070ED22-2D8D-88E0-E030-E4339E1626CD}"/>
              </a:ext>
            </a:extLst>
          </p:cNvPr>
          <p:cNvCxnSpPr>
            <a:cxnSpLocks/>
            <a:stCxn id="95" idx="2"/>
            <a:endCxn id="96" idx="1"/>
          </p:cNvCxnSpPr>
          <p:nvPr/>
        </p:nvCxnSpPr>
        <p:spPr>
          <a:xfrm rot="16200000" flipH="1">
            <a:off x="5628217" y="4695918"/>
            <a:ext cx="306415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6092D3C6-5300-19B1-F4E0-268797166176}"/>
              </a:ext>
            </a:extLst>
          </p:cNvPr>
          <p:cNvSpPr/>
          <p:nvPr/>
        </p:nvSpPr>
        <p:spPr>
          <a:xfrm>
            <a:off x="5115065" y="2668426"/>
            <a:ext cx="2851717" cy="255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CBOE </a:t>
            </a:r>
            <a:r>
              <a:rPr lang="de-DE" sz="1100" b="0" i="0" u="none" strike="noStrike" err="1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Crude</a:t>
            </a:r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 Oil ETF </a:t>
            </a:r>
            <a:r>
              <a:rPr lang="de-DE" sz="1100" b="0" i="0" u="none" strike="noStrike" err="1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Volatility</a:t>
            </a:r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 Index</a:t>
            </a:r>
          </a:p>
        </p:txBody>
      </p:sp>
      <p:cxnSp>
        <p:nvCxnSpPr>
          <p:cNvPr id="118" name="Gewinkelte Verbindung 117">
            <a:extLst>
              <a:ext uri="{FF2B5EF4-FFF2-40B4-BE49-F238E27FC236}">
                <a16:creationId xmlns:a16="http://schemas.microsoft.com/office/drawing/2014/main" id="{58828655-9B5C-D596-6B15-8E7757820871}"/>
              </a:ext>
            </a:extLst>
          </p:cNvPr>
          <p:cNvCxnSpPr>
            <a:cxnSpLocks/>
            <a:stCxn id="2" idx="2"/>
            <a:endCxn id="121" idx="1"/>
          </p:cNvCxnSpPr>
          <p:nvPr/>
        </p:nvCxnSpPr>
        <p:spPr>
          <a:xfrm rot="16200000" flipH="1">
            <a:off x="644700" y="2234990"/>
            <a:ext cx="488894" cy="26874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ADA5D6-3FD1-CBB1-749C-1A2DAC0215FD}"/>
              </a:ext>
            </a:extLst>
          </p:cNvPr>
          <p:cNvSpPr/>
          <p:nvPr/>
        </p:nvSpPr>
        <p:spPr>
          <a:xfrm>
            <a:off x="1023520" y="2486169"/>
            <a:ext cx="1248465" cy="255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39814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8F2C-61BE-2FD0-F7A7-D7C43EA5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6047A77A-195C-5F25-75C4-D98FE53FD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Framework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A2EC787-A499-C95C-2B1F-49527EB77C3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E29A15-DF4F-765C-A5B2-90347370B95F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relevant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7CD823E6-BA5A-5095-3D68-134CDB2F7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793918"/>
              </p:ext>
            </p:extLst>
          </p:nvPr>
        </p:nvGraphicFramePr>
        <p:xfrm>
          <a:off x="1112919" y="1669441"/>
          <a:ext cx="5445009" cy="2655807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7927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2652279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Area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capture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Main variable (FX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theory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EUR/USD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Main variable (FX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theory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EUR/USD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Main variable (FX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theory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WTI Oil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Main variable (Energy Comm.)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Natural Gas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Main variable (Energy Comm.)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WTI Oil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Main variable (Energy Comm.)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Natural Gas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Main variable (Energy Comm.)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06027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Open Interest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Financial Integration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Volume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Financial Integration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646873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VIX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(Market-)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</a:tbl>
          </a:graphicData>
        </a:graphic>
      </p:graphicFrame>
      <p:sp>
        <p:nvSpPr>
          <p:cNvPr id="21" name="Rechteck 20">
            <a:extLst>
              <a:ext uri="{FF2B5EF4-FFF2-40B4-BE49-F238E27FC236}">
                <a16:creationId xmlns:a16="http://schemas.microsoft.com/office/drawing/2014/main" id="{D6B181A9-7423-F64F-C454-DCA25B2E528C}"/>
              </a:ext>
            </a:extLst>
          </p:cNvPr>
          <p:cNvSpPr/>
          <p:nvPr/>
        </p:nvSpPr>
        <p:spPr>
          <a:xfrm>
            <a:off x="4330396" y="990170"/>
            <a:ext cx="296997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(high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volatilty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vs.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C1C51E-5D8B-6F7C-2C37-61818542AA66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approaches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Univariate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econometric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approaches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91DC8B-8431-C436-8693-CADE51C6335D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Clustering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additional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explanatory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200B6B33-D0B3-FB61-99FB-DE2B260A16AB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32492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D80A1-0057-9041-1EC7-7367B7B25969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15381" y="1151391"/>
            <a:ext cx="1732493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503CDD81-7E76-FC9C-208E-676C840FBB9C}"/>
              </a:ext>
            </a:extLst>
          </p:cNvPr>
          <p:cNvSpPr/>
          <p:nvPr/>
        </p:nvSpPr>
        <p:spPr>
          <a:xfrm>
            <a:off x="7547874" y="1766864"/>
            <a:ext cx="296997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Benchmark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E43A6DD-BA77-C312-7356-31C55CC89726}"/>
              </a:ext>
            </a:extLst>
          </p:cNvPr>
          <p:cNvSpPr/>
          <p:nvPr/>
        </p:nvSpPr>
        <p:spPr>
          <a:xfrm>
            <a:off x="7928554" y="2186344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Switching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99D44AA5-C036-42CE-0EE2-E23616D26AD3}"/>
              </a:ext>
            </a:extLst>
          </p:cNvPr>
          <p:cNvSpPr/>
          <p:nvPr/>
        </p:nvSpPr>
        <p:spPr>
          <a:xfrm>
            <a:off x="7928554" y="2586693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STR/STAR Model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FC7786EF-07F4-DC8A-50E7-4B24D019823B}"/>
              </a:ext>
            </a:extLst>
          </p:cNvPr>
          <p:cNvSpPr/>
          <p:nvPr/>
        </p:nvSpPr>
        <p:spPr>
          <a:xfrm rot="16200000">
            <a:off x="3625842" y="1904657"/>
            <a:ext cx="419165" cy="544501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1959B3C-3FD3-5CB1-35BF-89050E4D727C}"/>
              </a:ext>
            </a:extLst>
          </p:cNvPr>
          <p:cNvSpPr/>
          <p:nvPr/>
        </p:nvSpPr>
        <p:spPr>
          <a:xfrm>
            <a:off x="2350438" y="4851379"/>
            <a:ext cx="296997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306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E9F-43F9-5DFC-0383-DDDDAC31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02B33C8D-42D8-7A2C-97A8-03E2E749B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Framework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54ADB2-B149-B409-C8E6-C7CD7113A746}"/>
              </a:ext>
            </a:extLst>
          </p:cNvPr>
          <p:cNvSpPr/>
          <p:nvPr/>
        </p:nvSpPr>
        <p:spPr>
          <a:xfrm>
            <a:off x="215456" y="760773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2ED42DC-D506-3763-18CE-273E33265963}"/>
              </a:ext>
            </a:extLst>
          </p:cNvPr>
          <p:cNvSpPr/>
          <p:nvPr/>
        </p:nvSpPr>
        <p:spPr>
          <a:xfrm>
            <a:off x="952054" y="760773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98ACBCE-853C-2E82-4FCA-204C598A7ABD}"/>
              </a:ext>
            </a:extLst>
          </p:cNvPr>
          <p:cNvSpPr/>
          <p:nvPr/>
        </p:nvSpPr>
        <p:spPr>
          <a:xfrm>
            <a:off x="1112920" y="956198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Theoretically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affecting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crisis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periods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major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 shocks</a:t>
            </a:r>
            <a:r>
              <a:rPr lang="de-DE" sz="1100" baseline="30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8" name="Tabelle 17">
            <a:extLst>
              <a:ext uri="{FF2B5EF4-FFF2-40B4-BE49-F238E27FC236}">
                <a16:creationId xmlns:a16="http://schemas.microsoft.com/office/drawing/2014/main" id="{7A5B0467-FA14-EC8A-3F99-3BD34F44A092}"/>
              </a:ext>
            </a:extLst>
          </p:cNvPr>
          <p:cNvGraphicFramePr>
            <a:graphicFrameLocks noGrp="1"/>
          </p:cNvGraphicFramePr>
          <p:nvPr/>
        </p:nvGraphicFramePr>
        <p:xfrm>
          <a:off x="1112921" y="1285037"/>
          <a:ext cx="9404924" cy="1411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46405">
                  <a:extLst>
                    <a:ext uri="{9D8B030D-6E8A-4147-A177-3AD203B41FA5}">
                      <a16:colId xmlns:a16="http://schemas.microsoft.com/office/drawing/2014/main" val="1829092657"/>
                    </a:ext>
                  </a:extLst>
                </a:gridCol>
                <a:gridCol w="1151255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780726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Period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2007 – 2009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Global Financial Crisis: A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systemic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financial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collapse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(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mortgage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backed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securities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)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that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disrupted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global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financial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systems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2010 – 2012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European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Debt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Crisis: A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period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sovereign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debt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instability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affecting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the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Eurozone.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2014 – 2016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Oil Price Crash: A sharp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decline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in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crude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oil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prices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driven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by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oversupply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and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geopolitical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tensions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37330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2020 – 2021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COVID-19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Pandemic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A global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health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that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caused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unprecedented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disruptions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in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supply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chains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and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demand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patterns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757916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2022 –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present</a:t>
                      </a:r>
                      <a:endParaRPr lang="de-DE" sz="900" kern="120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Russia-Ukraine Conflict: An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ongoing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geopolitical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conflict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with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significant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implications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for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and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agricultural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markets</a:t>
                      </a: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674366"/>
                  </a:ext>
                </a:extLst>
              </a:tr>
            </a:tbl>
          </a:graphicData>
        </a:graphic>
      </p:graphicFrame>
      <p:sp>
        <p:nvSpPr>
          <p:cNvPr id="19" name="Geschweifte Klammer links 18">
            <a:extLst>
              <a:ext uri="{FF2B5EF4-FFF2-40B4-BE49-F238E27FC236}">
                <a16:creationId xmlns:a16="http://schemas.microsoft.com/office/drawing/2014/main" id="{2B27E61C-2ABF-D629-825F-7D0250F47A3D}"/>
              </a:ext>
            </a:extLst>
          </p:cNvPr>
          <p:cNvSpPr/>
          <p:nvPr/>
        </p:nvSpPr>
        <p:spPr>
          <a:xfrm rot="16200000">
            <a:off x="5605799" y="-1563724"/>
            <a:ext cx="419165" cy="940492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9114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1BD31-E41C-32E5-CB26-73CD8B2AE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FF4BF66-5482-53AC-ED7C-8225E60A2FB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2C5BAF0-AD8C-D57B-C614-5150314E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18D9E65A-EF33-23FC-1FF7-67BC136923B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5)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8CDF5D73-B632-4729-DE34-23C491524185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err="1"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3200" b="1" err="1"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797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BAD20-E796-1EE6-F1F4-6DE5BFB81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D7F7FB85-4E9D-84C1-96E4-C5B3043593B5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endParaRPr lang="de-DE" sz="1400" b="0" strike="noStrike" spc="-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C335FAC-F85F-20FB-E7C7-5D38364D8B01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4E632F0-ACE3-0DAB-5FA2-1DA5F3534911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77F835F-4EF6-44F8-43B6-075AB1250D85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253F265-53D5-D8AB-DAE8-2C8A71B499AD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3D74FF-F7E2-C9C7-7760-817DF146BE28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7727AD4-DC24-0B86-82F6-FC41548A5B1D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16A8A89-BD6D-401D-3C1B-52235CA9B8CF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41EF3A8-2956-95B6-2F5A-B99143FCB4D2}"/>
              </a:ext>
            </a:extLst>
          </p:cNvPr>
          <p:cNvSpPr/>
          <p:nvPr/>
        </p:nvSpPr>
        <p:spPr>
          <a:xfrm>
            <a:off x="5682450" y="4303966"/>
            <a:ext cx="151513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8F8B152-EED8-4423-1C73-CC17CD51EEA3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CFBA069-CCF6-532F-F4CB-76B9BD8755B3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A0CFAEC-01B2-A0CA-E857-3AF00A946BA0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19CF8815-EF39-ABFA-1238-004A8F1101E6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4344797-D1BE-0F39-8003-717929ABE343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8DEBD9E-73EE-F468-25B0-C1F48E091FED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AF715F8-8652-7032-E72B-7601076C96FA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670D4AF-BD95-BB10-7C89-69CCA8CD936F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D56A400-2E4C-A636-1EE5-377F0A0E74E9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39CE900-17E4-83ED-0FF6-EEA1F83BEF37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2433117-232D-D43C-F701-BE591F5A3D2A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727570-03AC-E92B-9D9E-07638E8FF6FA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8E84B6A-9295-3B6A-2AAC-70E318E45433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ABF927C-6532-EF25-3DB9-B165E7B109FA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3F211A30-3C89-7603-2902-726ABA95F9B3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969D7CE-36B1-464F-AEE4-F2BC016C28E2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EDFBED-BE1F-16ED-923E-BDB55CDDEE4D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188E2BA-0200-8E7D-E4BF-57E474E7CE4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CDA3FC37-EF11-7705-0A77-B9C2FDA2D7A8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8C80A15-7A7C-8E86-8118-A92442E97EEF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FA11DBCE-08E6-3647-01EE-C5BF895F9069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C5AE9B1F-901B-6B27-1C7A-7209097BAA36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43296D82-6E52-8B7C-8B25-7501C20ECE69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8BFB2F93-6A48-1F50-B6FC-14E651A6C917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17A71FB6-D072-0717-BA12-D4D6C06D00D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9091BE-4A5B-0EF5-7E5A-F7A3AEA548B1}"/>
              </a:ext>
            </a:extLst>
          </p:cNvPr>
          <p:cNvSpPr/>
          <p:nvPr/>
        </p:nvSpPr>
        <p:spPr>
          <a:xfrm>
            <a:off x="2204319" y="314835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7031130-C61F-326F-B8DA-6843B06F2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340082" y="2177351"/>
            <a:ext cx="4117052" cy="3657600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33BCD88-E6BD-F0D5-1197-3A807AC3E8C7}"/>
              </a:ext>
            </a:extLst>
          </p:cNvPr>
          <p:cNvSpPr/>
          <p:nvPr/>
        </p:nvSpPr>
        <p:spPr>
          <a:xfrm>
            <a:off x="1885543" y="396510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5A81917-1044-5C15-8D02-840E0835B6C4}"/>
              </a:ext>
            </a:extLst>
          </p:cNvPr>
          <p:cNvSpPr/>
          <p:nvPr/>
        </p:nvSpPr>
        <p:spPr>
          <a:xfrm>
            <a:off x="2292104" y="3444207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</p:spTree>
    <p:extLst>
      <p:ext uri="{BB962C8B-B14F-4D97-AF65-F5344CB8AC3E}">
        <p14:creationId xmlns:p14="http://schemas.microsoft.com/office/powerpoint/2010/main" val="2497025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9D48F-AC6F-66E9-D755-681C4C216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224852CC-CA2E-9F40-BED1-97A79DF1A8F1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endParaRPr lang="de-DE" sz="1400" b="0" strike="noStrike" spc="-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EAAC2C5F-2338-BA4B-D35F-863DA025FC10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4004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84817-5310-267E-9D93-4FFF68B37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44F02557-566E-ABFE-A63B-E971481BA2B8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0819741F-CF4B-BAE2-960A-015C7AFDF3C4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Energy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Prices and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Econometric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modelling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DEC4D6D-1C3C-17DB-D63A-05047A97D0E9}"/>
              </a:ext>
            </a:extLst>
          </p:cNvPr>
          <p:cNvSpPr/>
          <p:nvPr/>
        </p:nvSpPr>
        <p:spPr>
          <a:xfrm>
            <a:off x="1564188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0CA8E9-01B9-9B6A-9426-857F2C6668B6}"/>
              </a:ext>
            </a:extLst>
          </p:cNvPr>
          <p:cNvSpPr/>
          <p:nvPr/>
        </p:nvSpPr>
        <p:spPr>
          <a:xfrm>
            <a:off x="4347861" y="1597403"/>
            <a:ext cx="1329718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38B7DF9-7673-E6B1-D7CA-464A91A7CB2E}"/>
              </a:ext>
            </a:extLst>
          </p:cNvPr>
          <p:cNvSpPr/>
          <p:nvPr/>
        </p:nvSpPr>
        <p:spPr>
          <a:xfrm>
            <a:off x="4337622" y="193377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  <a:endParaRPr lang="de-DE" sz="1100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E9748DC-C95B-724D-BEBE-A0525B98F38C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6B94DC-D64F-901A-4DB7-881C106CD901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A7B4CF5-B35A-3757-432F-187385F2F1C2}"/>
              </a:ext>
            </a:extLst>
          </p:cNvPr>
          <p:cNvSpPr/>
          <p:nvPr/>
        </p:nvSpPr>
        <p:spPr>
          <a:xfrm>
            <a:off x="331307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Pearson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FB7EC7F-3FD3-4349-C0CC-EA528B46B0DE}"/>
              </a:ext>
            </a:extLst>
          </p:cNvPr>
          <p:cNvSpPr/>
          <p:nvPr/>
        </p:nvSpPr>
        <p:spPr>
          <a:xfrm>
            <a:off x="517568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 rank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2099ED4-3F22-BAB9-CB08-483E6D8B9BD4}"/>
              </a:ext>
            </a:extLst>
          </p:cNvPr>
          <p:cNvSpPr/>
          <p:nvPr/>
        </p:nvSpPr>
        <p:spPr>
          <a:xfrm>
            <a:off x="2443271" y="3093740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</a:t>
            </a:r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Causality</a:t>
            </a:r>
            <a:endParaRPr lang="de-DE" sz="1100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5D3966F-C84D-34A4-3CA7-4B256E8F79D0}"/>
              </a:ext>
            </a:extLst>
          </p:cNvPr>
          <p:cNvSpPr/>
          <p:nvPr/>
        </p:nvSpPr>
        <p:spPr>
          <a:xfrm>
            <a:off x="4210544" y="4612557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  <a:endParaRPr lang="de-DE" sz="1100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CFC6ED35-12C9-C92A-9A1A-7E3ECFE8B4AC}"/>
              </a:ext>
            </a:extLst>
          </p:cNvPr>
          <p:cNvSpPr/>
          <p:nvPr/>
        </p:nvSpPr>
        <p:spPr>
          <a:xfrm>
            <a:off x="4191257" y="5087913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  <a:endParaRPr lang="de-DE" sz="1100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1FFB200-5314-B158-EFEA-C54C915B6805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4060596" y="2149779"/>
            <a:ext cx="1024551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28C7E10-2C36-CB5B-FC07-42839D42A291}"/>
              </a:ext>
            </a:extLst>
          </p:cNvPr>
          <p:cNvCxnSpPr>
            <a:cxnSpLocks/>
            <a:stCxn id="23" idx="2"/>
            <a:endCxn id="38" idx="0"/>
          </p:cNvCxnSpPr>
          <p:nvPr/>
        </p:nvCxnSpPr>
        <p:spPr>
          <a:xfrm>
            <a:off x="5085147" y="2149779"/>
            <a:ext cx="838059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732874AF-67E6-3731-E328-D90FA9AC0CEE}"/>
              </a:ext>
            </a:extLst>
          </p:cNvPr>
          <p:cNvCxnSpPr>
            <a:cxnSpLocks/>
            <a:stCxn id="36" idx="2"/>
            <a:endCxn id="40" idx="0"/>
          </p:cNvCxnSpPr>
          <p:nvPr/>
        </p:nvCxnSpPr>
        <p:spPr>
          <a:xfrm flipH="1">
            <a:off x="3190796" y="2826607"/>
            <a:ext cx="869800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B473DC3-0802-1B1D-E2CA-B15F3C18F55C}"/>
              </a:ext>
            </a:extLst>
          </p:cNvPr>
          <p:cNvSpPr/>
          <p:nvPr/>
        </p:nvSpPr>
        <p:spPr>
          <a:xfrm>
            <a:off x="4191256" y="5620763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F287F64-41FC-92B6-E26F-2A707EFA7E65}"/>
              </a:ext>
            </a:extLst>
          </p:cNvPr>
          <p:cNvSpPr/>
          <p:nvPr/>
        </p:nvSpPr>
        <p:spPr>
          <a:xfrm>
            <a:off x="6095410" y="3651348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Switching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2FEB09D5-548A-EEE9-E024-9B0FA12F968C}"/>
              </a:ext>
            </a:extLst>
          </p:cNvPr>
          <p:cNvSpPr/>
          <p:nvPr/>
        </p:nvSpPr>
        <p:spPr>
          <a:xfrm>
            <a:off x="6095410" y="4235614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Switching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6F4AB1-851F-142F-B6A0-251DC4B65C78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>
            <a:off x="6842935" y="4053475"/>
            <a:ext cx="0" cy="182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75C028C9-BB8F-0AD2-961D-CEEDC47AC25F}"/>
              </a:ext>
            </a:extLst>
          </p:cNvPr>
          <p:cNvSpPr/>
          <p:nvPr/>
        </p:nvSpPr>
        <p:spPr>
          <a:xfrm>
            <a:off x="4265195" y="3665025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</a:t>
            </a:r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varying</a:t>
            </a:r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causality</a:t>
            </a:r>
            <a:endParaRPr lang="de-DE" sz="1100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FA4859EF-6480-2912-A543-60C80AC0161C}"/>
              </a:ext>
            </a:extLst>
          </p:cNvPr>
          <p:cNvCxnSpPr>
            <a:cxnSpLocks/>
            <a:stCxn id="40" idx="2"/>
            <a:endCxn id="62" idx="0"/>
          </p:cNvCxnSpPr>
          <p:nvPr/>
        </p:nvCxnSpPr>
        <p:spPr>
          <a:xfrm>
            <a:off x="3190796" y="3309740"/>
            <a:ext cx="1821924" cy="355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EE9DD6E-D5ED-8201-8222-D20A995210D7}"/>
              </a:ext>
            </a:extLst>
          </p:cNvPr>
          <p:cNvCxnSpPr>
            <a:cxnSpLocks/>
            <a:stCxn id="62" idx="3"/>
            <a:endCxn id="57" idx="1"/>
          </p:cNvCxnSpPr>
          <p:nvPr/>
        </p:nvCxnSpPr>
        <p:spPr>
          <a:xfrm>
            <a:off x="5760244" y="3850689"/>
            <a:ext cx="335166" cy="1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AB69956F-14F6-8A83-004A-C57AC89ABE70}"/>
              </a:ext>
            </a:extLst>
          </p:cNvPr>
          <p:cNvSpPr/>
          <p:nvPr/>
        </p:nvSpPr>
        <p:spPr>
          <a:xfrm>
            <a:off x="1562920" y="443081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F984D5E-75D1-D322-81F0-D8B4581A6F5E}"/>
              </a:ext>
            </a:extLst>
          </p:cNvPr>
          <p:cNvSpPr/>
          <p:nvPr/>
        </p:nvSpPr>
        <p:spPr>
          <a:xfrm>
            <a:off x="1244144" y="524756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2053A14E-923B-472E-8D72-BFA7E933D4FE}"/>
              </a:ext>
            </a:extLst>
          </p:cNvPr>
          <p:cNvSpPr/>
          <p:nvPr/>
        </p:nvSpPr>
        <p:spPr>
          <a:xfrm>
            <a:off x="1650705" y="4726668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  <p:sp>
        <p:nvSpPr>
          <p:cNvPr id="73" name="Geschweifte Klammer links 72">
            <a:extLst>
              <a:ext uri="{FF2B5EF4-FFF2-40B4-BE49-F238E27FC236}">
                <a16:creationId xmlns:a16="http://schemas.microsoft.com/office/drawing/2014/main" id="{C6DDB5AB-BDFB-B7D6-5847-D809AE3FD070}"/>
              </a:ext>
            </a:extLst>
          </p:cNvPr>
          <p:cNvSpPr/>
          <p:nvPr/>
        </p:nvSpPr>
        <p:spPr>
          <a:xfrm>
            <a:off x="2024106" y="1629702"/>
            <a:ext cx="419165" cy="225328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27EAFFA8-9FE0-FB97-5017-F125E067C3DB}"/>
              </a:ext>
            </a:extLst>
          </p:cNvPr>
          <p:cNvSpPr/>
          <p:nvPr/>
        </p:nvSpPr>
        <p:spPr>
          <a:xfrm>
            <a:off x="476685" y="2424480"/>
            <a:ext cx="1495049" cy="7642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find a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certain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can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proceed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further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EA54DEA-3E61-E23A-991C-16479EC23410}"/>
              </a:ext>
            </a:extLst>
          </p:cNvPr>
          <p:cNvSpPr/>
          <p:nvPr/>
        </p:nvSpPr>
        <p:spPr>
          <a:xfrm>
            <a:off x="4265195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Rolling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9029CC9D-F3FF-AB5B-4773-37510517BD43}"/>
              </a:ext>
            </a:extLst>
          </p:cNvPr>
          <p:cNvCxnSpPr>
            <a:cxnSpLocks/>
            <a:stCxn id="36" idx="2"/>
            <a:endCxn id="77" idx="0"/>
          </p:cNvCxnSpPr>
          <p:nvPr/>
        </p:nvCxnSpPr>
        <p:spPr>
          <a:xfrm>
            <a:off x="4060596" y="2826607"/>
            <a:ext cx="952124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E35B6059-A343-14A8-6034-34B9204956FE}"/>
              </a:ext>
            </a:extLst>
          </p:cNvPr>
          <p:cNvCxnSpPr>
            <a:cxnSpLocks/>
            <a:stCxn id="77" idx="2"/>
            <a:endCxn id="62" idx="0"/>
          </p:cNvCxnSpPr>
          <p:nvPr/>
        </p:nvCxnSpPr>
        <p:spPr>
          <a:xfrm>
            <a:off x="5012720" y="3305956"/>
            <a:ext cx="0" cy="359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D793DB29-96BB-C695-83F5-DD3D135ECDF1}"/>
              </a:ext>
            </a:extLst>
          </p:cNvPr>
          <p:cNvSpPr/>
          <p:nvPr/>
        </p:nvSpPr>
        <p:spPr>
          <a:xfrm>
            <a:off x="7808546" y="45096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6511A50-7272-CFB6-6346-6DFC13E70339}"/>
              </a:ext>
            </a:extLst>
          </p:cNvPr>
          <p:cNvSpPr/>
          <p:nvPr/>
        </p:nvSpPr>
        <p:spPr>
          <a:xfrm>
            <a:off x="8160906" y="1182569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E84F85FC-ED79-B59A-87AB-D6FAE7541F79}"/>
              </a:ext>
            </a:extLst>
          </p:cNvPr>
          <p:cNvCxnSpPr/>
          <p:nvPr/>
        </p:nvCxnSpPr>
        <p:spPr>
          <a:xfrm>
            <a:off x="7727254" y="1103598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Gerade Verbindung 90">
            <a:extLst>
              <a:ext uri="{FF2B5EF4-FFF2-40B4-BE49-F238E27FC236}">
                <a16:creationId xmlns:a16="http://schemas.microsoft.com/office/drawing/2014/main" id="{A5978FE9-9B97-F0A9-F5CA-D344B72CC110}"/>
              </a:ext>
            </a:extLst>
          </p:cNvPr>
          <p:cNvCxnSpPr/>
          <p:nvPr/>
        </p:nvCxnSpPr>
        <p:spPr>
          <a:xfrm>
            <a:off x="3186390" y="1164569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8C5149CE-219C-3F45-659C-27FB103E0AC3}"/>
              </a:ext>
            </a:extLst>
          </p:cNvPr>
          <p:cNvCxnSpPr>
            <a:cxnSpLocks/>
            <a:stCxn id="41" idx="3"/>
            <a:endCxn id="88" idx="1"/>
          </p:cNvCxnSpPr>
          <p:nvPr/>
        </p:nvCxnSpPr>
        <p:spPr>
          <a:xfrm flipV="1">
            <a:off x="5705593" y="4710744"/>
            <a:ext cx="2102953" cy="9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9086E540-8D63-582F-8E48-A6DD167B8902}"/>
              </a:ext>
            </a:extLst>
          </p:cNvPr>
          <p:cNvSpPr/>
          <p:nvPr/>
        </p:nvSpPr>
        <p:spPr>
          <a:xfrm>
            <a:off x="378608" y="36335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ECM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7419BE5C-8D7E-F0CC-CC59-6B68C821F058}"/>
              </a:ext>
            </a:extLst>
          </p:cNvPr>
          <p:cNvSpPr/>
          <p:nvPr/>
        </p:nvSpPr>
        <p:spPr>
          <a:xfrm>
            <a:off x="1049856" y="571755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VECM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657363FA-CCBB-878B-A5C5-2795052BA2DE}"/>
              </a:ext>
            </a:extLst>
          </p:cNvPr>
          <p:cNvSpPr/>
          <p:nvPr/>
        </p:nvSpPr>
        <p:spPr>
          <a:xfrm>
            <a:off x="31386" y="43912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MS-VAR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0966C5E-2567-6B92-9B38-67360F165CC9}"/>
              </a:ext>
            </a:extLst>
          </p:cNvPr>
          <p:cNvSpPr/>
          <p:nvPr/>
        </p:nvSpPr>
        <p:spPr>
          <a:xfrm>
            <a:off x="8117071" y="3886122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techniques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BFFBB656-F091-14A7-CBC6-5070A1AC180D}"/>
              </a:ext>
            </a:extLst>
          </p:cNvPr>
          <p:cNvCxnSpPr>
            <a:cxnSpLocks/>
            <a:stCxn id="57" idx="2"/>
            <a:endCxn id="2" idx="0"/>
          </p:cNvCxnSpPr>
          <p:nvPr/>
        </p:nvCxnSpPr>
        <p:spPr>
          <a:xfrm flipV="1">
            <a:off x="6842935" y="3886122"/>
            <a:ext cx="2021661" cy="167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42253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1701</Words>
  <Application>Microsoft Office PowerPoint</Application>
  <PresentationFormat>Benutzerdefiniert</PresentationFormat>
  <Paragraphs>366</Paragraphs>
  <Slides>15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15</vt:i4>
      </vt:variant>
    </vt:vector>
  </HeadingPairs>
  <TitlesOfParts>
    <vt:vector size="24" baseType="lpstr">
      <vt:lpstr>AdvTT5235d5a9</vt:lpstr>
      <vt:lpstr>Aptos</vt:lpstr>
      <vt:lpstr>Arial</vt:lpstr>
      <vt:lpstr>Calibri</vt:lpstr>
      <vt:lpstr>Cambria Math</vt:lpstr>
      <vt:lpstr>Roboto</vt:lpstr>
      <vt:lpstr>Times New Roman,Bold</vt:lpstr>
      <vt:lpstr>Einfache Folie</vt:lpstr>
      <vt:lpstr>Minimale Folie</vt:lpstr>
      <vt:lpstr>PowerPoint-Präsentation</vt:lpstr>
      <vt:lpstr>Beginning: Newspaper article about energy + recent USD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Muster</dc:title>
  <dc:subject/>
  <dc:creator>Universität Kiel  (CAU)</dc:creator>
  <dc:description/>
  <cp:lastModifiedBy>Josef Fella</cp:lastModifiedBy>
  <cp:revision>239</cp:revision>
  <cp:lastPrinted>1601-01-01T00:00:00Z</cp:lastPrinted>
  <dcterms:created xsi:type="dcterms:W3CDTF">2010-06-02T10:39:48Z</dcterms:created>
  <dcterms:modified xsi:type="dcterms:W3CDTF">2025-10-22T21:53:11Z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Benutzerdefiniert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