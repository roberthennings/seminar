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ti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0" r:id="rId1"/>
    <p:sldMasterId id="2147483652" r:id="rId2"/>
  </p:sldMasterIdLst>
  <p:notesMasterIdLst>
    <p:notesMasterId r:id="rId23"/>
  </p:notesMasterIdLst>
  <p:sldIdLst>
    <p:sldId id="260" r:id="rId3"/>
    <p:sldId id="262" r:id="rId4"/>
    <p:sldId id="259" r:id="rId5"/>
    <p:sldId id="264" r:id="rId6"/>
    <p:sldId id="267" r:id="rId7"/>
    <p:sldId id="271" r:id="rId8"/>
    <p:sldId id="268" r:id="rId9"/>
    <p:sldId id="270" r:id="rId10"/>
    <p:sldId id="275" r:id="rId11"/>
    <p:sldId id="274" r:id="rId12"/>
    <p:sldId id="279" r:id="rId13"/>
    <p:sldId id="263" r:id="rId14"/>
    <p:sldId id="265" r:id="rId15"/>
    <p:sldId id="266" r:id="rId16"/>
    <p:sldId id="284" r:id="rId17"/>
    <p:sldId id="276" r:id="rId18"/>
    <p:sldId id="277" r:id="rId19"/>
    <p:sldId id="281" r:id="rId20"/>
    <p:sldId id="278" r:id="rId21"/>
    <p:sldId id="280" r:id="rId22"/>
  </p:sldIdLst>
  <p:sldSz cx="11520488" cy="6480175"/>
  <p:notesSz cx="7559675" cy="10691813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D6F2EB9-0F9D-11FF-3725-6E6478E33E3F}" name="Robert Hennings" initials="RH" userId="0c30f06d2451ee71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77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898"/>
    <p:restoredTop sz="73759"/>
  </p:normalViewPr>
  <p:slideViewPr>
    <p:cSldViewPr snapToGrid="0">
      <p:cViewPr varScale="1">
        <p:scale>
          <a:sx n="170" d="100"/>
          <a:sy n="170" d="100"/>
        </p:scale>
        <p:origin x="276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heme" Target="theme/theme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notesMaster" Target="notesMasters/notesMaster1.xml"/><Relationship Id="rId28" Type="http://schemas.microsoft.com/office/2018/10/relationships/authors" Target="author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F52E0DD-2BD6-4943-A289-4CB69F215D9E}" type="datetimeFigureOut">
              <a:rPr lang="de-DE" smtClean="0"/>
              <a:t>02.11.25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D16613-3B1F-DD4D-99CB-38F4196ACFC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502407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Figure: Schematic overview of main transmission channels derivend from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current</a:t>
            </a:r>
            <a:r>
              <a:rPr lang="de-DE" dirty="0"/>
              <a:t> </a:t>
            </a:r>
            <a:r>
              <a:rPr lang="de-DE" dirty="0" err="1"/>
              <a:t>literature</a:t>
            </a:r>
            <a:r>
              <a:rPr lang="de-DE" dirty="0"/>
              <a:t>, own </a:t>
            </a:r>
            <a:r>
              <a:rPr lang="de-DE" dirty="0" err="1"/>
              <a:t>illustration</a:t>
            </a:r>
            <a:r>
              <a:rPr lang="de-DE" dirty="0"/>
              <a:t> </a:t>
            </a:r>
            <a:r>
              <a:rPr lang="de-DE" dirty="0" err="1"/>
              <a:t>based</a:t>
            </a:r>
            <a:r>
              <a:rPr lang="de-DE" dirty="0"/>
              <a:t> on </a:t>
            </a:r>
            <a:r>
              <a:rPr lang="de-DE" sz="1800" dirty="0">
                <a:effectLst/>
                <a:latin typeface="AdvTT5235d5a9"/>
              </a:rPr>
              <a:t>The </a:t>
            </a:r>
            <a:r>
              <a:rPr lang="de-DE" sz="1800" dirty="0" err="1">
                <a:effectLst/>
                <a:latin typeface="AdvTT5235d5a9"/>
              </a:rPr>
              <a:t>relationship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between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oil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prices</a:t>
            </a:r>
            <a:r>
              <a:rPr lang="de-DE" sz="1800" dirty="0">
                <a:effectLst/>
                <a:latin typeface="AdvTT5235d5a9"/>
              </a:rPr>
              <a:t> and </a:t>
            </a:r>
            <a:r>
              <a:rPr lang="de-DE" sz="1800" dirty="0" err="1">
                <a:effectLst/>
                <a:latin typeface="AdvTT5235d5a9"/>
              </a:rPr>
              <a:t>exchange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rates</a:t>
            </a:r>
            <a:r>
              <a:rPr lang="de-DE" sz="1800" dirty="0">
                <a:effectLst/>
                <a:latin typeface="AdvTT5235d5a9"/>
              </a:rPr>
              <a:t>: </a:t>
            </a:r>
            <a:r>
              <a:rPr lang="de-DE" sz="1800" dirty="0" err="1">
                <a:effectLst/>
                <a:latin typeface="AdvTT5235d5a9"/>
              </a:rPr>
              <a:t>Revisiting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theory</a:t>
            </a:r>
            <a:r>
              <a:rPr lang="de-DE" sz="1800" dirty="0">
                <a:effectLst/>
                <a:latin typeface="AdvTT5235d5a9"/>
              </a:rPr>
              <a:t> and </a:t>
            </a:r>
            <a:r>
              <a:rPr lang="de-DE" sz="1800" dirty="0" err="1">
                <a:effectLst/>
                <a:latin typeface="AdvTT5235d5a9"/>
              </a:rPr>
              <a:t>evidence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dirty="0"/>
              <a:t>(</a:t>
            </a:r>
            <a:r>
              <a:rPr lang="de-DE" sz="1800" dirty="0">
                <a:solidFill>
                  <a:srgbClr val="0000FF"/>
                </a:solidFill>
                <a:effectLst/>
                <a:latin typeface="AdvTT5235d5a9"/>
              </a:rPr>
              <a:t>Energy Economics 88 (2020) 104772</a:t>
            </a:r>
            <a:r>
              <a:rPr lang="de-DE" dirty="0"/>
              <a:t>), </a:t>
            </a:r>
            <a:r>
              <a:rPr lang="de-DE" dirty="0" err="1"/>
              <a:t>pages</a:t>
            </a:r>
            <a:r>
              <a:rPr lang="de-DE" dirty="0"/>
              <a:t> 3-8.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Sources: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b="1" dirty="0"/>
              <a:t>Theory of Storage</a:t>
            </a:r>
            <a:r>
              <a:rPr lang="de-DE" dirty="0"/>
              <a:t> (Taken from </a:t>
            </a:r>
            <a:r>
              <a:rPr lang="de-DE" dirty="0" err="1"/>
              <a:t>paper</a:t>
            </a:r>
            <a:r>
              <a:rPr lang="de-DE" dirty="0"/>
              <a:t>: </a:t>
            </a:r>
            <a:r>
              <a:rPr lang="de-DE" sz="1800" dirty="0">
                <a:effectLst/>
                <a:latin typeface="Code2000"/>
              </a:rPr>
              <a:t>Commodity Futures Prices: </a:t>
            </a:r>
            <a:r>
              <a:rPr lang="de-DE" sz="1800" dirty="0" err="1">
                <a:effectLst/>
                <a:latin typeface="Code2000"/>
              </a:rPr>
              <a:t>Some</a:t>
            </a:r>
            <a:r>
              <a:rPr lang="de-DE" sz="1800" dirty="0">
                <a:effectLst/>
                <a:latin typeface="Code2000"/>
              </a:rPr>
              <a:t> </a:t>
            </a:r>
            <a:r>
              <a:rPr lang="de-DE" sz="1800" dirty="0" err="1">
                <a:effectLst/>
                <a:latin typeface="Code2000"/>
              </a:rPr>
              <a:t>Evidence</a:t>
            </a:r>
            <a:r>
              <a:rPr lang="de-DE" sz="1800" dirty="0">
                <a:effectLst/>
                <a:latin typeface="Code2000"/>
              </a:rPr>
              <a:t> on Forecast Power, </a:t>
            </a:r>
            <a:r>
              <a:rPr lang="de-DE" sz="1800" dirty="0" err="1">
                <a:effectLst/>
                <a:latin typeface="Code2000"/>
              </a:rPr>
              <a:t>Premiums</a:t>
            </a:r>
            <a:r>
              <a:rPr lang="de-DE" sz="1800" dirty="0">
                <a:effectLst/>
                <a:latin typeface="Code2000"/>
              </a:rPr>
              <a:t>, and </a:t>
            </a:r>
            <a:r>
              <a:rPr lang="de-DE" sz="1800" dirty="0" err="1">
                <a:effectLst/>
                <a:latin typeface="Code2000"/>
              </a:rPr>
              <a:t>the</a:t>
            </a:r>
            <a:r>
              <a:rPr lang="de-DE" sz="1800" dirty="0">
                <a:effectLst/>
                <a:latin typeface="Code2000"/>
              </a:rPr>
              <a:t> Theory of Storage</a:t>
            </a:r>
            <a:r>
              <a:rPr lang="de-DE" dirty="0"/>
              <a:t>, p.1)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b="1" dirty="0"/>
              <a:t>Expected Risk Premium</a:t>
            </a:r>
            <a:r>
              <a:rPr lang="de-DE" dirty="0"/>
              <a:t> (Taken from </a:t>
            </a:r>
            <a:r>
              <a:rPr lang="de-DE" dirty="0" err="1"/>
              <a:t>paper</a:t>
            </a:r>
            <a:r>
              <a:rPr lang="de-DE" dirty="0"/>
              <a:t>: </a:t>
            </a:r>
            <a:r>
              <a:rPr lang="de-DE" sz="1200" dirty="0">
                <a:effectLst/>
                <a:latin typeface="Code2000"/>
              </a:rPr>
              <a:t>Commodity Futures Prices: </a:t>
            </a:r>
            <a:r>
              <a:rPr lang="de-DE" sz="1200" dirty="0" err="1">
                <a:effectLst/>
                <a:latin typeface="Code2000"/>
              </a:rPr>
              <a:t>Some</a:t>
            </a:r>
            <a:r>
              <a:rPr lang="de-DE" sz="1200" dirty="0">
                <a:effectLst/>
                <a:latin typeface="Code2000"/>
              </a:rPr>
              <a:t> </a:t>
            </a:r>
            <a:r>
              <a:rPr lang="de-DE" sz="1200" dirty="0" err="1">
                <a:effectLst/>
                <a:latin typeface="Code2000"/>
              </a:rPr>
              <a:t>Evidence</a:t>
            </a:r>
            <a:r>
              <a:rPr lang="de-DE" sz="1200" dirty="0">
                <a:effectLst/>
                <a:latin typeface="Code2000"/>
              </a:rPr>
              <a:t> on Forecast Power, </a:t>
            </a:r>
            <a:r>
              <a:rPr lang="de-DE" sz="1200" dirty="0" err="1">
                <a:effectLst/>
                <a:latin typeface="Code2000"/>
              </a:rPr>
              <a:t>Premiums</a:t>
            </a:r>
            <a:r>
              <a:rPr lang="de-DE" sz="1200" dirty="0">
                <a:effectLst/>
                <a:latin typeface="Code2000"/>
              </a:rPr>
              <a:t>, and </a:t>
            </a:r>
            <a:r>
              <a:rPr lang="de-DE" sz="1200" dirty="0" err="1">
                <a:effectLst/>
                <a:latin typeface="Code2000"/>
              </a:rPr>
              <a:t>the</a:t>
            </a:r>
            <a:r>
              <a:rPr lang="de-DE" sz="1200" dirty="0">
                <a:effectLst/>
                <a:latin typeface="Code2000"/>
              </a:rPr>
              <a:t> Theory of Storage</a:t>
            </a:r>
            <a:r>
              <a:rPr lang="de-DE" dirty="0"/>
              <a:t>, p.1)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Spot – Future Divergence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dirty="0"/>
              <a:t>(Taken from </a:t>
            </a:r>
            <a:r>
              <a:rPr lang="de-DE" dirty="0" err="1"/>
              <a:t>paper</a:t>
            </a:r>
            <a:r>
              <a:rPr lang="de-DE" dirty="0"/>
              <a:t>: </a:t>
            </a:r>
            <a:r>
              <a:rPr lang="de-DE" sz="1200" dirty="0">
                <a:effectLst/>
                <a:latin typeface="Code2000"/>
              </a:rPr>
              <a:t>Commodity Futures Prices: </a:t>
            </a:r>
            <a:r>
              <a:rPr lang="de-DE" sz="1200" dirty="0" err="1">
                <a:effectLst/>
                <a:latin typeface="Code2000"/>
              </a:rPr>
              <a:t>Some</a:t>
            </a:r>
            <a:r>
              <a:rPr lang="de-DE" sz="1200" dirty="0">
                <a:effectLst/>
                <a:latin typeface="Code2000"/>
              </a:rPr>
              <a:t> </a:t>
            </a:r>
            <a:r>
              <a:rPr lang="de-DE" sz="1200" dirty="0" err="1">
                <a:effectLst/>
                <a:latin typeface="Code2000"/>
              </a:rPr>
              <a:t>Evidence</a:t>
            </a:r>
            <a:r>
              <a:rPr lang="de-DE" sz="1200" dirty="0">
                <a:effectLst/>
                <a:latin typeface="Code2000"/>
              </a:rPr>
              <a:t> on Forecast Power, </a:t>
            </a:r>
            <a:r>
              <a:rPr lang="de-DE" sz="1200" dirty="0" err="1">
                <a:effectLst/>
                <a:latin typeface="Code2000"/>
              </a:rPr>
              <a:t>Premiums</a:t>
            </a:r>
            <a:r>
              <a:rPr lang="de-DE" sz="1200" dirty="0">
                <a:effectLst/>
                <a:latin typeface="Code2000"/>
              </a:rPr>
              <a:t>, and </a:t>
            </a:r>
            <a:r>
              <a:rPr lang="de-DE" sz="1200" dirty="0" err="1">
                <a:effectLst/>
                <a:latin typeface="Code2000"/>
              </a:rPr>
              <a:t>the</a:t>
            </a:r>
            <a:r>
              <a:rPr lang="de-DE" sz="1200" dirty="0">
                <a:effectLst/>
                <a:latin typeface="Code2000"/>
              </a:rPr>
              <a:t> Theory of Storage</a:t>
            </a:r>
            <a:r>
              <a:rPr lang="de-DE" dirty="0"/>
              <a:t>, p.1 and </a:t>
            </a:r>
            <a:r>
              <a:rPr lang="de-DE" sz="1800" b="0" dirty="0">
                <a:effectLst/>
                <a:latin typeface="Calibri" panose="020F0502020204030204" pitchFamily="34" charset="0"/>
              </a:rPr>
              <a:t>Impact of U.S. </a:t>
            </a:r>
            <a:r>
              <a:rPr lang="de-DE" sz="1800" b="0" dirty="0" err="1">
                <a:effectLst/>
                <a:latin typeface="Calibri" panose="020F0502020204030204" pitchFamily="34" charset="0"/>
              </a:rPr>
              <a:t>Tight</a:t>
            </a:r>
            <a:r>
              <a:rPr lang="de-DE" sz="1800" b="0" dirty="0">
                <a:effectLst/>
                <a:latin typeface="Calibri" panose="020F0502020204030204" pitchFamily="34" charset="0"/>
              </a:rPr>
              <a:t> Oil on NYMEX WTI Futures</a:t>
            </a:r>
            <a:r>
              <a:rPr lang="de-DE" dirty="0"/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Present Value Approach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800" b="0" dirty="0" err="1">
                <a:effectLst/>
                <a:latin typeface="UniversLTStd"/>
              </a:rPr>
              <a:t>What</a:t>
            </a:r>
            <a:r>
              <a:rPr lang="de-DE" sz="1800" b="0" dirty="0">
                <a:effectLst/>
                <a:latin typeface="UniversLTStd"/>
              </a:rPr>
              <a:t> </a:t>
            </a:r>
            <a:r>
              <a:rPr lang="de-DE" sz="1800" b="0" dirty="0" err="1">
                <a:effectLst/>
                <a:latin typeface="UniversLTStd"/>
              </a:rPr>
              <a:t>drives</a:t>
            </a:r>
            <a:r>
              <a:rPr lang="de-DE" sz="1800" b="0" dirty="0">
                <a:effectLst/>
                <a:latin typeface="UniversLTStd"/>
              </a:rPr>
              <a:t> </a:t>
            </a:r>
            <a:r>
              <a:rPr lang="de-DE" sz="1800" b="0" dirty="0" err="1">
                <a:effectLst/>
                <a:latin typeface="UniversLTStd"/>
              </a:rPr>
              <a:t>commodity</a:t>
            </a:r>
            <a:r>
              <a:rPr lang="de-DE" sz="1800" b="0" dirty="0">
                <a:effectLst/>
                <a:latin typeface="UniversLTStd"/>
              </a:rPr>
              <a:t> </a:t>
            </a:r>
            <a:r>
              <a:rPr lang="de-DE" sz="1800" b="0" dirty="0" err="1">
                <a:effectLst/>
                <a:latin typeface="UniversLTStd"/>
              </a:rPr>
              <a:t>price</a:t>
            </a:r>
            <a:r>
              <a:rPr lang="de-DE" sz="1800" b="0" dirty="0">
                <a:effectLst/>
                <a:latin typeface="UniversLTStd"/>
              </a:rPr>
              <a:t> </a:t>
            </a:r>
            <a:r>
              <a:rPr lang="de-DE" sz="1800" b="0" dirty="0" err="1">
                <a:effectLst/>
                <a:latin typeface="UniversLTStd"/>
              </a:rPr>
              <a:t>variation</a:t>
            </a:r>
            <a:r>
              <a:rPr lang="de-DE" sz="1800" b="0" dirty="0">
                <a:effectLst/>
                <a:latin typeface="UniversLTStd"/>
              </a:rPr>
              <a:t>?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p. 349)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Commodity Currencies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800" dirty="0">
                <a:effectLst/>
                <a:latin typeface="TimesNewRomanPSMT"/>
              </a:rPr>
              <a:t>Commodity Price Effects on Currencies, p. 1 and </a:t>
            </a:r>
            <a:r>
              <a:rPr lang="de-DE" sz="1200" dirty="0">
                <a:effectLst/>
                <a:latin typeface="AdvTT5843c571"/>
              </a:rPr>
              <a:t>Commodity </a:t>
            </a:r>
            <a:r>
              <a:rPr lang="de-DE" sz="1200" dirty="0" err="1">
                <a:effectLst/>
                <a:latin typeface="AdvTT5843c571"/>
              </a:rPr>
              <a:t>currencies</a:t>
            </a:r>
            <a:r>
              <a:rPr lang="de-DE" sz="1200" dirty="0">
                <a:effectLst/>
                <a:latin typeface="AdvTT5843c571"/>
              </a:rPr>
              <a:t> and </a:t>
            </a:r>
            <a:r>
              <a:rPr lang="de-DE" sz="1200" dirty="0" err="1">
                <a:effectLst/>
                <a:latin typeface="AdvTT5843c571"/>
              </a:rPr>
              <a:t>the</a:t>
            </a:r>
            <a:r>
              <a:rPr lang="de-DE" sz="1200" dirty="0">
                <a:effectLst/>
                <a:latin typeface="AdvTT5843c571"/>
              </a:rPr>
              <a:t> real </a:t>
            </a:r>
            <a:r>
              <a:rPr lang="de-DE" sz="1200" dirty="0" err="1">
                <a:effectLst/>
                <a:latin typeface="AdvTT5843c571"/>
              </a:rPr>
              <a:t>exchange</a:t>
            </a:r>
            <a:r>
              <a:rPr lang="de-DE" sz="1200" dirty="0">
                <a:effectLst/>
                <a:latin typeface="AdvTT5843c571"/>
              </a:rPr>
              <a:t> rate, p. 239-240 and </a:t>
            </a:r>
            <a:r>
              <a:rPr lang="de-DE" sz="1200" dirty="0">
                <a:effectLst/>
                <a:latin typeface="Times" pitchFamily="2" charset="0"/>
              </a:rPr>
              <a:t>Commodity </a:t>
            </a:r>
            <a:r>
              <a:rPr lang="de-DE" sz="1200" dirty="0" err="1">
                <a:effectLst/>
                <a:latin typeface="Times" pitchFamily="2" charset="0"/>
              </a:rPr>
              <a:t>currencies</a:t>
            </a:r>
            <a:r>
              <a:rPr lang="de-DE" sz="1200" dirty="0">
                <a:effectLst/>
                <a:latin typeface="Times" pitchFamily="2" charset="0"/>
              </a:rPr>
              <a:t>, p. 133-134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Business Cycle and Uncertainty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800" dirty="0">
                <a:effectLst/>
                <a:latin typeface="AdvOT596495f2"/>
              </a:rPr>
              <a:t>Do all </a:t>
            </a:r>
            <a:r>
              <a:rPr lang="de-DE" sz="1800" dirty="0" err="1">
                <a:effectLst/>
                <a:latin typeface="AdvOT596495f2"/>
              </a:rPr>
              <a:t>oil</a:t>
            </a:r>
            <a:r>
              <a:rPr lang="de-DE" sz="1800" dirty="0">
                <a:effectLst/>
                <a:latin typeface="AdvOT596495f2"/>
              </a:rPr>
              <a:t> </a:t>
            </a:r>
            <a:r>
              <a:rPr lang="de-DE" sz="1800" dirty="0" err="1">
                <a:effectLst/>
                <a:latin typeface="AdvOT596495f2"/>
              </a:rPr>
              <a:t>price</a:t>
            </a:r>
            <a:r>
              <a:rPr lang="de-DE" sz="1800" dirty="0">
                <a:effectLst/>
                <a:latin typeface="AdvOT596495f2"/>
              </a:rPr>
              <a:t> </a:t>
            </a:r>
            <a:r>
              <a:rPr lang="de-DE" sz="1800" dirty="0" err="1">
                <a:effectLst/>
                <a:latin typeface="AdvOT596495f2"/>
              </a:rPr>
              <a:t>shocks</a:t>
            </a:r>
            <a:r>
              <a:rPr lang="de-DE" sz="1800" dirty="0">
                <a:effectLst/>
                <a:latin typeface="AdvOT596495f2"/>
              </a:rPr>
              <a:t> </a:t>
            </a:r>
            <a:r>
              <a:rPr lang="de-DE" sz="1800" dirty="0" err="1">
                <a:effectLst/>
                <a:latin typeface="AdvOT596495f2"/>
              </a:rPr>
              <a:t>have</a:t>
            </a:r>
            <a:r>
              <a:rPr lang="de-DE" sz="1800" dirty="0">
                <a:effectLst/>
                <a:latin typeface="AdvOT596495f2"/>
              </a:rPr>
              <a:t> </a:t>
            </a:r>
            <a:r>
              <a:rPr lang="de-DE" sz="1800" dirty="0" err="1">
                <a:effectLst/>
                <a:latin typeface="AdvOT596495f2"/>
              </a:rPr>
              <a:t>the</a:t>
            </a:r>
            <a:r>
              <a:rPr lang="de-DE" sz="1800" dirty="0">
                <a:effectLst/>
                <a:latin typeface="AdvOT596495f2"/>
              </a:rPr>
              <a:t> same </a:t>
            </a:r>
            <a:r>
              <a:rPr lang="de-DE" sz="1800" dirty="0" err="1">
                <a:effectLst/>
                <a:latin typeface="AdvOT596495f2"/>
              </a:rPr>
              <a:t>impact</a:t>
            </a:r>
            <a:r>
              <a:rPr lang="de-DE" sz="1800" dirty="0">
                <a:effectLst/>
                <a:latin typeface="AdvOT596495f2"/>
              </a:rPr>
              <a:t>? </a:t>
            </a:r>
            <a:r>
              <a:rPr lang="de-DE" sz="1800" dirty="0" err="1">
                <a:effectLst/>
                <a:latin typeface="AdvOT596495f2"/>
              </a:rPr>
              <a:t>Evidence</a:t>
            </a:r>
            <a:r>
              <a:rPr lang="de-DE" sz="1800" dirty="0">
                <a:effectLst/>
                <a:latin typeface="AdvOT596495f2"/>
              </a:rPr>
              <a:t> from </a:t>
            </a:r>
            <a:r>
              <a:rPr lang="de-DE" sz="1800" dirty="0" err="1">
                <a:effectLst/>
                <a:latin typeface="AdvOT596495f2"/>
              </a:rPr>
              <a:t>the</a:t>
            </a:r>
            <a:r>
              <a:rPr lang="de-DE" sz="1800" dirty="0">
                <a:effectLst/>
                <a:latin typeface="AdvOT596495f2"/>
              </a:rPr>
              <a:t> </a:t>
            </a:r>
            <a:r>
              <a:rPr lang="de-DE" sz="1800" dirty="0" err="1">
                <a:effectLst/>
                <a:latin typeface="AdvOT596495f2"/>
              </a:rPr>
              <a:t>euro</a:t>
            </a:r>
            <a:r>
              <a:rPr lang="de-DE" sz="1800" dirty="0">
                <a:effectLst/>
                <a:latin typeface="AdvOT596495f2"/>
              </a:rPr>
              <a:t> </a:t>
            </a:r>
            <a:r>
              <a:rPr lang="de-DE" sz="1800" dirty="0" err="1">
                <a:effectLst/>
                <a:latin typeface="AdvOT596495f2"/>
              </a:rPr>
              <a:t>area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p. 151)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Adaptive Market Hypothesis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2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800" dirty="0">
                <a:effectLst/>
                <a:latin typeface="AdvOT863180fb"/>
              </a:rPr>
              <a:t>Exchange-rate </a:t>
            </a:r>
            <a:r>
              <a:rPr lang="de-DE" sz="1800" dirty="0" err="1">
                <a:effectLst/>
                <a:latin typeface="AdvOT863180fb"/>
              </a:rPr>
              <a:t>return</a:t>
            </a:r>
            <a:r>
              <a:rPr lang="de-DE" sz="1800" dirty="0">
                <a:effectLst/>
                <a:latin typeface="AdvOT863180fb"/>
              </a:rPr>
              <a:t> </a:t>
            </a:r>
            <a:r>
              <a:rPr lang="de-DE" sz="1800" dirty="0" err="1">
                <a:effectLst/>
                <a:latin typeface="AdvOT863180fb"/>
              </a:rPr>
              <a:t>predictability</a:t>
            </a:r>
            <a:r>
              <a:rPr lang="de-DE" sz="1800" dirty="0">
                <a:effectLst/>
                <a:latin typeface="AdvOT863180fb"/>
              </a:rPr>
              <a:t> and </a:t>
            </a:r>
            <a:r>
              <a:rPr lang="de-DE" sz="1800" dirty="0" err="1">
                <a:effectLst/>
                <a:latin typeface="AdvOT863180fb"/>
              </a:rPr>
              <a:t>the</a:t>
            </a:r>
            <a:r>
              <a:rPr lang="de-DE" sz="1800" dirty="0">
                <a:effectLst/>
                <a:latin typeface="AdvOT863180fb"/>
              </a:rPr>
              <a:t> adaptive </a:t>
            </a:r>
            <a:r>
              <a:rPr lang="de-DE" sz="1800" dirty="0" err="1">
                <a:effectLst/>
                <a:latin typeface="AdvOT863180fb"/>
              </a:rPr>
              <a:t>markets</a:t>
            </a:r>
            <a:r>
              <a:rPr lang="de-DE" sz="1800" dirty="0">
                <a:effectLst/>
                <a:latin typeface="AdvOT863180fb"/>
              </a:rPr>
              <a:t> </a:t>
            </a:r>
            <a:r>
              <a:rPr lang="de-DE" sz="1800" dirty="0" err="1">
                <a:effectLst/>
                <a:latin typeface="AdvOT863180fb"/>
              </a:rPr>
              <a:t>hypothesis</a:t>
            </a:r>
            <a:r>
              <a:rPr lang="de-DE" sz="1800" dirty="0">
                <a:effectLst/>
                <a:latin typeface="AdvOT863180fb"/>
              </a:rPr>
              <a:t>: </a:t>
            </a:r>
            <a:r>
              <a:rPr lang="de-DE" sz="1800" dirty="0" err="1">
                <a:effectLst/>
                <a:latin typeface="AdvOT863180fb"/>
              </a:rPr>
              <a:t>Evidence</a:t>
            </a:r>
            <a:r>
              <a:rPr lang="de-DE" sz="1800" dirty="0">
                <a:effectLst/>
                <a:latin typeface="AdvOT863180fb"/>
              </a:rPr>
              <a:t> from </a:t>
            </a:r>
            <a:r>
              <a:rPr lang="de-DE" sz="1800" dirty="0" err="1">
                <a:effectLst/>
                <a:latin typeface="AdvOT863180fb"/>
              </a:rPr>
              <a:t>major</a:t>
            </a:r>
            <a:r>
              <a:rPr lang="de-DE" sz="1800" dirty="0">
                <a:effectLst/>
                <a:latin typeface="AdvOT863180fb"/>
              </a:rPr>
              <a:t> </a:t>
            </a:r>
            <a:r>
              <a:rPr lang="de-DE" sz="1800" dirty="0" err="1">
                <a:effectLst/>
                <a:latin typeface="AdvOT863180fb"/>
              </a:rPr>
              <a:t>foreign</a:t>
            </a:r>
            <a:r>
              <a:rPr lang="de-DE" sz="1800" dirty="0">
                <a:effectLst/>
                <a:latin typeface="AdvOT863180fb"/>
              </a:rPr>
              <a:t> </a:t>
            </a:r>
            <a:r>
              <a:rPr lang="de-DE" sz="1800" dirty="0" err="1">
                <a:effectLst/>
                <a:latin typeface="AdvOT863180fb"/>
              </a:rPr>
              <a:t>exchange</a:t>
            </a:r>
            <a:r>
              <a:rPr lang="de-DE" sz="1800" dirty="0">
                <a:effectLst/>
                <a:latin typeface="AdvOT863180fb"/>
              </a:rPr>
              <a:t> </a:t>
            </a:r>
            <a:r>
              <a:rPr lang="de-DE" sz="1800" dirty="0" err="1">
                <a:effectLst/>
                <a:latin typeface="AdvOT863180fb"/>
              </a:rPr>
              <a:t>rates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p.1607 and </a:t>
            </a:r>
            <a:r>
              <a:rPr lang="de-DE" sz="1800" dirty="0">
                <a:effectLst/>
                <a:latin typeface="CharisSIL"/>
              </a:rPr>
              <a:t>Time </a:t>
            </a:r>
            <a:r>
              <a:rPr lang="de-DE" sz="1800" dirty="0" err="1">
                <a:effectLst/>
                <a:latin typeface="CharisSIL"/>
              </a:rPr>
              <a:t>varying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market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efficiency</a:t>
            </a:r>
            <a:r>
              <a:rPr lang="de-DE" sz="1800" dirty="0">
                <a:effectLst/>
                <a:latin typeface="CharisSIL"/>
              </a:rPr>
              <a:t> in </a:t>
            </a:r>
            <a:r>
              <a:rPr lang="de-DE" sz="1800" dirty="0" err="1">
                <a:effectLst/>
                <a:latin typeface="CharisSIL"/>
              </a:rPr>
              <a:t>the</a:t>
            </a:r>
            <a:r>
              <a:rPr lang="de-DE" sz="1800" dirty="0">
                <a:effectLst/>
                <a:latin typeface="CharisSIL"/>
              </a:rPr>
              <a:t> Brent and WTI </a:t>
            </a:r>
            <a:r>
              <a:rPr lang="de-DE" sz="1800" dirty="0" err="1">
                <a:effectLst/>
                <a:latin typeface="CharisSIL"/>
              </a:rPr>
              <a:t>crude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market</a:t>
            </a:r>
            <a:r>
              <a:rPr lang="de-DE" sz="1800" dirty="0">
                <a:effectLst/>
                <a:latin typeface="CharisSIL"/>
              </a:rPr>
              <a:t>, p.1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Fundamental Shock</a:t>
            </a:r>
            <a:r>
              <a:rPr lang="de-DE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(Taken from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200" dirty="0">
                <a:effectLst/>
                <a:latin typeface="AdvOT863180fb"/>
              </a:rPr>
              <a:t>Exchange-rate </a:t>
            </a:r>
            <a:r>
              <a:rPr lang="de-DE" sz="1200" dirty="0" err="1">
                <a:effectLst/>
                <a:latin typeface="AdvOT863180fb"/>
              </a:rPr>
              <a:t>return</a:t>
            </a:r>
            <a:r>
              <a:rPr lang="de-DE" sz="1200" dirty="0">
                <a:effectLst/>
                <a:latin typeface="AdvOT863180fb"/>
              </a:rPr>
              <a:t> </a:t>
            </a:r>
            <a:r>
              <a:rPr lang="de-DE" sz="1200" dirty="0" err="1">
                <a:effectLst/>
                <a:latin typeface="AdvOT863180fb"/>
              </a:rPr>
              <a:t>predictability</a:t>
            </a:r>
            <a:r>
              <a:rPr lang="de-DE" sz="1200" dirty="0">
                <a:effectLst/>
                <a:latin typeface="AdvOT863180fb"/>
              </a:rPr>
              <a:t> and </a:t>
            </a:r>
            <a:r>
              <a:rPr lang="de-DE" sz="1200" dirty="0" err="1">
                <a:effectLst/>
                <a:latin typeface="AdvOT863180fb"/>
              </a:rPr>
              <a:t>the</a:t>
            </a:r>
            <a:r>
              <a:rPr lang="de-DE" sz="1200" dirty="0">
                <a:effectLst/>
                <a:latin typeface="AdvOT863180fb"/>
              </a:rPr>
              <a:t> adaptive </a:t>
            </a:r>
            <a:r>
              <a:rPr lang="de-DE" sz="1200" dirty="0" err="1">
                <a:effectLst/>
                <a:latin typeface="AdvOT863180fb"/>
              </a:rPr>
              <a:t>markets</a:t>
            </a:r>
            <a:r>
              <a:rPr lang="de-DE" sz="1200" dirty="0">
                <a:effectLst/>
                <a:latin typeface="AdvOT863180fb"/>
              </a:rPr>
              <a:t> </a:t>
            </a:r>
            <a:r>
              <a:rPr lang="de-DE" sz="1200" dirty="0" err="1">
                <a:effectLst/>
                <a:latin typeface="AdvOT863180fb"/>
              </a:rPr>
              <a:t>hypothesis</a:t>
            </a:r>
            <a:r>
              <a:rPr lang="de-DE" sz="1200" dirty="0">
                <a:effectLst/>
                <a:latin typeface="AdvOT863180fb"/>
              </a:rPr>
              <a:t>: </a:t>
            </a:r>
            <a:r>
              <a:rPr lang="de-DE" sz="1200" dirty="0" err="1">
                <a:effectLst/>
                <a:latin typeface="AdvOT863180fb"/>
              </a:rPr>
              <a:t>Evidence</a:t>
            </a:r>
            <a:r>
              <a:rPr lang="de-DE" sz="1200" dirty="0">
                <a:effectLst/>
                <a:latin typeface="AdvOT863180fb"/>
              </a:rPr>
              <a:t> from </a:t>
            </a:r>
            <a:r>
              <a:rPr lang="de-DE" sz="1200" dirty="0" err="1">
                <a:effectLst/>
                <a:latin typeface="AdvOT863180fb"/>
              </a:rPr>
              <a:t>major</a:t>
            </a:r>
            <a:r>
              <a:rPr lang="de-DE" sz="1200" dirty="0">
                <a:effectLst/>
                <a:latin typeface="AdvOT863180fb"/>
              </a:rPr>
              <a:t> </a:t>
            </a:r>
            <a:r>
              <a:rPr lang="de-DE" sz="1200" dirty="0" err="1">
                <a:effectLst/>
                <a:latin typeface="AdvOT863180fb"/>
              </a:rPr>
              <a:t>foreign</a:t>
            </a:r>
            <a:r>
              <a:rPr lang="de-DE" sz="1200" dirty="0">
                <a:effectLst/>
                <a:latin typeface="AdvOT863180fb"/>
              </a:rPr>
              <a:t> </a:t>
            </a:r>
            <a:r>
              <a:rPr lang="de-DE" sz="1200" dirty="0" err="1">
                <a:effectLst/>
                <a:latin typeface="AdvOT863180fb"/>
              </a:rPr>
              <a:t>exchange</a:t>
            </a:r>
            <a:r>
              <a:rPr lang="de-DE" sz="1200" dirty="0">
                <a:effectLst/>
                <a:latin typeface="AdvOT863180fb"/>
              </a:rPr>
              <a:t> </a:t>
            </a:r>
            <a:r>
              <a:rPr lang="de-DE" sz="1200" dirty="0" err="1">
                <a:effectLst/>
                <a:latin typeface="AdvOT863180fb"/>
              </a:rPr>
              <a:t>rates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p.1607)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Dominant Pricing Effect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800" dirty="0">
                <a:effectLst/>
                <a:latin typeface="CharisSIL"/>
              </a:rPr>
              <a:t>International </a:t>
            </a:r>
            <a:r>
              <a:rPr lang="de-DE" sz="1800" dirty="0" err="1">
                <a:effectLst/>
                <a:latin typeface="CharisSIL"/>
              </a:rPr>
              <a:t>energy</a:t>
            </a:r>
            <a:r>
              <a:rPr lang="de-DE" sz="1800" dirty="0">
                <a:effectLst/>
                <a:latin typeface="CharisSIL"/>
              </a:rPr>
              <a:t> trade and </a:t>
            </a:r>
            <a:r>
              <a:rPr lang="de-DE" sz="1800" dirty="0" err="1">
                <a:effectLst/>
                <a:latin typeface="CharisSIL"/>
              </a:rPr>
              <a:t>inflation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dynamics</a:t>
            </a:r>
            <a:r>
              <a:rPr lang="de-DE" sz="1800" dirty="0">
                <a:effectLst/>
                <a:latin typeface="CharisSIL"/>
              </a:rPr>
              <a:t>: The </a:t>
            </a:r>
            <a:r>
              <a:rPr lang="de-DE" sz="1800" dirty="0" err="1">
                <a:effectLst/>
                <a:latin typeface="CharisSIL"/>
              </a:rPr>
              <a:t>role</a:t>
            </a:r>
            <a:r>
              <a:rPr lang="de-DE" sz="1800" dirty="0">
                <a:effectLst/>
                <a:latin typeface="CharisSIL"/>
              </a:rPr>
              <a:t> of </a:t>
            </a:r>
            <a:r>
              <a:rPr lang="de-DE" sz="1800" dirty="0" err="1">
                <a:effectLst/>
                <a:latin typeface="CharisSIL"/>
              </a:rPr>
              <a:t>invoicing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currency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use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during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the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low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carbon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transition</a:t>
            </a:r>
            <a:r>
              <a:rPr lang="de-DE" sz="1800" dirty="0">
                <a:effectLst/>
                <a:latin typeface="CharisSIL"/>
              </a:rPr>
              <a:t>, p.1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 and Risk Spillover Effects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800" dirty="0">
                <a:effectLst/>
                <a:latin typeface="CharisSIL"/>
              </a:rPr>
              <a:t>Volatility </a:t>
            </a:r>
            <a:r>
              <a:rPr lang="de-DE" sz="1800" dirty="0" err="1">
                <a:effectLst/>
                <a:latin typeface="CharisSIL"/>
              </a:rPr>
              <a:t>spillover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between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oil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prices</a:t>
            </a:r>
            <a:r>
              <a:rPr lang="de-DE" sz="1800" dirty="0">
                <a:effectLst/>
                <a:latin typeface="CharisSIL"/>
              </a:rPr>
              <a:t> and main </a:t>
            </a:r>
            <a:r>
              <a:rPr lang="de-DE" sz="1800" dirty="0" err="1">
                <a:effectLst/>
                <a:latin typeface="CharisSIL"/>
              </a:rPr>
              <a:t>exchange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rates</a:t>
            </a:r>
            <a:r>
              <a:rPr lang="de-DE" sz="1800" dirty="0">
                <a:effectLst/>
                <a:latin typeface="CharisSIL"/>
              </a:rPr>
              <a:t>: </a:t>
            </a:r>
            <a:r>
              <a:rPr lang="de-DE" sz="1800" dirty="0" err="1">
                <a:effectLst/>
                <a:latin typeface="CharisSIL"/>
              </a:rPr>
              <a:t>Evidence</a:t>
            </a:r>
            <a:r>
              <a:rPr lang="de-DE" sz="1800" dirty="0">
                <a:effectLst/>
                <a:latin typeface="CharisSIL"/>
              </a:rPr>
              <a:t> from a DCC-GARCH-</a:t>
            </a:r>
            <a:r>
              <a:rPr lang="de-DE" sz="1800" dirty="0" err="1">
                <a:effectLst/>
                <a:latin typeface="CharisSIL"/>
              </a:rPr>
              <a:t>connectedness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approach</a:t>
            </a:r>
            <a:r>
              <a:rPr lang="de-DE" sz="1800" dirty="0">
                <a:effectLst/>
                <a:latin typeface="CharisSIL"/>
              </a:rPr>
              <a:t>, p. 1 and </a:t>
            </a:r>
            <a:r>
              <a:rPr lang="de-DE" sz="1800" dirty="0" err="1">
                <a:effectLst/>
                <a:latin typeface="Times New Roman,Bold" pitchFamily="2" charset="0"/>
              </a:rPr>
              <a:t>How</a:t>
            </a:r>
            <a:r>
              <a:rPr lang="de-DE" sz="1800" dirty="0">
                <a:effectLst/>
                <a:latin typeface="Times New Roman,Bold" pitchFamily="2" charset="0"/>
              </a:rPr>
              <a:t> Exchange Rate Volatility Shapes Commodity Derivatives Market: </a:t>
            </a:r>
            <a:r>
              <a:rPr lang="de-DE" sz="1800" dirty="0" err="1">
                <a:effectLst/>
                <a:latin typeface="Times New Roman,Bold" pitchFamily="2" charset="0"/>
              </a:rPr>
              <a:t>Lessons</a:t>
            </a:r>
            <a:r>
              <a:rPr lang="de-DE" sz="1800" dirty="0">
                <a:effectLst/>
                <a:latin typeface="Times New Roman,Bold" pitchFamily="2" charset="0"/>
              </a:rPr>
              <a:t> from Five Global Shocks (2007–2023), p. 1 and </a:t>
            </a:r>
            <a:r>
              <a:rPr lang="de-DE" sz="1800" dirty="0">
                <a:effectLst/>
                <a:latin typeface="AdvTT5235d5a9"/>
              </a:rPr>
              <a:t>Oil </a:t>
            </a:r>
            <a:r>
              <a:rPr lang="de-DE" sz="1800" dirty="0" err="1">
                <a:effectLst/>
                <a:latin typeface="AdvTT5235d5a9"/>
              </a:rPr>
              <a:t>price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shocks</a:t>
            </a:r>
            <a:r>
              <a:rPr lang="de-DE" sz="1800" dirty="0">
                <a:effectLst/>
                <a:latin typeface="AdvTT5235d5a9"/>
              </a:rPr>
              <a:t> and </a:t>
            </a:r>
            <a:r>
              <a:rPr lang="de-DE" sz="1800" dirty="0" err="1">
                <a:effectLst/>
                <a:latin typeface="AdvTT5235d5a9"/>
              </a:rPr>
              <a:t>exchange</a:t>
            </a:r>
            <a:r>
              <a:rPr lang="de-DE" sz="1800" dirty="0">
                <a:effectLst/>
                <a:latin typeface="AdvTT5235d5a9"/>
              </a:rPr>
              <a:t> rate </a:t>
            </a:r>
            <a:r>
              <a:rPr lang="de-DE" sz="1800" dirty="0" err="1">
                <a:effectLst/>
                <a:latin typeface="AdvTT5235d5a9"/>
              </a:rPr>
              <a:t>movements</a:t>
            </a:r>
            <a:r>
              <a:rPr lang="de-DE" sz="1800" dirty="0">
                <a:effectLst/>
                <a:latin typeface="AdvTT5235d5a9"/>
              </a:rPr>
              <a:t>, p. 18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Central Bank Policy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800" dirty="0">
                <a:effectLst/>
                <a:latin typeface="MathPackOne"/>
              </a:rPr>
              <a:t>Regime </a:t>
            </a:r>
            <a:r>
              <a:rPr lang="de-DE" sz="1800" dirty="0" err="1">
                <a:effectLst/>
                <a:latin typeface="MathPackOne"/>
              </a:rPr>
              <a:t>switching</a:t>
            </a:r>
            <a:r>
              <a:rPr lang="de-DE" sz="1800" dirty="0">
                <a:effectLst/>
                <a:latin typeface="MathPackOne"/>
              </a:rPr>
              <a:t> in </a:t>
            </a:r>
            <a:r>
              <a:rPr lang="de-DE" sz="1800" dirty="0" err="1">
                <a:effectLst/>
                <a:latin typeface="MathPackOne"/>
              </a:rPr>
              <a:t>foreign</a:t>
            </a:r>
            <a:r>
              <a:rPr lang="de-DE" sz="1800" dirty="0">
                <a:effectLst/>
                <a:latin typeface="MathPackOne"/>
              </a:rPr>
              <a:t> </a:t>
            </a:r>
            <a:r>
              <a:rPr lang="de-DE" sz="1800" dirty="0" err="1">
                <a:effectLst/>
                <a:latin typeface="MathPackOne"/>
              </a:rPr>
              <a:t>exchange</a:t>
            </a:r>
            <a:r>
              <a:rPr lang="de-DE" sz="1800" dirty="0">
                <a:effectLst/>
                <a:latin typeface="MathPackOne"/>
              </a:rPr>
              <a:t> </a:t>
            </a:r>
            <a:r>
              <a:rPr lang="de-DE" sz="1800" dirty="0" err="1">
                <a:effectLst/>
                <a:latin typeface="MathPackOne"/>
              </a:rPr>
              <a:t>rates</a:t>
            </a:r>
            <a:r>
              <a:rPr lang="de-DE" sz="1800" dirty="0">
                <a:effectLst/>
                <a:latin typeface="MathPackOne"/>
              </a:rPr>
              <a:t>: </a:t>
            </a:r>
            <a:r>
              <a:rPr lang="de-DE" sz="1800" dirty="0" err="1">
                <a:effectLst/>
                <a:latin typeface="MathPackOne"/>
              </a:rPr>
              <a:t>Evidence</a:t>
            </a:r>
            <a:r>
              <a:rPr lang="de-DE" sz="1800" dirty="0">
                <a:effectLst/>
                <a:latin typeface="MathPackOne"/>
              </a:rPr>
              <a:t> from </a:t>
            </a:r>
            <a:r>
              <a:rPr lang="de-DE" sz="1800" dirty="0" err="1">
                <a:effectLst/>
                <a:latin typeface="MathPackOne"/>
              </a:rPr>
              <a:t>currency</a:t>
            </a:r>
            <a:r>
              <a:rPr lang="de-DE" sz="1800" dirty="0">
                <a:effectLst/>
                <a:latin typeface="MathPackOne"/>
              </a:rPr>
              <a:t> </a:t>
            </a:r>
            <a:r>
              <a:rPr lang="de-DE" sz="1800" dirty="0" err="1">
                <a:effectLst/>
                <a:latin typeface="MathPackOne"/>
              </a:rPr>
              <a:t>option</a:t>
            </a:r>
            <a:r>
              <a:rPr lang="de-DE" sz="1800" dirty="0">
                <a:effectLst/>
                <a:latin typeface="MathPackOne"/>
              </a:rPr>
              <a:t> </a:t>
            </a:r>
            <a:r>
              <a:rPr lang="de-DE" sz="1800" dirty="0" err="1">
                <a:effectLst/>
                <a:latin typeface="MathPackOne"/>
              </a:rPr>
              <a:t>prices</a:t>
            </a:r>
            <a:r>
              <a:rPr lang="de-DE" sz="1800" dirty="0">
                <a:effectLst/>
                <a:latin typeface="MathPackOne"/>
              </a:rPr>
              <a:t> 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p. 240)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(US) Terms of Trade Effect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800" dirty="0">
                <a:effectLst/>
                <a:latin typeface="AdvTT5235d5a9"/>
              </a:rPr>
              <a:t>The </a:t>
            </a:r>
            <a:r>
              <a:rPr lang="de-DE" sz="1800" dirty="0" err="1">
                <a:effectLst/>
                <a:latin typeface="AdvTT5235d5a9"/>
              </a:rPr>
              <a:t>impact</a:t>
            </a:r>
            <a:r>
              <a:rPr lang="de-DE" sz="1800" dirty="0">
                <a:effectLst/>
                <a:latin typeface="AdvTT5235d5a9"/>
              </a:rPr>
              <a:t> of </a:t>
            </a:r>
            <a:r>
              <a:rPr lang="de-DE" sz="1800" dirty="0" err="1">
                <a:effectLst/>
                <a:latin typeface="AdvTT5235d5a9"/>
              </a:rPr>
              <a:t>oil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shocks</a:t>
            </a:r>
            <a:r>
              <a:rPr lang="de-DE" sz="1800" dirty="0">
                <a:effectLst/>
                <a:latin typeface="AdvTT5235d5a9"/>
              </a:rPr>
              <a:t> on </a:t>
            </a:r>
            <a:r>
              <a:rPr lang="de-DE" sz="1800" dirty="0" err="1">
                <a:effectLst/>
                <a:latin typeface="AdvTT5235d5a9"/>
              </a:rPr>
              <a:t>exchange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rates</a:t>
            </a:r>
            <a:r>
              <a:rPr lang="de-DE" sz="1800" dirty="0">
                <a:effectLst/>
                <a:latin typeface="AdvTT5235d5a9"/>
              </a:rPr>
              <a:t>: A Markov-</a:t>
            </a:r>
            <a:r>
              <a:rPr lang="de-DE" sz="1800" dirty="0" err="1">
                <a:effectLst/>
                <a:latin typeface="AdvTT5235d5a9"/>
              </a:rPr>
              <a:t>switching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approach</a:t>
            </a:r>
            <a:r>
              <a:rPr lang="de-DE" sz="1800" dirty="0">
                <a:effectLst/>
                <a:latin typeface="AdvTT5235d5a9"/>
              </a:rPr>
              <a:t>, p. 11 and </a:t>
            </a:r>
            <a:r>
              <a:rPr lang="de-DE" sz="1800" dirty="0">
                <a:effectLst/>
                <a:latin typeface="AdvTT6120e2aa"/>
              </a:rPr>
              <a:t>Oil </a:t>
            </a:r>
            <a:r>
              <a:rPr lang="de-DE" sz="1800" dirty="0" err="1">
                <a:effectLst/>
                <a:latin typeface="AdvTT6120e2aa"/>
              </a:rPr>
              <a:t>prices</a:t>
            </a:r>
            <a:r>
              <a:rPr lang="de-DE" sz="1800" dirty="0">
                <a:effectLst/>
                <a:latin typeface="AdvTT6120e2aa"/>
              </a:rPr>
              <a:t> and real </a:t>
            </a:r>
            <a:r>
              <a:rPr lang="de-DE" sz="1800" dirty="0" err="1">
                <a:effectLst/>
                <a:latin typeface="AdvTT6120e2aa"/>
              </a:rPr>
              <a:t>exchange</a:t>
            </a:r>
            <a:r>
              <a:rPr lang="de-DE" sz="1800" dirty="0">
                <a:effectLst/>
                <a:latin typeface="AdvTT6120e2aa"/>
              </a:rPr>
              <a:t> </a:t>
            </a:r>
            <a:r>
              <a:rPr lang="de-DE" sz="1800" dirty="0" err="1">
                <a:effectLst/>
                <a:latin typeface="AdvTT6120e2aa"/>
              </a:rPr>
              <a:t>rates</a:t>
            </a:r>
            <a:r>
              <a:rPr lang="de-DE" sz="1800" dirty="0">
                <a:effectLst/>
                <a:latin typeface="AdvTT6120e2aa"/>
              </a:rPr>
              <a:t>, p. 391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Oil export and import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800" dirty="0">
                <a:effectLst/>
                <a:latin typeface="CharisSIL"/>
              </a:rPr>
              <a:t>Non-linear </a:t>
            </a:r>
            <a:r>
              <a:rPr lang="de-DE" sz="1800" dirty="0" err="1">
                <a:effectLst/>
                <a:latin typeface="CharisSIL"/>
              </a:rPr>
              <a:t>relationship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between</a:t>
            </a:r>
            <a:r>
              <a:rPr lang="de-DE" sz="1800" dirty="0">
                <a:effectLst/>
                <a:latin typeface="CharisSIL"/>
              </a:rPr>
              <a:t> real </a:t>
            </a:r>
            <a:r>
              <a:rPr lang="de-DE" sz="1800" dirty="0" err="1">
                <a:effectLst/>
                <a:latin typeface="CharisSIL"/>
              </a:rPr>
              <a:t>commodity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price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volatility</a:t>
            </a:r>
            <a:r>
              <a:rPr lang="de-DE" sz="1800" dirty="0">
                <a:effectLst/>
                <a:latin typeface="CharisSIL"/>
              </a:rPr>
              <a:t> and real </a:t>
            </a:r>
            <a:r>
              <a:rPr lang="de-DE" sz="1800" dirty="0" err="1">
                <a:effectLst/>
                <a:latin typeface="CharisSIL"/>
              </a:rPr>
              <a:t>effective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exchange</a:t>
            </a:r>
            <a:r>
              <a:rPr lang="de-DE" sz="1800" dirty="0">
                <a:effectLst/>
                <a:latin typeface="CharisSIL"/>
              </a:rPr>
              <a:t> rate: The </a:t>
            </a:r>
            <a:r>
              <a:rPr lang="de-DE" sz="1800" dirty="0" err="1">
                <a:effectLst/>
                <a:latin typeface="CharisSIL"/>
              </a:rPr>
              <a:t>case</a:t>
            </a:r>
            <a:r>
              <a:rPr lang="de-DE" sz="1800" dirty="0">
                <a:effectLst/>
                <a:latin typeface="CharisSIL"/>
              </a:rPr>
              <a:t> of </a:t>
            </a:r>
            <a:r>
              <a:rPr lang="de-DE" sz="1800" dirty="0" err="1">
                <a:effectLst/>
                <a:latin typeface="CharisSIL"/>
              </a:rPr>
              <a:t>commodity-exporting</a:t>
            </a:r>
            <a:r>
              <a:rPr lang="de-DE" sz="1800" dirty="0">
                <a:effectLst/>
                <a:latin typeface="CharisSIL"/>
              </a:rPr>
              <a:t> countries, p. 212-213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Financialization Effects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800" dirty="0">
                <a:effectLst/>
                <a:latin typeface="NotoSansSemiCondensed"/>
              </a:rPr>
              <a:t>Oil </a:t>
            </a:r>
            <a:r>
              <a:rPr lang="de-DE" sz="1800" dirty="0" err="1">
                <a:effectLst/>
                <a:latin typeface="NotoSansSemiCondensed"/>
              </a:rPr>
              <a:t>prices</a:t>
            </a:r>
            <a:r>
              <a:rPr lang="de-DE" sz="1800" dirty="0">
                <a:effectLst/>
                <a:latin typeface="NotoSansSemiCondensed"/>
              </a:rPr>
              <a:t>, </a:t>
            </a:r>
            <a:r>
              <a:rPr lang="de-DE" sz="1800" dirty="0" err="1">
                <a:effectLst/>
                <a:latin typeface="NotoSansSemiCondensed"/>
              </a:rPr>
              <a:t>exchange</a:t>
            </a:r>
            <a:r>
              <a:rPr lang="de-DE" sz="1800" dirty="0">
                <a:effectLst/>
                <a:latin typeface="NotoSansSemiCondensed"/>
              </a:rPr>
              <a:t> </a:t>
            </a:r>
            <a:r>
              <a:rPr lang="de-DE" sz="1800" dirty="0" err="1">
                <a:effectLst/>
                <a:latin typeface="NotoSansSemiCondensed"/>
              </a:rPr>
              <a:t>rates</a:t>
            </a:r>
            <a:r>
              <a:rPr lang="de-DE" sz="1800" dirty="0">
                <a:effectLst/>
                <a:latin typeface="NotoSansSemiCondensed"/>
              </a:rPr>
              <a:t> and </a:t>
            </a:r>
            <a:r>
              <a:rPr lang="de-DE" sz="1800" dirty="0" err="1">
                <a:effectLst/>
                <a:latin typeface="NotoSansSemiCondensed"/>
              </a:rPr>
              <a:t>asset</a:t>
            </a:r>
            <a:r>
              <a:rPr lang="de-DE" sz="1800" dirty="0">
                <a:effectLst/>
                <a:latin typeface="NotoSansSemiCondensed"/>
              </a:rPr>
              <a:t> </a:t>
            </a:r>
            <a:r>
              <a:rPr lang="de-DE" sz="1800" dirty="0" err="1">
                <a:effectLst/>
                <a:latin typeface="NotoSansSemiCondensed"/>
              </a:rPr>
              <a:t>prices</a:t>
            </a:r>
            <a:r>
              <a:rPr lang="de-DE" sz="1800" dirty="0">
                <a:effectLst/>
                <a:latin typeface="NotoSansSemiCondensed"/>
              </a:rPr>
              <a:t>, p. 1-3 and </a:t>
            </a:r>
            <a:r>
              <a:rPr lang="de-DE" sz="1800" dirty="0">
                <a:effectLst/>
                <a:latin typeface="CharisSIL"/>
              </a:rPr>
              <a:t>The power </a:t>
            </a:r>
            <a:r>
              <a:rPr lang="de-DE" sz="1800" dirty="0" err="1">
                <a:effectLst/>
                <a:latin typeface="CharisSIL"/>
              </a:rPr>
              <a:t>play</a:t>
            </a:r>
            <a:r>
              <a:rPr lang="de-DE" sz="1800" dirty="0">
                <a:effectLst/>
                <a:latin typeface="CharisSIL"/>
              </a:rPr>
              <a:t> of </a:t>
            </a:r>
            <a:r>
              <a:rPr lang="de-DE" sz="1800" dirty="0" err="1">
                <a:effectLst/>
                <a:latin typeface="CharisSIL"/>
              </a:rPr>
              <a:t>natural</a:t>
            </a:r>
            <a:r>
              <a:rPr lang="de-DE" sz="1800" dirty="0">
                <a:effectLst/>
                <a:latin typeface="CharisSIL"/>
              </a:rPr>
              <a:t> gas and </a:t>
            </a:r>
            <a:r>
              <a:rPr lang="de-DE" sz="1800" dirty="0" err="1">
                <a:effectLst/>
                <a:latin typeface="CharisSIL"/>
              </a:rPr>
              <a:t>crude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oil</a:t>
            </a:r>
            <a:r>
              <a:rPr lang="de-DE" sz="1800" dirty="0">
                <a:effectLst/>
                <a:latin typeface="CharisSIL"/>
              </a:rPr>
              <a:t> in </a:t>
            </a:r>
            <a:r>
              <a:rPr lang="de-DE" sz="1800" dirty="0" err="1">
                <a:effectLst/>
                <a:latin typeface="CharisSIL"/>
              </a:rPr>
              <a:t>the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move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towards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the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financialization</a:t>
            </a:r>
            <a:r>
              <a:rPr lang="de-DE" sz="1800" dirty="0">
                <a:effectLst/>
                <a:latin typeface="CharisSIL"/>
              </a:rPr>
              <a:t> of </a:t>
            </a:r>
            <a:r>
              <a:rPr lang="de-DE" sz="1800" dirty="0" err="1">
                <a:effectLst/>
                <a:latin typeface="CharisSIL"/>
              </a:rPr>
              <a:t>the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energy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market</a:t>
            </a:r>
            <a:r>
              <a:rPr lang="de-DE" sz="1800" dirty="0">
                <a:effectLst/>
                <a:latin typeface="CharisSIL"/>
              </a:rPr>
              <a:t>, p. 1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(Risk Parity) Portfolio Rebalancing Effect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0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800" dirty="0" err="1">
                <a:effectLst/>
                <a:latin typeface="AdvTT5235d5a9"/>
              </a:rPr>
              <a:t>Dependence</a:t>
            </a:r>
            <a:r>
              <a:rPr lang="de-DE" sz="1800" dirty="0">
                <a:effectLst/>
                <a:latin typeface="AdvTT5235d5a9"/>
              </a:rPr>
              <a:t> and extreme </a:t>
            </a:r>
            <a:r>
              <a:rPr lang="de-DE" sz="1800" dirty="0" err="1">
                <a:effectLst/>
                <a:latin typeface="AdvTT5235d5a9"/>
              </a:rPr>
              <a:t>dependence</a:t>
            </a:r>
            <a:r>
              <a:rPr lang="de-DE" sz="1800" dirty="0">
                <a:effectLst/>
                <a:latin typeface="AdvTT5235d5a9"/>
              </a:rPr>
              <a:t> of </a:t>
            </a:r>
            <a:r>
              <a:rPr lang="de-DE" sz="1800" dirty="0" err="1">
                <a:effectLst/>
                <a:latin typeface="AdvTT5235d5a9"/>
              </a:rPr>
              <a:t>crude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oil</a:t>
            </a:r>
            <a:r>
              <a:rPr lang="de-DE" sz="1800" dirty="0">
                <a:effectLst/>
                <a:latin typeface="AdvTT5235d5a9"/>
              </a:rPr>
              <a:t> and </a:t>
            </a:r>
            <a:r>
              <a:rPr lang="de-DE" sz="1800" dirty="0" err="1">
                <a:effectLst/>
                <a:latin typeface="AdvTT5235d5a9"/>
              </a:rPr>
              <a:t>natural</a:t>
            </a:r>
            <a:r>
              <a:rPr lang="de-DE" sz="1800" dirty="0">
                <a:effectLst/>
                <a:latin typeface="AdvTT5235d5a9"/>
              </a:rPr>
              <a:t> gas </a:t>
            </a:r>
            <a:r>
              <a:rPr lang="de-DE" sz="1800" dirty="0" err="1">
                <a:effectLst/>
                <a:latin typeface="AdvTT5235d5a9"/>
              </a:rPr>
              <a:t>prices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with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applications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to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risk</a:t>
            </a:r>
            <a:r>
              <a:rPr lang="de-DE" sz="1800" dirty="0">
                <a:effectLst/>
                <a:latin typeface="AdvTT5235d5a9"/>
              </a:rPr>
              <a:t> </a:t>
            </a:r>
            <a:r>
              <a:rPr lang="de-DE" sz="1800" dirty="0" err="1">
                <a:effectLst/>
                <a:latin typeface="AdvTT5235d5a9"/>
              </a:rPr>
              <a:t>management</a:t>
            </a:r>
            <a:r>
              <a:rPr lang="de-DE" sz="1800" dirty="0">
                <a:effectLst/>
                <a:latin typeface="AdvTT5235d5a9"/>
              </a:rPr>
              <a:t>, p. 332 and </a:t>
            </a:r>
            <a:r>
              <a:rPr lang="de-DE" sz="1800" dirty="0">
                <a:effectLst/>
                <a:latin typeface="CharisSIL"/>
              </a:rPr>
              <a:t>Dynamic </a:t>
            </a:r>
            <a:r>
              <a:rPr lang="de-DE" sz="1800" dirty="0" err="1">
                <a:effectLst/>
                <a:latin typeface="CharisSIL"/>
              </a:rPr>
              <a:t>frequency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relationships</a:t>
            </a:r>
            <a:r>
              <a:rPr lang="de-DE" sz="1800" dirty="0">
                <a:effectLst/>
                <a:latin typeface="CharisSIL"/>
              </a:rPr>
              <a:t> and </a:t>
            </a:r>
            <a:r>
              <a:rPr lang="de-DE" sz="1800" dirty="0" err="1">
                <a:effectLst/>
                <a:latin typeface="CharisSIL"/>
              </a:rPr>
              <a:t>volatility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spillovers</a:t>
            </a:r>
            <a:r>
              <a:rPr lang="de-DE" sz="1800" dirty="0">
                <a:effectLst/>
                <a:latin typeface="CharisSIL"/>
              </a:rPr>
              <a:t> in </a:t>
            </a:r>
            <a:r>
              <a:rPr lang="de-DE" sz="1800" dirty="0" err="1">
                <a:effectLst/>
                <a:latin typeface="CharisSIL"/>
              </a:rPr>
              <a:t>natural</a:t>
            </a:r>
            <a:r>
              <a:rPr lang="de-DE" sz="1800" dirty="0">
                <a:effectLst/>
                <a:latin typeface="CharisSIL"/>
              </a:rPr>
              <a:t> gas, </a:t>
            </a:r>
            <a:r>
              <a:rPr lang="de-DE" sz="1800" dirty="0" err="1">
                <a:effectLst/>
                <a:latin typeface="CharisSIL"/>
              </a:rPr>
              <a:t>crude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oil</a:t>
            </a:r>
            <a:r>
              <a:rPr lang="de-DE" sz="1800" dirty="0">
                <a:effectLst/>
                <a:latin typeface="CharisSIL"/>
              </a:rPr>
              <a:t>, gas </a:t>
            </a:r>
            <a:r>
              <a:rPr lang="de-DE" sz="1800" dirty="0" err="1">
                <a:effectLst/>
                <a:latin typeface="CharisSIL"/>
              </a:rPr>
              <a:t>oil</a:t>
            </a:r>
            <a:r>
              <a:rPr lang="de-DE" sz="1800" dirty="0">
                <a:effectLst/>
                <a:latin typeface="CharisSIL"/>
              </a:rPr>
              <a:t>, </a:t>
            </a:r>
            <a:r>
              <a:rPr lang="de-DE" sz="1800" dirty="0" err="1">
                <a:effectLst/>
                <a:latin typeface="CharisSIL"/>
              </a:rPr>
              <a:t>gasoline</a:t>
            </a:r>
            <a:r>
              <a:rPr lang="de-DE" sz="1800" dirty="0">
                <a:effectLst/>
                <a:latin typeface="CharisSIL"/>
              </a:rPr>
              <a:t>, and </a:t>
            </a:r>
            <a:r>
              <a:rPr lang="de-DE" sz="1800" dirty="0" err="1">
                <a:effectLst/>
                <a:latin typeface="CharisSIL"/>
              </a:rPr>
              <a:t>heating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oil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markets</a:t>
            </a:r>
            <a:r>
              <a:rPr lang="de-DE" sz="1800" dirty="0">
                <a:effectLst/>
                <a:latin typeface="CharisSIL"/>
              </a:rPr>
              <a:t>: </a:t>
            </a:r>
            <a:r>
              <a:rPr lang="de-DE" sz="1800" dirty="0" err="1">
                <a:effectLst/>
                <a:latin typeface="CharisSIL"/>
              </a:rPr>
              <a:t>Implications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for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portfolio</a:t>
            </a:r>
            <a:r>
              <a:rPr lang="de-DE" sz="1800" dirty="0">
                <a:effectLst/>
                <a:latin typeface="CharisSIL"/>
              </a:rPr>
              <a:t> </a:t>
            </a:r>
            <a:r>
              <a:rPr lang="de-DE" sz="1800" dirty="0" err="1">
                <a:effectLst/>
                <a:latin typeface="CharisSIL"/>
              </a:rPr>
              <a:t>management</a:t>
            </a:r>
            <a:r>
              <a:rPr lang="de-DE" sz="1800" dirty="0">
                <a:effectLst/>
                <a:latin typeface="CharisSIL"/>
              </a:rPr>
              <a:t>, p. 1</a:t>
            </a:r>
            <a:r>
              <a:rPr lang="de-DE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</a:t>
            </a:r>
            <a:r>
              <a:rPr lang="de-DE" sz="1000" b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from: </a:t>
            </a:r>
            <a:r>
              <a:rPr lang="de-DE" sz="1800" dirty="0">
                <a:effectLst/>
                <a:latin typeface="TimesLTStd"/>
              </a:rPr>
              <a:t>Inflation, </a:t>
            </a:r>
            <a:r>
              <a:rPr lang="de-DE" sz="1800" dirty="0" err="1">
                <a:effectLst/>
                <a:latin typeface="TimesLTStd"/>
              </a:rPr>
              <a:t>oil</a:t>
            </a:r>
            <a:r>
              <a:rPr lang="de-DE" sz="1800" dirty="0">
                <a:effectLst/>
                <a:latin typeface="TimesLTStd"/>
              </a:rPr>
              <a:t> </a:t>
            </a:r>
            <a:r>
              <a:rPr lang="de-DE" sz="1800" dirty="0" err="1">
                <a:effectLst/>
                <a:latin typeface="TimesLTStd"/>
              </a:rPr>
              <a:t>prices</a:t>
            </a:r>
            <a:r>
              <a:rPr lang="de-DE" sz="1800" dirty="0">
                <a:effectLst/>
                <a:latin typeface="TimesLTStd"/>
              </a:rPr>
              <a:t> and </a:t>
            </a:r>
            <a:r>
              <a:rPr lang="de-DE" sz="1800" dirty="0" err="1">
                <a:effectLst/>
                <a:latin typeface="TimesLTStd"/>
              </a:rPr>
              <a:t>exchange</a:t>
            </a:r>
            <a:r>
              <a:rPr lang="de-DE" sz="1800" dirty="0">
                <a:effectLst/>
                <a:latin typeface="TimesLTStd"/>
              </a:rPr>
              <a:t> </a:t>
            </a:r>
            <a:r>
              <a:rPr lang="de-DE" sz="1800" dirty="0" err="1">
                <a:effectLst/>
                <a:latin typeface="TimesLTStd"/>
              </a:rPr>
              <a:t>rates</a:t>
            </a:r>
            <a:r>
              <a:rPr lang="de-DE" sz="1800" dirty="0">
                <a:effectLst/>
                <a:latin typeface="TimesLTStd"/>
              </a:rPr>
              <a:t>. The </a:t>
            </a:r>
            <a:r>
              <a:rPr lang="de-DE" sz="1800" dirty="0" err="1">
                <a:effectLst/>
                <a:latin typeface="TimesLTStd"/>
              </a:rPr>
              <a:t>Euro’s</a:t>
            </a:r>
            <a:r>
              <a:rPr lang="de-DE" sz="1800" dirty="0">
                <a:effectLst/>
                <a:latin typeface="TimesLTStd"/>
              </a:rPr>
              <a:t> </a:t>
            </a:r>
            <a:r>
              <a:rPr lang="de-DE" sz="1800" dirty="0" err="1">
                <a:effectLst/>
                <a:latin typeface="TimesLTStd"/>
              </a:rPr>
              <a:t>dampening</a:t>
            </a:r>
            <a:r>
              <a:rPr lang="de-DE" sz="1800" dirty="0">
                <a:effectLst/>
                <a:latin typeface="TimesLTStd"/>
              </a:rPr>
              <a:t> </a:t>
            </a:r>
            <a:r>
              <a:rPr lang="de-DE" sz="1800" dirty="0" err="1">
                <a:effectLst/>
                <a:latin typeface="TimesLTStd"/>
              </a:rPr>
              <a:t>effect</a:t>
            </a:r>
            <a:r>
              <a:rPr lang="de-DE" sz="1800" dirty="0">
                <a:effectLst/>
                <a:latin typeface="TimesLTStd"/>
              </a:rPr>
              <a:t>, p. 130 and </a:t>
            </a:r>
            <a:r>
              <a:rPr lang="de-DE" sz="1800" dirty="0">
                <a:effectLst/>
                <a:latin typeface="Times" pitchFamily="2" charset="0"/>
              </a:rPr>
              <a:t>Long-run </a:t>
            </a:r>
            <a:r>
              <a:rPr lang="de-DE" sz="1800" dirty="0" err="1">
                <a:effectLst/>
                <a:latin typeface="Times" pitchFamily="2" charset="0"/>
              </a:rPr>
              <a:t>equilibrium</a:t>
            </a:r>
            <a:r>
              <a:rPr lang="de-DE" sz="1800" dirty="0">
                <a:effectLst/>
                <a:latin typeface="Times" pitchFamily="2" charset="0"/>
              </a:rPr>
              <a:t> real </a:t>
            </a:r>
            <a:r>
              <a:rPr lang="de-DE" sz="1800" dirty="0" err="1">
                <a:effectLst/>
                <a:latin typeface="Times" pitchFamily="2" charset="0"/>
              </a:rPr>
              <a:t>exchange</a:t>
            </a:r>
            <a:r>
              <a:rPr lang="de-DE" sz="1800" dirty="0">
                <a:effectLst/>
                <a:latin typeface="Times" pitchFamily="2" charset="0"/>
              </a:rPr>
              <a:t> </a:t>
            </a:r>
            <a:r>
              <a:rPr lang="de-DE" sz="1800" dirty="0" err="1">
                <a:effectLst/>
                <a:latin typeface="Times" pitchFamily="2" charset="0"/>
              </a:rPr>
              <a:t>rates</a:t>
            </a:r>
            <a:r>
              <a:rPr lang="de-DE" sz="1800" dirty="0">
                <a:effectLst/>
                <a:latin typeface="Times" pitchFamily="2" charset="0"/>
              </a:rPr>
              <a:t> and </a:t>
            </a:r>
            <a:r>
              <a:rPr lang="de-DE" sz="1800" dirty="0" err="1">
                <a:effectLst/>
                <a:latin typeface="Times" pitchFamily="2" charset="0"/>
              </a:rPr>
              <a:t>oil</a:t>
            </a:r>
            <a:r>
              <a:rPr lang="de-DE" sz="1800" dirty="0">
                <a:effectLst/>
                <a:latin typeface="Times" pitchFamily="2" charset="0"/>
              </a:rPr>
              <a:t> </a:t>
            </a:r>
            <a:r>
              <a:rPr lang="de-DE" sz="1800" dirty="0" err="1">
                <a:effectLst/>
                <a:latin typeface="Times" pitchFamily="2" charset="0"/>
              </a:rPr>
              <a:t>prices</a:t>
            </a:r>
            <a:r>
              <a:rPr lang="de-DE" sz="1800" dirty="0">
                <a:effectLst/>
                <a:latin typeface="Times" pitchFamily="2" charset="0"/>
              </a:rPr>
              <a:t>, p. 231</a:t>
            </a:r>
            <a:r>
              <a:rPr lang="de-DE" sz="1000" b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de-DE" sz="10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Denomination (Numeraire) Effect</a:t>
            </a:r>
            <a:r>
              <a:rPr lang="de-DE" sz="1000" b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(Taken from </a:t>
            </a:r>
            <a:r>
              <a:rPr lang="de-DE" sz="1800" dirty="0">
                <a:solidFill>
                  <a:srgbClr val="211E1E"/>
                </a:solidFill>
                <a:effectLst/>
                <a:latin typeface="AdvTT5235d5a9"/>
              </a:rPr>
              <a:t>Oil </a:t>
            </a:r>
            <a:r>
              <a:rPr lang="de-DE" sz="1800" dirty="0" err="1">
                <a:solidFill>
                  <a:srgbClr val="211E1E"/>
                </a:solidFill>
                <a:effectLst/>
                <a:latin typeface="AdvTT5235d5a9"/>
              </a:rPr>
              <a:t>price</a:t>
            </a:r>
            <a:r>
              <a:rPr lang="de-DE" sz="1800" dirty="0">
                <a:solidFill>
                  <a:srgbClr val="211E1E"/>
                </a:solidFill>
                <a:effectLst/>
                <a:latin typeface="AdvTT5235d5a9"/>
              </a:rPr>
              <a:t> </a:t>
            </a:r>
            <a:r>
              <a:rPr lang="de-DE" sz="1800" dirty="0">
                <a:solidFill>
                  <a:srgbClr val="211E1E"/>
                </a:solidFill>
                <a:effectLst/>
                <a:latin typeface="AdvTT5235d5a9+fb"/>
              </a:rPr>
              <a:t>fl</a:t>
            </a:r>
            <a:r>
              <a:rPr lang="de-DE" sz="1800" dirty="0">
                <a:solidFill>
                  <a:srgbClr val="211E1E"/>
                </a:solidFill>
                <a:effectLst/>
                <a:latin typeface="AdvTT5235d5a9"/>
              </a:rPr>
              <a:t>uctuations and U.S. </a:t>
            </a:r>
            <a:r>
              <a:rPr lang="de-DE" sz="1800" dirty="0" err="1">
                <a:solidFill>
                  <a:srgbClr val="211E1E"/>
                </a:solidFill>
                <a:effectLst/>
                <a:latin typeface="AdvTT5235d5a9"/>
              </a:rPr>
              <a:t>dollar</a:t>
            </a:r>
            <a:r>
              <a:rPr lang="de-DE" sz="1800" dirty="0">
                <a:solidFill>
                  <a:srgbClr val="211E1E"/>
                </a:solidFill>
                <a:effectLst/>
                <a:latin typeface="AdvTT5235d5a9"/>
              </a:rPr>
              <a:t> </a:t>
            </a:r>
            <a:r>
              <a:rPr lang="de-DE" sz="1800" dirty="0" err="1">
                <a:solidFill>
                  <a:srgbClr val="211E1E"/>
                </a:solidFill>
                <a:effectLst/>
                <a:latin typeface="AdvTT5235d5a9"/>
              </a:rPr>
              <a:t>exchange</a:t>
            </a:r>
            <a:r>
              <a:rPr lang="de-DE" sz="1800" dirty="0">
                <a:solidFill>
                  <a:srgbClr val="211E1E"/>
                </a:solidFill>
                <a:effectLst/>
                <a:latin typeface="AdvTT5235d5a9"/>
              </a:rPr>
              <a:t> </a:t>
            </a:r>
            <a:r>
              <a:rPr lang="de-DE" sz="1800" dirty="0" err="1">
                <a:solidFill>
                  <a:srgbClr val="211E1E"/>
                </a:solidFill>
                <a:effectLst/>
                <a:latin typeface="AdvTT5235d5a9"/>
              </a:rPr>
              <a:t>rates</a:t>
            </a:r>
            <a:r>
              <a:rPr lang="de-DE" sz="1800" dirty="0">
                <a:solidFill>
                  <a:srgbClr val="211E1E"/>
                </a:solidFill>
                <a:effectLst/>
                <a:latin typeface="AdvTT5235d5a9"/>
              </a:rPr>
              <a:t>, p. 399</a:t>
            </a:r>
            <a:r>
              <a:rPr lang="de-DE" sz="1000" b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de-DE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de-DE" sz="10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de-DE" sz="1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de-DE" sz="1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de-DE" sz="10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de-DE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659561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Sources:</a:t>
            </a:r>
          </a:p>
          <a:p>
            <a:pPr marL="228600" indent="-228600">
              <a:buAutoNum type="arabicParenR"/>
            </a:pPr>
            <a:r>
              <a:rPr lang="de-DE"/>
              <a:t>https://</a:t>
            </a:r>
            <a:r>
              <a:rPr lang="de-DE" err="1"/>
              <a:t>www.bis.org</a:t>
            </a:r>
            <a:r>
              <a:rPr lang="de-DE"/>
              <a:t>/</a:t>
            </a:r>
            <a:r>
              <a:rPr lang="de-DE" err="1"/>
              <a:t>ifc</a:t>
            </a:r>
            <a:r>
              <a:rPr lang="de-DE"/>
              <a:t>/</a:t>
            </a:r>
            <a:r>
              <a:rPr lang="de-DE" err="1"/>
              <a:t>events</a:t>
            </a:r>
            <a:r>
              <a:rPr lang="de-DE"/>
              <a:t>/6ifcconf/</a:t>
            </a:r>
            <a:r>
              <a:rPr lang="de-DE" err="1"/>
              <a:t>takats_pres.pdf</a:t>
            </a:r>
            <a:endParaRPr lang="de-DE"/>
          </a:p>
          <a:p>
            <a:pPr marL="228600" indent="-228600">
              <a:buAutoNum type="arabicParenR"/>
            </a:pPr>
            <a:r>
              <a:rPr lang="de-DE"/>
              <a:t>https://</a:t>
            </a:r>
            <a:r>
              <a:rPr lang="de-DE" err="1"/>
              <a:t>data.bis.org</a:t>
            </a:r>
            <a:r>
              <a:rPr lang="de-DE"/>
              <a:t>/</a:t>
            </a:r>
            <a:r>
              <a:rPr lang="de-DE" err="1"/>
              <a:t>topics</a:t>
            </a:r>
            <a:r>
              <a:rPr lang="de-DE"/>
              <a:t>/EER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137415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989C31-3F15-B798-AEAC-4C4E153BC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D0940DD-E69D-7B38-3803-94675999FC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5CBEB96-7C04-77BB-135C-5C3484FCDE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Sources:</a:t>
            </a:r>
          </a:p>
          <a:p>
            <a:pPr marL="228600" indent="-228600">
              <a:buAutoNum type="arabicParenR"/>
            </a:pPr>
            <a:r>
              <a:rPr lang="de-DE"/>
              <a:t>https://</a:t>
            </a:r>
            <a:r>
              <a:rPr lang="de-DE" err="1"/>
              <a:t>www.bis.org</a:t>
            </a:r>
            <a:r>
              <a:rPr lang="de-DE"/>
              <a:t>/</a:t>
            </a:r>
            <a:r>
              <a:rPr lang="de-DE" err="1"/>
              <a:t>ifc</a:t>
            </a:r>
            <a:r>
              <a:rPr lang="de-DE"/>
              <a:t>/</a:t>
            </a:r>
            <a:r>
              <a:rPr lang="de-DE" err="1"/>
              <a:t>events</a:t>
            </a:r>
            <a:r>
              <a:rPr lang="de-DE"/>
              <a:t>/6ifcconf/</a:t>
            </a:r>
            <a:r>
              <a:rPr lang="de-DE" err="1"/>
              <a:t>takats_pres.pdf</a:t>
            </a:r>
            <a:endParaRPr lang="de-DE"/>
          </a:p>
          <a:p>
            <a:pPr marL="228600" indent="-228600">
              <a:buAutoNum type="arabicParenR"/>
            </a:pPr>
            <a:r>
              <a:rPr lang="de-DE"/>
              <a:t>https://</a:t>
            </a:r>
            <a:r>
              <a:rPr lang="de-DE" err="1"/>
              <a:t>data.bis.org</a:t>
            </a:r>
            <a:r>
              <a:rPr lang="de-DE"/>
              <a:t>/</a:t>
            </a:r>
            <a:r>
              <a:rPr lang="de-DE" err="1"/>
              <a:t>topics</a:t>
            </a:r>
            <a:r>
              <a:rPr lang="de-DE"/>
              <a:t>/EER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23835CE-F727-9D2F-05A5-A9B1F9B1CA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085194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1) See Paper: Oil </a:t>
            </a:r>
            <a:r>
              <a:rPr lang="de-DE" dirty="0" err="1"/>
              <a:t>prices</a:t>
            </a:r>
            <a:r>
              <a:rPr lang="de-DE" dirty="0"/>
              <a:t>, </a:t>
            </a:r>
            <a:r>
              <a:rPr lang="de-DE" dirty="0" err="1"/>
              <a:t>exchange</a:t>
            </a:r>
            <a:r>
              <a:rPr lang="de-DE" dirty="0"/>
              <a:t> rate and </a:t>
            </a:r>
            <a:r>
              <a:rPr lang="de-DE" dirty="0" err="1"/>
              <a:t>asset</a:t>
            </a:r>
            <a:r>
              <a:rPr lang="de-DE" dirty="0"/>
              <a:t> </a:t>
            </a:r>
            <a:r>
              <a:rPr lang="de-DE" dirty="0" err="1"/>
              <a:t>prices</a:t>
            </a:r>
            <a:r>
              <a:rPr lang="de-DE" dirty="0"/>
              <a:t> („</a:t>
            </a:r>
            <a:r>
              <a:rPr lang="de-DE" sz="1800" dirty="0">
                <a:effectLst/>
                <a:latin typeface="Calibri" panose="020F0502020204030204" pitchFamily="34" charset="0"/>
              </a:rPr>
              <a:t>open </a:t>
            </a:r>
            <a:r>
              <a:rPr lang="de-DE" sz="1800" dirty="0" err="1">
                <a:effectLst/>
                <a:latin typeface="Calibri" panose="020F0502020204030204" pitchFamily="34" charset="0"/>
              </a:rPr>
              <a:t>interest</a:t>
            </a:r>
            <a:r>
              <a:rPr lang="de-DE" sz="1800" dirty="0">
                <a:effectLst/>
                <a:latin typeface="Calibri" panose="020F0502020204030204" pitchFamily="34" charset="0"/>
              </a:rPr>
              <a:t> in </a:t>
            </a:r>
            <a:r>
              <a:rPr lang="de-DE" sz="1800" dirty="0" err="1">
                <a:effectLst/>
                <a:latin typeface="Calibri" panose="020F0502020204030204" pitchFamily="34" charset="0"/>
              </a:rPr>
              <a:t>the</a:t>
            </a:r>
            <a:r>
              <a:rPr lang="de-DE" sz="1800" dirty="0">
                <a:effectLst/>
                <a:latin typeface="Calibri" panose="020F0502020204030204" pitchFamily="34" charset="0"/>
              </a:rPr>
              <a:t> </a:t>
            </a:r>
            <a:r>
              <a:rPr lang="de-DE" sz="1800" dirty="0" err="1">
                <a:effectLst/>
                <a:latin typeface="Calibri" panose="020F0502020204030204" pitchFamily="34" charset="0"/>
              </a:rPr>
              <a:t>oil</a:t>
            </a:r>
            <a:r>
              <a:rPr lang="de-DE" sz="1800" dirty="0">
                <a:effectLst/>
                <a:latin typeface="Calibri" panose="020F0502020204030204" pitchFamily="34" charset="0"/>
              </a:rPr>
              <a:t> </a:t>
            </a:r>
            <a:r>
              <a:rPr lang="de-DE" sz="1800" dirty="0" err="1">
                <a:effectLst/>
                <a:latin typeface="Calibri" panose="020F0502020204030204" pitchFamily="34" charset="0"/>
              </a:rPr>
              <a:t>futures</a:t>
            </a:r>
            <a:r>
              <a:rPr lang="de-DE" sz="1800" dirty="0">
                <a:effectLst/>
                <a:latin typeface="Calibri" panose="020F0502020204030204" pitchFamily="34" charset="0"/>
              </a:rPr>
              <a:t> </a:t>
            </a:r>
            <a:r>
              <a:rPr lang="de-DE" sz="1800" dirty="0" err="1">
                <a:effectLst/>
                <a:latin typeface="Calibri" panose="020F0502020204030204" pitchFamily="34" charset="0"/>
              </a:rPr>
              <a:t>market</a:t>
            </a:r>
            <a:r>
              <a:rPr lang="de-DE" sz="1800" dirty="0">
                <a:effectLst/>
                <a:latin typeface="Calibri" panose="020F0502020204030204" pitchFamily="34" charset="0"/>
              </a:rPr>
              <a:t>, i.e. </a:t>
            </a:r>
            <a:r>
              <a:rPr lang="de-DE" sz="1800" dirty="0" err="1">
                <a:effectLst/>
                <a:latin typeface="Calibri" panose="020F0502020204030204" pitchFamily="34" charset="0"/>
              </a:rPr>
              <a:t>the</a:t>
            </a:r>
            <a:r>
              <a:rPr lang="de-DE" sz="1800" dirty="0">
                <a:effectLst/>
                <a:latin typeface="Calibri" panose="020F0502020204030204" pitchFamily="34" charset="0"/>
              </a:rPr>
              <a:t> </a:t>
            </a:r>
            <a:r>
              <a:rPr lang="de-DE" sz="1800" dirty="0" err="1">
                <a:effectLst/>
                <a:latin typeface="Calibri" panose="020F0502020204030204" pitchFamily="34" charset="0"/>
              </a:rPr>
              <a:t>number</a:t>
            </a:r>
            <a:r>
              <a:rPr lang="de-DE" sz="1800" dirty="0">
                <a:effectLst/>
                <a:latin typeface="Calibri" panose="020F0502020204030204" pitchFamily="34" charset="0"/>
              </a:rPr>
              <a:t> of open </a:t>
            </a:r>
            <a:r>
              <a:rPr lang="de-DE" sz="1800" dirty="0" err="1">
                <a:effectLst/>
                <a:latin typeface="Calibri" panose="020F0502020204030204" pitchFamily="34" charset="0"/>
              </a:rPr>
              <a:t>futures</a:t>
            </a:r>
            <a:r>
              <a:rPr lang="de-DE" sz="1800" dirty="0">
                <a:effectLst/>
                <a:latin typeface="Calibri" panose="020F0502020204030204" pitchFamily="34" charset="0"/>
              </a:rPr>
              <a:t> </a:t>
            </a:r>
            <a:r>
              <a:rPr lang="de-DE" sz="1800" dirty="0" err="1">
                <a:effectLst/>
                <a:latin typeface="Calibri" panose="020F0502020204030204" pitchFamily="34" charset="0"/>
              </a:rPr>
              <a:t>contracts</a:t>
            </a:r>
            <a:r>
              <a:rPr lang="de-DE" sz="1800" dirty="0">
                <a:effectLst/>
                <a:latin typeface="Calibri" panose="020F0502020204030204" pitchFamily="34" charset="0"/>
              </a:rPr>
              <a:t> (</a:t>
            </a:r>
            <a:r>
              <a:rPr lang="de-DE" sz="1800" dirty="0" err="1">
                <a:effectLst/>
                <a:latin typeface="Calibri" panose="020F0502020204030204" pitchFamily="34" charset="0"/>
              </a:rPr>
              <a:t>as</a:t>
            </a:r>
            <a:r>
              <a:rPr lang="de-DE" sz="1800" dirty="0">
                <a:effectLst/>
                <a:latin typeface="Calibri" panose="020F0502020204030204" pitchFamily="34" charset="0"/>
              </a:rPr>
              <a:t> a </a:t>
            </a:r>
            <a:r>
              <a:rPr lang="de-DE" sz="1800" dirty="0" err="1">
                <a:effectLst/>
                <a:latin typeface="Calibri" panose="020F0502020204030204" pitchFamily="34" charset="0"/>
              </a:rPr>
              <a:t>proxy</a:t>
            </a:r>
            <a:r>
              <a:rPr lang="de-DE" sz="1800" dirty="0">
                <a:effectLst/>
                <a:latin typeface="Calibri" panose="020F0502020204030204" pitchFamily="34" charset="0"/>
              </a:rPr>
              <a:t> </a:t>
            </a:r>
            <a:r>
              <a:rPr lang="de-DE" sz="1800" dirty="0" err="1">
                <a:effectLst/>
                <a:latin typeface="Calibri" panose="020F0502020204030204" pitchFamily="34" charset="0"/>
              </a:rPr>
              <a:t>for</a:t>
            </a:r>
            <a:r>
              <a:rPr lang="de-DE" sz="1800" dirty="0">
                <a:effectLst/>
                <a:latin typeface="Calibri" panose="020F0502020204030204" pitchFamily="34" charset="0"/>
              </a:rPr>
              <a:t> </a:t>
            </a:r>
            <a:r>
              <a:rPr lang="de-DE" sz="1800" dirty="0" err="1">
                <a:effectLst/>
                <a:latin typeface="Calibri" panose="020F0502020204030204" pitchFamily="34" charset="0"/>
              </a:rPr>
              <a:t>the</a:t>
            </a:r>
            <a:r>
              <a:rPr lang="de-DE" sz="1800" dirty="0">
                <a:effectLst/>
                <a:latin typeface="Calibri" panose="020F0502020204030204" pitchFamily="34" charset="0"/>
              </a:rPr>
              <a:t> </a:t>
            </a:r>
            <a:r>
              <a:rPr lang="de-DE" sz="1800" dirty="0" err="1">
                <a:effectLst/>
                <a:latin typeface="Calibri" panose="020F0502020204030204" pitchFamily="34" charset="0"/>
              </a:rPr>
              <a:t>financialisation</a:t>
            </a:r>
            <a:r>
              <a:rPr lang="de-DE" sz="1800" dirty="0">
                <a:effectLst/>
                <a:latin typeface="Calibri" panose="020F0502020204030204" pitchFamily="34" charset="0"/>
              </a:rPr>
              <a:t> of </a:t>
            </a:r>
            <a:r>
              <a:rPr lang="de-DE" sz="1800" dirty="0" err="1">
                <a:effectLst/>
                <a:latin typeface="Calibri" panose="020F0502020204030204" pitchFamily="34" charset="0"/>
              </a:rPr>
              <a:t>the</a:t>
            </a:r>
            <a:r>
              <a:rPr lang="de-DE" sz="1800" dirty="0">
                <a:effectLst/>
                <a:latin typeface="Calibri" panose="020F0502020204030204" pitchFamily="34" charset="0"/>
              </a:rPr>
              <a:t> </a:t>
            </a:r>
            <a:r>
              <a:rPr lang="de-DE" sz="1800" dirty="0" err="1">
                <a:effectLst/>
                <a:latin typeface="Calibri" panose="020F0502020204030204" pitchFamily="34" charset="0"/>
              </a:rPr>
              <a:t>oil</a:t>
            </a:r>
            <a:r>
              <a:rPr lang="de-DE" sz="1800" dirty="0">
                <a:effectLst/>
                <a:latin typeface="Calibri" panose="020F0502020204030204" pitchFamily="34" charset="0"/>
              </a:rPr>
              <a:t> </a:t>
            </a:r>
            <a:r>
              <a:rPr lang="de-DE" sz="1800" dirty="0" err="1">
                <a:effectLst/>
                <a:latin typeface="Calibri" panose="020F0502020204030204" pitchFamily="34" charset="0"/>
              </a:rPr>
              <a:t>market</a:t>
            </a:r>
            <a:r>
              <a:rPr lang="de-DE" sz="1800" dirty="0">
                <a:effectLst/>
                <a:latin typeface="Calibri" panose="020F0502020204030204" pitchFamily="34" charset="0"/>
              </a:rPr>
              <a:t>). </a:t>
            </a:r>
            <a:endParaRPr lang="de-DE" dirty="0"/>
          </a:p>
          <a:p>
            <a:r>
              <a:rPr lang="de-DE" dirty="0"/>
              <a:t>“), </a:t>
            </a:r>
            <a:r>
              <a:rPr lang="de-DE" dirty="0" err="1"/>
              <a:t>page</a:t>
            </a:r>
            <a:r>
              <a:rPr lang="de-DE" dirty="0"/>
              <a:t> 2.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Own </a:t>
            </a:r>
            <a:r>
              <a:rPr lang="de-DE" dirty="0" err="1"/>
              <a:t>illustration</a:t>
            </a:r>
            <a:r>
              <a:rPr lang="de-DE" dirty="0"/>
              <a:t> </a:t>
            </a:r>
            <a:r>
              <a:rPr lang="de-DE" dirty="0" err="1"/>
              <a:t>based</a:t>
            </a:r>
            <a:r>
              <a:rPr lang="de-DE" dirty="0"/>
              <a:t> on </a:t>
            </a:r>
            <a:r>
              <a:rPr lang="de-DE" sz="1200" dirty="0">
                <a:effectLst/>
                <a:latin typeface="AdvTT5235d5a9"/>
              </a:rPr>
              <a:t>The </a:t>
            </a:r>
            <a:r>
              <a:rPr lang="de-DE" sz="1200" dirty="0" err="1">
                <a:effectLst/>
                <a:latin typeface="AdvTT5235d5a9"/>
              </a:rPr>
              <a:t>relationship</a:t>
            </a:r>
            <a:r>
              <a:rPr lang="de-DE" sz="1200" dirty="0">
                <a:effectLst/>
                <a:latin typeface="AdvTT5235d5a9"/>
              </a:rPr>
              <a:t> </a:t>
            </a:r>
            <a:r>
              <a:rPr lang="de-DE" sz="1200" dirty="0" err="1">
                <a:effectLst/>
                <a:latin typeface="AdvTT5235d5a9"/>
              </a:rPr>
              <a:t>between</a:t>
            </a:r>
            <a:r>
              <a:rPr lang="de-DE" sz="1200" dirty="0">
                <a:effectLst/>
                <a:latin typeface="AdvTT5235d5a9"/>
              </a:rPr>
              <a:t> </a:t>
            </a:r>
            <a:r>
              <a:rPr lang="de-DE" sz="1200" dirty="0" err="1">
                <a:effectLst/>
                <a:latin typeface="AdvTT5235d5a9"/>
              </a:rPr>
              <a:t>oil</a:t>
            </a:r>
            <a:r>
              <a:rPr lang="de-DE" sz="1200" dirty="0">
                <a:effectLst/>
                <a:latin typeface="AdvTT5235d5a9"/>
              </a:rPr>
              <a:t> </a:t>
            </a:r>
            <a:r>
              <a:rPr lang="de-DE" sz="1200" dirty="0" err="1">
                <a:effectLst/>
                <a:latin typeface="AdvTT5235d5a9"/>
              </a:rPr>
              <a:t>prices</a:t>
            </a:r>
            <a:r>
              <a:rPr lang="de-DE" sz="1200" dirty="0">
                <a:effectLst/>
                <a:latin typeface="AdvTT5235d5a9"/>
              </a:rPr>
              <a:t> and </a:t>
            </a:r>
            <a:r>
              <a:rPr lang="de-DE" sz="1200" dirty="0" err="1">
                <a:effectLst/>
                <a:latin typeface="AdvTT5235d5a9"/>
              </a:rPr>
              <a:t>exchange</a:t>
            </a:r>
            <a:r>
              <a:rPr lang="de-DE" sz="1200" dirty="0">
                <a:effectLst/>
                <a:latin typeface="AdvTT5235d5a9"/>
              </a:rPr>
              <a:t> </a:t>
            </a:r>
            <a:r>
              <a:rPr lang="de-DE" sz="1200" dirty="0" err="1">
                <a:effectLst/>
                <a:latin typeface="AdvTT5235d5a9"/>
              </a:rPr>
              <a:t>rates</a:t>
            </a:r>
            <a:r>
              <a:rPr lang="de-DE" sz="1200" dirty="0">
                <a:effectLst/>
                <a:latin typeface="AdvTT5235d5a9"/>
              </a:rPr>
              <a:t>: </a:t>
            </a:r>
            <a:r>
              <a:rPr lang="de-DE" sz="1200" dirty="0" err="1">
                <a:effectLst/>
                <a:latin typeface="AdvTT5235d5a9"/>
              </a:rPr>
              <a:t>Revisiting</a:t>
            </a:r>
            <a:r>
              <a:rPr lang="de-DE" sz="1200" dirty="0">
                <a:effectLst/>
                <a:latin typeface="AdvTT5235d5a9"/>
              </a:rPr>
              <a:t> </a:t>
            </a:r>
            <a:r>
              <a:rPr lang="de-DE" sz="1200" dirty="0" err="1">
                <a:effectLst/>
                <a:latin typeface="AdvTT5235d5a9"/>
              </a:rPr>
              <a:t>theory</a:t>
            </a:r>
            <a:r>
              <a:rPr lang="de-DE" sz="1200" dirty="0">
                <a:effectLst/>
                <a:latin typeface="AdvTT5235d5a9"/>
              </a:rPr>
              <a:t> and </a:t>
            </a:r>
            <a:r>
              <a:rPr lang="de-DE" sz="1200" dirty="0" err="1">
                <a:effectLst/>
                <a:latin typeface="AdvTT5235d5a9"/>
              </a:rPr>
              <a:t>evidence</a:t>
            </a:r>
            <a:r>
              <a:rPr lang="de-DE" sz="1200" dirty="0">
                <a:effectLst/>
                <a:latin typeface="AdvTT5235d5a9"/>
              </a:rPr>
              <a:t> </a:t>
            </a:r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(</a:t>
            </a:r>
            <a:r>
              <a:rPr lang="de-DE" sz="1200" dirty="0">
                <a:solidFill>
                  <a:srgbClr val="0000FF"/>
                </a:solidFill>
                <a:effectLst/>
                <a:latin typeface="AdvTT5235d5a9"/>
              </a:rPr>
              <a:t>Energy Economics 88 (2020) 104772</a:t>
            </a:r>
            <a:r>
              <a:rPr lang="de-DE" dirty="0"/>
              <a:t>), </a:t>
            </a:r>
            <a:r>
              <a:rPr lang="de-DE" dirty="0" err="1"/>
              <a:t>pages</a:t>
            </a:r>
            <a:r>
              <a:rPr lang="de-DE" dirty="0"/>
              <a:t> 3-4.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663514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1) List of </a:t>
            </a:r>
            <a:r>
              <a:rPr lang="de-DE" dirty="0" err="1"/>
              <a:t>theoretically</a:t>
            </a:r>
            <a:r>
              <a:rPr lang="de-DE" dirty="0"/>
              <a:t> </a:t>
            </a:r>
            <a:r>
              <a:rPr lang="de-DE" dirty="0" err="1"/>
              <a:t>affecting</a:t>
            </a:r>
            <a:r>
              <a:rPr lang="de-DE" dirty="0"/>
              <a:t> </a:t>
            </a:r>
            <a:r>
              <a:rPr lang="de-DE" dirty="0" err="1"/>
              <a:t>crisis</a:t>
            </a:r>
            <a:r>
              <a:rPr lang="de-DE" dirty="0"/>
              <a:t> </a:t>
            </a:r>
            <a:r>
              <a:rPr lang="de-DE" dirty="0" err="1"/>
              <a:t>periods</a:t>
            </a:r>
            <a:r>
              <a:rPr lang="de-DE" dirty="0"/>
              <a:t> </a:t>
            </a:r>
            <a:r>
              <a:rPr lang="de-DE" dirty="0" err="1"/>
              <a:t>taken</a:t>
            </a:r>
            <a:r>
              <a:rPr lang="de-DE" dirty="0"/>
              <a:t> from: </a:t>
            </a:r>
            <a:r>
              <a:rPr lang="de-DE" sz="1800" dirty="0" err="1">
                <a:effectLst/>
                <a:latin typeface="Times New Roman,Bold" pitchFamily="2" charset="0"/>
              </a:rPr>
              <a:t>How</a:t>
            </a:r>
            <a:r>
              <a:rPr lang="de-DE" sz="1800" dirty="0">
                <a:effectLst/>
                <a:latin typeface="Times New Roman,Bold" pitchFamily="2" charset="0"/>
              </a:rPr>
              <a:t> Exchange Rate Volatility Shapes Commodity Derivatives Market: </a:t>
            </a:r>
            <a:r>
              <a:rPr lang="de-DE" sz="1800" dirty="0" err="1">
                <a:effectLst/>
                <a:latin typeface="Times New Roman,Bold" pitchFamily="2" charset="0"/>
              </a:rPr>
              <a:t>Lessons</a:t>
            </a:r>
            <a:r>
              <a:rPr lang="de-DE" sz="1800" dirty="0">
                <a:effectLst/>
                <a:latin typeface="Times New Roman,Bold" pitchFamily="2" charset="0"/>
              </a:rPr>
              <a:t> from Five Global Shocks (2007–2023), </a:t>
            </a:r>
            <a:r>
              <a:rPr lang="de-DE" sz="1800" dirty="0" err="1">
                <a:effectLst/>
                <a:latin typeface="Times New Roman,Bold" pitchFamily="2" charset="0"/>
              </a:rPr>
              <a:t>page</a:t>
            </a:r>
            <a:r>
              <a:rPr lang="de-DE" sz="1800" dirty="0">
                <a:effectLst/>
                <a:latin typeface="Times New Roman,Bold" pitchFamily="2" charset="0"/>
              </a:rPr>
              <a:t>: 2.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304814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43121C-764B-E312-EBD8-A2191B4AC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9542189-76E0-D5EF-4A03-0AD11B88D2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774E7F6-EE03-7CB9-BBE4-6E1AEC33A3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1) List of </a:t>
            </a:r>
            <a:r>
              <a:rPr lang="de-DE" dirty="0" err="1"/>
              <a:t>theoretically</a:t>
            </a:r>
            <a:r>
              <a:rPr lang="de-DE" dirty="0"/>
              <a:t> </a:t>
            </a:r>
            <a:r>
              <a:rPr lang="de-DE" dirty="0" err="1"/>
              <a:t>affecting</a:t>
            </a:r>
            <a:r>
              <a:rPr lang="de-DE" dirty="0"/>
              <a:t> </a:t>
            </a:r>
            <a:r>
              <a:rPr lang="de-DE" dirty="0" err="1"/>
              <a:t>crisis</a:t>
            </a:r>
            <a:r>
              <a:rPr lang="de-DE" dirty="0"/>
              <a:t> </a:t>
            </a:r>
            <a:r>
              <a:rPr lang="de-DE" dirty="0" err="1"/>
              <a:t>periods</a:t>
            </a:r>
            <a:r>
              <a:rPr lang="de-DE" dirty="0"/>
              <a:t> </a:t>
            </a:r>
            <a:r>
              <a:rPr lang="de-DE" dirty="0" err="1"/>
              <a:t>taken</a:t>
            </a:r>
            <a:r>
              <a:rPr lang="de-DE" dirty="0"/>
              <a:t> from: </a:t>
            </a:r>
            <a:r>
              <a:rPr lang="de-DE" sz="1800" dirty="0" err="1">
                <a:effectLst/>
                <a:latin typeface="Times New Roman,Bold" pitchFamily="2" charset="0"/>
              </a:rPr>
              <a:t>How</a:t>
            </a:r>
            <a:r>
              <a:rPr lang="de-DE" sz="1800" dirty="0">
                <a:effectLst/>
                <a:latin typeface="Times New Roman,Bold" pitchFamily="2" charset="0"/>
              </a:rPr>
              <a:t> Exchange Rate Volatility Shapes Commodity Derivatives Market: </a:t>
            </a:r>
            <a:r>
              <a:rPr lang="de-DE" sz="1800" dirty="0" err="1">
                <a:effectLst/>
                <a:latin typeface="Times New Roman,Bold" pitchFamily="2" charset="0"/>
              </a:rPr>
              <a:t>Lessons</a:t>
            </a:r>
            <a:r>
              <a:rPr lang="de-DE" sz="1800" dirty="0">
                <a:effectLst/>
                <a:latin typeface="Times New Roman,Bold" pitchFamily="2" charset="0"/>
              </a:rPr>
              <a:t> from Five Global Shocks (2007–2023), </a:t>
            </a:r>
            <a:r>
              <a:rPr lang="de-DE" sz="1800" dirty="0" err="1">
                <a:effectLst/>
                <a:latin typeface="Times New Roman,Bold" pitchFamily="2" charset="0"/>
              </a:rPr>
              <a:t>page</a:t>
            </a:r>
            <a:r>
              <a:rPr lang="de-DE" sz="1800" dirty="0">
                <a:effectLst/>
                <a:latin typeface="Times New Roman,Bold" pitchFamily="2" charset="0"/>
              </a:rPr>
              <a:t>: 2.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D985E8C-65CB-7A58-A867-E7196A226D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92077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2140E9-D8DA-0F5C-912F-D5812481A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35CDB25-7B55-9AF2-55AA-7F7151E009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A12073E-AF34-9C8E-03E0-34DF810801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1) List of </a:t>
            </a:r>
            <a:r>
              <a:rPr lang="de-DE" dirty="0" err="1"/>
              <a:t>theoretically</a:t>
            </a:r>
            <a:r>
              <a:rPr lang="de-DE" dirty="0"/>
              <a:t> </a:t>
            </a:r>
            <a:r>
              <a:rPr lang="de-DE" dirty="0" err="1"/>
              <a:t>affecting</a:t>
            </a:r>
            <a:r>
              <a:rPr lang="de-DE" dirty="0"/>
              <a:t> </a:t>
            </a:r>
            <a:r>
              <a:rPr lang="de-DE" dirty="0" err="1"/>
              <a:t>crisis</a:t>
            </a:r>
            <a:r>
              <a:rPr lang="de-DE" dirty="0"/>
              <a:t> </a:t>
            </a:r>
            <a:r>
              <a:rPr lang="de-DE" dirty="0" err="1"/>
              <a:t>periods</a:t>
            </a:r>
            <a:r>
              <a:rPr lang="de-DE" dirty="0"/>
              <a:t> </a:t>
            </a:r>
            <a:r>
              <a:rPr lang="de-DE" dirty="0" err="1"/>
              <a:t>taken</a:t>
            </a:r>
            <a:r>
              <a:rPr lang="de-DE" dirty="0"/>
              <a:t> from: </a:t>
            </a:r>
            <a:r>
              <a:rPr lang="de-DE" sz="1800" dirty="0" err="1">
                <a:effectLst/>
                <a:latin typeface="Times New Roman,Bold" pitchFamily="2" charset="0"/>
              </a:rPr>
              <a:t>How</a:t>
            </a:r>
            <a:r>
              <a:rPr lang="de-DE" sz="1800" dirty="0">
                <a:effectLst/>
                <a:latin typeface="Times New Roman,Bold" pitchFamily="2" charset="0"/>
              </a:rPr>
              <a:t> Exchange Rate Volatility Shapes Commodity Derivatives Market: </a:t>
            </a:r>
            <a:r>
              <a:rPr lang="de-DE" sz="1800" dirty="0" err="1">
                <a:effectLst/>
                <a:latin typeface="Times New Roman,Bold" pitchFamily="2" charset="0"/>
              </a:rPr>
              <a:t>Lessons</a:t>
            </a:r>
            <a:r>
              <a:rPr lang="de-DE" sz="1800" dirty="0">
                <a:effectLst/>
                <a:latin typeface="Times New Roman,Bold" pitchFamily="2" charset="0"/>
              </a:rPr>
              <a:t> from Five Global Shocks (2007–2023), </a:t>
            </a:r>
            <a:r>
              <a:rPr lang="de-DE" sz="1800" dirty="0" err="1">
                <a:effectLst/>
                <a:latin typeface="Times New Roman,Bold" pitchFamily="2" charset="0"/>
              </a:rPr>
              <a:t>page</a:t>
            </a:r>
            <a:r>
              <a:rPr lang="de-DE" sz="1800" dirty="0">
                <a:effectLst/>
                <a:latin typeface="Times New Roman,Bold" pitchFamily="2" charset="0"/>
              </a:rPr>
              <a:t>: 2.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B6525F2-FBF3-EF59-AEA5-ABDF1479F7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31038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2AB5D-DEFE-84C3-4229-5FD48F501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2FA9450-5843-4F07-1A49-D69A83DC94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2BCFC3E-D679-9C12-A1D0-7505C317E3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1) List of </a:t>
            </a:r>
            <a:r>
              <a:rPr lang="de-DE" dirty="0" err="1"/>
              <a:t>theoretically</a:t>
            </a:r>
            <a:r>
              <a:rPr lang="de-DE" dirty="0"/>
              <a:t> </a:t>
            </a:r>
            <a:r>
              <a:rPr lang="de-DE" dirty="0" err="1"/>
              <a:t>affecting</a:t>
            </a:r>
            <a:r>
              <a:rPr lang="de-DE" dirty="0"/>
              <a:t> </a:t>
            </a:r>
            <a:r>
              <a:rPr lang="de-DE" dirty="0" err="1"/>
              <a:t>crisis</a:t>
            </a:r>
            <a:r>
              <a:rPr lang="de-DE" dirty="0"/>
              <a:t> </a:t>
            </a:r>
            <a:r>
              <a:rPr lang="de-DE" dirty="0" err="1"/>
              <a:t>periods</a:t>
            </a:r>
            <a:r>
              <a:rPr lang="de-DE" dirty="0"/>
              <a:t> </a:t>
            </a:r>
            <a:r>
              <a:rPr lang="de-DE" dirty="0" err="1"/>
              <a:t>taken</a:t>
            </a:r>
            <a:r>
              <a:rPr lang="de-DE" dirty="0"/>
              <a:t> from: </a:t>
            </a:r>
            <a:r>
              <a:rPr lang="de-DE" sz="1800" dirty="0" err="1">
                <a:effectLst/>
                <a:latin typeface="Times New Roman,Bold" pitchFamily="2" charset="0"/>
              </a:rPr>
              <a:t>How</a:t>
            </a:r>
            <a:r>
              <a:rPr lang="de-DE" sz="1800" dirty="0">
                <a:effectLst/>
                <a:latin typeface="Times New Roman,Bold" pitchFamily="2" charset="0"/>
              </a:rPr>
              <a:t> Exchange Rate Volatility Shapes Commodity Derivatives Market: </a:t>
            </a:r>
            <a:r>
              <a:rPr lang="de-DE" sz="1800" dirty="0" err="1">
                <a:effectLst/>
                <a:latin typeface="Times New Roman,Bold" pitchFamily="2" charset="0"/>
              </a:rPr>
              <a:t>Lessons</a:t>
            </a:r>
            <a:r>
              <a:rPr lang="de-DE" sz="1800" dirty="0">
                <a:effectLst/>
                <a:latin typeface="Times New Roman,Bold" pitchFamily="2" charset="0"/>
              </a:rPr>
              <a:t> from Five Global Shocks (2007–2023), </a:t>
            </a:r>
            <a:r>
              <a:rPr lang="de-DE" sz="1800" dirty="0" err="1">
                <a:effectLst/>
                <a:latin typeface="Times New Roman,Bold" pitchFamily="2" charset="0"/>
              </a:rPr>
              <a:t>page</a:t>
            </a:r>
            <a:r>
              <a:rPr lang="de-DE" sz="1800" dirty="0">
                <a:effectLst/>
                <a:latin typeface="Times New Roman,Bold" pitchFamily="2" charset="0"/>
              </a:rPr>
              <a:t>: 2.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8D535E4-DEDF-2622-707D-A4F9B9681F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303775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Own </a:t>
            </a:r>
            <a:r>
              <a:rPr lang="de-DE" dirty="0" err="1"/>
              <a:t>illustration</a:t>
            </a:r>
            <a:r>
              <a:rPr lang="de-DE" dirty="0"/>
              <a:t> </a:t>
            </a:r>
            <a:r>
              <a:rPr lang="de-DE" dirty="0" err="1"/>
              <a:t>based</a:t>
            </a:r>
            <a:r>
              <a:rPr lang="de-DE" dirty="0"/>
              <a:t> on </a:t>
            </a:r>
            <a:r>
              <a:rPr lang="de-DE" sz="1200" dirty="0">
                <a:effectLst/>
                <a:latin typeface="AdvTT5235d5a9"/>
              </a:rPr>
              <a:t>The </a:t>
            </a:r>
            <a:r>
              <a:rPr lang="de-DE" sz="1200" dirty="0" err="1">
                <a:effectLst/>
                <a:latin typeface="AdvTT5235d5a9"/>
              </a:rPr>
              <a:t>relationship</a:t>
            </a:r>
            <a:r>
              <a:rPr lang="de-DE" sz="1200" dirty="0">
                <a:effectLst/>
                <a:latin typeface="AdvTT5235d5a9"/>
              </a:rPr>
              <a:t> </a:t>
            </a:r>
            <a:r>
              <a:rPr lang="de-DE" sz="1200" dirty="0" err="1">
                <a:effectLst/>
                <a:latin typeface="AdvTT5235d5a9"/>
              </a:rPr>
              <a:t>between</a:t>
            </a:r>
            <a:r>
              <a:rPr lang="de-DE" sz="1200" dirty="0">
                <a:effectLst/>
                <a:latin typeface="AdvTT5235d5a9"/>
              </a:rPr>
              <a:t> </a:t>
            </a:r>
            <a:r>
              <a:rPr lang="de-DE" sz="1200" dirty="0" err="1">
                <a:effectLst/>
                <a:latin typeface="AdvTT5235d5a9"/>
              </a:rPr>
              <a:t>oil</a:t>
            </a:r>
            <a:r>
              <a:rPr lang="de-DE" sz="1200" dirty="0">
                <a:effectLst/>
                <a:latin typeface="AdvTT5235d5a9"/>
              </a:rPr>
              <a:t> </a:t>
            </a:r>
            <a:r>
              <a:rPr lang="de-DE" sz="1200" dirty="0" err="1">
                <a:effectLst/>
                <a:latin typeface="AdvTT5235d5a9"/>
              </a:rPr>
              <a:t>prices</a:t>
            </a:r>
            <a:r>
              <a:rPr lang="de-DE" sz="1200" dirty="0">
                <a:effectLst/>
                <a:latin typeface="AdvTT5235d5a9"/>
              </a:rPr>
              <a:t> and </a:t>
            </a:r>
            <a:r>
              <a:rPr lang="de-DE" sz="1200" dirty="0" err="1">
                <a:effectLst/>
                <a:latin typeface="AdvTT5235d5a9"/>
              </a:rPr>
              <a:t>exchange</a:t>
            </a:r>
            <a:r>
              <a:rPr lang="de-DE" sz="1200" dirty="0">
                <a:effectLst/>
                <a:latin typeface="AdvTT5235d5a9"/>
              </a:rPr>
              <a:t> </a:t>
            </a:r>
            <a:r>
              <a:rPr lang="de-DE" sz="1200" dirty="0" err="1">
                <a:effectLst/>
                <a:latin typeface="AdvTT5235d5a9"/>
              </a:rPr>
              <a:t>rates</a:t>
            </a:r>
            <a:r>
              <a:rPr lang="de-DE" sz="1200" dirty="0">
                <a:effectLst/>
                <a:latin typeface="AdvTT5235d5a9"/>
              </a:rPr>
              <a:t>: </a:t>
            </a:r>
            <a:r>
              <a:rPr lang="de-DE" sz="1200" dirty="0" err="1">
                <a:effectLst/>
                <a:latin typeface="AdvTT5235d5a9"/>
              </a:rPr>
              <a:t>Revisiting</a:t>
            </a:r>
            <a:r>
              <a:rPr lang="de-DE" sz="1200" dirty="0">
                <a:effectLst/>
                <a:latin typeface="AdvTT5235d5a9"/>
              </a:rPr>
              <a:t> </a:t>
            </a:r>
            <a:r>
              <a:rPr lang="de-DE" sz="1200" dirty="0" err="1">
                <a:effectLst/>
                <a:latin typeface="AdvTT5235d5a9"/>
              </a:rPr>
              <a:t>theory</a:t>
            </a:r>
            <a:r>
              <a:rPr lang="de-DE" sz="1200" dirty="0">
                <a:effectLst/>
                <a:latin typeface="AdvTT5235d5a9"/>
              </a:rPr>
              <a:t> and </a:t>
            </a:r>
            <a:r>
              <a:rPr lang="de-DE" sz="1200" dirty="0" err="1">
                <a:effectLst/>
                <a:latin typeface="AdvTT5235d5a9"/>
              </a:rPr>
              <a:t>evidence</a:t>
            </a:r>
            <a:r>
              <a:rPr lang="de-DE" sz="1200" dirty="0">
                <a:effectLst/>
                <a:latin typeface="AdvTT5235d5a9"/>
              </a:rPr>
              <a:t> </a:t>
            </a:r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(</a:t>
            </a:r>
            <a:r>
              <a:rPr lang="de-DE" sz="1200" dirty="0">
                <a:solidFill>
                  <a:srgbClr val="0000FF"/>
                </a:solidFill>
                <a:effectLst/>
                <a:latin typeface="AdvTT5235d5a9"/>
              </a:rPr>
              <a:t>Energy Economics 88 (2020) 104772</a:t>
            </a:r>
            <a:r>
              <a:rPr lang="de-DE" dirty="0"/>
              <a:t>), </a:t>
            </a:r>
            <a:r>
              <a:rPr lang="de-DE" dirty="0" err="1"/>
              <a:t>pages</a:t>
            </a:r>
            <a:r>
              <a:rPr lang="de-DE" dirty="0"/>
              <a:t> 3-8.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917929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Own </a:t>
            </a:r>
            <a:r>
              <a:rPr lang="de-DE" dirty="0" err="1"/>
              <a:t>illustration</a:t>
            </a:r>
            <a:r>
              <a:rPr lang="de-DE" dirty="0"/>
              <a:t> </a:t>
            </a:r>
            <a:r>
              <a:rPr lang="de-DE" dirty="0" err="1"/>
              <a:t>based</a:t>
            </a:r>
            <a:r>
              <a:rPr lang="de-DE" dirty="0"/>
              <a:t> on </a:t>
            </a:r>
            <a:r>
              <a:rPr lang="de-DE" sz="1200" dirty="0">
                <a:effectLst/>
                <a:latin typeface="AdvTT5235d5a9"/>
              </a:rPr>
              <a:t>The </a:t>
            </a:r>
            <a:r>
              <a:rPr lang="de-DE" sz="1200" dirty="0" err="1">
                <a:effectLst/>
                <a:latin typeface="AdvTT5235d5a9"/>
              </a:rPr>
              <a:t>relationship</a:t>
            </a:r>
            <a:r>
              <a:rPr lang="de-DE" sz="1200" dirty="0">
                <a:effectLst/>
                <a:latin typeface="AdvTT5235d5a9"/>
              </a:rPr>
              <a:t> </a:t>
            </a:r>
            <a:r>
              <a:rPr lang="de-DE" sz="1200" dirty="0" err="1">
                <a:effectLst/>
                <a:latin typeface="AdvTT5235d5a9"/>
              </a:rPr>
              <a:t>between</a:t>
            </a:r>
            <a:r>
              <a:rPr lang="de-DE" sz="1200" dirty="0">
                <a:effectLst/>
                <a:latin typeface="AdvTT5235d5a9"/>
              </a:rPr>
              <a:t> </a:t>
            </a:r>
            <a:r>
              <a:rPr lang="de-DE" sz="1200" dirty="0" err="1">
                <a:effectLst/>
                <a:latin typeface="AdvTT5235d5a9"/>
              </a:rPr>
              <a:t>oil</a:t>
            </a:r>
            <a:r>
              <a:rPr lang="de-DE" sz="1200" dirty="0">
                <a:effectLst/>
                <a:latin typeface="AdvTT5235d5a9"/>
              </a:rPr>
              <a:t> </a:t>
            </a:r>
            <a:r>
              <a:rPr lang="de-DE" sz="1200" dirty="0" err="1">
                <a:effectLst/>
                <a:latin typeface="AdvTT5235d5a9"/>
              </a:rPr>
              <a:t>prices</a:t>
            </a:r>
            <a:r>
              <a:rPr lang="de-DE" sz="1200" dirty="0">
                <a:effectLst/>
                <a:latin typeface="AdvTT5235d5a9"/>
              </a:rPr>
              <a:t> and </a:t>
            </a:r>
            <a:r>
              <a:rPr lang="de-DE" sz="1200" dirty="0" err="1">
                <a:effectLst/>
                <a:latin typeface="AdvTT5235d5a9"/>
              </a:rPr>
              <a:t>exchange</a:t>
            </a:r>
            <a:r>
              <a:rPr lang="de-DE" sz="1200" dirty="0">
                <a:effectLst/>
                <a:latin typeface="AdvTT5235d5a9"/>
              </a:rPr>
              <a:t> </a:t>
            </a:r>
            <a:r>
              <a:rPr lang="de-DE" sz="1200" dirty="0" err="1">
                <a:effectLst/>
                <a:latin typeface="AdvTT5235d5a9"/>
              </a:rPr>
              <a:t>rates</a:t>
            </a:r>
            <a:r>
              <a:rPr lang="de-DE" sz="1200" dirty="0">
                <a:effectLst/>
                <a:latin typeface="AdvTT5235d5a9"/>
              </a:rPr>
              <a:t>: </a:t>
            </a:r>
            <a:r>
              <a:rPr lang="de-DE" sz="1200" dirty="0" err="1">
                <a:effectLst/>
                <a:latin typeface="AdvTT5235d5a9"/>
              </a:rPr>
              <a:t>Revisiting</a:t>
            </a:r>
            <a:r>
              <a:rPr lang="de-DE" sz="1200" dirty="0">
                <a:effectLst/>
                <a:latin typeface="AdvTT5235d5a9"/>
              </a:rPr>
              <a:t> </a:t>
            </a:r>
            <a:r>
              <a:rPr lang="de-DE" sz="1200" dirty="0" err="1">
                <a:effectLst/>
                <a:latin typeface="AdvTT5235d5a9"/>
              </a:rPr>
              <a:t>theory</a:t>
            </a:r>
            <a:r>
              <a:rPr lang="de-DE" sz="1200" dirty="0">
                <a:effectLst/>
                <a:latin typeface="AdvTT5235d5a9"/>
              </a:rPr>
              <a:t> and </a:t>
            </a:r>
            <a:r>
              <a:rPr lang="de-DE" sz="1200" dirty="0" err="1">
                <a:effectLst/>
                <a:latin typeface="AdvTT5235d5a9"/>
              </a:rPr>
              <a:t>evidence</a:t>
            </a:r>
            <a:r>
              <a:rPr lang="de-DE" sz="1200" dirty="0">
                <a:effectLst/>
                <a:latin typeface="AdvTT5235d5a9"/>
              </a:rPr>
              <a:t> </a:t>
            </a:r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(</a:t>
            </a:r>
            <a:r>
              <a:rPr lang="de-DE" sz="1200" dirty="0">
                <a:solidFill>
                  <a:srgbClr val="0000FF"/>
                </a:solidFill>
                <a:effectLst/>
                <a:latin typeface="AdvTT5235d5a9"/>
              </a:rPr>
              <a:t>Energy Economics 88 (2020) 104772</a:t>
            </a:r>
            <a:r>
              <a:rPr lang="de-DE" dirty="0"/>
              <a:t>), </a:t>
            </a:r>
            <a:r>
              <a:rPr lang="de-DE" dirty="0" err="1"/>
              <a:t>pages</a:t>
            </a:r>
            <a:r>
              <a:rPr lang="de-DE" dirty="0"/>
              <a:t> 3-8.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664601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951018-FCB0-78AE-7FB2-CE06D5C80E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0CF1BCA-68CB-348B-8B11-097CBA4204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18AD8B46-1DAC-0F7D-44A0-A7D42EEA20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Sources: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Own </a:t>
            </a:r>
            <a:r>
              <a:rPr lang="de-DE" dirty="0" err="1"/>
              <a:t>illustration</a:t>
            </a:r>
            <a:r>
              <a:rPr lang="de-DE" dirty="0"/>
              <a:t> </a:t>
            </a:r>
            <a:r>
              <a:rPr lang="de-DE" dirty="0" err="1"/>
              <a:t>based</a:t>
            </a:r>
            <a:r>
              <a:rPr lang="de-DE" dirty="0"/>
              <a:t> on </a:t>
            </a:r>
            <a:r>
              <a:rPr lang="de-DE" sz="1200" dirty="0">
                <a:effectLst/>
                <a:latin typeface="AdvTT5235d5a9"/>
              </a:rPr>
              <a:t>The </a:t>
            </a:r>
            <a:r>
              <a:rPr lang="de-DE" sz="1200" dirty="0" err="1">
                <a:effectLst/>
                <a:latin typeface="AdvTT5235d5a9"/>
              </a:rPr>
              <a:t>relationship</a:t>
            </a:r>
            <a:r>
              <a:rPr lang="de-DE" sz="1200" dirty="0">
                <a:effectLst/>
                <a:latin typeface="AdvTT5235d5a9"/>
              </a:rPr>
              <a:t> </a:t>
            </a:r>
            <a:r>
              <a:rPr lang="de-DE" sz="1200" dirty="0" err="1">
                <a:effectLst/>
                <a:latin typeface="AdvTT5235d5a9"/>
              </a:rPr>
              <a:t>between</a:t>
            </a:r>
            <a:r>
              <a:rPr lang="de-DE" sz="1200" dirty="0">
                <a:effectLst/>
                <a:latin typeface="AdvTT5235d5a9"/>
              </a:rPr>
              <a:t> </a:t>
            </a:r>
            <a:r>
              <a:rPr lang="de-DE" sz="1200" dirty="0" err="1">
                <a:effectLst/>
                <a:latin typeface="AdvTT5235d5a9"/>
              </a:rPr>
              <a:t>oil</a:t>
            </a:r>
            <a:r>
              <a:rPr lang="de-DE" sz="1200" dirty="0">
                <a:effectLst/>
                <a:latin typeface="AdvTT5235d5a9"/>
              </a:rPr>
              <a:t> </a:t>
            </a:r>
            <a:r>
              <a:rPr lang="de-DE" sz="1200" dirty="0" err="1">
                <a:effectLst/>
                <a:latin typeface="AdvTT5235d5a9"/>
              </a:rPr>
              <a:t>prices</a:t>
            </a:r>
            <a:r>
              <a:rPr lang="de-DE" sz="1200" dirty="0">
                <a:effectLst/>
                <a:latin typeface="AdvTT5235d5a9"/>
              </a:rPr>
              <a:t> and </a:t>
            </a:r>
            <a:r>
              <a:rPr lang="de-DE" sz="1200" dirty="0" err="1">
                <a:effectLst/>
                <a:latin typeface="AdvTT5235d5a9"/>
              </a:rPr>
              <a:t>exchange</a:t>
            </a:r>
            <a:r>
              <a:rPr lang="de-DE" sz="1200" dirty="0">
                <a:effectLst/>
                <a:latin typeface="AdvTT5235d5a9"/>
              </a:rPr>
              <a:t> </a:t>
            </a:r>
            <a:r>
              <a:rPr lang="de-DE" sz="1200" dirty="0" err="1">
                <a:effectLst/>
                <a:latin typeface="AdvTT5235d5a9"/>
              </a:rPr>
              <a:t>rates</a:t>
            </a:r>
            <a:r>
              <a:rPr lang="de-DE" sz="1200" dirty="0">
                <a:effectLst/>
                <a:latin typeface="AdvTT5235d5a9"/>
              </a:rPr>
              <a:t>: </a:t>
            </a:r>
            <a:r>
              <a:rPr lang="de-DE" sz="1200" dirty="0" err="1">
                <a:effectLst/>
                <a:latin typeface="AdvTT5235d5a9"/>
              </a:rPr>
              <a:t>Revisiting</a:t>
            </a:r>
            <a:r>
              <a:rPr lang="de-DE" sz="1200" dirty="0">
                <a:effectLst/>
                <a:latin typeface="AdvTT5235d5a9"/>
              </a:rPr>
              <a:t> </a:t>
            </a:r>
            <a:r>
              <a:rPr lang="de-DE" sz="1200" dirty="0" err="1">
                <a:effectLst/>
                <a:latin typeface="AdvTT5235d5a9"/>
              </a:rPr>
              <a:t>theory</a:t>
            </a:r>
            <a:r>
              <a:rPr lang="de-DE" sz="1200" dirty="0">
                <a:effectLst/>
                <a:latin typeface="AdvTT5235d5a9"/>
              </a:rPr>
              <a:t> and </a:t>
            </a:r>
            <a:r>
              <a:rPr lang="de-DE" sz="1200" dirty="0" err="1">
                <a:effectLst/>
                <a:latin typeface="AdvTT5235d5a9"/>
              </a:rPr>
              <a:t>evidence</a:t>
            </a:r>
            <a:r>
              <a:rPr lang="de-DE" sz="1200" dirty="0">
                <a:effectLst/>
                <a:latin typeface="AdvTT5235d5a9"/>
              </a:rPr>
              <a:t> </a:t>
            </a:r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(</a:t>
            </a:r>
            <a:r>
              <a:rPr lang="de-DE" sz="1200" dirty="0">
                <a:solidFill>
                  <a:srgbClr val="0000FF"/>
                </a:solidFill>
                <a:effectLst/>
                <a:latin typeface="AdvTT5235d5a9"/>
              </a:rPr>
              <a:t>Energy Economics 88 (2020) 104772</a:t>
            </a:r>
            <a:r>
              <a:rPr lang="de-DE" dirty="0"/>
              <a:t>), </a:t>
            </a:r>
            <a:r>
              <a:rPr lang="de-DE" dirty="0" err="1"/>
              <a:t>pages</a:t>
            </a:r>
            <a:r>
              <a:rPr lang="de-DE" dirty="0"/>
              <a:t> 3-8.</a:t>
            </a:r>
          </a:p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C928ACC-3FC1-909E-8FE9-BD09F51794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082496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D08B5-DDDB-9CA0-6467-7FD8993A1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E38B0E8-50D1-2899-FF4D-AC62BE9AFA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F8E9AEE5-9D1E-8B69-5FDC-623EA09E76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CA8E8DF-B6DE-D715-4E19-36A3DEF46B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4443989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AA8D9-D78A-48F6-31FD-02214A78B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B5C5781C-C53E-A4BB-3025-8671E6096E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79BD623D-6727-B88E-2958-DBA9F9D755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B5135A9-75A0-B09F-8787-57C311A695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911917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8C327-288A-75B9-CF50-F76EB6B2E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382830B-6179-A1D4-294B-C392BBB4CB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F7D4F88-A334-1E4D-585F-2F5F7A11AE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11EFFA4-3D92-DCEF-F434-4460968563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372356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FB3852-12D5-2FC7-E674-2C7E942E0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77C3447-4C92-B18C-F9EF-6E089598F4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24BF1A8C-9EDA-A656-67D8-B34F01435B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EB63697-1659-FA46-5E0F-408CC0EB67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D16613-3B1F-DD4D-99CB-38F4196ACFC3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61501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nfache Folie 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924759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41" userDrawn="1">
          <p15:clr>
            <a:srgbClr val="FBAE40"/>
          </p15:clr>
        </p15:guide>
        <p15:guide id="2" pos="362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nimal 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421413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41" userDrawn="1">
          <p15:clr>
            <a:srgbClr val="FBAE40"/>
          </p15:clr>
        </p15:guide>
        <p15:guide id="2" pos="3628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tif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stomShape 8"/>
          <p:cNvSpPr/>
          <p:nvPr userDrawn="1"/>
        </p:nvSpPr>
        <p:spPr>
          <a:xfrm>
            <a:off x="11196720" y="5540400"/>
            <a:ext cx="357480" cy="10980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de-DE"/>
          </a:p>
        </p:txBody>
      </p:sp>
      <p:pic>
        <p:nvPicPr>
          <p:cNvPr id="3" name="Grafik 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72000"/>
            <a:ext cx="11520488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2066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041" userDrawn="1">
          <p15:clr>
            <a:srgbClr val="F26B43"/>
          </p15:clr>
        </p15:guide>
        <p15:guide id="2" pos="3628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6000" y="-72000"/>
            <a:ext cx="11592000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9850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041" userDrawn="1">
          <p15:clr>
            <a:srgbClr val="F26B43"/>
          </p15:clr>
        </p15:guide>
        <p15:guide id="2" pos="362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 bright="30000" contrast="45000"/>
          </a:blip>
          <a:srcRect/>
          <a:stretch>
            <a:fillRect l="50000" t="-28000" r="-35000" b="-135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AA6815A2-BE6E-C95F-CE44-FF975709C775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77082D84-2C49-30CC-4911-2F058C683FB8}"/>
              </a:ext>
            </a:extLst>
          </p:cNvPr>
          <p:cNvSpPr/>
          <p:nvPr/>
        </p:nvSpPr>
        <p:spPr>
          <a:xfrm>
            <a:off x="184944" y="831954"/>
            <a:ext cx="11150599" cy="20182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000" b="1" dirty="0" err="1"/>
              <a:t>Identifying</a:t>
            </a:r>
            <a:r>
              <a:rPr lang="de-DE" sz="3000" b="1" dirty="0"/>
              <a:t> (</a:t>
            </a:r>
            <a:r>
              <a:rPr lang="de-DE" sz="3000" b="1" dirty="0" err="1"/>
              <a:t>volatility</a:t>
            </a:r>
            <a:r>
              <a:rPr lang="de-DE" sz="3000" b="1" dirty="0"/>
              <a:t>-)</a:t>
            </a:r>
            <a:r>
              <a:rPr lang="de-DE" sz="3000" b="1" dirty="0" err="1"/>
              <a:t>regimes</a:t>
            </a:r>
            <a:r>
              <a:rPr lang="de-DE" sz="3000" b="1" dirty="0"/>
              <a:t> in </a:t>
            </a:r>
            <a:r>
              <a:rPr lang="de-DE" sz="3000" b="1" dirty="0" err="1"/>
              <a:t>the</a:t>
            </a:r>
            <a:r>
              <a:rPr lang="de-DE" sz="3000" b="1" dirty="0"/>
              <a:t> </a:t>
            </a:r>
            <a:r>
              <a:rPr lang="de-DE" sz="3000" b="1" dirty="0" err="1"/>
              <a:t>the</a:t>
            </a:r>
            <a:r>
              <a:rPr lang="de-DE" sz="3000" b="1" dirty="0"/>
              <a:t> EUR/USD</a:t>
            </a:r>
          </a:p>
          <a:p>
            <a:pPr algn="ctr"/>
            <a:r>
              <a:rPr lang="de-DE" sz="3000" b="1" dirty="0" err="1"/>
              <a:t>spot</a:t>
            </a:r>
            <a:r>
              <a:rPr lang="de-DE" sz="3000" b="1" dirty="0"/>
              <a:t> </a:t>
            </a:r>
            <a:r>
              <a:rPr lang="de-DE" sz="3000" b="1" dirty="0" err="1"/>
              <a:t>exchange</a:t>
            </a:r>
            <a:r>
              <a:rPr lang="de-DE" sz="3000" b="1" dirty="0"/>
              <a:t> rate </a:t>
            </a:r>
            <a:r>
              <a:rPr lang="de-DE" sz="3000" b="1" dirty="0" err="1"/>
              <a:t>using</a:t>
            </a:r>
            <a:r>
              <a:rPr lang="de-DE" sz="3000" b="1" dirty="0"/>
              <a:t> </a:t>
            </a:r>
            <a:r>
              <a:rPr lang="de-DE" sz="3000" b="1" dirty="0" err="1"/>
              <a:t>clustering</a:t>
            </a:r>
            <a:r>
              <a:rPr lang="de-DE" sz="3000" b="1" dirty="0"/>
              <a:t> </a:t>
            </a:r>
            <a:r>
              <a:rPr lang="de-DE" sz="3000" b="1" dirty="0" err="1"/>
              <a:t>algorithms</a:t>
            </a:r>
            <a:r>
              <a:rPr lang="de-DE" sz="3000" b="1" dirty="0"/>
              <a:t>:</a:t>
            </a:r>
          </a:p>
          <a:p>
            <a:pPr algn="ctr"/>
            <a:r>
              <a:rPr lang="de-DE" sz="3000" b="1" dirty="0"/>
              <a:t>An Oil and Gas </a:t>
            </a:r>
            <a:r>
              <a:rPr lang="de-DE" sz="3000" b="1" dirty="0" err="1"/>
              <a:t>Perspective</a:t>
            </a:r>
            <a:r>
              <a:rPr lang="de-DE" sz="3000" b="1" dirty="0"/>
              <a:t> on Parity </a:t>
            </a:r>
            <a:r>
              <a:rPr lang="de-DE" sz="3000" b="1" dirty="0" err="1"/>
              <a:t>Conditions</a:t>
            </a:r>
            <a:r>
              <a:rPr lang="de-DE" sz="3000" b="1" dirty="0"/>
              <a:t>.</a:t>
            </a:r>
            <a:endParaRPr lang="de-DE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Seminar in Applied Financial Economics </a:t>
            </a:r>
            <a:r>
              <a:rPr lang="de-DE" sz="1400" dirty="0" err="1">
                <a:latin typeface="Arial" panose="020B0604020202020204" pitchFamily="34" charset="0"/>
                <a:cs typeface="Arial" panose="020B0604020202020204" pitchFamily="34" charset="0"/>
              </a:rPr>
              <a:t>by</a:t>
            </a:r>
            <a:r>
              <a:rPr lang="de-DE" sz="1400" dirty="0">
                <a:latin typeface="Arial" panose="020B0604020202020204" pitchFamily="34" charset="0"/>
                <a:cs typeface="Arial" panose="020B0604020202020204" pitchFamily="34" charset="0"/>
              </a:rPr>
              <a:t> Professor Reitz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F1E9C5B-2C8E-C3A1-C2CE-19D641FBBF70}"/>
              </a:ext>
            </a:extLst>
          </p:cNvPr>
          <p:cNvSpPr/>
          <p:nvPr/>
        </p:nvSpPr>
        <p:spPr>
          <a:xfrm>
            <a:off x="2382043" y="2908450"/>
            <a:ext cx="6756400" cy="28617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Josef Fella and Robert Hennings</a:t>
            </a:r>
          </a:p>
          <a:p>
            <a:pPr algn="ctr"/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Christian-Albrechts-University of Kiel</a:t>
            </a:r>
          </a:p>
          <a:p>
            <a:pPr algn="ctr"/>
            <a:r>
              <a:rPr lang="de-DE" sz="16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josef.fella@stu.uni-kiel.de</a:t>
            </a:r>
            <a:r>
              <a:rPr lang="de-DE" sz="16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de-DE" sz="16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robert.hennings@stu.uni-kiel.de</a:t>
            </a:r>
            <a:endParaRPr lang="de-DE" sz="16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sz="16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GitHub: https://</a:t>
            </a:r>
            <a:r>
              <a:rPr lang="de-DE" sz="16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github.com</a:t>
            </a:r>
            <a:r>
              <a:rPr lang="de-DE" sz="16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de-DE" sz="1600" i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RobertHennings</a:t>
            </a:r>
            <a:endParaRPr lang="de-DE" sz="16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de-DE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Kiel - 14.11.2025</a:t>
            </a:r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0BDF84F9-AB7F-07DD-90C2-3A137E12B48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166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 bright="30000" contrast="45000"/>
          </a:blip>
          <a:srcRect/>
          <a:stretch>
            <a:fillRect l="50000" t="-28000" r="-35000" b="-13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393D68-7A74-A7D1-B41E-C2468E952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CA5A519-9F13-4080-0A41-4FAC1A64482E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1CF58EC5-18C5-0AB0-F99C-F1220AAA9B6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D0ECA64D-A318-4178-0765-4F055AD47E91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3600">
                <a:latin typeface="Arial" panose="020B0604020202020204" pitchFamily="34" charset="0"/>
                <a:cs typeface="Arial" panose="020B0604020202020204" pitchFamily="34" charset="0"/>
              </a:rPr>
              <a:t>Chapter 3)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F207B5E7-3925-0207-0FF8-3F3386325116}"/>
              </a:ext>
            </a:extLst>
          </p:cNvPr>
          <p:cNvSpPr/>
          <p:nvPr/>
        </p:nvSpPr>
        <p:spPr>
          <a:xfrm>
            <a:off x="2982297" y="2996762"/>
            <a:ext cx="5570335" cy="4866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>
                <a:latin typeface="Arial" panose="020B0604020202020204" pitchFamily="34" charset="0"/>
                <a:cs typeface="Arial" panose="020B0604020202020204" pitchFamily="34" charset="0"/>
              </a:rPr>
              <a:t>Literature</a:t>
            </a:r>
            <a:r>
              <a:rPr lang="de-DE" sz="3200" b="1">
                <a:latin typeface="Arial" panose="020B0604020202020204" pitchFamily="34" charset="0"/>
                <a:cs typeface="Arial" panose="020B0604020202020204" pitchFamily="34" charset="0"/>
              </a:rPr>
              <a:t> Review</a:t>
            </a:r>
            <a:endParaRPr lang="de-DE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23451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67F995-3419-CCB0-8698-134E2197C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4" name="Gewinkelte Verbindung 73">
            <a:extLst>
              <a:ext uri="{FF2B5EF4-FFF2-40B4-BE49-F238E27FC236}">
                <a16:creationId xmlns:a16="http://schemas.microsoft.com/office/drawing/2014/main" id="{7251B7F4-2291-74BA-F3E7-349C8DFA29BC}"/>
              </a:ext>
            </a:extLst>
          </p:cNvPr>
          <p:cNvCxnSpPr>
            <a:cxnSpLocks/>
            <a:stCxn id="5" idx="3"/>
            <a:endCxn id="15" idx="1"/>
          </p:cNvCxnSpPr>
          <p:nvPr/>
        </p:nvCxnSpPr>
        <p:spPr>
          <a:xfrm flipV="1">
            <a:off x="4123594" y="2849865"/>
            <a:ext cx="636862" cy="1537992"/>
          </a:xfrm>
          <a:prstGeom prst="bentConnector3">
            <a:avLst>
              <a:gd name="adj1" fmla="val 7728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CustomShape 3">
            <a:extLst>
              <a:ext uri="{FF2B5EF4-FFF2-40B4-BE49-F238E27FC236}">
                <a16:creationId xmlns:a16="http://schemas.microsoft.com/office/drawing/2014/main" id="{89979652-1CC6-B67E-EC59-613F4BB5EDA7}"/>
              </a:ext>
            </a:extLst>
          </p:cNvPr>
          <p:cNvSpPr/>
          <p:nvPr/>
        </p:nvSpPr>
        <p:spPr>
          <a:xfrm>
            <a:off x="540000" y="743529"/>
            <a:ext cx="10079640" cy="26911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/>
          <a:lstStyle/>
          <a:p>
            <a:pPr>
              <a:lnSpc>
                <a:spcPct val="100000"/>
              </a:lnSpc>
            </a:pP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</a:t>
            </a:r>
            <a:r>
              <a:rPr lang="de-DE" sz="1400" b="1" spc="-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</a:t>
            </a: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400" b="1" spc="-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between</a:t>
            </a: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Energy Commodity Prices and </a:t>
            </a:r>
            <a:r>
              <a:rPr lang="de-DE" sz="1400" b="1" spc="-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exchange</a:t>
            </a: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400" b="1" spc="-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rates</a:t>
            </a: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Transmission channels</a:t>
            </a:r>
            <a:r>
              <a:rPr lang="de-DE" sz="1400" b="1" spc="-1" baseline="30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de-DE" sz="1400" b="0" strike="noStrike" spc="-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BD5AEEBE-1DF8-F771-131E-935D08025377}"/>
              </a:ext>
            </a:extLst>
          </p:cNvPr>
          <p:cNvSpPr/>
          <p:nvPr/>
        </p:nvSpPr>
        <p:spPr>
          <a:xfrm>
            <a:off x="1721603" y="4279857"/>
            <a:ext cx="240199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 and Risk Spillover Effects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5D90CBC-09A3-7803-2E9C-DFD72C73E45D}"/>
              </a:ext>
            </a:extLst>
          </p:cNvPr>
          <p:cNvSpPr/>
          <p:nvPr/>
        </p:nvSpPr>
        <p:spPr>
          <a:xfrm>
            <a:off x="8746536" y="4005332"/>
            <a:ext cx="1492776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Oil export and import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914B7565-F55E-DF40-D57D-2723965218E6}"/>
              </a:ext>
            </a:extLst>
          </p:cNvPr>
          <p:cNvSpPr/>
          <p:nvPr/>
        </p:nvSpPr>
        <p:spPr>
          <a:xfrm>
            <a:off x="1793695" y="2322789"/>
            <a:ext cx="248909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Financial Transmission Channels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8E3BA33-3B95-D2A5-9B43-0E705A4C8D38}"/>
              </a:ext>
            </a:extLst>
          </p:cNvPr>
          <p:cNvSpPr/>
          <p:nvPr/>
        </p:nvSpPr>
        <p:spPr>
          <a:xfrm>
            <a:off x="8173122" y="2312621"/>
            <a:ext cx="272915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Fundamental Transmission Channels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8AF11C45-59BA-4C14-05D4-87A6EA6C01B6}"/>
              </a:ext>
            </a:extLst>
          </p:cNvPr>
          <p:cNvSpPr/>
          <p:nvPr/>
        </p:nvSpPr>
        <p:spPr>
          <a:xfrm>
            <a:off x="4683001" y="2316511"/>
            <a:ext cx="291807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Macroeconomic Transmission Channels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8A2E6972-3072-29F8-F919-3BDC31C70019}"/>
              </a:ext>
            </a:extLst>
          </p:cNvPr>
          <p:cNvSpPr/>
          <p:nvPr/>
        </p:nvSpPr>
        <p:spPr>
          <a:xfrm>
            <a:off x="8932020" y="2785471"/>
            <a:ext cx="121382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Monetary Policy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0842BDEA-AD1B-8BB8-D81C-7BA0BB3BDF23}"/>
              </a:ext>
            </a:extLst>
          </p:cNvPr>
          <p:cNvSpPr/>
          <p:nvPr/>
        </p:nvSpPr>
        <p:spPr>
          <a:xfrm>
            <a:off x="5714201" y="3143949"/>
            <a:ext cx="763593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CB8FA6D9-90C2-BFAF-C91A-D786F0D36A8C}"/>
              </a:ext>
            </a:extLst>
          </p:cNvPr>
          <p:cNvSpPr/>
          <p:nvPr/>
        </p:nvSpPr>
        <p:spPr>
          <a:xfrm>
            <a:off x="5572720" y="4559503"/>
            <a:ext cx="2232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Denomination (Numeraire) Effect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EDF51B29-AF6D-7E13-44AF-D337D241DCB1}"/>
              </a:ext>
            </a:extLst>
          </p:cNvPr>
          <p:cNvSpPr/>
          <p:nvPr/>
        </p:nvSpPr>
        <p:spPr>
          <a:xfrm>
            <a:off x="2215226" y="2737784"/>
            <a:ext cx="166784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Wealth Transfer Effect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8E2D4A6C-6185-B444-11A0-F5D8C242F78C}"/>
              </a:ext>
            </a:extLst>
          </p:cNvPr>
          <p:cNvSpPr/>
          <p:nvPr/>
        </p:nvSpPr>
        <p:spPr>
          <a:xfrm>
            <a:off x="4760456" y="2741865"/>
            <a:ext cx="277315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(Risk Parity) Portfolio Rebalancing Effect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57984F82-DCB0-CD0F-FEC0-450BD3B9EBBC}"/>
              </a:ext>
            </a:extLst>
          </p:cNvPr>
          <p:cNvCxnSpPr/>
          <p:nvPr/>
        </p:nvCxnSpPr>
        <p:spPr>
          <a:xfrm>
            <a:off x="778932" y="2260600"/>
            <a:ext cx="103039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547BB34D-F2E7-62B8-D919-64BBAC3723E3}"/>
              </a:ext>
            </a:extLst>
          </p:cNvPr>
          <p:cNvSpPr/>
          <p:nvPr/>
        </p:nvSpPr>
        <p:spPr>
          <a:xfrm>
            <a:off x="411140" y="1782177"/>
            <a:ext cx="918576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Timeframe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A3E63AF5-9F5E-95D5-6180-0988AF58E0D8}"/>
              </a:ext>
            </a:extLst>
          </p:cNvPr>
          <p:cNvSpPr/>
          <p:nvPr/>
        </p:nvSpPr>
        <p:spPr>
          <a:xfrm>
            <a:off x="2296467" y="1860414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Short Run Dynamics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A1A67F1B-E3AD-966A-74FA-C42FC64ABA33}"/>
              </a:ext>
            </a:extLst>
          </p:cNvPr>
          <p:cNvSpPr/>
          <p:nvPr/>
        </p:nvSpPr>
        <p:spPr>
          <a:xfrm>
            <a:off x="8712197" y="1921320"/>
            <a:ext cx="165100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Long Run Relationship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2B5C44F8-FDB0-B5C3-7AB6-DAAE91C82D6D}"/>
              </a:ext>
            </a:extLst>
          </p:cNvPr>
          <p:cNvSpPr/>
          <p:nvPr/>
        </p:nvSpPr>
        <p:spPr>
          <a:xfrm>
            <a:off x="5376297" y="1861070"/>
            <a:ext cx="148726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Mid-term fluctuations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886F986F-1ECF-7BA6-5F28-CF166D13E579}"/>
              </a:ext>
            </a:extLst>
          </p:cNvPr>
          <p:cNvCxnSpPr>
            <a:cxnSpLocks/>
          </p:cNvCxnSpPr>
          <p:nvPr/>
        </p:nvCxnSpPr>
        <p:spPr>
          <a:xfrm>
            <a:off x="778932" y="2260600"/>
            <a:ext cx="0" cy="3657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B47AC8FF-7365-56DF-F93C-A4ED76F9C2F5}"/>
              </a:ext>
            </a:extLst>
          </p:cNvPr>
          <p:cNvSpPr/>
          <p:nvPr/>
        </p:nvSpPr>
        <p:spPr>
          <a:xfrm>
            <a:off x="257773" y="2048495"/>
            <a:ext cx="1329718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 Type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54583658-2C22-32C2-5D95-15BE6A433D72}"/>
              </a:ext>
            </a:extLst>
          </p:cNvPr>
          <p:cNvSpPr/>
          <p:nvPr/>
        </p:nvSpPr>
        <p:spPr>
          <a:xfrm rot="16200000">
            <a:off x="45155" y="2812203"/>
            <a:ext cx="655716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DE3E1C60-1677-B084-B1C5-91C284BE2062}"/>
              </a:ext>
            </a:extLst>
          </p:cNvPr>
          <p:cNvSpPr/>
          <p:nvPr/>
        </p:nvSpPr>
        <p:spPr>
          <a:xfrm rot="16200000">
            <a:off x="-84698" y="4912223"/>
            <a:ext cx="91542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Non-Linear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8556F8FC-7512-A6C0-D0F2-1756DF3991F1}"/>
              </a:ext>
            </a:extLst>
          </p:cNvPr>
          <p:cNvSpPr/>
          <p:nvPr/>
        </p:nvSpPr>
        <p:spPr>
          <a:xfrm>
            <a:off x="4928625" y="5330252"/>
            <a:ext cx="237330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(US) Terms of Trade Effect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8E1ABFDC-72F9-38AC-5192-9E813F24C3A5}"/>
              </a:ext>
            </a:extLst>
          </p:cNvPr>
          <p:cNvSpPr/>
          <p:nvPr/>
        </p:nvSpPr>
        <p:spPr>
          <a:xfrm>
            <a:off x="411140" y="1482055"/>
            <a:ext cx="1110289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Datafrequency</a:t>
            </a:r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192C12B1-A82B-DA2B-1B42-93D8F5E91563}"/>
              </a:ext>
            </a:extLst>
          </p:cNvPr>
          <p:cNvCxnSpPr/>
          <p:nvPr/>
        </p:nvCxnSpPr>
        <p:spPr>
          <a:xfrm>
            <a:off x="778932" y="1765243"/>
            <a:ext cx="103039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Rechteck 31">
            <a:extLst>
              <a:ext uri="{FF2B5EF4-FFF2-40B4-BE49-F238E27FC236}">
                <a16:creationId xmlns:a16="http://schemas.microsoft.com/office/drawing/2014/main" id="{E1C0A855-8002-6E58-4CE7-1A3A4E3BAFC1}"/>
              </a:ext>
            </a:extLst>
          </p:cNvPr>
          <p:cNvSpPr/>
          <p:nvPr/>
        </p:nvSpPr>
        <p:spPr>
          <a:xfrm>
            <a:off x="2275981" y="1464107"/>
            <a:ext cx="153602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Daily, Weely, Monthly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CEC91CC7-79C2-687B-D6FE-9B94C5931958}"/>
              </a:ext>
            </a:extLst>
          </p:cNvPr>
          <p:cNvSpPr/>
          <p:nvPr/>
        </p:nvSpPr>
        <p:spPr>
          <a:xfrm>
            <a:off x="5435044" y="1464107"/>
            <a:ext cx="132971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Monthly, Quarterly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23AAD51E-89CC-0CDE-667F-1D52B0CC7937}"/>
              </a:ext>
            </a:extLst>
          </p:cNvPr>
          <p:cNvSpPr/>
          <p:nvPr/>
        </p:nvSpPr>
        <p:spPr>
          <a:xfrm>
            <a:off x="8828065" y="1464107"/>
            <a:ext cx="132971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Annually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1A21882D-84E7-42C9-52E2-F7F8ECCE1776}"/>
              </a:ext>
            </a:extLst>
          </p:cNvPr>
          <p:cNvSpPr/>
          <p:nvPr/>
        </p:nvSpPr>
        <p:spPr>
          <a:xfrm>
            <a:off x="5253809" y="4270092"/>
            <a:ext cx="143510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Expectation Effects</a:t>
            </a:r>
          </a:p>
        </p:txBody>
      </p:sp>
      <p:cxnSp>
        <p:nvCxnSpPr>
          <p:cNvPr id="37" name="Gewinkelte Verbindung 36">
            <a:extLst>
              <a:ext uri="{FF2B5EF4-FFF2-40B4-BE49-F238E27FC236}">
                <a16:creationId xmlns:a16="http://schemas.microsoft.com/office/drawing/2014/main" id="{772846A8-47BF-C5BD-23BD-90268CF4F83D}"/>
              </a:ext>
            </a:extLst>
          </p:cNvPr>
          <p:cNvCxnSpPr>
            <a:cxnSpLocks/>
            <a:endCxn id="13" idx="1"/>
          </p:cNvCxnSpPr>
          <p:nvPr/>
        </p:nvCxnSpPr>
        <p:spPr>
          <a:xfrm rot="16200000" flipH="1">
            <a:off x="5408456" y="4503239"/>
            <a:ext cx="174014" cy="15451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Gerade Verbindung 41">
            <a:extLst>
              <a:ext uri="{FF2B5EF4-FFF2-40B4-BE49-F238E27FC236}">
                <a16:creationId xmlns:a16="http://schemas.microsoft.com/office/drawing/2014/main" id="{1E45963D-D85B-6D20-9F28-0C285372AB9E}"/>
              </a:ext>
            </a:extLst>
          </p:cNvPr>
          <p:cNvCxnSpPr/>
          <p:nvPr/>
        </p:nvCxnSpPr>
        <p:spPr>
          <a:xfrm>
            <a:off x="4500492" y="1534937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Gerade Verbindung 42">
            <a:extLst>
              <a:ext uri="{FF2B5EF4-FFF2-40B4-BE49-F238E27FC236}">
                <a16:creationId xmlns:a16="http://schemas.microsoft.com/office/drawing/2014/main" id="{ADE954ED-9BD3-5B5F-E4F3-05EEC35F98B1}"/>
              </a:ext>
            </a:extLst>
          </p:cNvPr>
          <p:cNvCxnSpPr/>
          <p:nvPr/>
        </p:nvCxnSpPr>
        <p:spPr>
          <a:xfrm>
            <a:off x="7853290" y="1529117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Gerade Verbindung 43">
            <a:extLst>
              <a:ext uri="{FF2B5EF4-FFF2-40B4-BE49-F238E27FC236}">
                <a16:creationId xmlns:a16="http://schemas.microsoft.com/office/drawing/2014/main" id="{09F5D47B-6B09-7CFC-5444-D852D1F50422}"/>
              </a:ext>
            </a:extLst>
          </p:cNvPr>
          <p:cNvCxnSpPr>
            <a:cxnSpLocks/>
          </p:cNvCxnSpPr>
          <p:nvPr/>
        </p:nvCxnSpPr>
        <p:spPr>
          <a:xfrm>
            <a:off x="265012" y="3909431"/>
            <a:ext cx="10690855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Rechteck 50">
            <a:extLst>
              <a:ext uri="{FF2B5EF4-FFF2-40B4-BE49-F238E27FC236}">
                <a16:creationId xmlns:a16="http://schemas.microsoft.com/office/drawing/2014/main" id="{2B0B8714-4735-3D93-DEE2-39EEDF4D561B}"/>
              </a:ext>
            </a:extLst>
          </p:cNvPr>
          <p:cNvSpPr/>
          <p:nvPr/>
        </p:nvSpPr>
        <p:spPr>
          <a:xfrm>
            <a:off x="9046221" y="4303966"/>
            <a:ext cx="160575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Commodity Currencies</a:t>
            </a:r>
          </a:p>
        </p:txBody>
      </p:sp>
      <p:cxnSp>
        <p:nvCxnSpPr>
          <p:cNvPr id="52" name="Gewinkelte Verbindung 51">
            <a:extLst>
              <a:ext uri="{FF2B5EF4-FFF2-40B4-BE49-F238E27FC236}">
                <a16:creationId xmlns:a16="http://schemas.microsoft.com/office/drawing/2014/main" id="{F71AE3F4-D833-EE71-8CFE-4CED6B06EF3D}"/>
              </a:ext>
            </a:extLst>
          </p:cNvPr>
          <p:cNvCxnSpPr>
            <a:cxnSpLocks/>
            <a:endCxn id="51" idx="1"/>
          </p:cNvCxnSpPr>
          <p:nvPr/>
        </p:nvCxnSpPr>
        <p:spPr>
          <a:xfrm rot="16200000" flipH="1">
            <a:off x="8881957" y="4247702"/>
            <a:ext cx="174014" cy="15451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0499263F-B069-F131-A5DE-5772AE971F66}"/>
              </a:ext>
            </a:extLst>
          </p:cNvPr>
          <p:cNvSpPr/>
          <p:nvPr/>
        </p:nvSpPr>
        <p:spPr>
          <a:xfrm>
            <a:off x="5572720" y="4891295"/>
            <a:ext cx="166784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Dominant Pricing Effect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F559678-A189-0726-673D-DE1DA2DC70F1}"/>
              </a:ext>
            </a:extLst>
          </p:cNvPr>
          <p:cNvSpPr/>
          <p:nvPr/>
        </p:nvSpPr>
        <p:spPr>
          <a:xfrm>
            <a:off x="2174559" y="3094996"/>
            <a:ext cx="1728000" cy="2470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Present Value Approach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D6455752-85AB-249B-351F-AA1A075CC80E}"/>
              </a:ext>
            </a:extLst>
          </p:cNvPr>
          <p:cNvSpPr/>
          <p:nvPr/>
        </p:nvSpPr>
        <p:spPr>
          <a:xfrm>
            <a:off x="1735700" y="5330252"/>
            <a:ext cx="240199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Financialization Effects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E6F90299-E4E6-4840-3DEA-02C2F4B47B65}"/>
              </a:ext>
            </a:extLst>
          </p:cNvPr>
          <p:cNvSpPr/>
          <p:nvPr/>
        </p:nvSpPr>
        <p:spPr>
          <a:xfrm>
            <a:off x="2803691" y="4725778"/>
            <a:ext cx="1332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Theory of Storage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9476D061-20A1-950A-6E01-BA9074430BB2}"/>
              </a:ext>
            </a:extLst>
          </p:cNvPr>
          <p:cNvSpPr/>
          <p:nvPr/>
        </p:nvSpPr>
        <p:spPr>
          <a:xfrm>
            <a:off x="2445691" y="5028015"/>
            <a:ext cx="1692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Expected Risk Premium</a:t>
            </a:r>
          </a:p>
        </p:txBody>
      </p:sp>
      <p:cxnSp>
        <p:nvCxnSpPr>
          <p:cNvPr id="38" name="Gewinkelte Verbindung 37">
            <a:extLst>
              <a:ext uri="{FF2B5EF4-FFF2-40B4-BE49-F238E27FC236}">
                <a16:creationId xmlns:a16="http://schemas.microsoft.com/office/drawing/2014/main" id="{2B698803-F44F-92D9-D744-F18E762AE8BD}"/>
              </a:ext>
            </a:extLst>
          </p:cNvPr>
          <p:cNvCxnSpPr>
            <a:cxnSpLocks/>
            <a:endCxn id="24" idx="1"/>
          </p:cNvCxnSpPr>
          <p:nvPr/>
        </p:nvCxnSpPr>
        <p:spPr>
          <a:xfrm>
            <a:off x="1867460" y="4504772"/>
            <a:ext cx="936231" cy="329006"/>
          </a:xfrm>
          <a:prstGeom prst="bentConnector3">
            <a:avLst>
              <a:gd name="adj1" fmla="val -757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Gewinkelte Verbindung 40">
            <a:extLst>
              <a:ext uri="{FF2B5EF4-FFF2-40B4-BE49-F238E27FC236}">
                <a16:creationId xmlns:a16="http://schemas.microsoft.com/office/drawing/2014/main" id="{F2E07749-C7C5-D03A-BAC6-282D39E61387}"/>
              </a:ext>
            </a:extLst>
          </p:cNvPr>
          <p:cNvCxnSpPr>
            <a:cxnSpLocks/>
            <a:endCxn id="36" idx="1"/>
          </p:cNvCxnSpPr>
          <p:nvPr/>
        </p:nvCxnSpPr>
        <p:spPr>
          <a:xfrm rot="16200000" flipH="1">
            <a:off x="1829635" y="4519958"/>
            <a:ext cx="645599" cy="58651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Rechteck 47">
            <a:extLst>
              <a:ext uri="{FF2B5EF4-FFF2-40B4-BE49-F238E27FC236}">
                <a16:creationId xmlns:a16="http://schemas.microsoft.com/office/drawing/2014/main" id="{06396FB7-F7AD-F734-8467-C7B76302F764}"/>
              </a:ext>
            </a:extLst>
          </p:cNvPr>
          <p:cNvSpPr/>
          <p:nvPr/>
        </p:nvSpPr>
        <p:spPr>
          <a:xfrm rot="16200000">
            <a:off x="195369" y="4852086"/>
            <a:ext cx="1800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Spot – Future Divergence</a:t>
            </a:r>
          </a:p>
        </p:txBody>
      </p:sp>
      <p:sp>
        <p:nvSpPr>
          <p:cNvPr id="49" name="Geschweifte Klammer links 48">
            <a:extLst>
              <a:ext uri="{FF2B5EF4-FFF2-40B4-BE49-F238E27FC236}">
                <a16:creationId xmlns:a16="http://schemas.microsoft.com/office/drawing/2014/main" id="{147954C5-3C02-AC94-7CD9-4A825155F3B8}"/>
              </a:ext>
            </a:extLst>
          </p:cNvPr>
          <p:cNvSpPr/>
          <p:nvPr/>
        </p:nvSpPr>
        <p:spPr>
          <a:xfrm>
            <a:off x="1255042" y="4270090"/>
            <a:ext cx="419165" cy="1276161"/>
          </a:xfrm>
          <a:prstGeom prst="leftBrace">
            <a:avLst>
              <a:gd name="adj1" fmla="val 8333"/>
              <a:gd name="adj2" fmla="val 515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3605E380-74E6-9316-4410-2F9D1B95C05F}"/>
              </a:ext>
            </a:extLst>
          </p:cNvPr>
          <p:cNvSpPr/>
          <p:nvPr/>
        </p:nvSpPr>
        <p:spPr>
          <a:xfrm>
            <a:off x="9076676" y="4615866"/>
            <a:ext cx="1605757" cy="344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Business Cycle</a:t>
            </a:r>
          </a:p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and Uncertainty</a:t>
            </a:r>
          </a:p>
        </p:txBody>
      </p:sp>
      <p:cxnSp>
        <p:nvCxnSpPr>
          <p:cNvPr id="53" name="Gewinkelte Verbindung 52">
            <a:extLst>
              <a:ext uri="{FF2B5EF4-FFF2-40B4-BE49-F238E27FC236}">
                <a16:creationId xmlns:a16="http://schemas.microsoft.com/office/drawing/2014/main" id="{34006D93-F4B6-B129-FE04-761CFA0687E2}"/>
              </a:ext>
            </a:extLst>
          </p:cNvPr>
          <p:cNvCxnSpPr>
            <a:cxnSpLocks/>
            <a:endCxn id="50" idx="1"/>
          </p:cNvCxnSpPr>
          <p:nvPr/>
        </p:nvCxnSpPr>
        <p:spPr>
          <a:xfrm rot="16200000" flipH="1">
            <a:off x="8709178" y="4420478"/>
            <a:ext cx="550026" cy="18497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9E20CBD6-F4B1-0104-E919-F4240ABA3159}"/>
              </a:ext>
            </a:extLst>
          </p:cNvPr>
          <p:cNvSpPr/>
          <p:nvPr/>
        </p:nvSpPr>
        <p:spPr>
          <a:xfrm>
            <a:off x="9439387" y="3104994"/>
            <a:ext cx="1462885" cy="21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Fundamental Shock</a:t>
            </a:r>
          </a:p>
        </p:txBody>
      </p:sp>
      <p:cxnSp>
        <p:nvCxnSpPr>
          <p:cNvPr id="57" name="Gewinkelte Verbindung 56">
            <a:extLst>
              <a:ext uri="{FF2B5EF4-FFF2-40B4-BE49-F238E27FC236}">
                <a16:creationId xmlns:a16="http://schemas.microsoft.com/office/drawing/2014/main" id="{485EF787-AA33-D2DA-E051-30ADFDE4B0EF}"/>
              </a:ext>
            </a:extLst>
          </p:cNvPr>
          <p:cNvCxnSpPr>
            <a:cxnSpLocks/>
            <a:endCxn id="56" idx="1"/>
          </p:cNvCxnSpPr>
          <p:nvPr/>
        </p:nvCxnSpPr>
        <p:spPr>
          <a:xfrm>
            <a:off x="9017670" y="3000571"/>
            <a:ext cx="421717" cy="214223"/>
          </a:xfrm>
          <a:prstGeom prst="bentConnector3">
            <a:avLst>
              <a:gd name="adj1" fmla="val 540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" name="Rechteck 59">
            <a:extLst>
              <a:ext uri="{FF2B5EF4-FFF2-40B4-BE49-F238E27FC236}">
                <a16:creationId xmlns:a16="http://schemas.microsoft.com/office/drawing/2014/main" id="{EFFD1A49-BDA2-BEC0-8F43-22EC830F6F55}"/>
              </a:ext>
            </a:extLst>
          </p:cNvPr>
          <p:cNvSpPr/>
          <p:nvPr/>
        </p:nvSpPr>
        <p:spPr>
          <a:xfrm rot="16200000">
            <a:off x="7682962" y="3075808"/>
            <a:ext cx="1199565" cy="3610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Adaptive Market Hypothesis</a:t>
            </a:r>
          </a:p>
        </p:txBody>
      </p:sp>
      <p:sp>
        <p:nvSpPr>
          <p:cNvPr id="61" name="Geschweifte Klammer links 60">
            <a:extLst>
              <a:ext uri="{FF2B5EF4-FFF2-40B4-BE49-F238E27FC236}">
                <a16:creationId xmlns:a16="http://schemas.microsoft.com/office/drawing/2014/main" id="{B0A9FC46-336A-35C6-E3AF-E92310A9D5AA}"/>
              </a:ext>
            </a:extLst>
          </p:cNvPr>
          <p:cNvSpPr/>
          <p:nvPr/>
        </p:nvSpPr>
        <p:spPr>
          <a:xfrm>
            <a:off x="8482015" y="2792410"/>
            <a:ext cx="419165" cy="858750"/>
          </a:xfrm>
          <a:prstGeom prst="leftBrace">
            <a:avLst>
              <a:gd name="adj1" fmla="val 8333"/>
              <a:gd name="adj2" fmla="val 50973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62" name="Gewinkelte Verbindung 61">
            <a:extLst>
              <a:ext uri="{FF2B5EF4-FFF2-40B4-BE49-F238E27FC236}">
                <a16:creationId xmlns:a16="http://schemas.microsoft.com/office/drawing/2014/main" id="{1A9CA3B1-89DE-C524-1B4E-C75799883A8B}"/>
              </a:ext>
            </a:extLst>
          </p:cNvPr>
          <p:cNvCxnSpPr>
            <a:cxnSpLocks/>
            <a:stCxn id="66" idx="1"/>
            <a:endCxn id="6" idx="1"/>
          </p:cNvCxnSpPr>
          <p:nvPr/>
        </p:nvCxnSpPr>
        <p:spPr>
          <a:xfrm flipV="1">
            <a:off x="8164972" y="4113332"/>
            <a:ext cx="581564" cy="75826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Geschweifte Klammer links 65">
            <a:extLst>
              <a:ext uri="{FF2B5EF4-FFF2-40B4-BE49-F238E27FC236}">
                <a16:creationId xmlns:a16="http://schemas.microsoft.com/office/drawing/2014/main" id="{4217CD35-2855-C3CC-880E-22CB9DD435FC}"/>
              </a:ext>
            </a:extLst>
          </p:cNvPr>
          <p:cNvSpPr/>
          <p:nvPr/>
        </p:nvSpPr>
        <p:spPr>
          <a:xfrm rot="10800000">
            <a:off x="7936049" y="4270091"/>
            <a:ext cx="228923" cy="1276159"/>
          </a:xfrm>
          <a:prstGeom prst="leftBrace">
            <a:avLst>
              <a:gd name="adj1" fmla="val 8333"/>
              <a:gd name="adj2" fmla="val 52866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EDA54FD2-EE6F-C979-CD6E-D8152BCD9185}"/>
              </a:ext>
            </a:extLst>
          </p:cNvPr>
          <p:cNvSpPr/>
          <p:nvPr/>
        </p:nvSpPr>
        <p:spPr>
          <a:xfrm>
            <a:off x="9435760" y="3431560"/>
            <a:ext cx="1462879" cy="21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Central Bank Policy</a:t>
            </a:r>
          </a:p>
        </p:txBody>
      </p:sp>
      <p:cxnSp>
        <p:nvCxnSpPr>
          <p:cNvPr id="85" name="Gewinkelte Verbindung 84">
            <a:extLst>
              <a:ext uri="{FF2B5EF4-FFF2-40B4-BE49-F238E27FC236}">
                <a16:creationId xmlns:a16="http://schemas.microsoft.com/office/drawing/2014/main" id="{DA49C920-6FA4-94C4-83B4-BF1BCA9E7272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 flipV="1">
            <a:off x="4123594" y="3251949"/>
            <a:ext cx="1590607" cy="113590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" name="Gerade Verbindung mit Pfeil 102">
            <a:extLst>
              <a:ext uri="{FF2B5EF4-FFF2-40B4-BE49-F238E27FC236}">
                <a16:creationId xmlns:a16="http://schemas.microsoft.com/office/drawing/2014/main" id="{C2517137-D61D-2942-2436-5D8BCF58DB4E}"/>
              </a:ext>
            </a:extLst>
          </p:cNvPr>
          <p:cNvCxnSpPr>
            <a:stCxn id="11" idx="3"/>
            <a:endCxn id="60" idx="0"/>
          </p:cNvCxnSpPr>
          <p:nvPr/>
        </p:nvCxnSpPr>
        <p:spPr>
          <a:xfrm>
            <a:off x="6477794" y="3251949"/>
            <a:ext cx="1624408" cy="44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" name="Gerade Verbindung mit Pfeil 106">
            <a:extLst>
              <a:ext uri="{FF2B5EF4-FFF2-40B4-BE49-F238E27FC236}">
                <a16:creationId xmlns:a16="http://schemas.microsoft.com/office/drawing/2014/main" id="{512ACE4B-D48F-906A-E3F8-4C90CC6A8713}"/>
              </a:ext>
            </a:extLst>
          </p:cNvPr>
          <p:cNvCxnSpPr>
            <a:cxnSpLocks/>
            <a:stCxn id="5" idx="3"/>
            <a:endCxn id="35" idx="1"/>
          </p:cNvCxnSpPr>
          <p:nvPr/>
        </p:nvCxnSpPr>
        <p:spPr>
          <a:xfrm flipV="1">
            <a:off x="4123594" y="4378092"/>
            <a:ext cx="1130215" cy="97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" name="Gewinkelte Verbindung 110">
            <a:extLst>
              <a:ext uri="{FF2B5EF4-FFF2-40B4-BE49-F238E27FC236}">
                <a16:creationId xmlns:a16="http://schemas.microsoft.com/office/drawing/2014/main" id="{0C445089-6687-256E-1F93-325EC94782C5}"/>
              </a:ext>
            </a:extLst>
          </p:cNvPr>
          <p:cNvCxnSpPr>
            <a:cxnSpLocks/>
            <a:endCxn id="2" idx="1"/>
          </p:cNvCxnSpPr>
          <p:nvPr/>
        </p:nvCxnSpPr>
        <p:spPr>
          <a:xfrm rot="16200000" flipH="1">
            <a:off x="5242559" y="4669133"/>
            <a:ext cx="505807" cy="15451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2" name="Gewinkelte Verbindung 121">
            <a:extLst>
              <a:ext uri="{FF2B5EF4-FFF2-40B4-BE49-F238E27FC236}">
                <a16:creationId xmlns:a16="http://schemas.microsoft.com/office/drawing/2014/main" id="{894CE1E4-0E53-6E8A-4ACC-03CD0785B000}"/>
              </a:ext>
            </a:extLst>
          </p:cNvPr>
          <p:cNvCxnSpPr>
            <a:cxnSpLocks/>
            <a:endCxn id="73" idx="1"/>
          </p:cNvCxnSpPr>
          <p:nvPr/>
        </p:nvCxnSpPr>
        <p:spPr>
          <a:xfrm rot="16200000" flipH="1">
            <a:off x="8975556" y="3081155"/>
            <a:ext cx="524729" cy="39568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95497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 bright="30000" contrast="45000"/>
          </a:blip>
          <a:srcRect/>
          <a:stretch>
            <a:fillRect l="50000" t="-28000" r="-35000" b="-13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B86A40-CC4A-F893-4962-D869B8583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273A9A3D-A2C8-0573-AD47-55CA13D2DF59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3D43F778-3670-5763-3D15-15520B8093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25EC4B36-7CB4-55D3-844F-E9E04B22A35B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3600">
                <a:latin typeface="Arial" panose="020B0604020202020204" pitchFamily="34" charset="0"/>
                <a:cs typeface="Arial" panose="020B0604020202020204" pitchFamily="34" charset="0"/>
              </a:rPr>
              <a:t>Chapter 4)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0B7DE48D-0905-4FF6-EE4B-25F2631EDCAC}"/>
              </a:ext>
            </a:extLst>
          </p:cNvPr>
          <p:cNvSpPr/>
          <p:nvPr/>
        </p:nvSpPr>
        <p:spPr>
          <a:xfrm>
            <a:off x="2821153" y="2996762"/>
            <a:ext cx="5892623" cy="4866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>
                <a:latin typeface="Arial" panose="020B0604020202020204" pitchFamily="34" charset="0"/>
                <a:cs typeface="Arial" panose="020B0604020202020204" pitchFamily="34" charset="0"/>
              </a:rPr>
              <a:t>Theoretical Framework</a:t>
            </a:r>
            <a:endParaRPr lang="de-DE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50805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8559F-668E-4622-25B4-5E8DF4906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Gerade Verbindung 37">
            <a:extLst>
              <a:ext uri="{FF2B5EF4-FFF2-40B4-BE49-F238E27FC236}">
                <a16:creationId xmlns:a16="http://schemas.microsoft.com/office/drawing/2014/main" id="{E7C7C535-5ABA-C8D3-4DBE-69841A10BAC8}"/>
              </a:ext>
            </a:extLst>
          </p:cNvPr>
          <p:cNvCxnSpPr>
            <a:cxnSpLocks/>
          </p:cNvCxnSpPr>
          <p:nvPr/>
        </p:nvCxnSpPr>
        <p:spPr>
          <a:xfrm>
            <a:off x="222029" y="4688326"/>
            <a:ext cx="9756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Rechteck 5">
            <a:extLst>
              <a:ext uri="{FF2B5EF4-FFF2-40B4-BE49-F238E27FC236}">
                <a16:creationId xmlns:a16="http://schemas.microsoft.com/office/drawing/2014/main" id="{73EBEBD3-61E4-A52F-5E12-0CD69AEB0132}"/>
              </a:ext>
            </a:extLst>
          </p:cNvPr>
          <p:cNvSpPr/>
          <p:nvPr/>
        </p:nvSpPr>
        <p:spPr>
          <a:xfrm>
            <a:off x="4010060" y="4778337"/>
            <a:ext cx="2102424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Energy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commodity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prices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F289FE3B-8FB7-30AB-738E-22FF5C48A507}"/>
              </a:ext>
            </a:extLst>
          </p:cNvPr>
          <p:cNvSpPr/>
          <p:nvPr/>
        </p:nvSpPr>
        <p:spPr>
          <a:xfrm>
            <a:off x="7761879" y="3732141"/>
            <a:ext cx="1922827" cy="3916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exchange rates in </a:t>
            </a:r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external </a:t>
            </a:r>
            <a:r>
              <a:rPr lang="de-DE" sz="1100" b="1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terms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CPI/PPI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01F86257-349A-21C4-CD28-34331020D005}"/>
              </a:ext>
            </a:extLst>
          </p:cNvPr>
          <p:cNvCxnSpPr>
            <a:cxnSpLocks/>
            <a:stCxn id="75" idx="3"/>
            <a:endCxn id="8" idx="1"/>
          </p:cNvCxnSpPr>
          <p:nvPr/>
        </p:nvCxnSpPr>
        <p:spPr>
          <a:xfrm flipV="1">
            <a:off x="7502548" y="3927972"/>
            <a:ext cx="259331" cy="21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85B157F5-10D5-DAAD-F75D-4C2F2CDC03D3}"/>
              </a:ext>
            </a:extLst>
          </p:cNvPr>
          <p:cNvSpPr/>
          <p:nvPr/>
        </p:nvSpPr>
        <p:spPr>
          <a:xfrm>
            <a:off x="7756589" y="4215974"/>
            <a:ext cx="1922827" cy="78355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exchange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rates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in </a:t>
            </a:r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internal </a:t>
            </a:r>
            <a:r>
              <a:rPr lang="de-DE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terms</a:t>
            </a:r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de-DE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terms</a:t>
            </a:r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of trade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Ratio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tradable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and non-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tradable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goods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ACD32FAD-24E8-23D4-09CE-3013A5264E7E}"/>
              </a:ext>
            </a:extLst>
          </p:cNvPr>
          <p:cNvSpPr/>
          <p:nvPr/>
        </p:nvSpPr>
        <p:spPr>
          <a:xfrm>
            <a:off x="683171" y="5432471"/>
            <a:ext cx="2332121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Spot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Futures Markets (prices)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476DFE7-E92B-C4CD-4498-D54F8FEF5A84}"/>
              </a:ext>
            </a:extLst>
          </p:cNvPr>
          <p:cNvCxnSpPr>
            <a:cxnSpLocks/>
            <a:stCxn id="30" idx="2"/>
            <a:endCxn id="13" idx="0"/>
          </p:cNvCxnSpPr>
          <p:nvPr/>
        </p:nvCxnSpPr>
        <p:spPr>
          <a:xfrm flipH="1">
            <a:off x="1849232" y="5226083"/>
            <a:ext cx="1" cy="2063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hteck 28">
                <a:extLst>
                  <a:ext uri="{FF2B5EF4-FFF2-40B4-BE49-F238E27FC236}">
                    <a16:creationId xmlns:a16="http://schemas.microsoft.com/office/drawing/2014/main" id="{7A3A3E26-C1D3-A476-7FC0-CB985ABFB14C}"/>
                  </a:ext>
                </a:extLst>
              </p:cNvPr>
              <p:cNvSpPr/>
              <p:nvPr/>
            </p:nvSpPr>
            <p:spPr>
              <a:xfrm>
                <a:off x="681477" y="3209671"/>
                <a:ext cx="2330959" cy="87034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Nominal Exchange Rates </a:t>
                </a:r>
                <a:r>
                  <a:rPr lang="de-DE" sz="1100" b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(NER)</a:t>
                </a:r>
              </a:p>
              <a:p>
                <a:pPr algn="ctr"/>
                <a:endParaRPr lang="de-DE" sz="1100" b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𝑵𝑬𝑹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 </m:t>
                      </m:r>
                      <m:f>
                        <m:fPr>
                          <m:ctrlPr>
                            <a:rPr lang="de-DE" sz="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𝑃𝑟𝑖𝑐𝑒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𝑃𝑟𝑖𝑐𝑒</m:t>
                              </m:r>
                            </m:e>
                            <m:sub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sz="8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9" name="Rechteck 28">
                <a:extLst>
                  <a:ext uri="{FF2B5EF4-FFF2-40B4-BE49-F238E27FC236}">
                    <a16:creationId xmlns:a16="http://schemas.microsoft.com/office/drawing/2014/main" id="{7A3A3E26-C1D3-A476-7FC0-CB985ABFB14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477" y="3209671"/>
                <a:ext cx="2330959" cy="87034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Rechteck 29">
            <a:extLst>
              <a:ext uri="{FF2B5EF4-FFF2-40B4-BE49-F238E27FC236}">
                <a16:creationId xmlns:a16="http://schemas.microsoft.com/office/drawing/2014/main" id="{37A69D8F-5662-E8F0-40A0-6AF2855D9D8D}"/>
              </a:ext>
            </a:extLst>
          </p:cNvPr>
          <p:cNvSpPr/>
          <p:nvPr/>
        </p:nvSpPr>
        <p:spPr>
          <a:xfrm>
            <a:off x="683172" y="4775560"/>
            <a:ext cx="2332121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Nominal Energy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commodity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prices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50CD1860-0A48-293B-D7AB-C8BFB826EE74}"/>
              </a:ext>
            </a:extLst>
          </p:cNvPr>
          <p:cNvCxnSpPr>
            <a:cxnSpLocks/>
            <a:stCxn id="29" idx="3"/>
          </p:cNvCxnSpPr>
          <p:nvPr/>
        </p:nvCxnSpPr>
        <p:spPr>
          <a:xfrm>
            <a:off x="3012436" y="3644844"/>
            <a:ext cx="5040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EBA84D3F-E99E-C91A-2ED1-359A23F5FD92}"/>
              </a:ext>
            </a:extLst>
          </p:cNvPr>
          <p:cNvCxnSpPr>
            <a:cxnSpLocks/>
          </p:cNvCxnSpPr>
          <p:nvPr/>
        </p:nvCxnSpPr>
        <p:spPr>
          <a:xfrm flipV="1">
            <a:off x="3015293" y="5022042"/>
            <a:ext cx="53260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50EB06B2-8C6F-BA12-1431-DBFA136F6098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3766845" y="3648479"/>
            <a:ext cx="2432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42C41811-6436-6937-DB44-58904A364F53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3763901" y="5003599"/>
            <a:ext cx="2461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hteck 45">
                <a:extLst>
                  <a:ext uri="{FF2B5EF4-FFF2-40B4-BE49-F238E27FC236}">
                    <a16:creationId xmlns:a16="http://schemas.microsoft.com/office/drawing/2014/main" id="{78EDB320-7B77-2427-52B9-89AC9203D682}"/>
                  </a:ext>
                </a:extLst>
              </p:cNvPr>
              <p:cNvSpPr/>
              <p:nvPr/>
            </p:nvSpPr>
            <p:spPr>
              <a:xfrm>
                <a:off x="4259717" y="1661181"/>
                <a:ext cx="2695846" cy="92246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Real </a:t>
                </a:r>
                <a:r>
                  <a:rPr lang="de-DE" sz="110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Effective</a:t>
                </a:r>
                <a:r>
                  <a:rPr lang="de-DE" sz="11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Exchange Rates </a:t>
                </a:r>
                <a:r>
                  <a:rPr lang="de-DE" sz="1100" b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(REER)</a:t>
                </a:r>
              </a:p>
              <a:p>
                <a:pPr algn="ctr"/>
                <a:endParaRPr lang="de-DE" sz="11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𝑹𝑬𝑬𝑹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𝑗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𝑡𝑟𝑎𝑑𝑒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𝑤𝑒𝑖𝑔h𝑡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∙ </m:t>
                          </m:r>
                          <m:sSub>
                            <m:sSubPr>
                              <m:ctrlP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𝑟𝑒𝑎𝑙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𝑒𝑥𝑐h𝑎𝑛𝑔𝑒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𝑟𝑎𝑡𝑒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de-DE" sz="8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6" name="Rechteck 45">
                <a:extLst>
                  <a:ext uri="{FF2B5EF4-FFF2-40B4-BE49-F238E27FC236}">
                    <a16:creationId xmlns:a16="http://schemas.microsoft.com/office/drawing/2014/main" id="{78EDB320-7B77-2427-52B9-89AC9203D68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9717" y="1661181"/>
                <a:ext cx="2695846" cy="922464"/>
              </a:xfrm>
              <a:prstGeom prst="rect">
                <a:avLst/>
              </a:prstGeom>
              <a:blipFill>
                <a:blip r:embed="rId4"/>
                <a:stretch>
                  <a:fillRect l="-9813" b="-56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Rechteck 48">
            <a:extLst>
              <a:ext uri="{FF2B5EF4-FFF2-40B4-BE49-F238E27FC236}">
                <a16:creationId xmlns:a16="http://schemas.microsoft.com/office/drawing/2014/main" id="{25A08158-FA53-A0B1-F15D-78175F0085A4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Definitions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What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are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prices and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how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are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they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measured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E4BBC49-B846-94F8-A7D3-B443853B5DEF}"/>
              </a:ext>
            </a:extLst>
          </p:cNvPr>
          <p:cNvSpPr/>
          <p:nvPr/>
        </p:nvSpPr>
        <p:spPr>
          <a:xfrm rot="16200000">
            <a:off x="-512864" y="1950096"/>
            <a:ext cx="1536022" cy="3911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Multilateral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basket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of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currencies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55EB0C0D-1507-F02A-6129-37D3964916FC}"/>
              </a:ext>
            </a:extLst>
          </p:cNvPr>
          <p:cNvSpPr/>
          <p:nvPr/>
        </p:nvSpPr>
        <p:spPr>
          <a:xfrm rot="16200000">
            <a:off x="-510422" y="3751195"/>
            <a:ext cx="153602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Bilaterail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currencies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AC703C1D-45F9-A7F9-9246-0E6AFB22B640}"/>
              </a:ext>
            </a:extLst>
          </p:cNvPr>
          <p:cNvCxnSpPr>
            <a:cxnSpLocks/>
          </p:cNvCxnSpPr>
          <p:nvPr/>
        </p:nvCxnSpPr>
        <p:spPr>
          <a:xfrm flipV="1">
            <a:off x="3768748" y="2135745"/>
            <a:ext cx="4680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Gerade Verbindung 23">
            <a:extLst>
              <a:ext uri="{FF2B5EF4-FFF2-40B4-BE49-F238E27FC236}">
                <a16:creationId xmlns:a16="http://schemas.microsoft.com/office/drawing/2014/main" id="{C6A7EBC0-2B86-32D4-2AD3-80F1D3A6F53D}"/>
              </a:ext>
            </a:extLst>
          </p:cNvPr>
          <p:cNvCxnSpPr>
            <a:cxnSpLocks/>
          </p:cNvCxnSpPr>
          <p:nvPr/>
        </p:nvCxnSpPr>
        <p:spPr>
          <a:xfrm>
            <a:off x="118533" y="3014115"/>
            <a:ext cx="9828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Rechteck 27">
            <a:extLst>
              <a:ext uri="{FF2B5EF4-FFF2-40B4-BE49-F238E27FC236}">
                <a16:creationId xmlns:a16="http://schemas.microsoft.com/office/drawing/2014/main" id="{2C7F210E-44C2-3C66-C47F-64D444F54765}"/>
              </a:ext>
            </a:extLst>
          </p:cNvPr>
          <p:cNvSpPr/>
          <p:nvPr/>
        </p:nvSpPr>
        <p:spPr>
          <a:xfrm rot="16200000">
            <a:off x="1726727" y="3188909"/>
            <a:ext cx="3858348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Inflation/Relative Consumer Prices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BDE87C37-1AF2-CA03-4404-B86BDC1AA136}"/>
              </a:ext>
            </a:extLst>
          </p:cNvPr>
          <p:cNvSpPr/>
          <p:nvPr/>
        </p:nvSpPr>
        <p:spPr>
          <a:xfrm>
            <a:off x="10329215" y="2376852"/>
            <a:ext cx="678753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Broad Index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028B6CF6-69BF-785B-75DC-3901836C8F31}"/>
              </a:ext>
            </a:extLst>
          </p:cNvPr>
          <p:cNvSpPr/>
          <p:nvPr/>
        </p:nvSpPr>
        <p:spPr>
          <a:xfrm>
            <a:off x="10329215" y="3162640"/>
            <a:ext cx="678753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Narrow Index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8FC6C353-D5DB-31EA-1ABD-11B376E66F5C}"/>
              </a:ext>
            </a:extLst>
          </p:cNvPr>
          <p:cNvCxnSpPr>
            <a:cxnSpLocks/>
            <a:stCxn id="57" idx="1"/>
            <a:endCxn id="39" idx="1"/>
          </p:cNvCxnSpPr>
          <p:nvPr/>
        </p:nvCxnSpPr>
        <p:spPr>
          <a:xfrm flipV="1">
            <a:off x="10229680" y="2602114"/>
            <a:ext cx="99535" cy="4259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0DE0F81B-9E95-B0F4-984D-4CB78B66B8A6}"/>
              </a:ext>
            </a:extLst>
          </p:cNvPr>
          <p:cNvCxnSpPr>
            <a:cxnSpLocks/>
            <a:stCxn id="57" idx="1"/>
            <a:endCxn id="40" idx="1"/>
          </p:cNvCxnSpPr>
          <p:nvPr/>
        </p:nvCxnSpPr>
        <p:spPr>
          <a:xfrm>
            <a:off x="10229680" y="3028026"/>
            <a:ext cx="99535" cy="3598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Geschweifte Klammer links 56">
            <a:extLst>
              <a:ext uri="{FF2B5EF4-FFF2-40B4-BE49-F238E27FC236}">
                <a16:creationId xmlns:a16="http://schemas.microsoft.com/office/drawing/2014/main" id="{58DDF9A1-2BD4-6DAF-F9C3-655C565256B0}"/>
              </a:ext>
            </a:extLst>
          </p:cNvPr>
          <p:cNvSpPr/>
          <p:nvPr/>
        </p:nvSpPr>
        <p:spPr>
          <a:xfrm rot="10800000">
            <a:off x="9810515" y="1367734"/>
            <a:ext cx="419165" cy="3320584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693F2CF6-BF9C-ABAA-8E14-DE62E3722178}"/>
              </a:ext>
            </a:extLst>
          </p:cNvPr>
          <p:cNvSpPr/>
          <p:nvPr/>
        </p:nvSpPr>
        <p:spPr>
          <a:xfrm>
            <a:off x="683171" y="4214764"/>
            <a:ext cx="2332121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Spot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Futures Markets (prices)</a:t>
            </a:r>
          </a:p>
        </p:txBody>
      </p: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119E95B4-1BF6-C452-1E1F-2BE496B4BD32}"/>
              </a:ext>
            </a:extLst>
          </p:cNvPr>
          <p:cNvCxnSpPr>
            <a:cxnSpLocks/>
            <a:stCxn id="29" idx="2"/>
            <a:endCxn id="70" idx="0"/>
          </p:cNvCxnSpPr>
          <p:nvPr/>
        </p:nvCxnSpPr>
        <p:spPr>
          <a:xfrm>
            <a:off x="1846957" y="4080016"/>
            <a:ext cx="2275" cy="1347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Rechteck 73">
            <a:extLst>
              <a:ext uri="{FF2B5EF4-FFF2-40B4-BE49-F238E27FC236}">
                <a16:creationId xmlns:a16="http://schemas.microsoft.com/office/drawing/2014/main" id="{E4478911-13F8-4643-BE07-6BE510CE413D}"/>
              </a:ext>
            </a:extLst>
          </p:cNvPr>
          <p:cNvSpPr/>
          <p:nvPr/>
        </p:nvSpPr>
        <p:spPr>
          <a:xfrm>
            <a:off x="6032683" y="3092033"/>
            <a:ext cx="1469865" cy="5540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1100" u="sng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Price variables:</a:t>
            </a:r>
          </a:p>
          <a:p>
            <a:pPr marL="171450" indent="-171450" algn="ctr">
              <a:buFontTx/>
              <a:buChar char="-"/>
            </a:pP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GDP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deflator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 algn="ctr">
              <a:buFontTx/>
              <a:buChar char="-"/>
            </a:pP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Unit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labor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costs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5" name="Rechteck 74">
            <a:extLst>
              <a:ext uri="{FF2B5EF4-FFF2-40B4-BE49-F238E27FC236}">
                <a16:creationId xmlns:a16="http://schemas.microsoft.com/office/drawing/2014/main" id="{776E1D30-F052-1481-DEF9-9ADB84C06DE1}"/>
              </a:ext>
            </a:extLst>
          </p:cNvPr>
          <p:cNvSpPr/>
          <p:nvPr/>
        </p:nvSpPr>
        <p:spPr>
          <a:xfrm>
            <a:off x="6032685" y="3734298"/>
            <a:ext cx="1469863" cy="39166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Tx/>
              <a:buChar char="-"/>
            </a:pP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Consumer prices</a:t>
            </a:r>
          </a:p>
          <a:p>
            <a:pPr marL="171450" indent="-171450" algn="ctr">
              <a:buFontTx/>
              <a:buChar char="-"/>
            </a:pP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Producer prices</a:t>
            </a:r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63777F85-A0C5-0394-7180-6549405BE783}"/>
              </a:ext>
            </a:extLst>
          </p:cNvPr>
          <p:cNvSpPr/>
          <p:nvPr/>
        </p:nvSpPr>
        <p:spPr>
          <a:xfrm>
            <a:off x="6028161" y="4224600"/>
            <a:ext cx="1477333" cy="39985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Tx/>
              <a:buChar char="-"/>
            </a:pP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Export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prices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0" name="Gewinkelte Verbindung 89">
            <a:extLst>
              <a:ext uri="{FF2B5EF4-FFF2-40B4-BE49-F238E27FC236}">
                <a16:creationId xmlns:a16="http://schemas.microsoft.com/office/drawing/2014/main" id="{CA409A5D-55EB-43B5-FB41-887ECED819F0}"/>
              </a:ext>
            </a:extLst>
          </p:cNvPr>
          <p:cNvCxnSpPr>
            <a:cxnSpLocks/>
            <a:stCxn id="5" idx="0"/>
            <a:endCxn id="74" idx="1"/>
          </p:cNvCxnSpPr>
          <p:nvPr/>
        </p:nvCxnSpPr>
        <p:spPr>
          <a:xfrm rot="16200000" flipH="1">
            <a:off x="5352811" y="2689185"/>
            <a:ext cx="218766" cy="1140977"/>
          </a:xfrm>
          <a:prstGeom prst="bentConnector4">
            <a:avLst>
              <a:gd name="adj1" fmla="val -37796"/>
              <a:gd name="adj2" fmla="val 88636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1" name="Rechteck 90">
            <a:extLst>
              <a:ext uri="{FF2B5EF4-FFF2-40B4-BE49-F238E27FC236}">
                <a16:creationId xmlns:a16="http://schemas.microsoft.com/office/drawing/2014/main" id="{07892A80-F4C2-70FF-9EA6-C52FCC6D7005}"/>
              </a:ext>
            </a:extLst>
          </p:cNvPr>
          <p:cNvSpPr/>
          <p:nvPr/>
        </p:nvSpPr>
        <p:spPr>
          <a:xfrm>
            <a:off x="6035629" y="3067690"/>
            <a:ext cx="1469865" cy="15324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D155609F-7F3F-46F3-3787-00D0B2997A8F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4891705" y="2602114"/>
            <a:ext cx="1" cy="5481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0" name="Rechteck 99">
            <a:extLst>
              <a:ext uri="{FF2B5EF4-FFF2-40B4-BE49-F238E27FC236}">
                <a16:creationId xmlns:a16="http://schemas.microsoft.com/office/drawing/2014/main" id="{FAFEEB4E-36E3-F716-444A-A9114AF806CA}"/>
              </a:ext>
            </a:extLst>
          </p:cNvPr>
          <p:cNvSpPr/>
          <p:nvPr/>
        </p:nvSpPr>
        <p:spPr>
          <a:xfrm>
            <a:off x="10119787" y="1693556"/>
            <a:ext cx="1107516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64 economies,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since</a:t>
            </a:r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1994</a:t>
            </a:r>
          </a:p>
        </p:txBody>
      </p:sp>
      <p:cxnSp>
        <p:nvCxnSpPr>
          <p:cNvPr id="101" name="Gerade Verbindung mit Pfeil 100">
            <a:extLst>
              <a:ext uri="{FF2B5EF4-FFF2-40B4-BE49-F238E27FC236}">
                <a16:creationId xmlns:a16="http://schemas.microsoft.com/office/drawing/2014/main" id="{9B3B376E-7655-571E-364F-9741AB117740}"/>
              </a:ext>
            </a:extLst>
          </p:cNvPr>
          <p:cNvCxnSpPr>
            <a:cxnSpLocks/>
            <a:stCxn id="39" idx="0"/>
            <a:endCxn id="100" idx="2"/>
          </p:cNvCxnSpPr>
          <p:nvPr/>
        </p:nvCxnSpPr>
        <p:spPr>
          <a:xfrm flipV="1">
            <a:off x="10668592" y="2144079"/>
            <a:ext cx="4953" cy="2327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4" name="Rechteck 103">
            <a:extLst>
              <a:ext uri="{FF2B5EF4-FFF2-40B4-BE49-F238E27FC236}">
                <a16:creationId xmlns:a16="http://schemas.microsoft.com/office/drawing/2014/main" id="{62B8B1EA-A050-56BE-2C9B-1D1638B45A49}"/>
              </a:ext>
            </a:extLst>
          </p:cNvPr>
          <p:cNvSpPr/>
          <p:nvPr/>
        </p:nvSpPr>
        <p:spPr>
          <a:xfrm>
            <a:off x="10222285" y="3870095"/>
            <a:ext cx="892068" cy="4505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26/27 economies</a:t>
            </a:r>
          </a:p>
        </p:txBody>
      </p:sp>
      <p:cxnSp>
        <p:nvCxnSpPr>
          <p:cNvPr id="105" name="Gerade Verbindung mit Pfeil 104">
            <a:extLst>
              <a:ext uri="{FF2B5EF4-FFF2-40B4-BE49-F238E27FC236}">
                <a16:creationId xmlns:a16="http://schemas.microsoft.com/office/drawing/2014/main" id="{DE121733-0DA9-6D69-117B-692C696959AB}"/>
              </a:ext>
            </a:extLst>
          </p:cNvPr>
          <p:cNvCxnSpPr>
            <a:cxnSpLocks/>
            <a:stCxn id="40" idx="2"/>
            <a:endCxn id="104" idx="0"/>
          </p:cNvCxnSpPr>
          <p:nvPr/>
        </p:nvCxnSpPr>
        <p:spPr>
          <a:xfrm flipH="1">
            <a:off x="10668319" y="3613163"/>
            <a:ext cx="273" cy="2569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Rechteck 121">
                <a:extLst>
                  <a:ext uri="{FF2B5EF4-FFF2-40B4-BE49-F238E27FC236}">
                    <a16:creationId xmlns:a16="http://schemas.microsoft.com/office/drawing/2014/main" id="{330159BD-A4C7-1118-673E-E6F98994C65C}"/>
                  </a:ext>
                </a:extLst>
              </p:cNvPr>
              <p:cNvSpPr/>
              <p:nvPr/>
            </p:nvSpPr>
            <p:spPr>
              <a:xfrm>
                <a:off x="7149681" y="1822174"/>
                <a:ext cx="2578985" cy="591021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𝒕𝒓𝒂𝒅𝒆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𝒘𝒆𝒊𝒈𝒉𝒕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𝒋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:endParaRPr lang="de-DE" sz="800" i="1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𝑚𝑎𝑛𝑢𝑓𝑎𝑐𝑡𝑢𝑟𝑖𝑛𝑔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𝑡𝑟𝑎𝑑𝑒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𝑓𝑙𝑜𝑤𝑠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𝑜𝑟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𝑡𝑖𝑚𝑒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𝑣𝑎𝑟𝑦𝑖𝑛𝑔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𝑤𝑒𝑖𝑔h𝑡𝑖𝑛𝑔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𝑝𝑎𝑡𝑡𝑒𝑟𝑛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(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𝑡h𝑟𝑒𝑒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−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𝑦𝑒𝑎𝑟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𝑏𝑎𝑠𝑖𝑠</m:t>
                      </m:r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)</m:t>
                      </m:r>
                    </m:oMath>
                  </m:oMathPara>
                </a14:m>
                <a:endParaRPr lang="de-DE" sz="8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22" name="Rechteck 121">
                <a:extLst>
                  <a:ext uri="{FF2B5EF4-FFF2-40B4-BE49-F238E27FC236}">
                    <a16:creationId xmlns:a16="http://schemas.microsoft.com/office/drawing/2014/main" id="{330159BD-A4C7-1118-673E-E6F98994C65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9681" y="1822174"/>
                <a:ext cx="2578985" cy="59102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A05DC4F2-D7F3-2FFF-B75D-A55322E5FD0B}"/>
                  </a:ext>
                </a:extLst>
              </p:cNvPr>
              <p:cNvSpPr/>
              <p:nvPr/>
            </p:nvSpPr>
            <p:spPr>
              <a:xfrm>
                <a:off x="507850" y="1675021"/>
                <a:ext cx="2940515" cy="88532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Nominal </a:t>
                </a:r>
                <a:r>
                  <a:rPr lang="de-DE" sz="110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Effective</a:t>
                </a:r>
                <a:r>
                  <a:rPr lang="de-DE" sz="11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Exchange Rates </a:t>
                </a:r>
                <a:r>
                  <a:rPr lang="de-DE" sz="1100" b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(NEER)</a:t>
                </a:r>
              </a:p>
              <a:p>
                <a:pPr algn="ctr"/>
                <a:endParaRPr lang="de-DE" sz="800" b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𝑵𝑬𝑬𝑹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 </m:t>
                      </m:r>
                      <m:nary>
                        <m:naryPr>
                          <m:chr m:val="∑"/>
                          <m:ctrlPr>
                            <a:rPr lang="de-DE" sz="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𝑗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𝑡𝑟𝑎𝑑𝑒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𝑤𝑒𝑖𝑔h𝑡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 panose="020B0604020202020204" pitchFamily="34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de-DE" sz="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bPr>
                            <m:e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𝑏𝑖𝑙𝑎𝑡𝑒𝑟𝑎𝑙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𝑒𝑥𝑐h𝑎𝑛𝑔𝑒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𝑟𝑎𝑡𝑒</m:t>
                              </m:r>
                            </m:e>
                            <m:sub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𝑐𝑜𝑢𝑛𝑡𝑟𝑦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 </m:t>
                              </m:r>
                              <m:r>
                                <a:rPr lang="de-DE" sz="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de-DE" sz="80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A05DC4F2-D7F3-2FFF-B75D-A55322E5FD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850" y="1675021"/>
                <a:ext cx="2940515" cy="885328"/>
              </a:xfrm>
              <a:prstGeom prst="rect">
                <a:avLst/>
              </a:prstGeom>
              <a:blipFill>
                <a:blip r:embed="rId6"/>
                <a:stretch>
                  <a:fillRect l="-7692" b="-583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0131962E-FE57-E17D-3EAA-2DC10F23C951}"/>
                  </a:ext>
                </a:extLst>
              </p:cNvPr>
              <p:cNvSpPr/>
              <p:nvPr/>
            </p:nvSpPr>
            <p:spPr>
              <a:xfrm>
                <a:off x="4010060" y="3150290"/>
                <a:ext cx="1763292" cy="99637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11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Real Exchange Rates</a:t>
                </a:r>
              </a:p>
              <a:p>
                <a:pPr algn="ctr"/>
                <a:r>
                  <a:rPr lang="de-DE" sz="1100" b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(RER)</a:t>
                </a:r>
              </a:p>
              <a:p>
                <a:pPr algn="ctr"/>
                <a:endParaRPr lang="de-DE" sz="1100" b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𝑹𝑬𝑹</m:t>
                          </m:r>
                        </m:e>
                        <m:sub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𝒄𝒐𝒖𝒏𝒕𝒓𝒚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 </m:t>
                          </m:r>
                          <m:r>
                            <a:rPr lang="de-DE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𝒊</m:t>
                          </m:r>
                        </m:sub>
                      </m:sSub>
                      <m:r>
                        <a:rPr lang="de-DE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</m:oMath>
                  </m:oMathPara>
                </a14:m>
                <a:endParaRPr lang="de-DE" sz="800" i="1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:endParaRPr lang="de-DE" sz="800" i="1">
                  <a:solidFill>
                    <a:schemeClr val="tx1"/>
                  </a:solidFill>
                  <a:latin typeface="Cambria Math" panose="02040503050406030204" pitchFamily="18" charset="0"/>
                  <a:cs typeface="Arial" panose="020B0604020202020204" pitchFamily="34" charset="0"/>
                </a:endParaRP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de-DE" sz="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𝑁𝐸𝑅</m:t>
                        </m:r>
                      </m:e>
                      <m:sub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𝑐𝑜𝑢𝑛𝑡𝑟𝑦</m:t>
                        </m:r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 </m:t>
                        </m:r>
                        <m:r>
                          <a:rPr lang="de-DE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𝑖</m:t>
                        </m:r>
                      </m:sub>
                    </m:sSub>
                    <m:r>
                      <a:rPr lang="de-DE" sz="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  <m:r>
                      <a:rPr lang="de-DE" sz="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∙ </m:t>
                    </m:r>
                    <m:f>
                      <m:fPr>
                        <m:ctrlPr>
                          <a:rPr lang="de-DE" sz="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8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𝑃𝑟𝑖𝑐𝑒</m:t>
                            </m:r>
                          </m:e>
                          <m:sub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𝑐𝑜𝑢𝑛𝑡𝑟𝑦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 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𝑗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sz="8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𝑃𝑟𝑖𝑐𝑒</m:t>
                            </m:r>
                          </m:e>
                          <m:sub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𝑐𝑜𝑢𝑛𝑡𝑟𝑦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 </m:t>
                            </m:r>
                            <m:r>
                              <a:rPr lang="de-DE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 panose="020B0604020202020204" pitchFamily="34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</m:oMath>
                </a14:m>
                <a:r>
                  <a:rPr lang="de-DE" sz="110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0131962E-FE57-E17D-3EAA-2DC10F23C9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0060" y="3150290"/>
                <a:ext cx="1763292" cy="996378"/>
              </a:xfrm>
              <a:prstGeom prst="rect">
                <a:avLst/>
              </a:prstGeom>
              <a:blipFill>
                <a:blip r:embed="rId7"/>
                <a:stretch>
                  <a:fillRect t="-2500" b="-25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65DD9C2D-A4F2-D8FA-BEB7-A058236406E1}"/>
              </a:ext>
            </a:extLst>
          </p:cNvPr>
          <p:cNvCxnSpPr>
            <a:cxnSpLocks/>
          </p:cNvCxnSpPr>
          <p:nvPr/>
        </p:nvCxnSpPr>
        <p:spPr>
          <a:xfrm>
            <a:off x="3448365" y="2133808"/>
            <a:ext cx="7200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Gerade Verbindung mit Pfeil 95">
            <a:extLst>
              <a:ext uri="{FF2B5EF4-FFF2-40B4-BE49-F238E27FC236}">
                <a16:creationId xmlns:a16="http://schemas.microsoft.com/office/drawing/2014/main" id="{99CEACD8-00B4-9DDF-2EC9-6EB90A0637EE}"/>
              </a:ext>
            </a:extLst>
          </p:cNvPr>
          <p:cNvCxnSpPr>
            <a:cxnSpLocks/>
            <a:stCxn id="46" idx="3"/>
            <a:endCxn id="122" idx="1"/>
          </p:cNvCxnSpPr>
          <p:nvPr/>
        </p:nvCxnSpPr>
        <p:spPr>
          <a:xfrm flipV="1">
            <a:off x="6955563" y="2117685"/>
            <a:ext cx="194118" cy="47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6" name="Rechteck 105">
            <a:extLst>
              <a:ext uri="{FF2B5EF4-FFF2-40B4-BE49-F238E27FC236}">
                <a16:creationId xmlns:a16="http://schemas.microsoft.com/office/drawing/2014/main" id="{F355F518-263D-D7FB-3A2D-63E27218F735}"/>
              </a:ext>
            </a:extLst>
          </p:cNvPr>
          <p:cNvSpPr/>
          <p:nvPr/>
        </p:nvSpPr>
        <p:spPr>
          <a:xfrm>
            <a:off x="48933" y="850711"/>
            <a:ext cx="3498967" cy="2116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Nominal terms</a:t>
            </a:r>
          </a:p>
        </p:txBody>
      </p:sp>
      <p:sp>
        <p:nvSpPr>
          <p:cNvPr id="107" name="Rechteck 106">
            <a:extLst>
              <a:ext uri="{FF2B5EF4-FFF2-40B4-BE49-F238E27FC236}">
                <a16:creationId xmlns:a16="http://schemas.microsoft.com/office/drawing/2014/main" id="{152C3B32-94E7-EF18-64BB-E383F284E014}"/>
              </a:ext>
            </a:extLst>
          </p:cNvPr>
          <p:cNvSpPr/>
          <p:nvPr/>
        </p:nvSpPr>
        <p:spPr>
          <a:xfrm>
            <a:off x="3763900" y="845559"/>
            <a:ext cx="6182633" cy="2168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 terms</a:t>
            </a:r>
          </a:p>
        </p:txBody>
      </p:sp>
      <p:cxnSp>
        <p:nvCxnSpPr>
          <p:cNvPr id="108" name="Gerade Verbindung 107">
            <a:extLst>
              <a:ext uri="{FF2B5EF4-FFF2-40B4-BE49-F238E27FC236}">
                <a16:creationId xmlns:a16="http://schemas.microsoft.com/office/drawing/2014/main" id="{3D78F894-3C2F-6134-B3EC-BADC65CB03E3}"/>
              </a:ext>
            </a:extLst>
          </p:cNvPr>
          <p:cNvCxnSpPr>
            <a:cxnSpLocks/>
          </p:cNvCxnSpPr>
          <p:nvPr/>
        </p:nvCxnSpPr>
        <p:spPr>
          <a:xfrm>
            <a:off x="118533" y="1230710"/>
            <a:ext cx="9828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" name="Gewinkelte Verbindung 108">
            <a:extLst>
              <a:ext uri="{FF2B5EF4-FFF2-40B4-BE49-F238E27FC236}">
                <a16:creationId xmlns:a16="http://schemas.microsoft.com/office/drawing/2014/main" id="{EB493B03-5273-8FCE-0725-35CDDF48311C}"/>
              </a:ext>
            </a:extLst>
          </p:cNvPr>
          <p:cNvCxnSpPr>
            <a:cxnSpLocks/>
            <a:stCxn id="78" idx="3"/>
            <a:endCxn id="12" idx="1"/>
          </p:cNvCxnSpPr>
          <p:nvPr/>
        </p:nvCxnSpPr>
        <p:spPr>
          <a:xfrm>
            <a:off x="7505494" y="4424527"/>
            <a:ext cx="251095" cy="18322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3476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818E8-0211-888C-8857-FDE54C245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FD8C67DD-13EC-925C-11D1-E7C9636FD942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Definitions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What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are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prices and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how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are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they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measured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  <p:graphicFrame>
        <p:nvGraphicFramePr>
          <p:cNvPr id="2" name="Tabelle 1">
            <a:extLst>
              <a:ext uri="{FF2B5EF4-FFF2-40B4-BE49-F238E27FC236}">
                <a16:creationId xmlns:a16="http://schemas.microsoft.com/office/drawing/2014/main" id="{21FE59F2-2736-539D-7563-2FEDF9020B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4828474"/>
              </p:ext>
            </p:extLst>
          </p:nvPr>
        </p:nvGraphicFramePr>
        <p:xfrm>
          <a:off x="626492" y="1280047"/>
          <a:ext cx="10267504" cy="42688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2781">
                  <a:extLst>
                    <a:ext uri="{9D8B030D-6E8A-4147-A177-3AD203B41FA5}">
                      <a16:colId xmlns:a16="http://schemas.microsoft.com/office/drawing/2014/main" val="1829092657"/>
                    </a:ext>
                  </a:extLst>
                </a:gridCol>
                <a:gridCol w="1618518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15299">
                  <a:extLst>
                    <a:ext uri="{9D8B030D-6E8A-4147-A177-3AD203B41FA5}">
                      <a16:colId xmlns:a16="http://schemas.microsoft.com/office/drawing/2014/main" val="3044762045"/>
                    </a:ext>
                  </a:extLst>
                </a:gridCol>
                <a:gridCol w="1203089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248121">
                  <a:extLst>
                    <a:ext uri="{9D8B030D-6E8A-4147-A177-3AD203B41FA5}">
                      <a16:colId xmlns:a16="http://schemas.microsoft.com/office/drawing/2014/main" val="1212434301"/>
                    </a:ext>
                  </a:extLst>
                </a:gridCol>
                <a:gridCol w="1248121">
                  <a:extLst>
                    <a:ext uri="{9D8B030D-6E8A-4147-A177-3AD203B41FA5}">
                      <a16:colId xmlns:a16="http://schemas.microsoft.com/office/drawing/2014/main" val="4146351851"/>
                    </a:ext>
                  </a:extLst>
                </a:gridCol>
                <a:gridCol w="1248121">
                  <a:extLst>
                    <a:ext uri="{9D8B030D-6E8A-4147-A177-3AD203B41FA5}">
                      <a16:colId xmlns:a16="http://schemas.microsoft.com/office/drawing/2014/main" val="1306773420"/>
                    </a:ext>
                  </a:extLst>
                </a:gridCol>
                <a:gridCol w="658070">
                  <a:extLst>
                    <a:ext uri="{9D8B030D-6E8A-4147-A177-3AD203B41FA5}">
                      <a16:colId xmlns:a16="http://schemas.microsoft.com/office/drawing/2014/main" val="3105118240"/>
                    </a:ext>
                  </a:extLst>
                </a:gridCol>
                <a:gridCol w="1022667">
                  <a:extLst>
                    <a:ext uri="{9D8B030D-6E8A-4147-A177-3AD203B41FA5}">
                      <a16:colId xmlns:a16="http://schemas.microsoft.com/office/drawing/2014/main" val="3855398356"/>
                    </a:ext>
                  </a:extLst>
                </a:gridCol>
                <a:gridCol w="782717">
                  <a:extLst>
                    <a:ext uri="{9D8B030D-6E8A-4147-A177-3AD203B41FA5}">
                      <a16:colId xmlns:a16="http://schemas.microsoft.com/office/drawing/2014/main" val="1668350418"/>
                    </a:ext>
                  </a:extLst>
                </a:gridCol>
              </a:tblGrid>
              <a:tr h="428400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Basket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</a:t>
                      </a:r>
                    </a:p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Frequency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</a:t>
                      </a:r>
                    </a:p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availability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</a:p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Rate 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Bilateral or 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 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Link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Real </a:t>
                      </a: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effective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</a:t>
                      </a: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from 1994-01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M.R.B.US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</a:t>
                      </a:r>
                      <a:r>
                        <a:rPr lang="de-DE" sz="5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data.bis.org</a:t>
                      </a:r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</a:t>
                      </a:r>
                      <a:r>
                        <a:rPr lang="de-DE" sz="5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topics</a:t>
                      </a:r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/EER/BIS,WS_EER,1.0/M.R.B.US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9946009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algn="ctr"/>
                      <a:r>
                        <a:rPr lang="de-DE" sz="11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Real </a:t>
                      </a: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effective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narrow 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</a:t>
                      </a: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from 1964-01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M.R.N.US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</a:t>
                      </a:r>
                      <a:r>
                        <a:rPr lang="de-DE" sz="5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data.bis.org</a:t>
                      </a:r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</a:t>
                      </a:r>
                      <a:r>
                        <a:rPr lang="de-DE" sz="5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topics</a:t>
                      </a:r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/EER/BIS,WS_EER,1.0/M.R.N.US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3541693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</a:t>
                      </a: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effective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</a:t>
                      </a: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from 1994-01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M.N.B.US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</a:t>
                      </a:r>
                      <a:r>
                        <a:rPr lang="de-DE" sz="5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data.bis.org</a:t>
                      </a:r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</a:t>
                      </a:r>
                      <a:r>
                        <a:rPr lang="de-DE" sz="5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topics</a:t>
                      </a:r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/EER/BIS,WS_EER,1.0/M.N.B.US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9837330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</a:t>
                      </a: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effective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narrow 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</a:t>
                      </a: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from 1964-01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M.N.N.US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</a:t>
                      </a:r>
                      <a:r>
                        <a:rPr lang="de-DE" sz="5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data.bis.org</a:t>
                      </a:r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</a:t>
                      </a:r>
                      <a:r>
                        <a:rPr lang="de-DE" sz="5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topics</a:t>
                      </a:r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/EER/BIS,WS_EER,1.0/M.N.N.US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7757916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</a:t>
                      </a: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effective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narrow 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daily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</a:t>
                      </a: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from 1983-10-03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D.N.N.US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</a:t>
                      </a:r>
                      <a:r>
                        <a:rPr lang="de-DE" sz="5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data.bis.org</a:t>
                      </a:r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</a:t>
                      </a:r>
                      <a:r>
                        <a:rPr lang="de-DE" sz="5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topics</a:t>
                      </a:r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/EER/BIS,WS_EER,1.0/D.N.N.US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5674366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</a:t>
                      </a:r>
                      <a:r>
                        <a:rPr lang="de-DE" sz="110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effective</a:t>
                      </a:r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 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daily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</a:t>
                      </a: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from 1996-04-11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D.N.B.US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</a:t>
                      </a:r>
                      <a:r>
                        <a:rPr lang="de-DE" sz="5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data.bis.org</a:t>
                      </a:r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</a:t>
                      </a:r>
                      <a:r>
                        <a:rPr lang="de-DE" sz="5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topics</a:t>
                      </a:r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/EER/BIS,WS_EER,1.0/D.N.B.US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9877748"/>
                  </a:ext>
                </a:extLst>
              </a:tr>
              <a:tr h="25787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USD-EUR Spot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daily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</a:t>
                      </a: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from 1999-01-04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DEXUSEU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https://fred.stlouisfed.org/series/DEXUSEU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7377485"/>
                  </a:ext>
                </a:extLst>
              </a:tr>
              <a:tr h="4245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Nominal Broad U.S. Dollar Index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daily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</a:t>
                      </a: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from 2006-01-02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b="0" i="0" u="none" strike="noStrike" kern="120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DTWEXBGS</a:t>
                      </a:r>
                    </a:p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https://fred.stlouisfed.org/series/DTWEXBGS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7079788"/>
                  </a:ext>
                </a:extLst>
              </a:tr>
              <a:tr h="42434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Real Broad Dollar Index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broad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monthly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 err="1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starting</a:t>
                      </a:r>
                      <a:r>
                        <a:rPr lang="de-DE" sz="1100" dirty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from 2006-01-01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Multilateral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RTWEXBGS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5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https://fred.stlouisfed.org/series/RTWEXBGS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75910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878431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5C400-169C-12D0-20F6-2EA61B93E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Gewinkelte Verbindung 20">
            <a:extLst>
              <a:ext uri="{FF2B5EF4-FFF2-40B4-BE49-F238E27FC236}">
                <a16:creationId xmlns:a16="http://schemas.microsoft.com/office/drawing/2014/main" id="{F32D6AC2-1170-FF45-7100-1F8E19D29D96}"/>
              </a:ext>
            </a:extLst>
          </p:cNvPr>
          <p:cNvCxnSpPr>
            <a:cxnSpLocks/>
            <a:stCxn id="6" idx="2"/>
            <a:endCxn id="19" idx="0"/>
          </p:cNvCxnSpPr>
          <p:nvPr/>
        </p:nvCxnSpPr>
        <p:spPr>
          <a:xfrm rot="16200000" flipH="1">
            <a:off x="5988317" y="1244054"/>
            <a:ext cx="1116897" cy="3189911"/>
          </a:xfrm>
          <a:prstGeom prst="bentConnector3">
            <a:avLst>
              <a:gd name="adj1" fmla="val 43968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Rechteck 48">
            <a:extLst>
              <a:ext uri="{FF2B5EF4-FFF2-40B4-BE49-F238E27FC236}">
                <a16:creationId xmlns:a16="http://schemas.microsoft.com/office/drawing/2014/main" id="{3920F220-B949-2339-A8C2-BB237B1DB1D4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A simple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of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exchange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rates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energy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commodity</a:t>
            </a:r>
            <a:r>
              <a:rPr lang="de-DE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2400" dirty="0" err="1">
                <a:latin typeface="Arial" panose="020B0604020202020204" pitchFamily="34" charset="0"/>
                <a:cs typeface="Arial" panose="020B0604020202020204" pitchFamily="34" charset="0"/>
              </a:rPr>
              <a:t>prices</a:t>
            </a:r>
            <a:endParaRPr lang="de-DE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45DB3D19-FB0D-EF49-B5C4-F4FD1FF6DE8D}"/>
              </a:ext>
            </a:extLst>
          </p:cNvPr>
          <p:cNvSpPr/>
          <p:nvPr/>
        </p:nvSpPr>
        <p:spPr>
          <a:xfrm>
            <a:off x="248266" y="1729947"/>
            <a:ext cx="1013015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Fundamental</a:t>
            </a:r>
          </a:p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shock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6E3B20DB-4112-8910-13D9-7A86DEC9A7C4}"/>
              </a:ext>
            </a:extLst>
          </p:cNvPr>
          <p:cNvSpPr/>
          <p:nvPr/>
        </p:nvSpPr>
        <p:spPr>
          <a:xfrm>
            <a:off x="1440374" y="1731970"/>
            <a:ext cx="1667844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Adjusted future expectations for demand-supply levels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D1EE2EB-33FB-6EDA-10DF-6A28DBAE199A}"/>
              </a:ext>
            </a:extLst>
          </p:cNvPr>
          <p:cNvSpPr/>
          <p:nvPr/>
        </p:nvSpPr>
        <p:spPr>
          <a:xfrm>
            <a:off x="3325347" y="1729950"/>
            <a:ext cx="1013015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(Spot) Price adjustments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3B07525-A5A1-F1B4-8FEE-C3582CE113E6}"/>
              </a:ext>
            </a:extLst>
          </p:cNvPr>
          <p:cNvSpPr/>
          <p:nvPr/>
        </p:nvSpPr>
        <p:spPr>
          <a:xfrm>
            <a:off x="4551106" y="1729945"/>
            <a:ext cx="801408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Increased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F9704E9-C9FC-0392-9481-18E53C7E54AB}"/>
              </a:ext>
            </a:extLst>
          </p:cNvPr>
          <p:cNvSpPr/>
          <p:nvPr/>
        </p:nvSpPr>
        <p:spPr>
          <a:xfrm>
            <a:off x="5561975" y="1729947"/>
            <a:ext cx="1470274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Inflationary pressure driving up prices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DC245E0-1CC8-DB0D-66F1-926593ED389A}"/>
              </a:ext>
            </a:extLst>
          </p:cNvPr>
          <p:cNvSpPr/>
          <p:nvPr/>
        </p:nvSpPr>
        <p:spPr>
          <a:xfrm>
            <a:off x="7241710" y="1731968"/>
            <a:ext cx="1250320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Monetary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policy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rate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hikes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7518F9D-DEDF-B6B2-0E24-08F10E38C0E0}"/>
              </a:ext>
            </a:extLst>
          </p:cNvPr>
          <p:cNvSpPr/>
          <p:nvPr/>
        </p:nvSpPr>
        <p:spPr>
          <a:xfrm>
            <a:off x="3499677" y="737582"/>
            <a:ext cx="4414650" cy="2834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Heavily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affect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energy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commodity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importing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exporting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economies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3C939E41-E3A2-C747-4064-B68050C474F3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1261281" y="2005256"/>
            <a:ext cx="179093" cy="20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09FAAAE3-A7B8-1029-83FE-3B9AC849744F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 flipV="1">
            <a:off x="3108218" y="2005259"/>
            <a:ext cx="217129" cy="20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D8F030C5-9C48-09E7-A29F-635530C8C3CB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4338362" y="2005254"/>
            <a:ext cx="212744" cy="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664E26FE-27DB-68F7-2056-B905672248EE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5352514" y="2005254"/>
            <a:ext cx="209461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105F554B-0FE6-6140-6491-7EA5FEB5711F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7032249" y="2005256"/>
            <a:ext cx="209461" cy="20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Geschweifte Klammer links 27">
            <a:extLst>
              <a:ext uri="{FF2B5EF4-FFF2-40B4-BE49-F238E27FC236}">
                <a16:creationId xmlns:a16="http://schemas.microsoft.com/office/drawing/2014/main" id="{0BFEA76D-99AB-C7B1-3409-A2CA2B156445}"/>
              </a:ext>
            </a:extLst>
          </p:cNvPr>
          <p:cNvSpPr/>
          <p:nvPr/>
        </p:nvSpPr>
        <p:spPr>
          <a:xfrm rot="5400000">
            <a:off x="5578026" y="-4297533"/>
            <a:ext cx="257952" cy="1091747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E8E839D3-8E65-96AC-44BB-A8244DC0C808}"/>
              </a:ext>
            </a:extLst>
          </p:cNvPr>
          <p:cNvSpPr/>
          <p:nvPr/>
        </p:nvSpPr>
        <p:spPr>
          <a:xfrm>
            <a:off x="8701491" y="1729946"/>
            <a:ext cx="993976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Interest rate differentials</a:t>
            </a:r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3211AE1E-AE25-8A87-F56C-3147B731828B}"/>
              </a:ext>
            </a:extLst>
          </p:cNvPr>
          <p:cNvCxnSpPr>
            <a:cxnSpLocks/>
            <a:stCxn id="8" idx="3"/>
            <a:endCxn id="29" idx="1"/>
          </p:cNvCxnSpPr>
          <p:nvPr/>
        </p:nvCxnSpPr>
        <p:spPr>
          <a:xfrm flipV="1">
            <a:off x="8492030" y="2005255"/>
            <a:ext cx="209461" cy="20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8" name="Rechteck 67">
            <a:extLst>
              <a:ext uri="{FF2B5EF4-FFF2-40B4-BE49-F238E27FC236}">
                <a16:creationId xmlns:a16="http://schemas.microsoft.com/office/drawing/2014/main" id="{A3D75D58-23EF-B26E-E6B6-BD808793409E}"/>
              </a:ext>
            </a:extLst>
          </p:cNvPr>
          <p:cNvSpPr/>
          <p:nvPr/>
        </p:nvSpPr>
        <p:spPr>
          <a:xfrm>
            <a:off x="4705254" y="2438771"/>
            <a:ext cx="1764000" cy="23133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u="sng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Derived proxy variables</a:t>
            </a:r>
          </a:p>
        </p:txBody>
      </p:sp>
      <p:cxnSp>
        <p:nvCxnSpPr>
          <p:cNvPr id="69" name="Gerade Verbindung 68">
            <a:extLst>
              <a:ext uri="{FF2B5EF4-FFF2-40B4-BE49-F238E27FC236}">
                <a16:creationId xmlns:a16="http://schemas.microsoft.com/office/drawing/2014/main" id="{FE987C23-781F-B2CF-C7AE-167A9F3DD8D1}"/>
              </a:ext>
            </a:extLst>
          </p:cNvPr>
          <p:cNvCxnSpPr>
            <a:cxnSpLocks/>
            <a:stCxn id="68" idx="3"/>
          </p:cNvCxnSpPr>
          <p:nvPr/>
        </p:nvCxnSpPr>
        <p:spPr>
          <a:xfrm>
            <a:off x="6469253" y="2554439"/>
            <a:ext cx="486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Gerade Verbindung 71">
            <a:extLst>
              <a:ext uri="{FF2B5EF4-FFF2-40B4-BE49-F238E27FC236}">
                <a16:creationId xmlns:a16="http://schemas.microsoft.com/office/drawing/2014/main" id="{19AD80B6-AA37-15C4-F4F1-1AB2FCC6B0F7}"/>
              </a:ext>
            </a:extLst>
          </p:cNvPr>
          <p:cNvCxnSpPr>
            <a:cxnSpLocks/>
            <a:endCxn id="68" idx="1"/>
          </p:cNvCxnSpPr>
          <p:nvPr/>
        </p:nvCxnSpPr>
        <p:spPr>
          <a:xfrm>
            <a:off x="80437" y="2554439"/>
            <a:ext cx="4624817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Rechteck 74">
            <a:extLst>
              <a:ext uri="{FF2B5EF4-FFF2-40B4-BE49-F238E27FC236}">
                <a16:creationId xmlns:a16="http://schemas.microsoft.com/office/drawing/2014/main" id="{E696DFB3-6C85-FB27-6A91-5EA8F7652298}"/>
              </a:ext>
            </a:extLst>
          </p:cNvPr>
          <p:cNvSpPr/>
          <p:nvPr/>
        </p:nvSpPr>
        <p:spPr>
          <a:xfrm>
            <a:off x="9898266" y="1736307"/>
            <a:ext cx="1267475" cy="55061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Parity conditions</a:t>
            </a:r>
          </a:p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(PPP/UIP/CIP)</a:t>
            </a: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01F56126-26E4-9EEE-B156-7BAD009C4BFB}"/>
              </a:ext>
            </a:extLst>
          </p:cNvPr>
          <p:cNvCxnSpPr>
            <a:cxnSpLocks/>
            <a:stCxn id="29" idx="3"/>
            <a:endCxn id="75" idx="1"/>
          </p:cNvCxnSpPr>
          <p:nvPr/>
        </p:nvCxnSpPr>
        <p:spPr>
          <a:xfrm>
            <a:off x="9695467" y="2005255"/>
            <a:ext cx="202799" cy="63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4" name="Geschweifte Klammer links 93">
            <a:extLst>
              <a:ext uri="{FF2B5EF4-FFF2-40B4-BE49-F238E27FC236}">
                <a16:creationId xmlns:a16="http://schemas.microsoft.com/office/drawing/2014/main" id="{B27D7CBE-6F19-33C5-FAA5-62CCD66AEB24}"/>
              </a:ext>
            </a:extLst>
          </p:cNvPr>
          <p:cNvSpPr/>
          <p:nvPr/>
        </p:nvSpPr>
        <p:spPr>
          <a:xfrm rot="16200000">
            <a:off x="5497420" y="-1324924"/>
            <a:ext cx="419165" cy="1091747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546DFDDA-2BBF-08A0-3697-A553591CD972}"/>
              </a:ext>
            </a:extLst>
          </p:cNvPr>
          <p:cNvSpPr/>
          <p:nvPr/>
        </p:nvSpPr>
        <p:spPr>
          <a:xfrm>
            <a:off x="3831854" y="4343398"/>
            <a:ext cx="3770729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Transmission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depending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on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degree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of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financial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integration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6" name="Rechteck 95">
            <a:extLst>
              <a:ext uri="{FF2B5EF4-FFF2-40B4-BE49-F238E27FC236}">
                <a16:creationId xmlns:a16="http://schemas.microsoft.com/office/drawing/2014/main" id="{62278FA6-30BC-7A66-3EC6-1A3FF8DCCFC1}"/>
              </a:ext>
            </a:extLst>
          </p:cNvPr>
          <p:cNvSpPr/>
          <p:nvPr/>
        </p:nvSpPr>
        <p:spPr>
          <a:xfrm>
            <a:off x="5845629" y="4669899"/>
            <a:ext cx="2646401" cy="2304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Open interest in futures markets</a:t>
            </a:r>
          </a:p>
        </p:txBody>
      </p:sp>
      <p:sp>
        <p:nvSpPr>
          <p:cNvPr id="97" name="Rechteck 96">
            <a:extLst>
              <a:ext uri="{FF2B5EF4-FFF2-40B4-BE49-F238E27FC236}">
                <a16:creationId xmlns:a16="http://schemas.microsoft.com/office/drawing/2014/main" id="{EFB9C413-B00B-E725-ECB1-DF29291F41C1}"/>
              </a:ext>
            </a:extLst>
          </p:cNvPr>
          <p:cNvSpPr/>
          <p:nvPr/>
        </p:nvSpPr>
        <p:spPr>
          <a:xfrm>
            <a:off x="4077380" y="3517511"/>
            <a:ext cx="2851717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Crude Oil WTI Front Month Future Price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7C4E366A-D035-6428-74DE-7B917A0E8EAE}"/>
              </a:ext>
            </a:extLst>
          </p:cNvPr>
          <p:cNvSpPr/>
          <p:nvPr/>
        </p:nvSpPr>
        <p:spPr>
          <a:xfrm>
            <a:off x="4077379" y="3834376"/>
            <a:ext cx="2851717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Crude Oil WTI Spot Price</a:t>
            </a:r>
          </a:p>
        </p:txBody>
      </p:sp>
      <p:cxnSp>
        <p:nvCxnSpPr>
          <p:cNvPr id="99" name="Gewinkelte Verbindung 98">
            <a:extLst>
              <a:ext uri="{FF2B5EF4-FFF2-40B4-BE49-F238E27FC236}">
                <a16:creationId xmlns:a16="http://schemas.microsoft.com/office/drawing/2014/main" id="{1A9821BD-B305-851A-88A4-BBE9C6B02007}"/>
              </a:ext>
            </a:extLst>
          </p:cNvPr>
          <p:cNvCxnSpPr>
            <a:cxnSpLocks/>
            <a:stCxn id="5" idx="2"/>
            <a:endCxn id="97" idx="1"/>
          </p:cNvCxnSpPr>
          <p:nvPr/>
        </p:nvCxnSpPr>
        <p:spPr>
          <a:xfrm rot="16200000" flipH="1">
            <a:off x="3278545" y="2833876"/>
            <a:ext cx="1352144" cy="24552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" name="Gewinkelte Verbindung 102">
            <a:extLst>
              <a:ext uri="{FF2B5EF4-FFF2-40B4-BE49-F238E27FC236}">
                <a16:creationId xmlns:a16="http://schemas.microsoft.com/office/drawing/2014/main" id="{7D31F963-270D-77EB-ED1F-9EB4B0119ED2}"/>
              </a:ext>
            </a:extLst>
          </p:cNvPr>
          <p:cNvCxnSpPr>
            <a:cxnSpLocks/>
            <a:stCxn id="5" idx="2"/>
            <a:endCxn id="98" idx="1"/>
          </p:cNvCxnSpPr>
          <p:nvPr/>
        </p:nvCxnSpPr>
        <p:spPr>
          <a:xfrm rot="16200000" flipH="1">
            <a:off x="3120113" y="2992309"/>
            <a:ext cx="1669009" cy="24552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" name="Gewinkelte Verbindung 105">
            <a:extLst>
              <a:ext uri="{FF2B5EF4-FFF2-40B4-BE49-F238E27FC236}">
                <a16:creationId xmlns:a16="http://schemas.microsoft.com/office/drawing/2014/main" id="{4070ED22-2D8D-88E0-E030-E4339E1626CD}"/>
              </a:ext>
            </a:extLst>
          </p:cNvPr>
          <p:cNvCxnSpPr>
            <a:cxnSpLocks/>
            <a:stCxn id="95" idx="2"/>
            <a:endCxn id="96" idx="1"/>
          </p:cNvCxnSpPr>
          <p:nvPr/>
        </p:nvCxnSpPr>
        <p:spPr>
          <a:xfrm rot="16200000" flipH="1">
            <a:off x="5675774" y="4615243"/>
            <a:ext cx="211301" cy="12841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" name="Gewinkelte Verbindung 117">
            <a:extLst>
              <a:ext uri="{FF2B5EF4-FFF2-40B4-BE49-F238E27FC236}">
                <a16:creationId xmlns:a16="http://schemas.microsoft.com/office/drawing/2014/main" id="{58828655-9B5C-D596-6B15-8E7757820871}"/>
              </a:ext>
            </a:extLst>
          </p:cNvPr>
          <p:cNvCxnSpPr>
            <a:cxnSpLocks/>
            <a:stCxn id="2" idx="2"/>
            <a:endCxn id="121" idx="1"/>
          </p:cNvCxnSpPr>
          <p:nvPr/>
        </p:nvCxnSpPr>
        <p:spPr>
          <a:xfrm rot="16200000" flipH="1">
            <a:off x="91296" y="2944042"/>
            <a:ext cx="1475731" cy="14877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1" name="Rechteck 120">
            <a:extLst>
              <a:ext uri="{FF2B5EF4-FFF2-40B4-BE49-F238E27FC236}">
                <a16:creationId xmlns:a16="http://schemas.microsoft.com/office/drawing/2014/main" id="{B0ADA5D6-3FD1-CBB1-749C-1A2DAC0215FD}"/>
              </a:ext>
            </a:extLst>
          </p:cNvPr>
          <p:cNvSpPr/>
          <p:nvPr/>
        </p:nvSpPr>
        <p:spPr>
          <a:xfrm>
            <a:off x="903548" y="3641095"/>
            <a:ext cx="1542696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Defined crisis periods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11C4393-6314-BFD0-EDEF-6CF65E414970}"/>
              </a:ext>
            </a:extLst>
          </p:cNvPr>
          <p:cNvSpPr/>
          <p:nvPr/>
        </p:nvSpPr>
        <p:spPr>
          <a:xfrm>
            <a:off x="2501762" y="2849560"/>
            <a:ext cx="1248465" cy="2304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OPEC volumes</a:t>
            </a:r>
          </a:p>
        </p:txBody>
      </p:sp>
      <p:cxnSp>
        <p:nvCxnSpPr>
          <p:cNvPr id="13" name="Gewinkelte Verbindung 12">
            <a:extLst>
              <a:ext uri="{FF2B5EF4-FFF2-40B4-BE49-F238E27FC236}">
                <a16:creationId xmlns:a16="http://schemas.microsoft.com/office/drawing/2014/main" id="{2B4BDEEF-7E89-B3C5-3FD6-40F4876B0C60}"/>
              </a:ext>
            </a:extLst>
          </p:cNvPr>
          <p:cNvCxnSpPr>
            <a:cxnSpLocks/>
            <a:stCxn id="3" idx="2"/>
            <a:endCxn id="10" idx="1"/>
          </p:cNvCxnSpPr>
          <p:nvPr/>
        </p:nvCxnSpPr>
        <p:spPr>
          <a:xfrm rot="16200000" flipH="1">
            <a:off x="2046943" y="2509940"/>
            <a:ext cx="682173" cy="22746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Geschweifte Klammer links 17">
            <a:extLst>
              <a:ext uri="{FF2B5EF4-FFF2-40B4-BE49-F238E27FC236}">
                <a16:creationId xmlns:a16="http://schemas.microsoft.com/office/drawing/2014/main" id="{C5B44584-46E0-0BE5-3F1A-2FC7076572F3}"/>
              </a:ext>
            </a:extLst>
          </p:cNvPr>
          <p:cNvSpPr/>
          <p:nvPr/>
        </p:nvSpPr>
        <p:spPr>
          <a:xfrm rot="10800000">
            <a:off x="6994878" y="2862355"/>
            <a:ext cx="419165" cy="1226421"/>
          </a:xfrm>
          <a:prstGeom prst="leftBrace">
            <a:avLst>
              <a:gd name="adj1" fmla="val 8333"/>
              <a:gd name="adj2" fmla="val 4843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FE5CA635-4C49-2BB9-7D73-4A2A0CA141DE}"/>
              </a:ext>
            </a:extLst>
          </p:cNvPr>
          <p:cNvSpPr/>
          <p:nvPr/>
        </p:nvSpPr>
        <p:spPr>
          <a:xfrm>
            <a:off x="7454278" y="3397459"/>
            <a:ext cx="1374885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(Rolling) Volatility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2C2A845E-3515-0FD7-1B97-5549F6F1C794}"/>
              </a:ext>
            </a:extLst>
          </p:cNvPr>
          <p:cNvSpPr/>
          <p:nvPr/>
        </p:nvSpPr>
        <p:spPr>
          <a:xfrm>
            <a:off x="4935654" y="5685068"/>
            <a:ext cx="1542696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Regime dependent</a:t>
            </a:r>
          </a:p>
        </p:txBody>
      </p:sp>
      <p:sp>
        <p:nvSpPr>
          <p:cNvPr id="33" name="Geschweifte Klammer links 32">
            <a:extLst>
              <a:ext uri="{FF2B5EF4-FFF2-40B4-BE49-F238E27FC236}">
                <a16:creationId xmlns:a16="http://schemas.microsoft.com/office/drawing/2014/main" id="{A0F6E71F-FFE6-DF2D-BCBE-F758A9BAFC3E}"/>
              </a:ext>
            </a:extLst>
          </p:cNvPr>
          <p:cNvSpPr/>
          <p:nvPr/>
        </p:nvSpPr>
        <p:spPr>
          <a:xfrm rot="16200000">
            <a:off x="5507635" y="-5105"/>
            <a:ext cx="419165" cy="1091747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AD66E357-8389-AD61-8CAC-077D2B7C2E02}"/>
              </a:ext>
            </a:extLst>
          </p:cNvPr>
          <p:cNvSpPr/>
          <p:nvPr/>
        </p:nvSpPr>
        <p:spPr>
          <a:xfrm>
            <a:off x="9378818" y="3054360"/>
            <a:ext cx="1799342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Central Bank Policy Rates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3832D77E-E5BB-792E-3AC5-268CBD4665D8}"/>
              </a:ext>
            </a:extLst>
          </p:cNvPr>
          <p:cNvSpPr/>
          <p:nvPr/>
        </p:nvSpPr>
        <p:spPr>
          <a:xfrm>
            <a:off x="9378818" y="3396185"/>
            <a:ext cx="1799342" cy="3745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3M Interbank lending rates</a:t>
            </a:r>
          </a:p>
        </p:txBody>
      </p:sp>
      <p:cxnSp>
        <p:nvCxnSpPr>
          <p:cNvPr id="36" name="Gewinkelte Verbindung 35">
            <a:extLst>
              <a:ext uri="{FF2B5EF4-FFF2-40B4-BE49-F238E27FC236}">
                <a16:creationId xmlns:a16="http://schemas.microsoft.com/office/drawing/2014/main" id="{5D58BF1E-0267-CD1B-A8D8-D5BA270B2403}"/>
              </a:ext>
            </a:extLst>
          </p:cNvPr>
          <p:cNvCxnSpPr>
            <a:cxnSpLocks/>
            <a:stCxn id="29" idx="2"/>
            <a:endCxn id="34" idx="1"/>
          </p:cNvCxnSpPr>
          <p:nvPr/>
        </p:nvCxnSpPr>
        <p:spPr>
          <a:xfrm rot="16200000" flipH="1">
            <a:off x="8844150" y="2634891"/>
            <a:ext cx="888997" cy="18033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Gewinkelte Verbindung 38">
            <a:extLst>
              <a:ext uri="{FF2B5EF4-FFF2-40B4-BE49-F238E27FC236}">
                <a16:creationId xmlns:a16="http://schemas.microsoft.com/office/drawing/2014/main" id="{AA9E123C-BD88-94BC-D3DD-67CEA79CD5A4}"/>
              </a:ext>
            </a:extLst>
          </p:cNvPr>
          <p:cNvCxnSpPr>
            <a:cxnSpLocks/>
            <a:stCxn id="29" idx="2"/>
            <a:endCxn id="35" idx="1"/>
          </p:cNvCxnSpPr>
          <p:nvPr/>
        </p:nvCxnSpPr>
        <p:spPr>
          <a:xfrm rot="16200000" flipH="1">
            <a:off x="8637196" y="2841845"/>
            <a:ext cx="1302905" cy="18033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4143DB3E-7694-5D50-523F-9E580EE43186}"/>
              </a:ext>
            </a:extLst>
          </p:cNvPr>
          <p:cNvSpPr/>
          <p:nvPr/>
        </p:nvSpPr>
        <p:spPr>
          <a:xfrm>
            <a:off x="8305149" y="2593674"/>
            <a:ext cx="576461" cy="2304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CPI</a:t>
            </a:r>
          </a:p>
        </p:txBody>
      </p:sp>
      <p:sp>
        <p:nvSpPr>
          <p:cNvPr id="53" name="Geschweifte Klammer links 52">
            <a:extLst>
              <a:ext uri="{FF2B5EF4-FFF2-40B4-BE49-F238E27FC236}">
                <a16:creationId xmlns:a16="http://schemas.microsoft.com/office/drawing/2014/main" id="{75D83B1D-AFD6-D9E6-A4CA-3220113BEC7F}"/>
              </a:ext>
            </a:extLst>
          </p:cNvPr>
          <p:cNvSpPr/>
          <p:nvPr/>
        </p:nvSpPr>
        <p:spPr>
          <a:xfrm rot="16200000">
            <a:off x="6927899" y="919262"/>
            <a:ext cx="215917" cy="2912347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1" name="Geschweifte Klammer links 60">
            <a:extLst>
              <a:ext uri="{FF2B5EF4-FFF2-40B4-BE49-F238E27FC236}">
                <a16:creationId xmlns:a16="http://schemas.microsoft.com/office/drawing/2014/main" id="{A8E3832B-6883-6FD6-2DDE-86585AF6F486}"/>
              </a:ext>
            </a:extLst>
          </p:cNvPr>
          <p:cNvSpPr/>
          <p:nvPr/>
        </p:nvSpPr>
        <p:spPr>
          <a:xfrm rot="5400000">
            <a:off x="2233476" y="-431714"/>
            <a:ext cx="119671" cy="409010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2" name="Rechteck 61">
            <a:extLst>
              <a:ext uri="{FF2B5EF4-FFF2-40B4-BE49-F238E27FC236}">
                <a16:creationId xmlns:a16="http://schemas.microsoft.com/office/drawing/2014/main" id="{5E383347-8861-E3BF-A928-13C2C0E16831}"/>
              </a:ext>
            </a:extLst>
          </p:cNvPr>
          <p:cNvSpPr/>
          <p:nvPr/>
        </p:nvSpPr>
        <p:spPr>
          <a:xfrm>
            <a:off x="977198" y="1306400"/>
            <a:ext cx="2632225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Classical information efficiency theory</a:t>
            </a:r>
          </a:p>
        </p:txBody>
      </p:sp>
      <p:sp>
        <p:nvSpPr>
          <p:cNvPr id="63" name="Rechteck 62">
            <a:extLst>
              <a:ext uri="{FF2B5EF4-FFF2-40B4-BE49-F238E27FC236}">
                <a16:creationId xmlns:a16="http://schemas.microsoft.com/office/drawing/2014/main" id="{4B7D7EC2-4DA3-D574-E32E-60EB0C1F6A5C}"/>
              </a:ext>
            </a:extLst>
          </p:cNvPr>
          <p:cNvSpPr/>
          <p:nvPr/>
        </p:nvSpPr>
        <p:spPr>
          <a:xfrm>
            <a:off x="10689577" y="2607101"/>
            <a:ext cx="792000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0" i="0" u="none" strike="noStrike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EUR/USD</a:t>
            </a:r>
          </a:p>
        </p:txBody>
      </p:sp>
      <p:cxnSp>
        <p:nvCxnSpPr>
          <p:cNvPr id="64" name="Gewinkelte Verbindung 63">
            <a:extLst>
              <a:ext uri="{FF2B5EF4-FFF2-40B4-BE49-F238E27FC236}">
                <a16:creationId xmlns:a16="http://schemas.microsoft.com/office/drawing/2014/main" id="{24B51B47-8D5E-7AF1-5416-AAE5A167318F}"/>
              </a:ext>
            </a:extLst>
          </p:cNvPr>
          <p:cNvCxnSpPr>
            <a:cxnSpLocks/>
            <a:stCxn id="75" idx="2"/>
            <a:endCxn id="63" idx="1"/>
          </p:cNvCxnSpPr>
          <p:nvPr/>
        </p:nvCxnSpPr>
        <p:spPr>
          <a:xfrm rot="16200000" flipH="1">
            <a:off x="10393102" y="2425825"/>
            <a:ext cx="435377" cy="15757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Gewinkelte Verbindung 73">
            <a:extLst>
              <a:ext uri="{FF2B5EF4-FFF2-40B4-BE49-F238E27FC236}">
                <a16:creationId xmlns:a16="http://schemas.microsoft.com/office/drawing/2014/main" id="{FBA6D73B-2EA4-72BF-8355-5763FCEF3193}"/>
              </a:ext>
            </a:extLst>
          </p:cNvPr>
          <p:cNvCxnSpPr>
            <a:cxnSpLocks/>
            <a:stCxn id="53" idx="1"/>
            <a:endCxn id="44" idx="1"/>
          </p:cNvCxnSpPr>
          <p:nvPr/>
        </p:nvCxnSpPr>
        <p:spPr>
          <a:xfrm rot="16200000" flipH="1">
            <a:off x="7557763" y="1961488"/>
            <a:ext cx="225480" cy="1269291"/>
          </a:xfrm>
          <a:prstGeom prst="bentConnector4">
            <a:avLst>
              <a:gd name="adj1" fmla="val 101384"/>
              <a:gd name="adj2" fmla="val 54253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Rechteck 13">
            <a:extLst>
              <a:ext uri="{FF2B5EF4-FFF2-40B4-BE49-F238E27FC236}">
                <a16:creationId xmlns:a16="http://schemas.microsoft.com/office/drawing/2014/main" id="{0899C555-34FE-A0FC-A6DA-A49D1F54EF81}"/>
              </a:ext>
            </a:extLst>
          </p:cNvPr>
          <p:cNvSpPr/>
          <p:nvPr/>
        </p:nvSpPr>
        <p:spPr>
          <a:xfrm>
            <a:off x="5845629" y="4965429"/>
            <a:ext cx="2646401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Trading volume in futures markets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6E79E564-161E-55DB-D07C-F70FF4DCAEA8}"/>
              </a:ext>
            </a:extLst>
          </p:cNvPr>
          <p:cNvSpPr/>
          <p:nvPr/>
        </p:nvSpPr>
        <p:spPr>
          <a:xfrm>
            <a:off x="4077379" y="2841982"/>
            <a:ext cx="2851717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Gas Front Month Future Price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8001AAF7-1BAC-77FC-6184-6D2824984C15}"/>
              </a:ext>
            </a:extLst>
          </p:cNvPr>
          <p:cNvSpPr/>
          <p:nvPr/>
        </p:nvSpPr>
        <p:spPr>
          <a:xfrm>
            <a:off x="4077379" y="3169560"/>
            <a:ext cx="2851717" cy="2304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Gas Spot Price</a:t>
            </a:r>
          </a:p>
        </p:txBody>
      </p:sp>
      <p:cxnSp>
        <p:nvCxnSpPr>
          <p:cNvPr id="24" name="Gewinkelte Verbindung 23">
            <a:extLst>
              <a:ext uri="{FF2B5EF4-FFF2-40B4-BE49-F238E27FC236}">
                <a16:creationId xmlns:a16="http://schemas.microsoft.com/office/drawing/2014/main" id="{A2BFA96B-A1CF-1F21-E29C-BF3013031997}"/>
              </a:ext>
            </a:extLst>
          </p:cNvPr>
          <p:cNvCxnSpPr>
            <a:cxnSpLocks/>
            <a:stCxn id="5" idx="2"/>
            <a:endCxn id="17" idx="1"/>
          </p:cNvCxnSpPr>
          <p:nvPr/>
        </p:nvCxnSpPr>
        <p:spPr>
          <a:xfrm rot="16200000" flipH="1">
            <a:off x="3616310" y="2496112"/>
            <a:ext cx="676615" cy="24552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Gewinkelte Verbindung 29">
            <a:extLst>
              <a:ext uri="{FF2B5EF4-FFF2-40B4-BE49-F238E27FC236}">
                <a16:creationId xmlns:a16="http://schemas.microsoft.com/office/drawing/2014/main" id="{90764E94-68E6-4A03-F8BB-5577A60DBBAD}"/>
              </a:ext>
            </a:extLst>
          </p:cNvPr>
          <p:cNvCxnSpPr>
            <a:cxnSpLocks/>
            <a:stCxn id="5" idx="2"/>
            <a:endCxn id="22" idx="1"/>
          </p:cNvCxnSpPr>
          <p:nvPr/>
        </p:nvCxnSpPr>
        <p:spPr>
          <a:xfrm rot="16200000" flipH="1">
            <a:off x="3452521" y="2659901"/>
            <a:ext cx="1004193" cy="24552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Gewinkelte Verbindung 44">
            <a:extLst>
              <a:ext uri="{FF2B5EF4-FFF2-40B4-BE49-F238E27FC236}">
                <a16:creationId xmlns:a16="http://schemas.microsoft.com/office/drawing/2014/main" id="{E7C9E15D-2B56-31F7-42E4-DB58676C3B4E}"/>
              </a:ext>
            </a:extLst>
          </p:cNvPr>
          <p:cNvCxnSpPr>
            <a:cxnSpLocks/>
            <a:stCxn id="95" idx="2"/>
            <a:endCxn id="14" idx="1"/>
          </p:cNvCxnSpPr>
          <p:nvPr/>
        </p:nvCxnSpPr>
        <p:spPr>
          <a:xfrm rot="16200000" flipH="1">
            <a:off x="5528009" y="4763008"/>
            <a:ext cx="506831" cy="12841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Rechteck 47">
            <a:extLst>
              <a:ext uri="{FF2B5EF4-FFF2-40B4-BE49-F238E27FC236}">
                <a16:creationId xmlns:a16="http://schemas.microsoft.com/office/drawing/2014/main" id="{AE980178-4585-1AFF-5C0E-2A6A01308009}"/>
              </a:ext>
            </a:extLst>
          </p:cNvPr>
          <p:cNvSpPr/>
          <p:nvPr/>
        </p:nvSpPr>
        <p:spPr>
          <a:xfrm>
            <a:off x="9288648" y="5541453"/>
            <a:ext cx="324000" cy="2304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72ADB375-89BA-FD19-7379-27DD197F2932}"/>
              </a:ext>
            </a:extLst>
          </p:cNvPr>
          <p:cNvSpPr/>
          <p:nvPr/>
        </p:nvSpPr>
        <p:spPr>
          <a:xfrm>
            <a:off x="9532410" y="5533467"/>
            <a:ext cx="1374885" cy="23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>
                <a:solidFill>
                  <a:srgbClr val="000000"/>
                </a:solidFill>
                <a:latin typeface="Roboto" panose="02000000000000000000" pitchFamily="2" charset="0"/>
              </a:rPr>
              <a:t>: variable not considered</a:t>
            </a:r>
            <a:endParaRPr lang="de-DE" sz="800" b="0" i="0" u="none" strike="noStrike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  <p:sp>
        <p:nvSpPr>
          <p:cNvPr id="51" name="Rechteck 50">
            <a:extLst>
              <a:ext uri="{FF2B5EF4-FFF2-40B4-BE49-F238E27FC236}">
                <a16:creationId xmlns:a16="http://schemas.microsoft.com/office/drawing/2014/main" id="{1EEAF8B1-B3EB-EFC1-4422-D4D9B2AFD791}"/>
              </a:ext>
            </a:extLst>
          </p:cNvPr>
          <p:cNvSpPr/>
          <p:nvPr/>
        </p:nvSpPr>
        <p:spPr>
          <a:xfrm>
            <a:off x="9288648" y="5879852"/>
            <a:ext cx="324000" cy="230400"/>
          </a:xfrm>
          <a:prstGeom prst="rect">
            <a:avLst/>
          </a:prstGeom>
          <a:noFill/>
          <a:ln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9B5C8209-522A-5A8C-17F5-4180D2874F17}"/>
              </a:ext>
            </a:extLst>
          </p:cNvPr>
          <p:cNvSpPr/>
          <p:nvPr/>
        </p:nvSpPr>
        <p:spPr>
          <a:xfrm>
            <a:off x="9407281" y="5871866"/>
            <a:ext cx="1374885" cy="23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>
                <a:solidFill>
                  <a:srgbClr val="000000"/>
                </a:solidFill>
                <a:latin typeface="Roboto" panose="02000000000000000000" pitchFamily="2" charset="0"/>
              </a:rPr>
              <a:t>: variable included</a:t>
            </a:r>
            <a:endParaRPr lang="de-DE" sz="800" b="0" i="0" u="none" strike="noStrike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53981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58F2C-61BE-2FD0-F7A7-D7C43EA5C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6047A77A-195C-5F25-75C4-D98FE53FDCC5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Theoretical Framework (I)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CA2EC787-A499-C95C-2B1F-49527EB77C34}"/>
              </a:ext>
            </a:extLst>
          </p:cNvPr>
          <p:cNvSpPr/>
          <p:nvPr/>
        </p:nvSpPr>
        <p:spPr>
          <a:xfrm>
            <a:off x="376323" y="728896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6DE29A15-DF4F-765C-A5B2-90347370B95F}"/>
              </a:ext>
            </a:extLst>
          </p:cNvPr>
          <p:cNvSpPr/>
          <p:nvPr/>
        </p:nvSpPr>
        <p:spPr>
          <a:xfrm>
            <a:off x="1112921" y="728896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Identify relevant regimes in the data</a:t>
            </a:r>
          </a:p>
        </p:txBody>
      </p:sp>
      <p:graphicFrame>
        <p:nvGraphicFramePr>
          <p:cNvPr id="16" name="Tabelle 15">
            <a:extLst>
              <a:ext uri="{FF2B5EF4-FFF2-40B4-BE49-F238E27FC236}">
                <a16:creationId xmlns:a16="http://schemas.microsoft.com/office/drawing/2014/main" id="{7CD823E6-BA5A-5095-3D68-134CDB2F79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3007301"/>
              </p:ext>
            </p:extLst>
          </p:nvPr>
        </p:nvGraphicFramePr>
        <p:xfrm>
          <a:off x="1112919" y="1807520"/>
          <a:ext cx="4516837" cy="41659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Thematic 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spot exchange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(NER)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EUR/USD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log return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EUR/USD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exchange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 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return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FX theory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5077558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FX theory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18551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lending rates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FX theory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8406197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lending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FX theory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3982446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Energy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price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3791469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</a:t>
                      </a:r>
                      <a:r>
                        <a:rPr kumimoji="0" lang="de-DE" sz="9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price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261239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</a:t>
                      </a:r>
                      <a:r>
                        <a:rPr kumimoji="0" lang="de-DE" sz="9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log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return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volatility</a:t>
                      </a:r>
                      <a:endParaRPr lang="de-DE" sz="900" b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4772991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</a:t>
                      </a:r>
                      <a:r>
                        <a:rPr kumimoji="0" lang="de-DE" sz="9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log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return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6606027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Futures 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Degree of Financial Integration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4646873"/>
                  </a:ext>
                </a:extLst>
              </a:tr>
            </a:tbl>
          </a:graphicData>
        </a:graphic>
      </p:graphicFrame>
      <p:sp>
        <p:nvSpPr>
          <p:cNvPr id="21" name="Rechteck 20">
            <a:extLst>
              <a:ext uri="{FF2B5EF4-FFF2-40B4-BE49-F238E27FC236}">
                <a16:creationId xmlns:a16="http://schemas.microsoft.com/office/drawing/2014/main" id="{D6B181A9-7423-F64F-C454-DCA25B2E528C}"/>
              </a:ext>
            </a:extLst>
          </p:cNvPr>
          <p:cNvSpPr/>
          <p:nvPr/>
        </p:nvSpPr>
        <p:spPr>
          <a:xfrm>
            <a:off x="4330396" y="759170"/>
            <a:ext cx="2988000" cy="161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2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regimes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(high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vs.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low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D1C1C51E-5D8B-6F7C-2C37-61818542AA66}"/>
              </a:ext>
            </a:extLst>
          </p:cNvPr>
          <p:cNvSpPr/>
          <p:nvPr/>
        </p:nvSpPr>
        <p:spPr>
          <a:xfrm>
            <a:off x="7547874" y="993009"/>
            <a:ext cx="2969970" cy="3725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Classical approaches: Univariate econometric modelling (benchmarks)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AF91DC8B-8431-C436-8693-CADE51C6335D}"/>
              </a:ext>
            </a:extLst>
          </p:cNvPr>
          <p:cNvSpPr/>
          <p:nvPr/>
        </p:nvSpPr>
        <p:spPr>
          <a:xfrm>
            <a:off x="1112919" y="993009"/>
            <a:ext cx="2969970" cy="3725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approaches: Multivariate Clustering using additional variables</a:t>
            </a:r>
          </a:p>
        </p:txBody>
      </p: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200B6B33-D0B3-FB61-99FB-DE2B260A16AB}"/>
              </a:ext>
            </a:extLst>
          </p:cNvPr>
          <p:cNvCxnSpPr>
            <a:cxnSpLocks/>
            <a:stCxn id="21" idx="2"/>
            <a:endCxn id="23" idx="3"/>
          </p:cNvCxnSpPr>
          <p:nvPr/>
        </p:nvCxnSpPr>
        <p:spPr>
          <a:xfrm flipH="1">
            <a:off x="4082889" y="920391"/>
            <a:ext cx="1741507" cy="25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FD3D80A1-0057-9041-1EC7-7367B7B25969}"/>
              </a:ext>
            </a:extLst>
          </p:cNvPr>
          <p:cNvCxnSpPr>
            <a:cxnSpLocks/>
            <a:stCxn id="21" idx="2"/>
            <a:endCxn id="22" idx="1"/>
          </p:cNvCxnSpPr>
          <p:nvPr/>
        </p:nvCxnSpPr>
        <p:spPr>
          <a:xfrm>
            <a:off x="5824396" y="920391"/>
            <a:ext cx="1723478" cy="25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EE43A6DD-BA77-C312-7356-31C55CC89726}"/>
              </a:ext>
            </a:extLst>
          </p:cNvPr>
          <p:cNvSpPr/>
          <p:nvPr/>
        </p:nvSpPr>
        <p:spPr>
          <a:xfrm>
            <a:off x="7547874" y="1498708"/>
            <a:ext cx="2850535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Markov Regression/Switching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F7DCFDD3-AEE7-F981-C91B-82C94939F4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3109881"/>
              </p:ext>
            </p:extLst>
          </p:nvPr>
        </p:nvGraphicFramePr>
        <p:xfrm>
          <a:off x="6640775" y="1807521"/>
          <a:ext cx="4516837" cy="9951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717331518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Thematic 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EUR/USD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log return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</a:tbl>
          </a:graphicData>
        </a:graphic>
      </p:graphicFrame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FCCECF7D-C21A-080D-16C3-E991942BA5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0059003"/>
              </p:ext>
            </p:extLst>
          </p:nvPr>
        </p:nvGraphicFramePr>
        <p:xfrm>
          <a:off x="6640775" y="2979002"/>
          <a:ext cx="4516837" cy="97557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203178193"/>
                    </a:ext>
                  </a:extLst>
                </a:gridCol>
              </a:tblGrid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of log </a:t>
                      </a:r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of 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</a:t>
                      </a:r>
                      <a:r>
                        <a:rPr kumimoji="0" lang="de-DE" sz="9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log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return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volatility</a:t>
                      </a:r>
                      <a:endParaRPr lang="de-DE" sz="900" b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Natural 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</a:t>
                      </a:r>
                      <a:r>
                        <a:rPr kumimoji="0" lang="de-DE" sz="9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log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return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volatility</a:t>
                      </a:r>
                      <a:endParaRPr lang="de-DE" sz="900" b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Market integration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3889717"/>
                  </a:ext>
                </a:extLst>
              </a:tr>
            </a:tbl>
          </a:graphicData>
        </a:graphic>
      </p:graphicFrame>
      <p:graphicFrame>
        <p:nvGraphicFramePr>
          <p:cNvPr id="6" name="Tabelle 5">
            <a:extLst>
              <a:ext uri="{FF2B5EF4-FFF2-40B4-BE49-F238E27FC236}">
                <a16:creationId xmlns:a16="http://schemas.microsoft.com/office/drawing/2014/main" id="{4453D957-4CD6-677D-3418-388D641D03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0251013"/>
              </p:ext>
            </p:extLst>
          </p:nvPr>
        </p:nvGraphicFramePr>
        <p:xfrm>
          <a:off x="6640775" y="4150558"/>
          <a:ext cx="4516837" cy="9951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717331518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Thematic 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EUR/USD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spot exchange rate log return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lending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FX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interest rate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</a:tbl>
          </a:graphicData>
        </a:graphic>
      </p:graphicFrame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A398DA32-6A27-A2AC-E754-01DDC2223A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4755468"/>
              </p:ext>
            </p:extLst>
          </p:nvPr>
        </p:nvGraphicFramePr>
        <p:xfrm>
          <a:off x="6640775" y="5322039"/>
          <a:ext cx="4516837" cy="97557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992944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335893">
                  <a:extLst>
                    <a:ext uri="{9D8B030D-6E8A-4147-A177-3AD203B41FA5}">
                      <a16:colId xmlns:a16="http://schemas.microsoft.com/office/drawing/2014/main" val="203178193"/>
                    </a:ext>
                  </a:extLst>
                </a:gridCol>
              </a:tblGrid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of log </a:t>
                      </a:r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of 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</a:t>
                      </a:r>
                      <a:r>
                        <a:rPr kumimoji="0" lang="de-DE" sz="9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log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return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volatility</a:t>
                      </a:r>
                      <a:endParaRPr lang="de-DE" sz="900" b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Natural 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Energy </a:t>
                      </a:r>
                      <a:r>
                        <a:rPr kumimoji="0" lang="de-DE" sz="9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commodity</a:t>
                      </a:r>
                      <a:endParaRPr lang="de-DE" sz="9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log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return</a:t>
                      </a:r>
                      <a:r>
                        <a:rPr lang="de-DE" sz="9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volatility</a:t>
                      </a:r>
                      <a:endParaRPr lang="de-DE" sz="900" b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Market integration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6968691"/>
                  </a:ext>
                </a:extLst>
              </a:tr>
            </a:tbl>
          </a:graphicData>
        </a:graphic>
      </p:graphicFrame>
      <p:cxnSp>
        <p:nvCxnSpPr>
          <p:cNvPr id="8" name="Gerade Verbindung 7">
            <a:extLst>
              <a:ext uri="{FF2B5EF4-FFF2-40B4-BE49-F238E27FC236}">
                <a16:creationId xmlns:a16="http://schemas.microsoft.com/office/drawing/2014/main" id="{25035102-A03E-642D-0890-B1829DF8E519}"/>
              </a:ext>
            </a:extLst>
          </p:cNvPr>
          <p:cNvCxnSpPr>
            <a:cxnSpLocks/>
          </p:cNvCxnSpPr>
          <p:nvPr/>
        </p:nvCxnSpPr>
        <p:spPr>
          <a:xfrm>
            <a:off x="6095699" y="4034949"/>
            <a:ext cx="5220000" cy="0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Geschweifte Klammer links 10">
            <a:extLst>
              <a:ext uri="{FF2B5EF4-FFF2-40B4-BE49-F238E27FC236}">
                <a16:creationId xmlns:a16="http://schemas.microsoft.com/office/drawing/2014/main" id="{C949EB2E-B95E-ED0E-A4F9-9EF24BF6DB08}"/>
              </a:ext>
            </a:extLst>
          </p:cNvPr>
          <p:cNvSpPr/>
          <p:nvPr/>
        </p:nvSpPr>
        <p:spPr>
          <a:xfrm>
            <a:off x="6313112" y="1807520"/>
            <a:ext cx="268558" cy="2147054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Geschweifte Klammer links 12">
            <a:extLst>
              <a:ext uri="{FF2B5EF4-FFF2-40B4-BE49-F238E27FC236}">
                <a16:creationId xmlns:a16="http://schemas.microsoft.com/office/drawing/2014/main" id="{A28345E5-C39D-5E21-4FAC-07BD5B89DDAF}"/>
              </a:ext>
            </a:extLst>
          </p:cNvPr>
          <p:cNvSpPr/>
          <p:nvPr/>
        </p:nvSpPr>
        <p:spPr>
          <a:xfrm>
            <a:off x="6303063" y="4181818"/>
            <a:ext cx="268558" cy="2115790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26791B51-395C-E8E8-EBCC-7318D0259CC0}"/>
              </a:ext>
            </a:extLst>
          </p:cNvPr>
          <p:cNvSpPr/>
          <p:nvPr/>
        </p:nvSpPr>
        <p:spPr>
          <a:xfrm>
            <a:off x="5923485" y="2629580"/>
            <a:ext cx="413377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B1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582DED74-477A-CA33-8906-5C027DE1CA52}"/>
              </a:ext>
            </a:extLst>
          </p:cNvPr>
          <p:cNvSpPr/>
          <p:nvPr/>
        </p:nvSpPr>
        <p:spPr>
          <a:xfrm>
            <a:off x="5923571" y="4995117"/>
            <a:ext cx="413377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B2</a:t>
            </a:r>
          </a:p>
        </p:txBody>
      </p:sp>
      <p:sp>
        <p:nvSpPr>
          <p:cNvPr id="4" name="Geschweifte Klammer links 3">
            <a:extLst>
              <a:ext uri="{FF2B5EF4-FFF2-40B4-BE49-F238E27FC236}">
                <a16:creationId xmlns:a16="http://schemas.microsoft.com/office/drawing/2014/main" id="{BE1EC463-ED28-F20A-CCF7-8EC6BD6CEB13}"/>
              </a:ext>
            </a:extLst>
          </p:cNvPr>
          <p:cNvSpPr/>
          <p:nvPr/>
        </p:nvSpPr>
        <p:spPr>
          <a:xfrm>
            <a:off x="6144820" y="2979002"/>
            <a:ext cx="268558" cy="975572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49C4D93F-B324-14DF-1ED3-76800033C3CD}"/>
              </a:ext>
            </a:extLst>
          </p:cNvPr>
          <p:cNvSpPr/>
          <p:nvPr/>
        </p:nvSpPr>
        <p:spPr>
          <a:xfrm>
            <a:off x="5695414" y="3324288"/>
            <a:ext cx="504000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B1.1</a:t>
            </a:r>
          </a:p>
        </p:txBody>
      </p:sp>
      <p:sp>
        <p:nvSpPr>
          <p:cNvPr id="12" name="Geschweifte Klammer links 11">
            <a:extLst>
              <a:ext uri="{FF2B5EF4-FFF2-40B4-BE49-F238E27FC236}">
                <a16:creationId xmlns:a16="http://schemas.microsoft.com/office/drawing/2014/main" id="{FBFE769F-D17B-FEE3-3CB8-D69F69550B0F}"/>
              </a:ext>
            </a:extLst>
          </p:cNvPr>
          <p:cNvSpPr/>
          <p:nvPr/>
        </p:nvSpPr>
        <p:spPr>
          <a:xfrm>
            <a:off x="6144820" y="5322039"/>
            <a:ext cx="268558" cy="975569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F359A86C-CD94-06E0-9AF9-7C2B42963CE7}"/>
              </a:ext>
            </a:extLst>
          </p:cNvPr>
          <p:cNvSpPr/>
          <p:nvPr/>
        </p:nvSpPr>
        <p:spPr>
          <a:xfrm>
            <a:off x="5695414" y="5690448"/>
            <a:ext cx="504000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B2.1</a:t>
            </a:r>
          </a:p>
        </p:txBody>
      </p:sp>
    </p:spTree>
    <p:extLst>
      <p:ext uri="{BB962C8B-B14F-4D97-AF65-F5344CB8AC3E}">
        <p14:creationId xmlns:p14="http://schemas.microsoft.com/office/powerpoint/2010/main" val="10723069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1E120-6908-AEF2-32CE-B08554CB5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486A14B4-485E-E5DE-47EA-6A7DC30AF5CC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Theoretical Framework (II)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C0965EB1-FCF8-8CEF-2F80-2B6ECAD8BAE4}"/>
              </a:ext>
            </a:extLst>
          </p:cNvPr>
          <p:cNvSpPr/>
          <p:nvPr/>
        </p:nvSpPr>
        <p:spPr>
          <a:xfrm>
            <a:off x="376323" y="728896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730DB4C-2BFB-A9F7-19E6-03AB89BE61C9}"/>
              </a:ext>
            </a:extLst>
          </p:cNvPr>
          <p:cNvSpPr/>
          <p:nvPr/>
        </p:nvSpPr>
        <p:spPr>
          <a:xfrm>
            <a:off x="1112921" y="728896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Identify relevant regimes in the data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6639F194-6AFB-AAE3-6531-6B44F69E4ECD}"/>
              </a:ext>
            </a:extLst>
          </p:cNvPr>
          <p:cNvSpPr/>
          <p:nvPr/>
        </p:nvSpPr>
        <p:spPr>
          <a:xfrm>
            <a:off x="4330396" y="990170"/>
            <a:ext cx="2988000" cy="1612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2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regimes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(high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vs.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low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volatility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BCE0BD48-6E41-7208-0692-E1E72FA27BA1}"/>
              </a:ext>
            </a:extLst>
          </p:cNvPr>
          <p:cNvSpPr/>
          <p:nvPr/>
        </p:nvSpPr>
        <p:spPr>
          <a:xfrm>
            <a:off x="7547874" y="1224009"/>
            <a:ext cx="2969970" cy="3725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Classical approaches: Univariate econometric modelling (benchmarks)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5CAB209E-3252-D7DB-0127-6303A85EC043}"/>
              </a:ext>
            </a:extLst>
          </p:cNvPr>
          <p:cNvSpPr/>
          <p:nvPr/>
        </p:nvSpPr>
        <p:spPr>
          <a:xfrm>
            <a:off x="1112919" y="1224009"/>
            <a:ext cx="2969970" cy="3725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approaches: Multivariate Clustering using additional variables</a:t>
            </a:r>
          </a:p>
        </p:txBody>
      </p: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DCB3143E-25CE-4BA2-EF6E-4A975B8643F6}"/>
              </a:ext>
            </a:extLst>
          </p:cNvPr>
          <p:cNvCxnSpPr>
            <a:cxnSpLocks/>
            <a:stCxn id="21" idx="2"/>
            <a:endCxn id="23" idx="3"/>
          </p:cNvCxnSpPr>
          <p:nvPr/>
        </p:nvCxnSpPr>
        <p:spPr>
          <a:xfrm flipH="1">
            <a:off x="4082889" y="1151391"/>
            <a:ext cx="1741507" cy="25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D98D6D79-61CE-9212-877A-69D558C2A9D2}"/>
              </a:ext>
            </a:extLst>
          </p:cNvPr>
          <p:cNvCxnSpPr>
            <a:cxnSpLocks/>
            <a:stCxn id="21" idx="2"/>
            <a:endCxn id="22" idx="1"/>
          </p:cNvCxnSpPr>
          <p:nvPr/>
        </p:nvCxnSpPr>
        <p:spPr>
          <a:xfrm>
            <a:off x="5824396" y="1151391"/>
            <a:ext cx="1723478" cy="2588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8DD25FF0-7B9D-D3F4-B308-E3DAFE68A3E0}"/>
              </a:ext>
            </a:extLst>
          </p:cNvPr>
          <p:cNvSpPr/>
          <p:nvPr/>
        </p:nvSpPr>
        <p:spPr>
          <a:xfrm>
            <a:off x="7547874" y="1729708"/>
            <a:ext cx="2850535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Markov Regression/Switching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1B35F85-5C60-A2B2-9AED-A39CA8450E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4362" y="3111943"/>
            <a:ext cx="1509225" cy="920686"/>
          </a:xfrm>
          <a:prstGeom prst="rect">
            <a:avLst/>
          </a:prstGeom>
        </p:spPr>
      </p:pic>
      <p:graphicFrame>
        <p:nvGraphicFramePr>
          <p:cNvPr id="25" name="Tabelle 24">
            <a:extLst>
              <a:ext uri="{FF2B5EF4-FFF2-40B4-BE49-F238E27FC236}">
                <a16:creationId xmlns:a16="http://schemas.microsoft.com/office/drawing/2014/main" id="{191E56BF-65D1-0604-83F1-D404606A69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8041432"/>
              </p:ext>
            </p:extLst>
          </p:nvPr>
        </p:nvGraphicFramePr>
        <p:xfrm>
          <a:off x="1102735" y="1670952"/>
          <a:ext cx="4460423" cy="2684838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45923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921193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Algorithm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 package (version)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KMeans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AgglomerativeClustering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DBSCAN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497854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SpectralClustering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5077558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MeanShift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18551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GaussianMixture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8406197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Birch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3982446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AffinityPropagation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3791469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OPTICS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2612393"/>
                  </a:ext>
                </a:extLst>
              </a:tr>
              <a:tr h="2440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MiniBatchKMeans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4772991"/>
                  </a:ext>
                </a:extLst>
              </a:tr>
            </a:tbl>
          </a:graphicData>
        </a:graphic>
      </p:graphicFrame>
      <p:graphicFrame>
        <p:nvGraphicFramePr>
          <p:cNvPr id="26" name="Tabelle 25">
            <a:extLst>
              <a:ext uri="{FF2B5EF4-FFF2-40B4-BE49-F238E27FC236}">
                <a16:creationId xmlns:a16="http://schemas.microsoft.com/office/drawing/2014/main" id="{2CA932F0-FF5E-538B-F33F-F6EA780285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0909615"/>
              </p:ext>
            </p:extLst>
          </p:nvPr>
        </p:nvGraphicFramePr>
        <p:xfrm>
          <a:off x="6948697" y="2069493"/>
          <a:ext cx="4168323" cy="76659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16713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921193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Algorithm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 package (version)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MarkovRegression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statsmodels (0.14.5)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 Switching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sp>
        <p:nvSpPr>
          <p:cNvPr id="3" name="Geschweifte Klammer links 2">
            <a:extLst>
              <a:ext uri="{FF2B5EF4-FFF2-40B4-BE49-F238E27FC236}">
                <a16:creationId xmlns:a16="http://schemas.microsoft.com/office/drawing/2014/main" id="{3493DB9E-2C94-8084-D29D-13BDFE0720BD}"/>
              </a:ext>
            </a:extLst>
          </p:cNvPr>
          <p:cNvSpPr/>
          <p:nvPr/>
        </p:nvSpPr>
        <p:spPr>
          <a:xfrm rot="16200000">
            <a:off x="3198670" y="2334275"/>
            <a:ext cx="268558" cy="4460423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FBFCF98F-771C-0813-20F1-CE1317934E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2963421"/>
              </p:ext>
            </p:extLst>
          </p:nvPr>
        </p:nvGraphicFramePr>
        <p:xfrm>
          <a:off x="1072396" y="5046446"/>
          <a:ext cx="4490762" cy="7924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61594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801368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073454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</a:tblGrid>
              <a:tr h="263672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Technique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 package (version)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4375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GridSearchCV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Parameter Optimization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sp>
        <p:nvSpPr>
          <p:cNvPr id="6" name="Rechteck 5">
            <a:extLst>
              <a:ext uri="{FF2B5EF4-FFF2-40B4-BE49-F238E27FC236}">
                <a16:creationId xmlns:a16="http://schemas.microsoft.com/office/drawing/2014/main" id="{32FEE27F-95EE-DEED-7397-BB968F5C810B}"/>
              </a:ext>
            </a:extLst>
          </p:cNvPr>
          <p:cNvSpPr/>
          <p:nvPr/>
        </p:nvSpPr>
        <p:spPr>
          <a:xfrm>
            <a:off x="1907678" y="4751167"/>
            <a:ext cx="2850535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Hyperparameter Optimisation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FBCD425-D912-7A64-E17D-940F90EC19AF}"/>
              </a:ext>
            </a:extLst>
          </p:cNvPr>
          <p:cNvSpPr/>
          <p:nvPr/>
        </p:nvSpPr>
        <p:spPr>
          <a:xfrm>
            <a:off x="1071562" y="6120513"/>
            <a:ext cx="1620000" cy="2162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TimeSeriesSplit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9FE57130-780F-1242-233E-7AF177D7AD84}"/>
              </a:ext>
            </a:extLst>
          </p:cNvPr>
          <p:cNvSpPr/>
          <p:nvPr/>
        </p:nvSpPr>
        <p:spPr>
          <a:xfrm>
            <a:off x="3835158" y="6120513"/>
            <a:ext cx="1728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CombinatorialPurgedCV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60393098-2965-2B68-EAE6-59833D554545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3317777" y="5838926"/>
            <a:ext cx="1381381" cy="2815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1B800936-FFF5-9A06-3234-0B882F67A212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 flipH="1">
            <a:off x="1881562" y="5838926"/>
            <a:ext cx="1436215" cy="2815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3" name="Grafik 12">
            <a:extLst>
              <a:ext uri="{FF2B5EF4-FFF2-40B4-BE49-F238E27FC236}">
                <a16:creationId xmlns:a16="http://schemas.microsoft.com/office/drawing/2014/main" id="{E5AFA0B1-6FF8-536E-CC3E-746B2D07AA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8623" y="3085000"/>
            <a:ext cx="2682597" cy="989748"/>
          </a:xfrm>
          <a:prstGeom prst="rect">
            <a:avLst/>
          </a:prstGeom>
        </p:spPr>
      </p:pic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40224436-2523-8528-741C-F3342D1FAA0F}"/>
              </a:ext>
            </a:extLst>
          </p:cNvPr>
          <p:cNvCxnSpPr>
            <a:cxnSpLocks/>
            <a:stCxn id="4" idx="3"/>
            <a:endCxn id="13" idx="1"/>
          </p:cNvCxnSpPr>
          <p:nvPr/>
        </p:nvCxnSpPr>
        <p:spPr>
          <a:xfrm>
            <a:off x="7863587" y="3572286"/>
            <a:ext cx="485036" cy="75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9" name="Grafik 28">
            <a:extLst>
              <a:ext uri="{FF2B5EF4-FFF2-40B4-BE49-F238E27FC236}">
                <a16:creationId xmlns:a16="http://schemas.microsoft.com/office/drawing/2014/main" id="{482625FE-662A-ACA9-BAF2-D2CD56742E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2872" y="4494857"/>
            <a:ext cx="2460115" cy="1042167"/>
          </a:xfrm>
          <a:prstGeom prst="rect">
            <a:avLst/>
          </a:prstGeom>
        </p:spPr>
      </p:pic>
      <p:cxnSp>
        <p:nvCxnSpPr>
          <p:cNvPr id="32" name="Gewinkelte Verbindung 31">
            <a:extLst>
              <a:ext uri="{FF2B5EF4-FFF2-40B4-BE49-F238E27FC236}">
                <a16:creationId xmlns:a16="http://schemas.microsoft.com/office/drawing/2014/main" id="{A35F3922-81FE-51E8-9C3D-4628179894C2}"/>
              </a:ext>
            </a:extLst>
          </p:cNvPr>
          <p:cNvCxnSpPr>
            <a:stCxn id="13" idx="2"/>
            <a:endCxn id="29" idx="0"/>
          </p:cNvCxnSpPr>
          <p:nvPr/>
        </p:nvCxnSpPr>
        <p:spPr>
          <a:xfrm rot="5400000">
            <a:off x="8421372" y="3226306"/>
            <a:ext cx="420109" cy="2116992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3" name="Grafik 32">
            <a:extLst>
              <a:ext uri="{FF2B5EF4-FFF2-40B4-BE49-F238E27FC236}">
                <a16:creationId xmlns:a16="http://schemas.microsoft.com/office/drawing/2014/main" id="{034F7BB8-3AF7-E150-B907-FF7B2F41B80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32858" y="4561666"/>
            <a:ext cx="2308808" cy="908547"/>
          </a:xfrm>
          <a:prstGeom prst="rect">
            <a:avLst/>
          </a:prstGeom>
        </p:spPr>
      </p:pic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563E377A-8EB7-EFB0-9C8D-F5764863C467}"/>
              </a:ext>
            </a:extLst>
          </p:cNvPr>
          <p:cNvCxnSpPr>
            <a:cxnSpLocks/>
            <a:stCxn id="29" idx="3"/>
            <a:endCxn id="33" idx="1"/>
          </p:cNvCxnSpPr>
          <p:nvPr/>
        </p:nvCxnSpPr>
        <p:spPr>
          <a:xfrm flipV="1">
            <a:off x="8802987" y="5015940"/>
            <a:ext cx="229871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9" name="Grafik 38">
            <a:extLst>
              <a:ext uri="{FF2B5EF4-FFF2-40B4-BE49-F238E27FC236}">
                <a16:creationId xmlns:a16="http://schemas.microsoft.com/office/drawing/2014/main" id="{7E3C7A32-69D9-4C82-42B5-819C3D6825D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57102" y="5714857"/>
            <a:ext cx="3441307" cy="618170"/>
          </a:xfrm>
          <a:prstGeom prst="rect">
            <a:avLst/>
          </a:prstGeom>
        </p:spPr>
      </p:pic>
      <p:cxnSp>
        <p:nvCxnSpPr>
          <p:cNvPr id="40" name="Gewinkelte Verbindung 39">
            <a:extLst>
              <a:ext uri="{FF2B5EF4-FFF2-40B4-BE49-F238E27FC236}">
                <a16:creationId xmlns:a16="http://schemas.microsoft.com/office/drawing/2014/main" id="{A3181C01-0942-A7D3-3598-D635C8DC5058}"/>
              </a:ext>
            </a:extLst>
          </p:cNvPr>
          <p:cNvCxnSpPr>
            <a:cxnSpLocks/>
            <a:stCxn id="33" idx="2"/>
            <a:endCxn id="39" idx="0"/>
          </p:cNvCxnSpPr>
          <p:nvPr/>
        </p:nvCxnSpPr>
        <p:spPr>
          <a:xfrm rot="5400000">
            <a:off x="9310187" y="4837782"/>
            <a:ext cx="244644" cy="150950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53439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A7E9F-43F9-5DFC-0383-DDDDAC311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02B33C8D-42D8-7A2C-97A8-03E2E749BCC5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Theoretical Framework (III)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8F54ADB2-B149-B409-C8E6-C7CD7113A746}"/>
              </a:ext>
            </a:extLst>
          </p:cNvPr>
          <p:cNvSpPr/>
          <p:nvPr/>
        </p:nvSpPr>
        <p:spPr>
          <a:xfrm>
            <a:off x="215456" y="766932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2)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82ED42DC-D506-3763-18CE-273E33265963}"/>
              </a:ext>
            </a:extLst>
          </p:cNvPr>
          <p:cNvSpPr/>
          <p:nvPr/>
        </p:nvSpPr>
        <p:spPr>
          <a:xfrm>
            <a:off x="952054" y="766932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Analyze and compare the regimes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698ACBCE-853C-2E82-4FCA-204C598A7ABD}"/>
              </a:ext>
            </a:extLst>
          </p:cNvPr>
          <p:cNvSpPr/>
          <p:nvPr/>
        </p:nvSpPr>
        <p:spPr>
          <a:xfrm>
            <a:off x="952059" y="2511217"/>
            <a:ext cx="5004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Theoretically affecting crisis periods - major global shocks and US recessions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1C205661-3FB5-27A8-FF0A-613BDC13C5BE}"/>
              </a:ext>
            </a:extLst>
          </p:cNvPr>
          <p:cNvSpPr/>
          <p:nvPr/>
        </p:nvSpPr>
        <p:spPr>
          <a:xfrm>
            <a:off x="952059" y="995344"/>
            <a:ext cx="3816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evaluation and selection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AB5C5E8D-2779-73F6-B891-F5883B202C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7073623"/>
              </p:ext>
            </p:extLst>
          </p:nvPr>
        </p:nvGraphicFramePr>
        <p:xfrm>
          <a:off x="952055" y="1251370"/>
          <a:ext cx="9791910" cy="10857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51003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1921193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11163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1013143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4231214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Evaluation metric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 package (version)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Category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Value range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Interpretation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Silhouette 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scikit-learn (1.7.2)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Clustering Scores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[-1, 1]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 being best, -1 being worst, values near 0 indicate overlapping clusters.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RCM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[AB98]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MSM-Score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[0, 100]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 (perfect regime classification),</a:t>
                      </a:r>
                    </a:p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100 (failure to detect any regime classification)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5578983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kern="120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Crisis overlap percentage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Own calculations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Combined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[0, 100]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Percentage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overlap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ranging from 0% - 100%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1324491"/>
                  </a:ext>
                </a:extLst>
              </a:tr>
            </a:tbl>
          </a:graphicData>
        </a:graphic>
      </p:graphicFrame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75E309DD-F646-F4A7-64AE-E808C3BCC6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845646"/>
              </p:ext>
            </p:extLst>
          </p:nvPr>
        </p:nvGraphicFramePr>
        <p:xfrm>
          <a:off x="952054" y="2771122"/>
          <a:ext cx="9404922" cy="357100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73786">
                  <a:extLst>
                    <a:ext uri="{9D8B030D-6E8A-4147-A177-3AD203B41FA5}">
                      <a16:colId xmlns:a16="http://schemas.microsoft.com/office/drawing/2014/main" val="2975178182"/>
                    </a:ext>
                  </a:extLst>
                </a:gridCol>
                <a:gridCol w="1105345">
                  <a:extLst>
                    <a:ext uri="{9D8B030D-6E8A-4147-A177-3AD203B41FA5}">
                      <a16:colId xmlns:a16="http://schemas.microsoft.com/office/drawing/2014/main" val="2920841970"/>
                    </a:ext>
                  </a:extLst>
                </a:gridCol>
                <a:gridCol w="1090435">
                  <a:extLst>
                    <a:ext uri="{9D8B030D-6E8A-4147-A177-3AD203B41FA5}">
                      <a16:colId xmlns:a16="http://schemas.microsoft.com/office/drawing/2014/main" val="2491132898"/>
                    </a:ext>
                  </a:extLst>
                </a:gridCol>
                <a:gridCol w="1758923">
                  <a:extLst>
                    <a:ext uri="{9D8B030D-6E8A-4147-A177-3AD203B41FA5}">
                      <a16:colId xmlns:a16="http://schemas.microsoft.com/office/drawing/2014/main" val="3640099135"/>
                    </a:ext>
                  </a:extLst>
                </a:gridCol>
                <a:gridCol w="2432381">
                  <a:extLst>
                    <a:ext uri="{9D8B030D-6E8A-4147-A177-3AD203B41FA5}">
                      <a16:colId xmlns:a16="http://schemas.microsoft.com/office/drawing/2014/main" val="1431062659"/>
                    </a:ext>
                  </a:extLst>
                </a:gridCol>
                <a:gridCol w="2444052">
                  <a:extLst>
                    <a:ext uri="{9D8B030D-6E8A-4147-A177-3AD203B41FA5}">
                      <a16:colId xmlns:a16="http://schemas.microsoft.com/office/drawing/2014/main" val="2286573246"/>
                    </a:ext>
                  </a:extLst>
                </a:gridCol>
              </a:tblGrid>
              <a:tr h="171318">
                <a:tc>
                  <a:txBody>
                    <a:bodyPr/>
                    <a:lstStyle/>
                    <a:p>
                      <a:pPr algn="ctr" fontAlgn="b"/>
                      <a:r>
                        <a:rPr lang="de-DE" sz="1100" b="1" i="0" u="none" strike="noStrike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marL="8566" marR="8566" marT="8566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u="none" strike="noStrike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  <a:endParaRPr lang="de-DE" sz="1100" b="1" i="0" u="none" strike="noStrike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u="none" strike="noStrike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  <a:endParaRPr lang="de-DE" sz="1100" b="1" i="0" u="none" strike="noStrike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u="none" strike="noStrike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Event-Type</a:t>
                      </a:r>
                      <a:endParaRPr lang="de-DE" sz="1100" b="1" i="0" u="none" strike="noStrike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i="0" u="none" strike="noStrike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Event</a:t>
                      </a: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1100" b="1" u="none" strike="noStrike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Source</a:t>
                      </a:r>
                      <a:endParaRPr lang="de-DE" sz="1100" b="1" i="0" u="none" strike="noStrike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9731443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1970-01-01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1970-12-01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1970-1970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[St 25b]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7748657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1971-08-15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1973-03-19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Bretton Woods Breakdown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[Cor+25]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2465442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1971-08-15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1973-03-19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Nixon Shock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[EF04]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0083656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1973-10-17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1974-03-01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Oil Crisis I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[T T23]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9882049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1973-12-01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1975-04-01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1973-1975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[St 25b]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7132909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1979-01-01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1981-03-01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Oil Crisis II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[T T23]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9787468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1980-02-01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1980-08-01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1980-1980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[St 25b]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9639066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1981-08-01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1982-12-01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1981-1982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[St 25b]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477127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1987-10-19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1987-10-19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Black Monday Crash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[EF04]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1646899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1990-08-01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1991-04-01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1990-1991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[St 25b]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8968524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11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1997-07-02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1998-12-31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Asian Financial Crisis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[ML23]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4113705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1998-08-17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1998-09-01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Russian Crisis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[ML23]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3536028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2000-03-01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2002-10-01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Dot-com Bubble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[MNR25]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3398720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14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2001-04-01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2001-12-01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2001-2001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[St 25b]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747341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2007-08-09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2009-03-09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Global Financial Crisis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[MNR25]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7489982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2008-01-01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2009-07-01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2008-2009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[St 25b]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2380043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17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2008-11-25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2014-12-31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QE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kumimoji="0" lang="de-DE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[MNR25]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5467765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18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2009-10-01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2012-12-31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European Debt Crisis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kumimoji="0" lang="de-DE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[MNR25]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4542053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2011-08-20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2011-08-05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Debt Ceiling Crisis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kumimoji="0" lang="de-DE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[MNR25]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3125058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2018-03-22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2020-01-15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US-China Trade War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Various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8018509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21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2020-02-20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2021-11-16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COVID-19 Pandemic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[ML23]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5658122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22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2020-03-01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2020-05-01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US-Recession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 Recession 2020-2020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[St 25b]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9815750"/>
                  </a:ext>
                </a:extLst>
              </a:tr>
              <a:tr h="147600"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23</a:t>
                      </a: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2022-02-24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2022-06-01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Major Global Crisis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Russia-Ukraine War</a:t>
                      </a:r>
                      <a:endParaRPr lang="de-DE" sz="9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de-DE" sz="900" u="none" strike="noStrike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[Cha25]</a:t>
                      </a:r>
                      <a:endParaRPr lang="de-DE" sz="9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8566" marR="8566" marT="8566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2388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91147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A86FF-0FA1-FA96-F37A-21BE396C1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2F1D4B39-6ECD-A011-3D89-D6208F0757AB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Theoretical Framework (IV)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F026C892-2E94-1107-A258-C8124E337D86}"/>
              </a:ext>
            </a:extLst>
          </p:cNvPr>
          <p:cNvSpPr/>
          <p:nvPr/>
        </p:nvSpPr>
        <p:spPr>
          <a:xfrm>
            <a:off x="215456" y="813584"/>
            <a:ext cx="547600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3)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B095F87D-A565-3E72-9DAA-8DD34D44EB8F}"/>
              </a:ext>
            </a:extLst>
          </p:cNvPr>
          <p:cNvSpPr/>
          <p:nvPr/>
        </p:nvSpPr>
        <p:spPr>
          <a:xfrm>
            <a:off x="952054" y="813584"/>
            <a:ext cx="2850535" cy="144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Test for UIP conditional on regimes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BEADD146-03B0-C365-61EA-2666941F6D64}"/>
              </a:ext>
            </a:extLst>
          </p:cNvPr>
          <p:cNvSpPr/>
          <p:nvPr/>
        </p:nvSpPr>
        <p:spPr>
          <a:xfrm>
            <a:off x="952059" y="1041996"/>
            <a:ext cx="381600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 comparison – UIP Testing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F7490227-F347-3BC9-1E4F-2037A9ECB8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4428" y="1468038"/>
            <a:ext cx="5021278" cy="1974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29557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13000"/>
            <a:lum bright="30000" contrast="45000"/>
          </a:blip>
          <a:srcRect/>
          <a:stretch>
            <a:fillRect l="50000" t="-28000" r="-35000" b="-135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1BD31-E41C-32E5-CB26-73CD8B2AE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BFF4BF66-5482-53AC-ED7C-8225E60A2FBA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62C5BAF0-AD8C-D57B-C614-5150314E57E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18D9E65A-EF33-23FC-1FF7-67BC136923B9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3600">
                <a:latin typeface="Arial" panose="020B0604020202020204" pitchFamily="34" charset="0"/>
                <a:cs typeface="Arial" panose="020B0604020202020204" pitchFamily="34" charset="0"/>
              </a:rPr>
              <a:t>Chapter 5)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8CDF5D73-B632-4729-DE34-23C491524185}"/>
              </a:ext>
            </a:extLst>
          </p:cNvPr>
          <p:cNvSpPr/>
          <p:nvPr/>
        </p:nvSpPr>
        <p:spPr>
          <a:xfrm>
            <a:off x="2821153" y="2996762"/>
            <a:ext cx="5892623" cy="4866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 err="1">
                <a:latin typeface="Arial" panose="020B0604020202020204" pitchFamily="34" charset="0"/>
                <a:cs typeface="Arial" panose="020B0604020202020204" pitchFamily="34" charset="0"/>
              </a:rPr>
              <a:t>Methodology</a:t>
            </a:r>
            <a:r>
              <a:rPr lang="de-DE" sz="3200" b="1" dirty="0">
                <a:latin typeface="Arial" panose="020B0604020202020204" pitchFamily="34" charset="0"/>
                <a:cs typeface="Arial" panose="020B0604020202020204" pitchFamily="34" charset="0"/>
              </a:rPr>
              <a:t> Overview</a:t>
            </a:r>
            <a:endParaRPr lang="de-DE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37975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BAD20-E796-1EE6-F1F4-6DE5BFB81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stomShape 3">
            <a:extLst>
              <a:ext uri="{FF2B5EF4-FFF2-40B4-BE49-F238E27FC236}">
                <a16:creationId xmlns:a16="http://schemas.microsoft.com/office/drawing/2014/main" id="{D7F7FB85-4E9D-84C1-96E4-C5B3043593B5}"/>
              </a:ext>
            </a:extLst>
          </p:cNvPr>
          <p:cNvSpPr/>
          <p:nvPr/>
        </p:nvSpPr>
        <p:spPr>
          <a:xfrm>
            <a:off x="540000" y="743529"/>
            <a:ext cx="10079640" cy="26911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/>
          <a:lstStyle/>
          <a:p>
            <a:pPr>
              <a:lnSpc>
                <a:spcPct val="100000"/>
              </a:lnSpc>
            </a:pP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</a:t>
            </a:r>
            <a:r>
              <a:rPr lang="de-DE" sz="1400" b="1" spc="-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</a:t>
            </a: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400" b="1" spc="-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between</a:t>
            </a: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Energy Commodity Prices and </a:t>
            </a:r>
            <a:r>
              <a:rPr lang="de-DE" sz="1400" b="1" spc="-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exchange</a:t>
            </a: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400" b="1" spc="-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rates</a:t>
            </a: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Transmission channels</a:t>
            </a:r>
            <a:endParaRPr lang="de-DE" sz="1400" b="0" strike="noStrike" spc="-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77F835F-4EF6-44F8-43B6-075AB1250D85}"/>
              </a:ext>
            </a:extLst>
          </p:cNvPr>
          <p:cNvSpPr/>
          <p:nvPr/>
        </p:nvSpPr>
        <p:spPr>
          <a:xfrm>
            <a:off x="1793695" y="2322789"/>
            <a:ext cx="248909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Financial Transmission Channels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D253F265-53D5-D8AB-DAE8-2C8A71B499AD}"/>
              </a:ext>
            </a:extLst>
          </p:cNvPr>
          <p:cNvSpPr/>
          <p:nvPr/>
        </p:nvSpPr>
        <p:spPr>
          <a:xfrm>
            <a:off x="8173122" y="2312621"/>
            <a:ext cx="2729150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Fundamental Transmission Channels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B3D74FF-F7E2-C9C7-7760-817DF146BE28}"/>
              </a:ext>
            </a:extLst>
          </p:cNvPr>
          <p:cNvSpPr/>
          <p:nvPr/>
        </p:nvSpPr>
        <p:spPr>
          <a:xfrm>
            <a:off x="4683001" y="2316511"/>
            <a:ext cx="2918077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Macroeconomic Transmission Channels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8A0CFAEC-01B2-A0CA-E857-3AF00A946BA0}"/>
              </a:ext>
            </a:extLst>
          </p:cNvPr>
          <p:cNvCxnSpPr/>
          <p:nvPr/>
        </p:nvCxnSpPr>
        <p:spPr>
          <a:xfrm>
            <a:off x="778932" y="2260600"/>
            <a:ext cx="103039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19CF8815-EF39-ABFA-1238-004A8F1101E6}"/>
              </a:ext>
            </a:extLst>
          </p:cNvPr>
          <p:cNvSpPr/>
          <p:nvPr/>
        </p:nvSpPr>
        <p:spPr>
          <a:xfrm>
            <a:off x="411140" y="1782177"/>
            <a:ext cx="918576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Timeframe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C4344797-D1BE-0F39-8003-717929ABE343}"/>
              </a:ext>
            </a:extLst>
          </p:cNvPr>
          <p:cNvSpPr/>
          <p:nvPr/>
        </p:nvSpPr>
        <p:spPr>
          <a:xfrm>
            <a:off x="2296467" y="1860414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Short Run Dynamics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F8DEBD9E-73EE-F468-25B0-C1F48E091FED}"/>
              </a:ext>
            </a:extLst>
          </p:cNvPr>
          <p:cNvSpPr/>
          <p:nvPr/>
        </p:nvSpPr>
        <p:spPr>
          <a:xfrm>
            <a:off x="8712197" y="1921320"/>
            <a:ext cx="1651001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Long Run Relationship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AF715F8-8652-7032-E72B-7601076C96FA}"/>
              </a:ext>
            </a:extLst>
          </p:cNvPr>
          <p:cNvSpPr/>
          <p:nvPr/>
        </p:nvSpPr>
        <p:spPr>
          <a:xfrm>
            <a:off x="5376297" y="1861070"/>
            <a:ext cx="148726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Mid-term fluctuations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1670D4AF-BD95-BB10-7C89-69CCA8CD936F}"/>
              </a:ext>
            </a:extLst>
          </p:cNvPr>
          <p:cNvCxnSpPr>
            <a:cxnSpLocks/>
          </p:cNvCxnSpPr>
          <p:nvPr/>
        </p:nvCxnSpPr>
        <p:spPr>
          <a:xfrm>
            <a:off x="778932" y="2260600"/>
            <a:ext cx="0" cy="3657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CD56A400-2E4C-A636-1EE5-377F0A0E74E9}"/>
              </a:ext>
            </a:extLst>
          </p:cNvPr>
          <p:cNvSpPr/>
          <p:nvPr/>
        </p:nvSpPr>
        <p:spPr>
          <a:xfrm>
            <a:off x="0" y="2056589"/>
            <a:ext cx="1329718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 Type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939CE900-17E4-83ED-0FF6-EEA1F83BEF37}"/>
              </a:ext>
            </a:extLst>
          </p:cNvPr>
          <p:cNvSpPr/>
          <p:nvPr/>
        </p:nvSpPr>
        <p:spPr>
          <a:xfrm rot="16200000">
            <a:off x="45155" y="2812203"/>
            <a:ext cx="655716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82433117-232D-D43C-F701-BE591F5A3D2A}"/>
              </a:ext>
            </a:extLst>
          </p:cNvPr>
          <p:cNvSpPr/>
          <p:nvPr/>
        </p:nvSpPr>
        <p:spPr>
          <a:xfrm rot="16200000">
            <a:off x="-84698" y="4912223"/>
            <a:ext cx="915424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Non-Linear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E8E84B6A-9295-3B6A-2AAC-70E318E45433}"/>
              </a:ext>
            </a:extLst>
          </p:cNvPr>
          <p:cNvSpPr/>
          <p:nvPr/>
        </p:nvSpPr>
        <p:spPr>
          <a:xfrm>
            <a:off x="411140" y="1482055"/>
            <a:ext cx="1110289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Datafrequency</a:t>
            </a:r>
          </a:p>
        </p:txBody>
      </p: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2ABF927C-6532-EF25-3DB9-B165E7B109FA}"/>
              </a:ext>
            </a:extLst>
          </p:cNvPr>
          <p:cNvCxnSpPr/>
          <p:nvPr/>
        </p:nvCxnSpPr>
        <p:spPr>
          <a:xfrm>
            <a:off x="778932" y="1765243"/>
            <a:ext cx="103039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Rechteck 31">
            <a:extLst>
              <a:ext uri="{FF2B5EF4-FFF2-40B4-BE49-F238E27FC236}">
                <a16:creationId xmlns:a16="http://schemas.microsoft.com/office/drawing/2014/main" id="{3F211A30-3C89-7603-2902-726ABA95F9B3}"/>
              </a:ext>
            </a:extLst>
          </p:cNvPr>
          <p:cNvSpPr/>
          <p:nvPr/>
        </p:nvSpPr>
        <p:spPr>
          <a:xfrm>
            <a:off x="2275981" y="1464107"/>
            <a:ext cx="1536022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Daily, Weely, Monthly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0969D7CE-36B1-464F-AEE4-F2BC016C28E2}"/>
              </a:ext>
            </a:extLst>
          </p:cNvPr>
          <p:cNvSpPr/>
          <p:nvPr/>
        </p:nvSpPr>
        <p:spPr>
          <a:xfrm>
            <a:off x="5435044" y="1464107"/>
            <a:ext cx="132971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Monthly, Quarterly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04EDFBED-BE1F-16ED-923E-BDB55CDDEE4D}"/>
              </a:ext>
            </a:extLst>
          </p:cNvPr>
          <p:cNvSpPr/>
          <p:nvPr/>
        </p:nvSpPr>
        <p:spPr>
          <a:xfrm>
            <a:off x="8828065" y="1464107"/>
            <a:ext cx="132971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Annually</a:t>
            </a:r>
          </a:p>
        </p:txBody>
      </p:sp>
      <p:cxnSp>
        <p:nvCxnSpPr>
          <p:cNvPr id="42" name="Gerade Verbindung 41">
            <a:extLst>
              <a:ext uri="{FF2B5EF4-FFF2-40B4-BE49-F238E27FC236}">
                <a16:creationId xmlns:a16="http://schemas.microsoft.com/office/drawing/2014/main" id="{88C80A15-7A7C-8E86-8118-A92442E97EEF}"/>
              </a:ext>
            </a:extLst>
          </p:cNvPr>
          <p:cNvCxnSpPr/>
          <p:nvPr/>
        </p:nvCxnSpPr>
        <p:spPr>
          <a:xfrm>
            <a:off x="4500492" y="1534937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Gerade Verbindung 42">
            <a:extLst>
              <a:ext uri="{FF2B5EF4-FFF2-40B4-BE49-F238E27FC236}">
                <a16:creationId xmlns:a16="http://schemas.microsoft.com/office/drawing/2014/main" id="{FA11DBCE-08E6-3647-01EE-C5BF895F9069}"/>
              </a:ext>
            </a:extLst>
          </p:cNvPr>
          <p:cNvCxnSpPr/>
          <p:nvPr/>
        </p:nvCxnSpPr>
        <p:spPr>
          <a:xfrm>
            <a:off x="7853290" y="1529117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Gerade Verbindung 43">
            <a:extLst>
              <a:ext uri="{FF2B5EF4-FFF2-40B4-BE49-F238E27FC236}">
                <a16:creationId xmlns:a16="http://schemas.microsoft.com/office/drawing/2014/main" id="{C5AE9B1F-901B-6B27-1C7A-7209097BAA36}"/>
              </a:ext>
            </a:extLst>
          </p:cNvPr>
          <p:cNvCxnSpPr>
            <a:cxnSpLocks/>
          </p:cNvCxnSpPr>
          <p:nvPr/>
        </p:nvCxnSpPr>
        <p:spPr>
          <a:xfrm>
            <a:off x="265012" y="3909431"/>
            <a:ext cx="10690855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Rechteck 2">
            <a:extLst>
              <a:ext uri="{FF2B5EF4-FFF2-40B4-BE49-F238E27FC236}">
                <a16:creationId xmlns:a16="http://schemas.microsoft.com/office/drawing/2014/main" id="{529091BE-4A5B-0EF5-7E5A-F7A3AEA548B1}"/>
              </a:ext>
            </a:extLst>
          </p:cNvPr>
          <p:cNvSpPr/>
          <p:nvPr/>
        </p:nvSpPr>
        <p:spPr>
          <a:xfrm>
            <a:off x="2204319" y="3148351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DCC - GARCH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87031130-C61F-326F-B8DA-6843B06F2F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6802" y="2678548"/>
            <a:ext cx="4117052" cy="3657600"/>
          </a:xfrm>
          <a:prstGeom prst="rect">
            <a:avLst/>
          </a:prstGeom>
        </p:spPr>
      </p:pic>
      <p:sp>
        <p:nvSpPr>
          <p:cNvPr id="16" name="Rechteck 15">
            <a:extLst>
              <a:ext uri="{FF2B5EF4-FFF2-40B4-BE49-F238E27FC236}">
                <a16:creationId xmlns:a16="http://schemas.microsoft.com/office/drawing/2014/main" id="{533BCD88-E6BD-F0D5-1197-3A807AC3E8C7}"/>
              </a:ext>
            </a:extLst>
          </p:cNvPr>
          <p:cNvSpPr/>
          <p:nvPr/>
        </p:nvSpPr>
        <p:spPr>
          <a:xfrm>
            <a:off x="1885543" y="3965101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55A81917-1044-5C15-8D02-840E0835B6C4}"/>
              </a:ext>
            </a:extLst>
          </p:cNvPr>
          <p:cNvSpPr/>
          <p:nvPr/>
        </p:nvSpPr>
        <p:spPr>
          <a:xfrm>
            <a:off x="2292104" y="3444207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SVAR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68104DAD-C39B-9AB7-DA00-3DB6EA1FA784}"/>
              </a:ext>
            </a:extLst>
          </p:cNvPr>
          <p:cNvSpPr/>
          <p:nvPr/>
        </p:nvSpPr>
        <p:spPr>
          <a:xfrm>
            <a:off x="1990172" y="5247297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TVAR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28445CAB-42DB-9A49-7B6F-BD6BA741F0E3}"/>
              </a:ext>
            </a:extLst>
          </p:cNvPr>
          <p:cNvSpPr/>
          <p:nvPr/>
        </p:nvSpPr>
        <p:spPr>
          <a:xfrm>
            <a:off x="495794" y="3984923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DCC – GARCH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Connectedness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70255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184817-5310-267E-9D93-4FFF68B37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" name="Gerade Verbindung 38">
            <a:extLst>
              <a:ext uri="{FF2B5EF4-FFF2-40B4-BE49-F238E27FC236}">
                <a16:creationId xmlns:a16="http://schemas.microsoft.com/office/drawing/2014/main" id="{44F02557-566E-ABFE-A63B-E971481BA2B8}"/>
              </a:ext>
            </a:extLst>
          </p:cNvPr>
          <p:cNvCxnSpPr/>
          <p:nvPr/>
        </p:nvCxnSpPr>
        <p:spPr>
          <a:xfrm>
            <a:off x="5003670" y="1012646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CustomShape 3">
            <a:extLst>
              <a:ext uri="{FF2B5EF4-FFF2-40B4-BE49-F238E27FC236}">
                <a16:creationId xmlns:a16="http://schemas.microsoft.com/office/drawing/2014/main" id="{0819741F-CF4B-BAE2-960A-015C7AFDF3C4}"/>
              </a:ext>
            </a:extLst>
          </p:cNvPr>
          <p:cNvSpPr/>
          <p:nvPr/>
        </p:nvSpPr>
        <p:spPr>
          <a:xfrm>
            <a:off x="540000" y="743529"/>
            <a:ext cx="10079640" cy="26911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/>
          <a:lstStyle/>
          <a:p>
            <a:pPr>
              <a:lnSpc>
                <a:spcPct val="100000"/>
              </a:lnSpc>
            </a:pP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</a:t>
            </a:r>
            <a:r>
              <a:rPr lang="de-DE" sz="1400" b="1" spc="-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</a:t>
            </a: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400" b="1" spc="-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between</a:t>
            </a: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Energy Commodity Prices and </a:t>
            </a:r>
            <a:r>
              <a:rPr lang="de-DE" sz="1400" b="1" spc="-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exchange</a:t>
            </a: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400" b="1" spc="-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rates</a:t>
            </a: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400" b="1" spc="-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Econometric</a:t>
            </a: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400" b="1" spc="-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modelling</a:t>
            </a: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de-DE" sz="1400" b="0" strike="noStrike" spc="-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CDEC4D6D-1C3C-17DB-D63A-05047A97D0E9}"/>
              </a:ext>
            </a:extLst>
          </p:cNvPr>
          <p:cNvSpPr/>
          <p:nvPr/>
        </p:nvSpPr>
        <p:spPr>
          <a:xfrm>
            <a:off x="1564188" y="1182569"/>
            <a:ext cx="1329718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 Type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6B0CA8E9-01B9-9B6A-9426-857F2C6668B6}"/>
              </a:ext>
            </a:extLst>
          </p:cNvPr>
          <p:cNvSpPr/>
          <p:nvPr/>
        </p:nvSpPr>
        <p:spPr>
          <a:xfrm>
            <a:off x="4347861" y="1597403"/>
            <a:ext cx="1329718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038B7DF9-7673-E6B1-D7CA-464A91A7CB2E}"/>
              </a:ext>
            </a:extLst>
          </p:cNvPr>
          <p:cNvSpPr/>
          <p:nvPr/>
        </p:nvSpPr>
        <p:spPr>
          <a:xfrm>
            <a:off x="4265195" y="1933779"/>
            <a:ext cx="1495049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Correlation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EE9748DC-C95B-724D-BEBE-A0525B98F38C}"/>
              </a:ext>
            </a:extLst>
          </p:cNvPr>
          <p:cNvSpPr/>
          <p:nvPr/>
        </p:nvSpPr>
        <p:spPr>
          <a:xfrm>
            <a:off x="3421713" y="1167973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E26B94DC-D64F-901A-4DB7-881C106CD901}"/>
              </a:ext>
            </a:extLst>
          </p:cNvPr>
          <p:cNvSpPr/>
          <p:nvPr/>
        </p:nvSpPr>
        <p:spPr>
          <a:xfrm>
            <a:off x="5085147" y="1164569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Non-linear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6A7B4CF5-B35A-3757-432F-187385F2F1C2}"/>
              </a:ext>
            </a:extLst>
          </p:cNvPr>
          <p:cNvSpPr/>
          <p:nvPr/>
        </p:nvSpPr>
        <p:spPr>
          <a:xfrm>
            <a:off x="3313071" y="2424480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 Pearson Correlation</a:t>
            </a:r>
          </a:p>
        </p:txBody>
      </p:sp>
      <p:sp>
        <p:nvSpPr>
          <p:cNvPr id="38" name="Rechteck 37">
            <a:extLst>
              <a:ext uri="{FF2B5EF4-FFF2-40B4-BE49-F238E27FC236}">
                <a16:creationId xmlns:a16="http://schemas.microsoft.com/office/drawing/2014/main" id="{BFB7EC7F-3FD3-4349-C0CC-EA528B46B0DE}"/>
              </a:ext>
            </a:extLst>
          </p:cNvPr>
          <p:cNvSpPr/>
          <p:nvPr/>
        </p:nvSpPr>
        <p:spPr>
          <a:xfrm>
            <a:off x="5175681" y="2424480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Non-linear (rank) correlation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A2099ED4-3F22-BAB9-CB08-483E6D8B9BD4}"/>
              </a:ext>
            </a:extLst>
          </p:cNvPr>
          <p:cNvSpPr/>
          <p:nvPr/>
        </p:nvSpPr>
        <p:spPr>
          <a:xfrm>
            <a:off x="2443271" y="3093740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Granger-Causality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65D3966F-C84D-34A4-3CA7-4B256E8F79D0}"/>
              </a:ext>
            </a:extLst>
          </p:cNvPr>
          <p:cNvSpPr/>
          <p:nvPr/>
        </p:nvSpPr>
        <p:spPr>
          <a:xfrm>
            <a:off x="4210544" y="4612557"/>
            <a:ext cx="1495049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Cointegration</a:t>
            </a:r>
          </a:p>
        </p:txBody>
      </p:sp>
      <p:sp>
        <p:nvSpPr>
          <p:cNvPr id="45" name="Rechteck 44">
            <a:extLst>
              <a:ext uri="{FF2B5EF4-FFF2-40B4-BE49-F238E27FC236}">
                <a16:creationId xmlns:a16="http://schemas.microsoft.com/office/drawing/2014/main" id="{CFC6ED35-12C9-C92A-9A1A-7E3ECFE8B4AC}"/>
              </a:ext>
            </a:extLst>
          </p:cNvPr>
          <p:cNvSpPr/>
          <p:nvPr/>
        </p:nvSpPr>
        <p:spPr>
          <a:xfrm>
            <a:off x="4191257" y="5087913"/>
            <a:ext cx="1495049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Connectedness</a:t>
            </a:r>
          </a:p>
        </p:txBody>
      </p: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01FFB200-5314-B158-EFEA-C54C915B6805}"/>
              </a:ext>
            </a:extLst>
          </p:cNvPr>
          <p:cNvCxnSpPr>
            <a:stCxn id="23" idx="2"/>
            <a:endCxn id="36" idx="0"/>
          </p:cNvCxnSpPr>
          <p:nvPr/>
        </p:nvCxnSpPr>
        <p:spPr>
          <a:xfrm flipH="1">
            <a:off x="4060596" y="2149779"/>
            <a:ext cx="952124" cy="2747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D28C7E10-2C36-CB5B-FC07-42839D42A291}"/>
              </a:ext>
            </a:extLst>
          </p:cNvPr>
          <p:cNvCxnSpPr>
            <a:cxnSpLocks/>
            <a:stCxn id="23" idx="2"/>
            <a:endCxn id="38" idx="0"/>
          </p:cNvCxnSpPr>
          <p:nvPr/>
        </p:nvCxnSpPr>
        <p:spPr>
          <a:xfrm>
            <a:off x="5012720" y="2149779"/>
            <a:ext cx="910486" cy="2747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732874AF-67E6-3731-E328-D90FA9AC0CEE}"/>
              </a:ext>
            </a:extLst>
          </p:cNvPr>
          <p:cNvCxnSpPr>
            <a:cxnSpLocks/>
            <a:stCxn id="36" idx="2"/>
            <a:endCxn id="40" idx="0"/>
          </p:cNvCxnSpPr>
          <p:nvPr/>
        </p:nvCxnSpPr>
        <p:spPr>
          <a:xfrm flipH="1">
            <a:off x="3190796" y="2826607"/>
            <a:ext cx="869800" cy="2671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DB473DC3-0802-1B1D-E2CA-B15F3C18F55C}"/>
              </a:ext>
            </a:extLst>
          </p:cNvPr>
          <p:cNvSpPr/>
          <p:nvPr/>
        </p:nvSpPr>
        <p:spPr>
          <a:xfrm>
            <a:off x="4191256" y="5620763"/>
            <a:ext cx="1495049" cy="52824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Vector Autoregression (VAR)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1F287F64-41FC-92B6-E26F-2A707EFA7E65}"/>
              </a:ext>
            </a:extLst>
          </p:cNvPr>
          <p:cNvSpPr/>
          <p:nvPr/>
        </p:nvSpPr>
        <p:spPr>
          <a:xfrm>
            <a:off x="6095410" y="3651348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Regime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Identification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2FEB09D5-548A-EEE9-E024-9B0FA12F968C}"/>
              </a:ext>
            </a:extLst>
          </p:cNvPr>
          <p:cNvSpPr/>
          <p:nvPr/>
        </p:nvSpPr>
        <p:spPr>
          <a:xfrm>
            <a:off x="5250752" y="4128974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Markov-Switching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AF6F4AB1-851F-142F-B6A0-251DC4B65C78}"/>
              </a:ext>
            </a:extLst>
          </p:cNvPr>
          <p:cNvCxnSpPr>
            <a:cxnSpLocks/>
            <a:stCxn id="57" idx="2"/>
            <a:endCxn id="58" idx="0"/>
          </p:cNvCxnSpPr>
          <p:nvPr/>
        </p:nvCxnSpPr>
        <p:spPr>
          <a:xfrm flipH="1">
            <a:off x="5998277" y="4053475"/>
            <a:ext cx="844658" cy="754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Rechteck 61">
            <a:extLst>
              <a:ext uri="{FF2B5EF4-FFF2-40B4-BE49-F238E27FC236}">
                <a16:creationId xmlns:a16="http://schemas.microsoft.com/office/drawing/2014/main" id="{75C028C9-BB8F-0AD2-961D-CEEDC47AC25F}"/>
              </a:ext>
            </a:extLst>
          </p:cNvPr>
          <p:cNvSpPr/>
          <p:nvPr/>
        </p:nvSpPr>
        <p:spPr>
          <a:xfrm>
            <a:off x="4265195" y="3665025"/>
            <a:ext cx="1495049" cy="37132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Time-varying causality</a:t>
            </a:r>
          </a:p>
        </p:txBody>
      </p: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FA4859EF-6480-2912-A543-60C80AC0161C}"/>
              </a:ext>
            </a:extLst>
          </p:cNvPr>
          <p:cNvCxnSpPr>
            <a:cxnSpLocks/>
            <a:stCxn id="40" idx="2"/>
            <a:endCxn id="62" idx="0"/>
          </p:cNvCxnSpPr>
          <p:nvPr/>
        </p:nvCxnSpPr>
        <p:spPr>
          <a:xfrm>
            <a:off x="3190796" y="3309740"/>
            <a:ext cx="1821924" cy="3552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6EE9DD6E-D5ED-8201-8222-D20A995210D7}"/>
              </a:ext>
            </a:extLst>
          </p:cNvPr>
          <p:cNvCxnSpPr>
            <a:cxnSpLocks/>
            <a:stCxn id="62" idx="3"/>
            <a:endCxn id="57" idx="1"/>
          </p:cNvCxnSpPr>
          <p:nvPr/>
        </p:nvCxnSpPr>
        <p:spPr>
          <a:xfrm>
            <a:off x="5760244" y="3850689"/>
            <a:ext cx="335166" cy="17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Rechteck 70">
            <a:extLst>
              <a:ext uri="{FF2B5EF4-FFF2-40B4-BE49-F238E27FC236}">
                <a16:creationId xmlns:a16="http://schemas.microsoft.com/office/drawing/2014/main" id="{7F984D5E-75D1-D322-81F0-D8B4581A6F5E}"/>
              </a:ext>
            </a:extLst>
          </p:cNvPr>
          <p:cNvSpPr/>
          <p:nvPr/>
        </p:nvSpPr>
        <p:spPr>
          <a:xfrm>
            <a:off x="38857" y="4452635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</a:t>
            </a:r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2053A14E-923B-472E-8D72-BFA7E933D4FE}"/>
              </a:ext>
            </a:extLst>
          </p:cNvPr>
          <p:cNvSpPr/>
          <p:nvPr/>
        </p:nvSpPr>
        <p:spPr>
          <a:xfrm>
            <a:off x="38857" y="3847568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SVAR</a:t>
            </a: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EEA54DEA-3E61-E23A-991C-16479EC23410}"/>
              </a:ext>
            </a:extLst>
          </p:cNvPr>
          <p:cNvSpPr/>
          <p:nvPr/>
        </p:nvSpPr>
        <p:spPr>
          <a:xfrm>
            <a:off x="4265195" y="3093740"/>
            <a:ext cx="1495049" cy="2122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Rolling Correlation</a:t>
            </a:r>
          </a:p>
        </p:txBody>
      </p: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9029CC9D-F3FF-AB5B-4773-37510517BD43}"/>
              </a:ext>
            </a:extLst>
          </p:cNvPr>
          <p:cNvCxnSpPr>
            <a:cxnSpLocks/>
            <a:stCxn id="36" idx="2"/>
            <a:endCxn id="77" idx="0"/>
          </p:cNvCxnSpPr>
          <p:nvPr/>
        </p:nvCxnSpPr>
        <p:spPr>
          <a:xfrm>
            <a:off x="4060596" y="2826607"/>
            <a:ext cx="952124" cy="2671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E35B6059-A343-14A8-6034-34B9204956FE}"/>
              </a:ext>
            </a:extLst>
          </p:cNvPr>
          <p:cNvCxnSpPr>
            <a:cxnSpLocks/>
            <a:stCxn id="77" idx="2"/>
            <a:endCxn id="62" idx="0"/>
          </p:cNvCxnSpPr>
          <p:nvPr/>
        </p:nvCxnSpPr>
        <p:spPr>
          <a:xfrm>
            <a:off x="5012720" y="3305956"/>
            <a:ext cx="0" cy="3590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Rechteck 87">
            <a:extLst>
              <a:ext uri="{FF2B5EF4-FFF2-40B4-BE49-F238E27FC236}">
                <a16:creationId xmlns:a16="http://schemas.microsoft.com/office/drawing/2014/main" id="{D793DB29-96BB-C695-83F5-DD3D135ECDF1}"/>
              </a:ext>
            </a:extLst>
          </p:cNvPr>
          <p:cNvSpPr/>
          <p:nvPr/>
        </p:nvSpPr>
        <p:spPr>
          <a:xfrm>
            <a:off x="9880415" y="4509680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Long Run Relationship</a:t>
            </a:r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96511A50-7272-CFB6-6346-6DFC13E70339}"/>
              </a:ext>
            </a:extLst>
          </p:cNvPr>
          <p:cNvSpPr/>
          <p:nvPr/>
        </p:nvSpPr>
        <p:spPr>
          <a:xfrm>
            <a:off x="9711910" y="1182569"/>
            <a:ext cx="918576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Timeframe</a:t>
            </a:r>
          </a:p>
        </p:txBody>
      </p:sp>
      <p:cxnSp>
        <p:nvCxnSpPr>
          <p:cNvPr id="90" name="Gerade Verbindung 89">
            <a:extLst>
              <a:ext uri="{FF2B5EF4-FFF2-40B4-BE49-F238E27FC236}">
                <a16:creationId xmlns:a16="http://schemas.microsoft.com/office/drawing/2014/main" id="{E84F85FC-ED79-B59A-87AB-D6FAE7541F79}"/>
              </a:ext>
            </a:extLst>
          </p:cNvPr>
          <p:cNvCxnSpPr/>
          <p:nvPr/>
        </p:nvCxnSpPr>
        <p:spPr>
          <a:xfrm>
            <a:off x="9417156" y="1103598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1" name="Gerade Verbindung 90">
            <a:extLst>
              <a:ext uri="{FF2B5EF4-FFF2-40B4-BE49-F238E27FC236}">
                <a16:creationId xmlns:a16="http://schemas.microsoft.com/office/drawing/2014/main" id="{A5978FE9-9B97-F0A9-F5CA-D344B72CC110}"/>
              </a:ext>
            </a:extLst>
          </p:cNvPr>
          <p:cNvCxnSpPr/>
          <p:nvPr/>
        </p:nvCxnSpPr>
        <p:spPr>
          <a:xfrm>
            <a:off x="3186390" y="1164569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8C5149CE-219C-3F45-659C-27FB103E0AC3}"/>
              </a:ext>
            </a:extLst>
          </p:cNvPr>
          <p:cNvCxnSpPr>
            <a:cxnSpLocks/>
            <a:stCxn id="41" idx="3"/>
            <a:endCxn id="88" idx="1"/>
          </p:cNvCxnSpPr>
          <p:nvPr/>
        </p:nvCxnSpPr>
        <p:spPr>
          <a:xfrm flipV="1">
            <a:off x="5705593" y="4710744"/>
            <a:ext cx="4174822" cy="98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6" name="Rechteck 95">
            <a:extLst>
              <a:ext uri="{FF2B5EF4-FFF2-40B4-BE49-F238E27FC236}">
                <a16:creationId xmlns:a16="http://schemas.microsoft.com/office/drawing/2014/main" id="{9086E540-8D63-582F-8E48-A6DD167B8902}"/>
              </a:ext>
            </a:extLst>
          </p:cNvPr>
          <p:cNvSpPr/>
          <p:nvPr/>
        </p:nvSpPr>
        <p:spPr>
          <a:xfrm>
            <a:off x="38857" y="2048422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ECM</a:t>
            </a:r>
          </a:p>
        </p:txBody>
      </p:sp>
      <p:sp>
        <p:nvSpPr>
          <p:cNvPr id="97" name="Rechteck 96">
            <a:extLst>
              <a:ext uri="{FF2B5EF4-FFF2-40B4-BE49-F238E27FC236}">
                <a16:creationId xmlns:a16="http://schemas.microsoft.com/office/drawing/2014/main" id="{7419BE5C-8D7E-F0CC-CC59-6B68C821F058}"/>
              </a:ext>
            </a:extLst>
          </p:cNvPr>
          <p:cNvSpPr/>
          <p:nvPr/>
        </p:nvSpPr>
        <p:spPr>
          <a:xfrm>
            <a:off x="54297" y="5645930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VECM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657363FA-CCBB-878B-A5C5-2795052BA2DE}"/>
              </a:ext>
            </a:extLst>
          </p:cNvPr>
          <p:cNvSpPr/>
          <p:nvPr/>
        </p:nvSpPr>
        <p:spPr>
          <a:xfrm>
            <a:off x="38857" y="2667872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MS-VAR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10966C5E-2567-6B92-9B38-67360F165CC9}"/>
              </a:ext>
            </a:extLst>
          </p:cNvPr>
          <p:cNvSpPr/>
          <p:nvPr/>
        </p:nvSpPr>
        <p:spPr>
          <a:xfrm>
            <a:off x="6878128" y="4128974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Clustering techniques</a:t>
            </a:r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BFFBB656-F091-14A7-CBC6-5070A1AC180D}"/>
              </a:ext>
            </a:extLst>
          </p:cNvPr>
          <p:cNvCxnSpPr>
            <a:cxnSpLocks/>
            <a:stCxn id="57" idx="2"/>
            <a:endCxn id="2" idx="0"/>
          </p:cNvCxnSpPr>
          <p:nvPr/>
        </p:nvCxnSpPr>
        <p:spPr>
          <a:xfrm>
            <a:off x="6842935" y="4053475"/>
            <a:ext cx="782718" cy="754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Rechteck 4">
            <a:extLst>
              <a:ext uri="{FF2B5EF4-FFF2-40B4-BE49-F238E27FC236}">
                <a16:creationId xmlns:a16="http://schemas.microsoft.com/office/drawing/2014/main" id="{1237518B-AB41-CE4E-5D3C-89D69C138D59}"/>
              </a:ext>
            </a:extLst>
          </p:cNvPr>
          <p:cNvSpPr/>
          <p:nvPr/>
        </p:nvSpPr>
        <p:spPr>
          <a:xfrm>
            <a:off x="38857" y="5075684"/>
            <a:ext cx="1667844" cy="49305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TVAR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4E4A07AD-8C8A-0791-7E72-2211456E8149}"/>
              </a:ext>
            </a:extLst>
          </p:cNvPr>
          <p:cNvSpPr/>
          <p:nvPr/>
        </p:nvSpPr>
        <p:spPr>
          <a:xfrm>
            <a:off x="5932351" y="3093740"/>
            <a:ext cx="1495049" cy="2122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Spearmans 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Rho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435C9FA-FA5C-C8F0-7033-A4E01EA053A1}"/>
              </a:ext>
            </a:extLst>
          </p:cNvPr>
          <p:cNvCxnSpPr>
            <a:cxnSpLocks/>
            <a:stCxn id="38" idx="2"/>
            <a:endCxn id="6" idx="0"/>
          </p:cNvCxnSpPr>
          <p:nvPr/>
        </p:nvCxnSpPr>
        <p:spPr>
          <a:xfrm>
            <a:off x="5923206" y="2826607"/>
            <a:ext cx="756670" cy="2671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hteck 11">
            <a:extLst>
              <a:ext uri="{FF2B5EF4-FFF2-40B4-BE49-F238E27FC236}">
                <a16:creationId xmlns:a16="http://schemas.microsoft.com/office/drawing/2014/main" id="{106C6DEE-029B-8A14-FC2B-31BAE72D4780}"/>
              </a:ext>
            </a:extLst>
          </p:cNvPr>
          <p:cNvSpPr/>
          <p:nvPr/>
        </p:nvSpPr>
        <p:spPr>
          <a:xfrm>
            <a:off x="7574166" y="3093740"/>
            <a:ext cx="1495049" cy="2122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Kendalls Tau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87A35EF2-819B-6946-8607-87DAD353D645}"/>
              </a:ext>
            </a:extLst>
          </p:cNvPr>
          <p:cNvCxnSpPr>
            <a:cxnSpLocks/>
            <a:stCxn id="38" idx="2"/>
            <a:endCxn id="12" idx="0"/>
          </p:cNvCxnSpPr>
          <p:nvPr/>
        </p:nvCxnSpPr>
        <p:spPr>
          <a:xfrm>
            <a:off x="5923206" y="2826607"/>
            <a:ext cx="2398485" cy="2671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074446F5-EB95-C217-F0B7-00FA5AFF0174}"/>
              </a:ext>
            </a:extLst>
          </p:cNvPr>
          <p:cNvCxnSpPr>
            <a:cxnSpLocks/>
            <a:stCxn id="38" idx="2"/>
            <a:endCxn id="77" idx="0"/>
          </p:cNvCxnSpPr>
          <p:nvPr/>
        </p:nvCxnSpPr>
        <p:spPr>
          <a:xfrm flipH="1">
            <a:off x="5012720" y="2826607"/>
            <a:ext cx="910486" cy="2671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Rechteck 19">
            <a:extLst>
              <a:ext uri="{FF2B5EF4-FFF2-40B4-BE49-F238E27FC236}">
                <a16:creationId xmlns:a16="http://schemas.microsoft.com/office/drawing/2014/main" id="{24F38758-09E8-9B58-9B5A-814C6728F1BD}"/>
              </a:ext>
            </a:extLst>
          </p:cNvPr>
          <p:cNvSpPr/>
          <p:nvPr/>
        </p:nvSpPr>
        <p:spPr>
          <a:xfrm>
            <a:off x="5832671" y="5427063"/>
            <a:ext cx="1790275" cy="5649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DCC-GARCH/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Connectedness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86C281F6-FB7B-58B2-461E-3C6A938E54CD}"/>
              </a:ext>
            </a:extLst>
          </p:cNvPr>
          <p:cNvSpPr/>
          <p:nvPr/>
        </p:nvSpPr>
        <p:spPr>
          <a:xfrm>
            <a:off x="1812598" y="5241400"/>
            <a:ext cx="1622086" cy="3713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Copula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196A72D3-2E6D-87F2-CC44-8A3BF4613BC4}"/>
              </a:ext>
            </a:extLst>
          </p:cNvPr>
          <p:cNvSpPr/>
          <p:nvPr/>
        </p:nvSpPr>
        <p:spPr>
          <a:xfrm>
            <a:off x="1799627" y="5736646"/>
            <a:ext cx="1622086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Wavelet</a:t>
            </a: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8894366F-C7BE-627A-F3F8-3A379D590C8D}"/>
              </a:ext>
            </a:extLst>
          </p:cNvPr>
          <p:cNvCxnSpPr>
            <a:cxnSpLocks/>
            <a:stCxn id="45" idx="2"/>
            <a:endCxn id="20" idx="0"/>
          </p:cNvCxnSpPr>
          <p:nvPr/>
        </p:nvCxnSpPr>
        <p:spPr>
          <a:xfrm>
            <a:off x="4938782" y="5303913"/>
            <a:ext cx="1789027" cy="1231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64225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E9ED2-DB6B-C5BB-E43A-9C269C890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" name="Gerade Verbindung 38">
            <a:extLst>
              <a:ext uri="{FF2B5EF4-FFF2-40B4-BE49-F238E27FC236}">
                <a16:creationId xmlns:a16="http://schemas.microsoft.com/office/drawing/2014/main" id="{25FCD6BB-9F1F-3434-6DC6-2705B4EDF50B}"/>
              </a:ext>
            </a:extLst>
          </p:cNvPr>
          <p:cNvCxnSpPr/>
          <p:nvPr/>
        </p:nvCxnSpPr>
        <p:spPr>
          <a:xfrm>
            <a:off x="5003670" y="1012646"/>
            <a:ext cx="0" cy="428748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CustomShape 3">
            <a:extLst>
              <a:ext uri="{FF2B5EF4-FFF2-40B4-BE49-F238E27FC236}">
                <a16:creationId xmlns:a16="http://schemas.microsoft.com/office/drawing/2014/main" id="{2EE9070B-CC35-1DAE-F9CD-1C084CBD8A0F}"/>
              </a:ext>
            </a:extLst>
          </p:cNvPr>
          <p:cNvSpPr/>
          <p:nvPr/>
        </p:nvSpPr>
        <p:spPr>
          <a:xfrm>
            <a:off x="540000" y="743529"/>
            <a:ext cx="10079640" cy="26911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/>
          <a:lstStyle/>
          <a:p>
            <a:pPr>
              <a:lnSpc>
                <a:spcPct val="100000"/>
              </a:lnSpc>
            </a:pP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</a:t>
            </a:r>
            <a:r>
              <a:rPr lang="de-DE" sz="1400" b="1" spc="-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</a:t>
            </a: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400" b="1" spc="-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between</a:t>
            </a: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Energy Commodity Prices and </a:t>
            </a:r>
            <a:r>
              <a:rPr lang="de-DE" sz="1400" b="1" spc="-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exchange</a:t>
            </a: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400" b="1" spc="-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rates</a:t>
            </a: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de-DE" sz="1400" b="1" spc="-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Econometric</a:t>
            </a: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400" b="1" spc="-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modelling</a:t>
            </a:r>
            <a:r>
              <a:rPr lang="de-DE" sz="1400" b="1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de-DE" sz="1400" b="0" strike="noStrike" spc="-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F02055E3-7891-B11A-2975-55E7F21BA00E}"/>
              </a:ext>
            </a:extLst>
          </p:cNvPr>
          <p:cNvSpPr/>
          <p:nvPr/>
        </p:nvSpPr>
        <p:spPr>
          <a:xfrm>
            <a:off x="1323025" y="1182569"/>
            <a:ext cx="1329718" cy="18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 Type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E729AB2A-516A-888E-A14A-C888FA0D2B93}"/>
              </a:ext>
            </a:extLst>
          </p:cNvPr>
          <p:cNvSpPr/>
          <p:nvPr/>
        </p:nvSpPr>
        <p:spPr>
          <a:xfrm>
            <a:off x="4347860" y="1597402"/>
            <a:ext cx="1338433" cy="35937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</a:t>
            </a:r>
          </a:p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(e.g.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correlation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7475DC81-FAB1-655D-65BE-1DCDBAAD83C1}"/>
              </a:ext>
            </a:extLst>
          </p:cNvPr>
          <p:cNvSpPr/>
          <p:nvPr/>
        </p:nvSpPr>
        <p:spPr>
          <a:xfrm>
            <a:off x="3421713" y="1167973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Linear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DF5F7EA9-0755-8028-C13C-388935E08ECC}"/>
              </a:ext>
            </a:extLst>
          </p:cNvPr>
          <p:cNvSpPr/>
          <p:nvPr/>
        </p:nvSpPr>
        <p:spPr>
          <a:xfrm>
            <a:off x="5085147" y="1164569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Non-linear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F8326759-26F9-BFFB-858A-032A2F1B0E78}"/>
              </a:ext>
            </a:extLst>
          </p:cNvPr>
          <p:cNvSpPr/>
          <p:nvPr/>
        </p:nvSpPr>
        <p:spPr>
          <a:xfrm>
            <a:off x="3277717" y="2397025"/>
            <a:ext cx="1495049" cy="216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Granger-Causality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0CACCEB8-46F0-26D8-62A7-9D5772576237}"/>
              </a:ext>
            </a:extLst>
          </p:cNvPr>
          <p:cNvSpPr/>
          <p:nvPr/>
        </p:nvSpPr>
        <p:spPr>
          <a:xfrm>
            <a:off x="2433192" y="4639989"/>
            <a:ext cx="1495049" cy="216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Cointegration</a:t>
            </a:r>
          </a:p>
        </p:txBody>
      </p: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3ED2BB53-6D2A-940F-EA3C-DEAF83E288C2}"/>
              </a:ext>
            </a:extLst>
          </p:cNvPr>
          <p:cNvCxnSpPr>
            <a:cxnSpLocks/>
            <a:stCxn id="16" idx="2"/>
            <a:endCxn id="40" idx="0"/>
          </p:cNvCxnSpPr>
          <p:nvPr/>
        </p:nvCxnSpPr>
        <p:spPr>
          <a:xfrm flipH="1">
            <a:off x="4025242" y="1956773"/>
            <a:ext cx="991835" cy="4402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1E91449A-1175-9027-026C-29EC4BFF116F}"/>
              </a:ext>
            </a:extLst>
          </p:cNvPr>
          <p:cNvSpPr/>
          <p:nvPr/>
        </p:nvSpPr>
        <p:spPr>
          <a:xfrm>
            <a:off x="4191244" y="3600627"/>
            <a:ext cx="1495049" cy="52824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Vector Autoregression (VAR)</a:t>
            </a:r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69A83A85-1021-7859-167D-D876434F15BA}"/>
              </a:ext>
            </a:extLst>
          </p:cNvPr>
          <p:cNvSpPr/>
          <p:nvPr/>
        </p:nvSpPr>
        <p:spPr>
          <a:xfrm>
            <a:off x="5525327" y="3020611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Regime Switching</a:t>
            </a: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05235860-99B3-CE69-587A-262F36F30E8E}"/>
              </a:ext>
            </a:extLst>
          </p:cNvPr>
          <p:cNvSpPr/>
          <p:nvPr/>
        </p:nvSpPr>
        <p:spPr>
          <a:xfrm>
            <a:off x="6416957" y="3723645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Markov-Switching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2E549598-D2D6-F095-E630-3262AEC37A09}"/>
              </a:ext>
            </a:extLst>
          </p:cNvPr>
          <p:cNvCxnSpPr>
            <a:cxnSpLocks/>
            <a:stCxn id="57" idx="2"/>
            <a:endCxn id="58" idx="0"/>
          </p:cNvCxnSpPr>
          <p:nvPr/>
        </p:nvCxnSpPr>
        <p:spPr>
          <a:xfrm>
            <a:off x="6272852" y="3422738"/>
            <a:ext cx="891630" cy="3009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Rechteck 61">
            <a:extLst>
              <a:ext uri="{FF2B5EF4-FFF2-40B4-BE49-F238E27FC236}">
                <a16:creationId xmlns:a16="http://schemas.microsoft.com/office/drawing/2014/main" id="{517306DE-F213-5C77-FA70-1100B3CC6710}"/>
              </a:ext>
            </a:extLst>
          </p:cNvPr>
          <p:cNvSpPr/>
          <p:nvPr/>
        </p:nvSpPr>
        <p:spPr>
          <a:xfrm>
            <a:off x="5525327" y="2263720"/>
            <a:ext cx="1495049" cy="37132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Time-</a:t>
            </a:r>
            <a:r>
              <a:rPr lang="de-DE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varying</a:t>
            </a:r>
            <a:r>
              <a:rPr lang="de-DE" sz="11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b="1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</a:t>
            </a:r>
            <a:endParaRPr lang="de-DE" sz="1100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E04775E1-46DB-08D6-49ED-A70E8AD29B26}"/>
              </a:ext>
            </a:extLst>
          </p:cNvPr>
          <p:cNvSpPr/>
          <p:nvPr/>
        </p:nvSpPr>
        <p:spPr>
          <a:xfrm>
            <a:off x="6664721" y="1453660"/>
            <a:ext cx="1980612" cy="3713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DCC-GARCH/</a:t>
            </a:r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Connectedness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3" name="Geschweifte Klammer links 72">
            <a:extLst>
              <a:ext uri="{FF2B5EF4-FFF2-40B4-BE49-F238E27FC236}">
                <a16:creationId xmlns:a16="http://schemas.microsoft.com/office/drawing/2014/main" id="{88589DDD-FBEE-FC4C-E179-701BB71975EA}"/>
              </a:ext>
            </a:extLst>
          </p:cNvPr>
          <p:cNvSpPr/>
          <p:nvPr/>
        </p:nvSpPr>
        <p:spPr>
          <a:xfrm>
            <a:off x="1782943" y="1629702"/>
            <a:ext cx="419165" cy="2253286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8C462B88-791A-78F5-C47D-ECA63E83F2BF}"/>
              </a:ext>
            </a:extLst>
          </p:cNvPr>
          <p:cNvSpPr/>
          <p:nvPr/>
        </p:nvSpPr>
        <p:spPr>
          <a:xfrm>
            <a:off x="235522" y="2424480"/>
            <a:ext cx="1495049" cy="76420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When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find a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certain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relationship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can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proceed</a:t>
            </a:r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de-DE" sz="11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further</a:t>
            </a:r>
            <a:endParaRPr lang="de-DE" sz="11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8" name="Rechteck 87">
            <a:extLst>
              <a:ext uri="{FF2B5EF4-FFF2-40B4-BE49-F238E27FC236}">
                <a16:creationId xmlns:a16="http://schemas.microsoft.com/office/drawing/2014/main" id="{26525E80-B273-8419-5E24-A569F2532229}"/>
              </a:ext>
            </a:extLst>
          </p:cNvPr>
          <p:cNvSpPr/>
          <p:nvPr/>
        </p:nvSpPr>
        <p:spPr>
          <a:xfrm>
            <a:off x="3370570" y="5063652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Long Run Relationship</a:t>
            </a:r>
          </a:p>
        </p:txBody>
      </p: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B4799EAB-5EB8-022C-3924-893E8ADC590C}"/>
              </a:ext>
            </a:extLst>
          </p:cNvPr>
          <p:cNvCxnSpPr>
            <a:cxnSpLocks/>
            <a:stCxn id="41" idx="2"/>
            <a:endCxn id="88" idx="0"/>
          </p:cNvCxnSpPr>
          <p:nvPr/>
        </p:nvCxnSpPr>
        <p:spPr>
          <a:xfrm>
            <a:off x="3180717" y="4855989"/>
            <a:ext cx="937378" cy="2076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6" name="Rechteck 95">
            <a:extLst>
              <a:ext uri="{FF2B5EF4-FFF2-40B4-BE49-F238E27FC236}">
                <a16:creationId xmlns:a16="http://schemas.microsoft.com/office/drawing/2014/main" id="{8C956522-2675-3DB3-04B1-0AC3B5B37609}"/>
              </a:ext>
            </a:extLst>
          </p:cNvPr>
          <p:cNvSpPr/>
          <p:nvPr/>
        </p:nvSpPr>
        <p:spPr>
          <a:xfrm>
            <a:off x="3007921" y="4187210"/>
            <a:ext cx="1667844" cy="2986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(V)ECM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004C39EA-B3E7-994E-DF44-409CD8A1E438}"/>
              </a:ext>
            </a:extLst>
          </p:cNvPr>
          <p:cNvSpPr/>
          <p:nvPr/>
        </p:nvSpPr>
        <p:spPr>
          <a:xfrm>
            <a:off x="7808546" y="3004116"/>
            <a:ext cx="1495049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Clustering techniques</a:t>
            </a:r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6F2BBB5A-C289-7B03-FB36-97B60A0E8D19}"/>
              </a:ext>
            </a:extLst>
          </p:cNvPr>
          <p:cNvCxnSpPr>
            <a:cxnSpLocks/>
          </p:cNvCxnSpPr>
          <p:nvPr/>
        </p:nvCxnSpPr>
        <p:spPr>
          <a:xfrm flipV="1">
            <a:off x="7020376" y="3188686"/>
            <a:ext cx="788170" cy="164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3B778BA2-7747-F4FC-5719-42D2A4F9C654}"/>
              </a:ext>
            </a:extLst>
          </p:cNvPr>
          <p:cNvCxnSpPr>
            <a:cxnSpLocks/>
            <a:stCxn id="16" idx="2"/>
            <a:endCxn id="62" idx="0"/>
          </p:cNvCxnSpPr>
          <p:nvPr/>
        </p:nvCxnSpPr>
        <p:spPr>
          <a:xfrm>
            <a:off x="5017077" y="1956773"/>
            <a:ext cx="1255775" cy="3069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673E449E-932F-BC6A-D180-1E8922763CB1}"/>
              </a:ext>
            </a:extLst>
          </p:cNvPr>
          <p:cNvCxnSpPr>
            <a:cxnSpLocks/>
            <a:endCxn id="57" idx="0"/>
          </p:cNvCxnSpPr>
          <p:nvPr/>
        </p:nvCxnSpPr>
        <p:spPr>
          <a:xfrm>
            <a:off x="6222616" y="2640920"/>
            <a:ext cx="50236" cy="3796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3C843DD3-104C-974F-87DE-6A2B8DC3E727}"/>
              </a:ext>
            </a:extLst>
          </p:cNvPr>
          <p:cNvCxnSpPr>
            <a:cxnSpLocks/>
            <a:stCxn id="40" idx="2"/>
            <a:endCxn id="56" idx="0"/>
          </p:cNvCxnSpPr>
          <p:nvPr/>
        </p:nvCxnSpPr>
        <p:spPr>
          <a:xfrm>
            <a:off x="4025242" y="2613025"/>
            <a:ext cx="913527" cy="9876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Rechteck 27">
            <a:extLst>
              <a:ext uri="{FF2B5EF4-FFF2-40B4-BE49-F238E27FC236}">
                <a16:creationId xmlns:a16="http://schemas.microsoft.com/office/drawing/2014/main" id="{9212102E-4669-CC01-18BE-585AC0EC2FA6}"/>
              </a:ext>
            </a:extLst>
          </p:cNvPr>
          <p:cNvSpPr/>
          <p:nvPr/>
        </p:nvSpPr>
        <p:spPr>
          <a:xfrm>
            <a:off x="8501234" y="1702793"/>
            <a:ext cx="1622086" cy="3713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Copula</a:t>
            </a:r>
            <a:endParaRPr lang="de-DE" sz="11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B46C4E46-43C3-C4E9-4E58-F2BCF8CBA394}"/>
              </a:ext>
            </a:extLst>
          </p:cNvPr>
          <p:cNvSpPr/>
          <p:nvPr/>
        </p:nvSpPr>
        <p:spPr>
          <a:xfrm>
            <a:off x="7228485" y="1844441"/>
            <a:ext cx="1622086" cy="4021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Wavelet</a:t>
            </a:r>
          </a:p>
        </p:txBody>
      </p: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D6457D54-FFE3-494A-2EF7-5EC37663B587}"/>
              </a:ext>
            </a:extLst>
          </p:cNvPr>
          <p:cNvCxnSpPr>
            <a:cxnSpLocks/>
            <a:stCxn id="58" idx="1"/>
            <a:endCxn id="56" idx="3"/>
          </p:cNvCxnSpPr>
          <p:nvPr/>
        </p:nvCxnSpPr>
        <p:spPr>
          <a:xfrm flipH="1" flipV="1">
            <a:off x="5686293" y="3864750"/>
            <a:ext cx="730664" cy="599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02689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1F7CBD-8332-74F7-363D-54DEF46BA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550487F7-DEA4-8B5E-6491-7069043AED81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" name="Grafik 6" descr="Ein Bild, das Text, Schrift, Screenshot, Grafiken enthält.&#10;&#10;Automatisch generierte Beschreibung">
            <a:extLst>
              <a:ext uri="{FF2B5EF4-FFF2-40B4-BE49-F238E27FC236}">
                <a16:creationId xmlns:a16="http://schemas.microsoft.com/office/drawing/2014/main" id="{60821FED-5F7F-1FE2-BBE8-E06CCD3120F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71" y="-67456"/>
            <a:ext cx="1771272" cy="885636"/>
          </a:xfrm>
          <a:prstGeom prst="rect">
            <a:avLst/>
          </a:prstGeom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AD8CAB03-51FE-1B16-9670-5131825D91B3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solidFill>
            <a:srgbClr val="00677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3600">
                <a:latin typeface="Arial" panose="020B0604020202020204" pitchFamily="34" charset="0"/>
                <a:cs typeface="Arial" panose="020B0604020202020204" pitchFamily="34" charset="0"/>
              </a:rPr>
              <a:t>Chapter 7)</a:t>
            </a: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587D3387-6A57-9B3C-BB30-E2DF1C88EF9B}"/>
              </a:ext>
            </a:extLst>
          </p:cNvPr>
          <p:cNvSpPr/>
          <p:nvPr/>
        </p:nvSpPr>
        <p:spPr>
          <a:xfrm>
            <a:off x="2821153" y="2996762"/>
            <a:ext cx="5892623" cy="486650"/>
          </a:xfrm>
          <a:prstGeom prst="roundRect">
            <a:avLst/>
          </a:prstGeom>
          <a:solidFill>
            <a:srgbClr val="00677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>
                <a:latin typeface="Arial" panose="020B0604020202020204" pitchFamily="34" charset="0"/>
                <a:cs typeface="Arial" panose="020B0604020202020204" pitchFamily="34" charset="0"/>
              </a:rPr>
              <a:t>Model </a:t>
            </a:r>
            <a:r>
              <a:rPr lang="de-DE" sz="3200" b="1" err="1">
                <a:latin typeface="Arial" panose="020B0604020202020204" pitchFamily="34" charset="0"/>
                <a:cs typeface="Arial" panose="020B0604020202020204" pitchFamily="34" charset="0"/>
              </a:rPr>
              <a:t>Results</a:t>
            </a:r>
            <a:endParaRPr lang="de-DE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5" name="Picture 1" descr="page42image37982480">
            <a:extLst>
              <a:ext uri="{FF2B5EF4-FFF2-40B4-BE49-F238E27FC236}">
                <a16:creationId xmlns:a16="http://schemas.microsoft.com/office/drawing/2014/main" id="{A696F850-3878-6B28-8B4C-A825E7CC2E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705100" cy="190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757877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C727FD-4D4C-3A23-8D2F-0AA26D9CD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45DB04BC-99C3-D773-5405-558DA30BD454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Model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results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explaining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UIP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0C0F6949-5D6B-651B-A994-4F1D7AB394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2535045"/>
              </p:ext>
            </p:extLst>
          </p:nvPr>
        </p:nvGraphicFramePr>
        <p:xfrm>
          <a:off x="1044903" y="831954"/>
          <a:ext cx="10101465" cy="6249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5893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173769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9632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842463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89051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04343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  <a:gridCol w="514421">
                  <a:extLst>
                    <a:ext uri="{9D8B030D-6E8A-4147-A177-3AD203B41FA5}">
                      <a16:colId xmlns:a16="http://schemas.microsoft.com/office/drawing/2014/main" val="1526740981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4502947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Adj. 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Linear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2025-10-21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6720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spot exchange rate (log first </a:t>
                      </a:r>
                      <a:r>
                        <a:rPr lang="de-DE" sz="900" b="1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 b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 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75D85585-C098-EB86-CEAD-AC0003C8F9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1827094"/>
              </p:ext>
            </p:extLst>
          </p:nvPr>
        </p:nvGraphicFramePr>
        <p:xfrm>
          <a:off x="1044903" y="1609998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const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6.12e-06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7.38e-05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0.083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0.934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i_diff_EUR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-2.266e-05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5.4e-05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-0.419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0.675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8.32e-05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graphicFrame>
        <p:nvGraphicFramePr>
          <p:cNvPr id="2" name="Tabelle 1">
            <a:extLst>
              <a:ext uri="{FF2B5EF4-FFF2-40B4-BE49-F238E27FC236}">
                <a16:creationId xmlns:a16="http://schemas.microsoft.com/office/drawing/2014/main" id="{3DA40883-76BD-EE4B-DBA1-EBBC8770BC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524323"/>
              </p:ext>
            </p:extLst>
          </p:nvPr>
        </p:nvGraphicFramePr>
        <p:xfrm>
          <a:off x="1044903" y="2525555"/>
          <a:ext cx="10101465" cy="6249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5893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173769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9632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842463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89051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04343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  <a:gridCol w="514421">
                  <a:extLst>
                    <a:ext uri="{9D8B030D-6E8A-4147-A177-3AD203B41FA5}">
                      <a16:colId xmlns:a16="http://schemas.microsoft.com/office/drawing/2014/main" val="1526740981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4502947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Adj. 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Linear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2018-12-31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5021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b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spot exchange rate (log first </a:t>
                      </a:r>
                      <a:r>
                        <a:rPr lang="de-DE" sz="900" b="1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 b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b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</a:t>
                      </a:r>
                      <a:r>
                        <a:rPr lang="de-DE" sz="900" b="1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lending</a:t>
                      </a:r>
                      <a:r>
                        <a:rPr lang="de-DE" sz="900" b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1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rates</a:t>
                      </a:r>
                      <a:r>
                        <a:rPr lang="de-DE" sz="900" b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1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differentials</a:t>
                      </a:r>
                      <a:endParaRPr lang="de-DE" sz="900" b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4FAB7142-E32E-4FA3-802C-4049663A24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5745536"/>
              </p:ext>
            </p:extLst>
          </p:nvPr>
        </p:nvGraphicFramePr>
        <p:xfrm>
          <a:off x="1044903" y="3240087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const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1.768e-05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9.05e-05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0.195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0.845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i_diff_EUR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-0.0002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-0.971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0.332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480212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79E11-DA63-4BE9-8194-23C84F2DBB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8A63C09E-6A88-14B1-019B-52C7AFADCDC2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Model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results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explaining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UIP</a:t>
            </a:r>
          </a:p>
        </p:txBody>
      </p: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07633085-5638-DC50-10C4-7D2E9609E3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6738071"/>
              </p:ext>
            </p:extLst>
          </p:nvPr>
        </p:nvGraphicFramePr>
        <p:xfrm>
          <a:off x="948651" y="1191455"/>
          <a:ext cx="1014247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052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Markov (Switching)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spot exchange rate (log first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 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8" name="Tabelle 7">
            <a:extLst>
              <a:ext uri="{FF2B5EF4-FFF2-40B4-BE49-F238E27FC236}">
                <a16:creationId xmlns:a16="http://schemas.microsoft.com/office/drawing/2014/main" id="{6C027B4F-682A-A684-6DFF-4439DDC73C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2885574"/>
              </p:ext>
            </p:extLst>
          </p:nvPr>
        </p:nvGraphicFramePr>
        <p:xfrm>
          <a:off x="948650" y="1765332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AE436F30-2582-ACA4-5233-7082B95ABA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3262130"/>
              </p:ext>
            </p:extLst>
          </p:nvPr>
        </p:nvGraphicFramePr>
        <p:xfrm>
          <a:off x="948651" y="2666210"/>
          <a:ext cx="10142475" cy="14515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052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Markov (Switching)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spot exchange rate (log first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 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of log </a:t>
                      </a:r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of 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15812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Natural 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24482427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0341786"/>
                  </a:ext>
                </a:extLst>
              </a:tr>
            </a:tbl>
          </a:graphicData>
        </a:graphic>
      </p:graphicFrame>
      <p:graphicFrame>
        <p:nvGraphicFramePr>
          <p:cNvPr id="10" name="Tabelle 9">
            <a:extLst>
              <a:ext uri="{FF2B5EF4-FFF2-40B4-BE49-F238E27FC236}">
                <a16:creationId xmlns:a16="http://schemas.microsoft.com/office/drawing/2014/main" id="{E9F7A718-BDA7-D432-6163-449AFD5C7C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4430065"/>
              </p:ext>
            </p:extLst>
          </p:nvPr>
        </p:nvGraphicFramePr>
        <p:xfrm>
          <a:off x="948649" y="3382628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sp>
        <p:nvSpPr>
          <p:cNvPr id="11" name="Geschweifte Klammer links 10">
            <a:extLst>
              <a:ext uri="{FF2B5EF4-FFF2-40B4-BE49-F238E27FC236}">
                <a16:creationId xmlns:a16="http://schemas.microsoft.com/office/drawing/2014/main" id="{09BA19BE-9954-F395-AF0D-04520E5D5B59}"/>
              </a:ext>
            </a:extLst>
          </p:cNvPr>
          <p:cNvSpPr/>
          <p:nvPr/>
        </p:nvSpPr>
        <p:spPr>
          <a:xfrm>
            <a:off x="560434" y="1191455"/>
            <a:ext cx="268558" cy="2926275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579C73C5-8148-DB6B-9DC5-2F0D66709768}"/>
              </a:ext>
            </a:extLst>
          </p:cNvPr>
          <p:cNvSpPr/>
          <p:nvPr/>
        </p:nvSpPr>
        <p:spPr>
          <a:xfrm>
            <a:off x="252461" y="2446328"/>
            <a:ext cx="413377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B1</a:t>
            </a:r>
          </a:p>
        </p:txBody>
      </p:sp>
    </p:spTree>
    <p:extLst>
      <p:ext uri="{BB962C8B-B14F-4D97-AF65-F5344CB8AC3E}">
        <p14:creationId xmlns:p14="http://schemas.microsoft.com/office/powerpoint/2010/main" val="24740573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D8F8CA-E295-16B0-5747-D3F32C8B1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93D53EE7-432E-1825-43FF-F209A8BB6D7A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Model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results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explaining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UIP</a:t>
            </a:r>
          </a:p>
        </p:txBody>
      </p: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2933D3D6-CC4A-96ED-21C9-AB2209A18B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5958464"/>
              </p:ext>
            </p:extLst>
          </p:nvPr>
        </p:nvGraphicFramePr>
        <p:xfrm>
          <a:off x="785021" y="1389275"/>
          <a:ext cx="1025047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Markov (Switching)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spot exchange rate (log first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lending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8" name="Tabelle 7">
            <a:extLst>
              <a:ext uri="{FF2B5EF4-FFF2-40B4-BE49-F238E27FC236}">
                <a16:creationId xmlns:a16="http://schemas.microsoft.com/office/drawing/2014/main" id="{BC344C31-F022-4FB8-93CE-14BA42E11D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0252349"/>
              </p:ext>
            </p:extLst>
          </p:nvPr>
        </p:nvGraphicFramePr>
        <p:xfrm>
          <a:off x="785020" y="1963152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29249722-BBAA-3941-69DC-DC74E4E514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329368"/>
              </p:ext>
            </p:extLst>
          </p:nvPr>
        </p:nvGraphicFramePr>
        <p:xfrm>
          <a:off x="785021" y="2864030"/>
          <a:ext cx="10250475" cy="13161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Markov (Switching)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spot exchange rate (log first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3M Interbank lending rates differentials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of log </a:t>
                      </a:r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b="0" kern="1200" dirty="0" err="1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b="0" kern="1200" dirty="0">
                          <a:solidFill>
                            <a:schemeClr val="dk1"/>
                          </a:solidFill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of WTI Oil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0455384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rolling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volatilty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log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first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9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</a:t>
                      </a:r>
                      <a:r>
                        <a:rPr lang="de-DE" sz="9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of Natural Gas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2517223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Trading Volume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7428345"/>
                  </a:ext>
                </a:extLst>
              </a:tr>
            </a:tbl>
          </a:graphicData>
        </a:graphic>
      </p:graphicFrame>
      <p:graphicFrame>
        <p:nvGraphicFramePr>
          <p:cNvPr id="10" name="Tabelle 9">
            <a:extLst>
              <a:ext uri="{FF2B5EF4-FFF2-40B4-BE49-F238E27FC236}">
                <a16:creationId xmlns:a16="http://schemas.microsoft.com/office/drawing/2014/main" id="{A4C027EE-57BE-86AB-4D60-3B56C686D9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0965531"/>
              </p:ext>
            </p:extLst>
          </p:nvPr>
        </p:nvGraphicFramePr>
        <p:xfrm>
          <a:off x="785019" y="3522110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sp>
        <p:nvSpPr>
          <p:cNvPr id="11" name="Geschweifte Klammer links 10">
            <a:extLst>
              <a:ext uri="{FF2B5EF4-FFF2-40B4-BE49-F238E27FC236}">
                <a16:creationId xmlns:a16="http://schemas.microsoft.com/office/drawing/2014/main" id="{FDC7C83E-AACC-2485-CB4C-5377FA10AE62}"/>
              </a:ext>
            </a:extLst>
          </p:cNvPr>
          <p:cNvSpPr/>
          <p:nvPr/>
        </p:nvSpPr>
        <p:spPr>
          <a:xfrm>
            <a:off x="396804" y="1389275"/>
            <a:ext cx="268558" cy="2768627"/>
          </a:xfrm>
          <a:prstGeom prst="lef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32A1ADA5-2D13-3A88-C581-1B13B4B0812D}"/>
              </a:ext>
            </a:extLst>
          </p:cNvPr>
          <p:cNvSpPr/>
          <p:nvPr/>
        </p:nvSpPr>
        <p:spPr>
          <a:xfrm>
            <a:off x="88831" y="2644148"/>
            <a:ext cx="413377" cy="2588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1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B2</a:t>
            </a:r>
          </a:p>
        </p:txBody>
      </p:sp>
    </p:spTree>
    <p:extLst>
      <p:ext uri="{BB962C8B-B14F-4D97-AF65-F5344CB8AC3E}">
        <p14:creationId xmlns:p14="http://schemas.microsoft.com/office/powerpoint/2010/main" val="34658195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F3E87-9FB7-BCCC-E76E-84F6CEC96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hteck 48">
            <a:extLst>
              <a:ext uri="{FF2B5EF4-FFF2-40B4-BE49-F238E27FC236}">
                <a16:creationId xmlns:a16="http://schemas.microsoft.com/office/drawing/2014/main" id="{5575104F-1E7F-62E6-1A3E-305BB9B1A6B7}"/>
              </a:ext>
            </a:extLst>
          </p:cNvPr>
          <p:cNvSpPr/>
          <p:nvPr/>
        </p:nvSpPr>
        <p:spPr>
          <a:xfrm>
            <a:off x="-52466" y="-67456"/>
            <a:ext cx="11639863" cy="899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Model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results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- </a:t>
            </a:r>
            <a:r>
              <a:rPr lang="de-DE" sz="2400" err="1">
                <a:latin typeface="Arial" panose="020B0604020202020204" pitchFamily="34" charset="0"/>
                <a:cs typeface="Arial" panose="020B0604020202020204" pitchFamily="34" charset="0"/>
              </a:rPr>
              <a:t>explaining</a:t>
            </a:r>
            <a:r>
              <a:rPr lang="de-DE" sz="2400">
                <a:latin typeface="Arial" panose="020B0604020202020204" pitchFamily="34" charset="0"/>
                <a:cs typeface="Arial" panose="020B0604020202020204" pitchFamily="34" charset="0"/>
              </a:rPr>
              <a:t> UIP</a:t>
            </a:r>
          </a:p>
        </p:txBody>
      </p:sp>
      <p:graphicFrame>
        <p:nvGraphicFramePr>
          <p:cNvPr id="3" name="Tabelle 2">
            <a:extLst>
              <a:ext uri="{FF2B5EF4-FFF2-40B4-BE49-F238E27FC236}">
                <a16:creationId xmlns:a16="http://schemas.microsoft.com/office/drawing/2014/main" id="{BBB95CF9-0D05-0996-0C82-BA8CC807BD2A}"/>
              </a:ext>
            </a:extLst>
          </p:cNvPr>
          <p:cNvGraphicFramePr>
            <a:graphicFrameLocks noGrp="1"/>
          </p:cNvGraphicFramePr>
          <p:nvPr/>
        </p:nvGraphicFramePr>
        <p:xfrm>
          <a:off x="1044903" y="831954"/>
          <a:ext cx="1010146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5893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173769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9632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842463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89051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04343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  <a:gridCol w="514421">
                  <a:extLst>
                    <a:ext uri="{9D8B030D-6E8A-4147-A177-3AD203B41FA5}">
                      <a16:colId xmlns:a16="http://schemas.microsoft.com/office/drawing/2014/main" val="1526740981"/>
                    </a:ext>
                  </a:extLst>
                </a:gridCol>
                <a:gridCol w="684000">
                  <a:extLst>
                    <a:ext uri="{9D8B030D-6E8A-4147-A177-3AD203B41FA5}">
                      <a16:colId xmlns:a16="http://schemas.microsoft.com/office/drawing/2014/main" val="24502947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Adj. R2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Linear Regression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1999-01-05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2025-10-14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6715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EUR/USD spot exchange rate (log first </a:t>
                      </a:r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differences</a:t>
                      </a: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Central Bank Policy Rate differential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5" name="Tabelle 4">
            <a:extLst>
              <a:ext uri="{FF2B5EF4-FFF2-40B4-BE49-F238E27FC236}">
                <a16:creationId xmlns:a16="http://schemas.microsoft.com/office/drawing/2014/main" id="{4EB66E07-F5D3-FA59-428E-FA5F9B5B944D}"/>
              </a:ext>
            </a:extLst>
          </p:cNvPr>
          <p:cNvGraphicFramePr>
            <a:graphicFrameLocks noGrp="1"/>
          </p:cNvGraphicFramePr>
          <p:nvPr/>
        </p:nvGraphicFramePr>
        <p:xfrm>
          <a:off x="1044903" y="1398242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const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-6.038e-06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7.38e-05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-0.082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0.935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i_diff_EUR</a:t>
                      </a: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2.279e-05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5.41e-05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0.422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0.673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-8.32e-05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cxnSp>
        <p:nvCxnSpPr>
          <p:cNvPr id="6" name="Gerade Verbindung 5">
            <a:extLst>
              <a:ext uri="{FF2B5EF4-FFF2-40B4-BE49-F238E27FC236}">
                <a16:creationId xmlns:a16="http://schemas.microsoft.com/office/drawing/2014/main" id="{4B84112F-74E5-B870-4975-F4747F9A2170}"/>
              </a:ext>
            </a:extLst>
          </p:cNvPr>
          <p:cNvCxnSpPr>
            <a:cxnSpLocks/>
          </p:cNvCxnSpPr>
          <p:nvPr/>
        </p:nvCxnSpPr>
        <p:spPr>
          <a:xfrm>
            <a:off x="925244" y="2215771"/>
            <a:ext cx="10512000" cy="0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8239FEC7-76D9-AA20-5031-B7554BA4C8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550935"/>
              </p:ext>
            </p:extLst>
          </p:nvPr>
        </p:nvGraphicFramePr>
        <p:xfrm>
          <a:off x="1044903" y="2313301"/>
          <a:ext cx="1025047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8" name="Tabelle 7">
            <a:extLst>
              <a:ext uri="{FF2B5EF4-FFF2-40B4-BE49-F238E27FC236}">
                <a16:creationId xmlns:a16="http://schemas.microsoft.com/office/drawing/2014/main" id="{9A8E479D-FA60-1120-0320-2CAB2F007C70}"/>
              </a:ext>
            </a:extLst>
          </p:cNvPr>
          <p:cNvGraphicFramePr>
            <a:graphicFrameLocks noGrp="1"/>
          </p:cNvGraphicFramePr>
          <p:nvPr/>
        </p:nvGraphicFramePr>
        <p:xfrm>
          <a:off x="1044902" y="2887178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  <p:graphicFrame>
        <p:nvGraphicFramePr>
          <p:cNvPr id="9" name="Tabelle 8">
            <a:extLst>
              <a:ext uri="{FF2B5EF4-FFF2-40B4-BE49-F238E27FC236}">
                <a16:creationId xmlns:a16="http://schemas.microsoft.com/office/drawing/2014/main" id="{C2A18132-1E9D-4C0B-9AAA-2200C042A2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0451536"/>
              </p:ext>
            </p:extLst>
          </p:nvPr>
        </p:nvGraphicFramePr>
        <p:xfrm>
          <a:off x="1044903" y="3788056"/>
          <a:ext cx="10250475" cy="4896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27971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17957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835854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78563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64256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803593">
                  <a:extLst>
                    <a:ext uri="{9D8B030D-6E8A-4147-A177-3AD203B41FA5}">
                      <a16:colId xmlns:a16="http://schemas.microsoft.com/office/drawing/2014/main" val="2341012291"/>
                    </a:ext>
                  </a:extLst>
                </a:gridCol>
                <a:gridCol w="27990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Start-date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End-date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Obs.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Regimes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Exp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variable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9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K=2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</a:tbl>
          </a:graphicData>
        </a:graphic>
      </p:graphicFrame>
      <p:graphicFrame>
        <p:nvGraphicFramePr>
          <p:cNvPr id="10" name="Tabelle 9">
            <a:extLst>
              <a:ext uri="{FF2B5EF4-FFF2-40B4-BE49-F238E27FC236}">
                <a16:creationId xmlns:a16="http://schemas.microsoft.com/office/drawing/2014/main" id="{A63415FF-986F-3F60-EFDA-0B8C488868E5}"/>
              </a:ext>
            </a:extLst>
          </p:cNvPr>
          <p:cNvGraphicFramePr>
            <a:graphicFrameLocks noGrp="1"/>
          </p:cNvGraphicFramePr>
          <p:nvPr/>
        </p:nvGraphicFramePr>
        <p:xfrm>
          <a:off x="1044902" y="4361933"/>
          <a:ext cx="4661967" cy="7200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60730">
                  <a:extLst>
                    <a:ext uri="{9D8B030D-6E8A-4147-A177-3AD203B41FA5}">
                      <a16:colId xmlns:a16="http://schemas.microsoft.com/office/drawing/2014/main" val="2463779370"/>
                    </a:ext>
                  </a:extLst>
                </a:gridCol>
                <a:gridCol w="767080">
                  <a:extLst>
                    <a:ext uri="{9D8B030D-6E8A-4147-A177-3AD203B41FA5}">
                      <a16:colId xmlns:a16="http://schemas.microsoft.com/office/drawing/2014/main" val="2305079191"/>
                    </a:ext>
                  </a:extLst>
                </a:gridCol>
                <a:gridCol w="665480">
                  <a:extLst>
                    <a:ext uri="{9D8B030D-6E8A-4147-A177-3AD203B41FA5}">
                      <a16:colId xmlns:a16="http://schemas.microsoft.com/office/drawing/2014/main" val="12788449"/>
                    </a:ext>
                  </a:extLst>
                </a:gridCol>
                <a:gridCol w="538480">
                  <a:extLst>
                    <a:ext uri="{9D8B030D-6E8A-4147-A177-3AD203B41FA5}">
                      <a16:colId xmlns:a16="http://schemas.microsoft.com/office/drawing/2014/main" val="3778913465"/>
                    </a:ext>
                  </a:extLst>
                </a:gridCol>
                <a:gridCol w="521017">
                  <a:extLst>
                    <a:ext uri="{9D8B030D-6E8A-4147-A177-3AD203B41FA5}">
                      <a16:colId xmlns:a16="http://schemas.microsoft.com/office/drawing/2014/main" val="1498112505"/>
                    </a:ext>
                  </a:extLst>
                </a:gridCol>
                <a:gridCol w="703580">
                  <a:extLst>
                    <a:ext uri="{9D8B030D-6E8A-4147-A177-3AD203B41FA5}">
                      <a16:colId xmlns:a16="http://schemas.microsoft.com/office/drawing/2014/main" val="131643363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2435684961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/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coef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std</a:t>
                      </a:r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de-DE" sz="110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</a:t>
                      </a:r>
                      <a:endParaRPr lang="de-DE" sz="11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P&gt;|t|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[0.025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1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0.975]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77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09360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5818452"/>
                  </a:ext>
                </a:extLst>
              </a:tr>
              <a:tr h="230400"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90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8441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2639379"/>
      </p:ext>
    </p:extLst>
  </p:cSld>
  <p:clrMapOvr>
    <a:masterClrMapping/>
  </p:clrMapOvr>
</p:sld>
</file>

<file path=ppt/theme/theme1.xml><?xml version="1.0" encoding="utf-8"?>
<a:theme xmlns:a="http://schemas.openxmlformats.org/drawingml/2006/main" name="Einfache Foli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inimale Foli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3561</Words>
  <Application>Microsoft Macintosh PowerPoint</Application>
  <PresentationFormat>Benutzerdefiniert</PresentationFormat>
  <Paragraphs>938</Paragraphs>
  <Slides>20</Slides>
  <Notes>15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20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20</vt:i4>
      </vt:variant>
    </vt:vector>
  </HeadingPairs>
  <TitlesOfParts>
    <vt:vector size="42" baseType="lpstr">
      <vt:lpstr>AdvOT596495f2</vt:lpstr>
      <vt:lpstr>AdvOT863180fb</vt:lpstr>
      <vt:lpstr>AdvTT5235d5a9</vt:lpstr>
      <vt:lpstr>AdvTT5235d5a9+fb</vt:lpstr>
      <vt:lpstr>AdvTT5843c571</vt:lpstr>
      <vt:lpstr>AdvTT6120e2aa</vt:lpstr>
      <vt:lpstr>Aptos</vt:lpstr>
      <vt:lpstr>Arial</vt:lpstr>
      <vt:lpstr>Calibri</vt:lpstr>
      <vt:lpstr>Cambria Math</vt:lpstr>
      <vt:lpstr>CharisSIL</vt:lpstr>
      <vt:lpstr>Code2000</vt:lpstr>
      <vt:lpstr>MathPackOne</vt:lpstr>
      <vt:lpstr>NotoSansSemiCondensed</vt:lpstr>
      <vt:lpstr>Roboto</vt:lpstr>
      <vt:lpstr>Times</vt:lpstr>
      <vt:lpstr>Times New Roman,Bold</vt:lpstr>
      <vt:lpstr>TimesLTStd</vt:lpstr>
      <vt:lpstr>TimesNewRomanPSMT</vt:lpstr>
      <vt:lpstr>UniversLTStd</vt:lpstr>
      <vt:lpstr>Einfache Folie</vt:lpstr>
      <vt:lpstr>Minimale Folie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Muster</dc:title>
  <dc:subject/>
  <dc:creator>Universität Kiel  (CAU)</dc:creator>
  <dc:description/>
  <cp:lastModifiedBy>Robert Hennings</cp:lastModifiedBy>
  <cp:revision>367</cp:revision>
  <cp:lastPrinted>1601-01-01T00:00:00Z</cp:lastPrinted>
  <dcterms:created xsi:type="dcterms:W3CDTF">2010-06-02T10:39:48Z</dcterms:created>
  <dcterms:modified xsi:type="dcterms:W3CDTF">2025-11-02T14:10:21Z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Benutzerdefiniert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1</vt:i4>
  </property>
</Properties>
</file>