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ti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omments/modernComment_10C_4AD3DAFF.xml" ContentType="application/vnd.ms-powerpoint.comments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omments/modernComment_10A_AE6DAA06.xml" ContentType="application/vnd.ms-powerpoint.comments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50" r:id="rId1"/>
    <p:sldMasterId id="2147483652" r:id="rId2"/>
  </p:sldMasterIdLst>
  <p:notesMasterIdLst>
    <p:notesMasterId r:id="rId23"/>
  </p:notesMasterIdLst>
  <p:sldIdLst>
    <p:sldId id="260" r:id="rId3"/>
    <p:sldId id="273" r:id="rId4"/>
    <p:sldId id="272" r:id="rId5"/>
    <p:sldId id="262" r:id="rId6"/>
    <p:sldId id="259" r:id="rId7"/>
    <p:sldId id="264" r:id="rId8"/>
    <p:sldId id="267" r:id="rId9"/>
    <p:sldId id="271" r:id="rId10"/>
    <p:sldId id="268" r:id="rId11"/>
    <p:sldId id="270" r:id="rId12"/>
    <p:sldId id="275" r:id="rId13"/>
    <p:sldId id="274" r:id="rId14"/>
    <p:sldId id="279" r:id="rId15"/>
    <p:sldId id="263" r:id="rId16"/>
    <p:sldId id="265" r:id="rId17"/>
    <p:sldId id="266" r:id="rId18"/>
    <p:sldId id="276" r:id="rId19"/>
    <p:sldId id="277" r:id="rId20"/>
    <p:sldId id="278" r:id="rId21"/>
    <p:sldId id="280" r:id="rId22"/>
  </p:sldIdLst>
  <p:sldSz cx="11520488" cy="6480175"/>
  <p:notesSz cx="7559675" cy="10691813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BD6F2EB9-0F9D-11FF-3725-6E6478E33E3F}" name="Robert Hennings" initials="RH" userId="0c30f06d2451ee71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77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ittlere Formatvorlag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701"/>
    <p:restoredTop sz="83959"/>
  </p:normalViewPr>
  <p:slideViewPr>
    <p:cSldViewPr snapToGrid="0">
      <p:cViewPr varScale="1">
        <p:scale>
          <a:sx n="132" d="100"/>
          <a:sy n="132" d="100"/>
        </p:scale>
        <p:origin x="1304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theme" Target="theme/theme1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presProps" Target="pres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notesMaster" Target="notesMasters/notesMaster1.xml"/><Relationship Id="rId28" Type="http://schemas.microsoft.com/office/2018/10/relationships/authors" Target="author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tableStyles" Target="tableStyles.xml"/></Relationships>
</file>

<file path=ppt/comments/modernComment_10A_AE6DAA06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E5A96090-170E-744F-9C59-E88DB52DF9A8}" authorId="{BD6F2EB9-0F9D-11FF-3725-6E6478E33E3F}" created="2025-09-17T08:31:46.494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2926422534" sldId="266"/>
      <ac:spMk id="41" creationId="{65D3966F-C84D-34A4-3CA7-4B256E8F79D0}"/>
    </ac:deMkLst>
    <p188:txBody>
      <a:bodyPr/>
      <a:lstStyle/>
      <a:p>
        <a:r>
          <a:rPr lang="de-DE"/>
          <a:t>Dont know if only linear of if they also offer a non-linear equivalent</a:t>
        </a:r>
      </a:p>
    </p188:txBody>
  </p188:cm>
</p188:cmLst>
</file>

<file path=ppt/comments/modernComment_10C_4AD3DAFF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E2115A85-EC5A-8144-BBF0-5D80C8C95716}" authorId="{BD6F2EB9-0F9D-11FF-3725-6E6478E33E3F}" created="2025-10-01T07:44:37.951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1255398143" sldId="268"/>
      <ac:spMk id="112" creationId="{6092D3C6-5300-19B1-F4E0-268797166176}"/>
    </ac:deMkLst>
    <p188:txBody>
      <a:bodyPr/>
      <a:lstStyle/>
      <a:p>
        <a:r>
          <a:rPr lang="de-DE"/>
          <a:t>Problem: This is from the CBOE and we use Open Interest and other stuff from the NYMEX?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 dirty="0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4281488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F52E0DD-2BD6-4943-A289-4CB69F215D9E}" type="datetimeFigureOut">
              <a:rPr lang="de-DE" smtClean="0"/>
              <a:t>23.10.25</a:t>
            </a:fld>
            <a:endParaRPr lang="de-DE" dirty="0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573088" y="1336675"/>
            <a:ext cx="6413500" cy="36083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 dirty="0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755650" y="5145088"/>
            <a:ext cx="6048375" cy="42100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4281488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DD16613-3B1F-DD4D-99CB-38F4196ACFC3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8502407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Sources: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1) Own illustration based on </a:t>
            </a:r>
            <a:r>
              <a:rPr lang="de-DE" sz="1800" dirty="0">
                <a:effectLst/>
                <a:latin typeface="AdvTT5235d5a9"/>
              </a:rPr>
              <a:t>The relationship between oil prices and exchange rates: Revisiting theory and evidence </a:t>
            </a:r>
            <a:endParaRPr lang="de-DE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(</a:t>
            </a:r>
            <a:r>
              <a:rPr lang="de-DE" sz="1800" dirty="0">
                <a:solidFill>
                  <a:srgbClr val="0000FF"/>
                </a:solidFill>
                <a:effectLst/>
                <a:latin typeface="AdvTT5235d5a9"/>
              </a:rPr>
              <a:t>Energy Economics 88 (2020) 104772</a:t>
            </a:r>
            <a:r>
              <a:rPr lang="de-DE" dirty="0"/>
              <a:t>), pages 3-8.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D16613-3B1F-DD4D-99CB-38F4196ACFC3}" type="slidenum">
              <a:rPr lang="de-DE" smtClean="0"/>
              <a:t>5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96595613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Sources:</a:t>
            </a:r>
          </a:p>
          <a:p>
            <a:pPr marL="228600" indent="-228600">
              <a:buAutoNum type="arabicParenR"/>
            </a:pPr>
            <a:r>
              <a:rPr lang="de-DE" dirty="0"/>
              <a:t>https://www.bis.org/ifc/events/6ifcconf/takats_pres.pdf</a:t>
            </a:r>
          </a:p>
          <a:p>
            <a:pPr marL="228600" indent="-228600">
              <a:buAutoNum type="arabicParenR"/>
            </a:pPr>
            <a:r>
              <a:rPr lang="de-DE" dirty="0"/>
              <a:t>https://data.bis.org/topics/EER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D16613-3B1F-DD4D-99CB-38F4196ACFC3}" type="slidenum">
              <a:rPr lang="de-DE" smtClean="0"/>
              <a:t>7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81374153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989C31-3F15-B798-AEAC-4C4E153BCE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1D0940DD-E69D-7B38-3803-94675999FC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45CBEB96-7C04-77BB-135C-5C3484FCDE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Sources:</a:t>
            </a:r>
          </a:p>
          <a:p>
            <a:pPr marL="228600" indent="-228600">
              <a:buAutoNum type="arabicParenR"/>
            </a:pPr>
            <a:r>
              <a:rPr lang="de-DE" dirty="0"/>
              <a:t>https://www.bis.org/ifc/events/6ifcconf/takats_pres.pdf</a:t>
            </a:r>
          </a:p>
          <a:p>
            <a:pPr marL="228600" indent="-228600">
              <a:buAutoNum type="arabicParenR"/>
            </a:pPr>
            <a:r>
              <a:rPr lang="de-DE" dirty="0"/>
              <a:t>https://data.bis.org/topics/EER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23835CE-F727-9D2F-05A5-A9B1F9B1CA7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D16613-3B1F-DD4D-99CB-38F4196ACFC3}" type="slidenum">
              <a:rPr lang="de-DE" smtClean="0"/>
              <a:t>8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20851942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Sources: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1) See Paper: Oil prices, exchange rate and asset prices („</a:t>
            </a:r>
            <a:r>
              <a:rPr lang="de-DE" sz="1800" dirty="0">
                <a:effectLst/>
                <a:latin typeface="Calibri" panose="020F0502020204030204" pitchFamily="34" charset="0"/>
              </a:rPr>
              <a:t>open interest in the oil futures market, i.e. the number of open futures contracts (as a proxy for the financialisation of the oil market). </a:t>
            </a:r>
            <a:endParaRPr lang="de-DE" dirty="0"/>
          </a:p>
          <a:p>
            <a:r>
              <a:rPr lang="de-DE" dirty="0"/>
              <a:t>“), page 2.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Own illustration based on </a:t>
            </a:r>
            <a:r>
              <a:rPr lang="de-DE" sz="1200" dirty="0">
                <a:effectLst/>
                <a:latin typeface="AdvTT5235d5a9"/>
              </a:rPr>
              <a:t>The relationship between oil prices and exchange rates: Revisiting theory and evidence </a:t>
            </a:r>
            <a:endParaRPr lang="de-DE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(</a:t>
            </a:r>
            <a:r>
              <a:rPr lang="de-DE" sz="1200" dirty="0">
                <a:solidFill>
                  <a:srgbClr val="0000FF"/>
                </a:solidFill>
                <a:effectLst/>
                <a:latin typeface="AdvTT5235d5a9"/>
              </a:rPr>
              <a:t>Energy Economics 88 (2020) 104772</a:t>
            </a:r>
            <a:r>
              <a:rPr lang="de-DE" dirty="0"/>
              <a:t>), pages 3-4.</a:t>
            </a:r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D16613-3B1F-DD4D-99CB-38F4196ACFC3}" type="slidenum">
              <a:rPr lang="de-DE" smtClean="0"/>
              <a:t>9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6635148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Sources: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1) List of theoretically affecting crisis periods taken from: </a:t>
            </a:r>
            <a:r>
              <a:rPr lang="de-DE" sz="1800" dirty="0">
                <a:effectLst/>
                <a:latin typeface="Times New Roman,Bold" pitchFamily="2" charset="0"/>
              </a:rPr>
              <a:t>How Exchange Rate Volatility Shapes Commodity Derivatives Market: Lessons from Five Global Shocks (2007–2023), page: 2.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D16613-3B1F-DD4D-99CB-38F4196ACFC3}" type="slidenum">
              <a:rPr lang="de-DE" smtClean="0"/>
              <a:t>10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93048145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43121C-764B-E312-EBD8-A2191B4AC0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89542189-76E0-D5EF-4A03-0AD11B88D2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D774E7F6-EE03-7CB9-BBE4-6E1AEC33A3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Sources: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1) List of theoretically affecting crisis periods taken from: </a:t>
            </a:r>
            <a:r>
              <a:rPr lang="de-DE" sz="1800" dirty="0">
                <a:effectLst/>
                <a:latin typeface="Times New Roman,Bold" pitchFamily="2" charset="0"/>
              </a:rPr>
              <a:t>How Exchange Rate Volatility Shapes Commodity Derivatives Market: Lessons from Five Global Shocks (2007–2023), page: 2.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D985E8C-65CB-7A58-A867-E7196A226D4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D16613-3B1F-DD4D-99CB-38F4196ACFC3}" type="slidenum">
              <a:rPr lang="de-DE" smtClean="0"/>
              <a:t>11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4920777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2140E9-D8DA-0F5C-912F-D5812481A2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135CDB25-7B55-9AF2-55AA-7F7151E009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3A12073E-AF34-9C8E-03E0-34DF810801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Sources: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1) List of theoretically affecting crisis periods taken from: </a:t>
            </a:r>
            <a:r>
              <a:rPr lang="de-DE" sz="1800" dirty="0">
                <a:effectLst/>
                <a:latin typeface="Times New Roman,Bold" pitchFamily="2" charset="0"/>
              </a:rPr>
              <a:t>How Exchange Rate Volatility Shapes Commodity Derivatives Market: Lessons from Five Global Shocks (2007–2023), page: 2.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B6525F2-FBF3-EF59-AEA5-ABDF1479F71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D16613-3B1F-DD4D-99CB-38F4196ACFC3}" type="slidenum">
              <a:rPr lang="de-DE" smtClean="0"/>
              <a:t>12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31038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92AB5D-DEFE-84C3-4229-5FD48F5013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32FA9450-5843-4F07-1A49-D69A83DC94C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62BCFC3E-D679-9C12-A1D0-7505C317E3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Sources: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1) List of theoretically affecting crisis periods taken from: </a:t>
            </a:r>
            <a:r>
              <a:rPr lang="de-DE" sz="1800" dirty="0">
                <a:effectLst/>
                <a:latin typeface="Times New Roman,Bold" pitchFamily="2" charset="0"/>
              </a:rPr>
              <a:t>How Exchange Rate Volatility Shapes Commodity Derivatives Market: Lessons from Five Global Shocks (2007–2023), page: 2.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8D535E4-DEDF-2622-707D-A4F9B9681F1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D16613-3B1F-DD4D-99CB-38F4196ACFC3}" type="slidenum">
              <a:rPr lang="de-DE" smtClean="0"/>
              <a:t>13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53037750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Sources: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Own illustration based on </a:t>
            </a:r>
            <a:r>
              <a:rPr lang="de-DE" sz="1200" dirty="0">
                <a:effectLst/>
                <a:latin typeface="AdvTT5235d5a9"/>
              </a:rPr>
              <a:t>The relationship between oil prices and exchange rates: Revisiting theory and evidence </a:t>
            </a:r>
            <a:endParaRPr lang="de-DE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(</a:t>
            </a:r>
            <a:r>
              <a:rPr lang="de-DE" sz="1200" dirty="0">
                <a:solidFill>
                  <a:srgbClr val="0000FF"/>
                </a:solidFill>
                <a:effectLst/>
                <a:latin typeface="AdvTT5235d5a9"/>
              </a:rPr>
              <a:t>Energy Economics 88 (2020) 104772</a:t>
            </a:r>
            <a:r>
              <a:rPr lang="de-DE" dirty="0"/>
              <a:t>), pages 3-8.</a:t>
            </a:r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D16613-3B1F-DD4D-99CB-38F4196ACFC3}" type="slidenum">
              <a:rPr lang="de-DE" smtClean="0"/>
              <a:t>15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9179296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Sources: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Own illustration based on </a:t>
            </a:r>
            <a:r>
              <a:rPr lang="de-DE" sz="1200" dirty="0">
                <a:effectLst/>
                <a:latin typeface="AdvTT5235d5a9"/>
              </a:rPr>
              <a:t>The relationship between oil prices and exchange rates: Revisiting theory and evidence </a:t>
            </a:r>
            <a:endParaRPr lang="de-DE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(</a:t>
            </a:r>
            <a:r>
              <a:rPr lang="de-DE" sz="1200" dirty="0">
                <a:solidFill>
                  <a:srgbClr val="0000FF"/>
                </a:solidFill>
                <a:effectLst/>
                <a:latin typeface="AdvTT5235d5a9"/>
              </a:rPr>
              <a:t>Energy Economics 88 (2020) 104772</a:t>
            </a:r>
            <a:r>
              <a:rPr lang="de-DE" dirty="0"/>
              <a:t>), pages 3-8.</a:t>
            </a:r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D16613-3B1F-DD4D-99CB-38F4196ACFC3}" type="slidenum">
              <a:rPr lang="de-DE" smtClean="0"/>
              <a:t>16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44664601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5D08B5-DDDB-9CA0-6467-7FD8993A17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AE38B0E8-50D1-2899-FF4D-AC62BE9AFA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F8E9AEE5-9D1E-8B69-5FDC-623EA09E76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CA8E8DF-B6DE-D715-4E19-36A3DEF46B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D16613-3B1F-DD4D-99CB-38F4196ACFC3}" type="slidenum">
              <a:rPr lang="de-DE" smtClean="0"/>
              <a:t>18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14443989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78C327-288A-75B9-CF50-F76EB6B2EF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3382830B-6179-A1D4-294B-C392BBB4CB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DF7D4F88-A334-1E4D-585F-2F5F7A11AE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11EFFA4-3D92-DCEF-F434-4460968563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D16613-3B1F-DD4D-99CB-38F4196ACFC3}" type="slidenum">
              <a:rPr lang="de-DE" smtClean="0"/>
              <a:t>19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3723567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FB3852-12D5-2FC7-E674-2C7E942E0B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777C3447-4C92-B18C-F9EF-6E089598F4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24BF1A8C-9EDA-A656-67D8-B34F01435B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EB63697-1659-FA46-5E0F-408CC0EB670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D16613-3B1F-DD4D-99CB-38F4196ACFC3}" type="slidenum">
              <a:rPr lang="de-DE" smtClean="0"/>
              <a:t>20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6615016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infache Folie 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924759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041" userDrawn="1">
          <p15:clr>
            <a:srgbClr val="FBAE40"/>
          </p15:clr>
        </p15:guide>
        <p15:guide id="2" pos="3628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inimal 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421413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041" userDrawn="1">
          <p15:clr>
            <a:srgbClr val="FBAE40"/>
          </p15:clr>
        </p15:guide>
        <p15:guide id="2" pos="3628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DF4976D8-9094-7414-1337-D5BFC0276F17}"/>
              </a:ext>
            </a:extLst>
          </p:cNvPr>
          <p:cNvSpPr/>
          <p:nvPr userDrawn="1"/>
        </p:nvSpPr>
        <p:spPr>
          <a:xfrm>
            <a:off x="-16152" y="6130778"/>
            <a:ext cx="11536640" cy="349397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701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82E0FE0D-4DAE-B6C9-D83D-DE08216488C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-8076" y="-7441"/>
            <a:ext cx="11528564" cy="919449"/>
          </a:xfrm>
          <a:solidFill>
            <a:srgbClr val="00677C"/>
          </a:solidFill>
        </p:spPr>
        <p:txBody>
          <a:bodyPr>
            <a:normAutofit/>
          </a:bodyPr>
          <a:lstStyle>
            <a:lvl1pPr>
              <a:defRPr sz="2835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  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1ED61AC-10B2-F7A3-5112-6BDAF60F49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2F92F16-AEF6-2E22-89FC-2104091B1CE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58802" y="6130781"/>
            <a:ext cx="2592110" cy="345009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J.Fella &amp; R.Hennings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2BBC12F-E553-CBC6-B606-9648CB76BA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16162" y="6130780"/>
            <a:ext cx="3888165" cy="345009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DE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E070C56-7719-8376-E309-3BB1B22E8C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136345" y="6130779"/>
            <a:ext cx="2592110" cy="345009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742E4F82-BF2E-49E6-B429-4AFCF17D441A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46633504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theme" Target="../theme/theme2.xml"/><Relationship Id="rId2" Type="http://schemas.openxmlformats.org/officeDocument/2006/relationships/slideLayout" Target="../slideLayouts/slideLayout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ti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ustomShape 8"/>
          <p:cNvSpPr/>
          <p:nvPr userDrawn="1"/>
        </p:nvSpPr>
        <p:spPr>
          <a:xfrm>
            <a:off x="11196720" y="5540400"/>
            <a:ext cx="357480" cy="109800"/>
          </a:xfrm>
          <a:prstGeom prst="rect">
            <a:avLst/>
          </a:prstGeom>
          <a:solidFill>
            <a:srgbClr val="00677C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de-DE" dirty="0"/>
          </a:p>
        </p:txBody>
      </p:sp>
      <p:pic>
        <p:nvPicPr>
          <p:cNvPr id="3" name="Grafik 2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72000"/>
            <a:ext cx="11520488" cy="10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2066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041" userDrawn="1">
          <p15:clr>
            <a:srgbClr val="F26B43"/>
          </p15:clr>
        </p15:guide>
        <p15:guide id="2" pos="3628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fik 1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6000" y="-72000"/>
            <a:ext cx="11592000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59850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3" r:id="rId1"/>
    <p:sldLayoutId id="2147483654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041" userDrawn="1">
          <p15:clr>
            <a:srgbClr val="F26B43"/>
          </p15:clr>
        </p15:guide>
        <p15:guide id="2" pos="3628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alamy.com/stock-photo-newspaper-article-on-the-price-of-gasoline-and-petrol-going-higher-26528783.html" TargetMode="External"/><Relationship Id="rId7" Type="http://schemas.openxmlformats.org/officeDocument/2006/relationships/hyperlink" Target="https://www.forbes.com/sites/siladityaray/2022/08/29/us-dollar-hits-two-decade-high-heres-what-that-means/" TargetMode="External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7.jpeg"/><Relationship Id="rId5" Type="http://schemas.openxmlformats.org/officeDocument/2006/relationships/hyperlink" Target="https://www.dreamstime.com/energy-crisis-fuel-gas-price-newspaper-table-energy-crisis-fuel-gas-electricity-price-newspaper-table-image270150690" TargetMode="External"/><Relationship Id="rId4" Type="http://schemas.openxmlformats.org/officeDocument/2006/relationships/image" Target="../media/image6.jpe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8.emf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8.emf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C_4AD3DAFF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Relationship Id="rId9" Type="http://schemas.openxmlformats.org/officeDocument/2006/relationships/image" Target="../media/image20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8.emf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A_AE6DAA06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13000"/>
            <a:lum bright="30000" contrast="45000"/>
          </a:blip>
          <a:srcRect/>
          <a:stretch>
            <a:fillRect l="50000" t="-28000" r="-35000" b="-135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AA6815A2-BE6E-C95F-CE44-FF975709C775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4" name="Abgerundetes Rechteck 3">
            <a:extLst>
              <a:ext uri="{FF2B5EF4-FFF2-40B4-BE49-F238E27FC236}">
                <a16:creationId xmlns:a16="http://schemas.microsoft.com/office/drawing/2014/main" id="{77082D84-2C49-30CC-4911-2F058C683FB8}"/>
              </a:ext>
            </a:extLst>
          </p:cNvPr>
          <p:cNvSpPr/>
          <p:nvPr/>
        </p:nvSpPr>
        <p:spPr>
          <a:xfrm>
            <a:off x="184944" y="831954"/>
            <a:ext cx="11150599" cy="2018250"/>
          </a:xfrm>
          <a:prstGeom prst="roundRect">
            <a:avLst/>
          </a:prstGeom>
          <a:solidFill>
            <a:srgbClr val="00677C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3000" b="1" dirty="0"/>
              <a:t>Non-linear effects of energy commodities on the</a:t>
            </a:r>
          </a:p>
          <a:p>
            <a:pPr algn="ctr"/>
            <a:r>
              <a:rPr lang="de-DE" sz="3000" b="1" dirty="0"/>
              <a:t>EUR/USD spot exchange rate:</a:t>
            </a:r>
          </a:p>
          <a:p>
            <a:pPr algn="ctr"/>
            <a:r>
              <a:rPr lang="de-DE" sz="3000" b="1" dirty="0"/>
              <a:t>An Oil and Gas Perspective on Parity Conditions.</a:t>
            </a:r>
          </a:p>
          <a:p>
            <a:pPr algn="ctr"/>
            <a:endParaRPr lang="de-DE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DE" sz="1400" dirty="0">
                <a:latin typeface="Arial" panose="020B0604020202020204" pitchFamily="34" charset="0"/>
                <a:cs typeface="Arial" panose="020B0604020202020204" pitchFamily="34" charset="0"/>
              </a:rPr>
              <a:t>Seminar in Applied Financial Economics by Professor Reitz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DF1E9C5B-2C8E-C3A1-C2CE-19D641FBBF70}"/>
              </a:ext>
            </a:extLst>
          </p:cNvPr>
          <p:cNvSpPr/>
          <p:nvPr/>
        </p:nvSpPr>
        <p:spPr>
          <a:xfrm>
            <a:off x="2382043" y="2908450"/>
            <a:ext cx="6756400" cy="286173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Josef Fella and Robert Hennings</a:t>
            </a:r>
          </a:p>
          <a:p>
            <a:pPr algn="ctr"/>
            <a:endParaRPr lang="de-DE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de-DE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Christian-Albrechts-University of Kiel</a:t>
            </a:r>
          </a:p>
          <a:p>
            <a:pPr algn="ctr"/>
            <a:r>
              <a:rPr lang="de-DE" sz="16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josef.fella@stu.uni-kiel.de and robert.hennings@stu.uni-kiel.de</a:t>
            </a:r>
          </a:p>
          <a:p>
            <a:pPr algn="ctr"/>
            <a:r>
              <a:rPr lang="de-DE" sz="16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GitHub: https://github.com/RobertHennings</a:t>
            </a:r>
          </a:p>
          <a:p>
            <a:pPr algn="ctr"/>
            <a:endParaRPr lang="de-DE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DE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Kiel - 14.11.2025</a:t>
            </a:r>
          </a:p>
        </p:txBody>
      </p:sp>
      <p:pic>
        <p:nvPicPr>
          <p:cNvPr id="7" name="Grafik 6" descr="Ein Bild, das Text, Schrift, Screenshot, Grafiken enthält.&#10;&#10;Automatisch generierte Beschreibung">
            <a:extLst>
              <a:ext uri="{FF2B5EF4-FFF2-40B4-BE49-F238E27FC236}">
                <a16:creationId xmlns:a16="http://schemas.microsoft.com/office/drawing/2014/main" id="{0BDF84F9-AB7F-07DD-90C2-3A137E12B48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64271" y="-67456"/>
            <a:ext cx="1771272" cy="8856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16680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90CB391-C26A-9A35-1E21-6D93032D86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Beginning: Newspaper article about energy + recent USD 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3B9F65C-CE3C-10B2-9C48-57D8786AF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 dirty="0"/>
              <a:t>J.Fella &amp; R.Hennings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FF13E4F1-1CC0-A914-4FE5-CABACF879B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E4F82-BF2E-49E6-B429-4AFCF17D441A}" type="slidenum">
              <a:rPr lang="de-DE" smtClean="0"/>
              <a:pPr/>
              <a:t>2</a:t>
            </a:fld>
            <a:endParaRPr lang="de-DE" dirty="0"/>
          </a:p>
        </p:txBody>
      </p:sp>
      <p:grpSp>
        <p:nvGrpSpPr>
          <p:cNvPr id="6" name="Gruppieren 5">
            <a:extLst>
              <a:ext uri="{FF2B5EF4-FFF2-40B4-BE49-F238E27FC236}">
                <a16:creationId xmlns:a16="http://schemas.microsoft.com/office/drawing/2014/main" id="{24185FFA-9833-3C69-B398-960DD1CF451C}"/>
              </a:ext>
            </a:extLst>
          </p:cNvPr>
          <p:cNvGrpSpPr/>
          <p:nvPr/>
        </p:nvGrpSpPr>
        <p:grpSpPr>
          <a:xfrm>
            <a:off x="755251" y="1106326"/>
            <a:ext cx="3630563" cy="2055842"/>
            <a:chOff x="1658672" y="2046515"/>
            <a:chExt cx="5351728" cy="2979163"/>
          </a:xfrm>
        </p:grpSpPr>
        <p:pic>
          <p:nvPicPr>
            <p:cNvPr id="1026" name="Picture 2" descr="Newspaper article on the price of gasoline and petrol going higher ...">
              <a:extLst>
                <a:ext uri="{FF2B5EF4-FFF2-40B4-BE49-F238E27FC236}">
                  <a16:creationId xmlns:a16="http://schemas.microsoft.com/office/drawing/2014/main" id="{CEE01A1C-C1E6-8111-BF86-EB56D092497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12592"/>
            <a:stretch>
              <a:fillRect/>
            </a:stretch>
          </p:blipFill>
          <p:spPr bwMode="auto">
            <a:xfrm>
              <a:off x="1658672" y="2046515"/>
              <a:ext cx="3775120" cy="242388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" name="Textfeld 6">
              <a:extLst>
                <a:ext uri="{FF2B5EF4-FFF2-40B4-BE49-F238E27FC236}">
                  <a16:creationId xmlns:a16="http://schemas.microsoft.com/office/drawing/2014/main" id="{DFEB2089-8346-085A-472E-BED05ACCB2EC}"/>
                </a:ext>
              </a:extLst>
            </p:cNvPr>
            <p:cNvSpPr txBox="1"/>
            <p:nvPr/>
          </p:nvSpPr>
          <p:spPr>
            <a:xfrm>
              <a:off x="1658672" y="4470401"/>
              <a:ext cx="5351728" cy="5552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945" dirty="0">
                  <a:hlinkClick r:id="rId3"/>
                </a:rPr>
                <a:t>Newspaper article on the price of gasoline and petrol going higher Stock Photo – Alamy</a:t>
              </a:r>
              <a:r>
                <a:rPr lang="en-US" sz="945" dirty="0"/>
                <a:t>, 08.10.2025</a:t>
              </a:r>
              <a:endParaRPr lang="de-DE" sz="945" dirty="0"/>
            </a:p>
          </p:txBody>
        </p:sp>
      </p:grpSp>
      <p:grpSp>
        <p:nvGrpSpPr>
          <p:cNvPr id="10" name="Gruppieren 9">
            <a:extLst>
              <a:ext uri="{FF2B5EF4-FFF2-40B4-BE49-F238E27FC236}">
                <a16:creationId xmlns:a16="http://schemas.microsoft.com/office/drawing/2014/main" id="{112AC907-D468-D791-9833-6B319EBDB6E2}"/>
              </a:ext>
            </a:extLst>
          </p:cNvPr>
          <p:cNvGrpSpPr/>
          <p:nvPr/>
        </p:nvGrpSpPr>
        <p:grpSpPr>
          <a:xfrm>
            <a:off x="2054915" y="3365625"/>
            <a:ext cx="5794442" cy="2565791"/>
            <a:chOff x="2174632" y="1376363"/>
            <a:chExt cx="6132286" cy="2715389"/>
          </a:xfrm>
        </p:grpSpPr>
        <p:pic>
          <p:nvPicPr>
            <p:cNvPr id="3078" name="Picture 6" descr="Energy Crisis and Fuel Gas Price Newspaper on Table Stock Illustration ...">
              <a:extLst>
                <a:ext uri="{FF2B5EF4-FFF2-40B4-BE49-F238E27FC236}">
                  <a16:creationId xmlns:a16="http://schemas.microsoft.com/office/drawing/2014/main" id="{E5019AC1-CB11-B157-FC73-D73CDF73E45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286000" y="1376363"/>
              <a:ext cx="4361543" cy="234978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9" name="Textfeld 8">
              <a:extLst>
                <a:ext uri="{FF2B5EF4-FFF2-40B4-BE49-F238E27FC236}">
                  <a16:creationId xmlns:a16="http://schemas.microsoft.com/office/drawing/2014/main" id="{4E12ADE8-C27B-2931-2BA0-8D926A16A2D1}"/>
                </a:ext>
              </a:extLst>
            </p:cNvPr>
            <p:cNvSpPr txBox="1"/>
            <p:nvPr/>
          </p:nvSpPr>
          <p:spPr>
            <a:xfrm>
              <a:off x="2174632" y="3686229"/>
              <a:ext cx="6132286" cy="40552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945" dirty="0">
                  <a:hlinkClick r:id="rId5"/>
                </a:rPr>
                <a:t>Energy Crisis and Fuel Gas Price Newspaper on Table Stock Illustration - Illustration of fossil, global: 270150690</a:t>
              </a:r>
              <a:r>
                <a:rPr lang="en-US" sz="945" dirty="0"/>
                <a:t>, 08.10.2025</a:t>
              </a:r>
              <a:endParaRPr lang="de-DE" sz="945" dirty="0"/>
            </a:p>
          </p:txBody>
        </p:sp>
      </p:grpSp>
      <p:grpSp>
        <p:nvGrpSpPr>
          <p:cNvPr id="21" name="Gruppieren 20">
            <a:extLst>
              <a:ext uri="{FF2B5EF4-FFF2-40B4-BE49-F238E27FC236}">
                <a16:creationId xmlns:a16="http://schemas.microsoft.com/office/drawing/2014/main" id="{9F817FA9-F532-B5A6-9B9E-9763E13F3C0B}"/>
              </a:ext>
            </a:extLst>
          </p:cNvPr>
          <p:cNvGrpSpPr/>
          <p:nvPr/>
        </p:nvGrpSpPr>
        <p:grpSpPr>
          <a:xfrm>
            <a:off x="5252801" y="1184825"/>
            <a:ext cx="4402406" cy="2299226"/>
            <a:chOff x="972456" y="1913609"/>
            <a:chExt cx="6183084" cy="3023315"/>
          </a:xfrm>
        </p:grpSpPr>
        <p:pic>
          <p:nvPicPr>
            <p:cNvPr id="3080" name="Picture 8" descr="U.S. Dollar Hits 20-Year High: Here’s What That Means">
              <a:extLst>
                <a:ext uri="{FF2B5EF4-FFF2-40B4-BE49-F238E27FC236}">
                  <a16:creationId xmlns:a16="http://schemas.microsoft.com/office/drawing/2014/main" id="{CBB57997-C356-519B-7F9E-49126206147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72456" y="1913609"/>
              <a:ext cx="4484227" cy="251945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0" name="Textfeld 19">
              <a:extLst>
                <a:ext uri="{FF2B5EF4-FFF2-40B4-BE49-F238E27FC236}">
                  <a16:creationId xmlns:a16="http://schemas.microsoft.com/office/drawing/2014/main" id="{3758B12C-5472-C484-C45A-5F4EBC9184B8}"/>
                </a:ext>
              </a:extLst>
            </p:cNvPr>
            <p:cNvSpPr txBox="1"/>
            <p:nvPr/>
          </p:nvSpPr>
          <p:spPr>
            <a:xfrm>
              <a:off x="972456" y="4433067"/>
              <a:ext cx="6183084" cy="50385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de-DE" sz="945" dirty="0">
                  <a:hlinkClick r:id="rId7"/>
                </a:rPr>
                <a:t>https://www.forbes.com/sites/siladityaray/2022/08/29/us-dollar-hits-two-decade-high-heres-what-that-means/</a:t>
              </a:r>
              <a:r>
                <a:rPr lang="de-DE" sz="945" dirty="0"/>
                <a:t>, 08.10.2025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8378022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9DE2D010-67B4-6208-D9E6-8924D567A347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solidFill>
            <a:srgbClr val="00677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de-DE" sz="3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962328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13000"/>
            <a:lum bright="30000" contrast="45000"/>
          </a:blip>
          <a:srcRect/>
          <a:stretch>
            <a:fillRect l="50000" t="-28000" r="-35000" b="-13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F393D68-7A74-A7D1-B41E-C2468E9522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2CA5A519-9F13-4080-0A41-4FAC1A64482E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pic>
        <p:nvPicPr>
          <p:cNvPr id="7" name="Grafik 6" descr="Ein Bild, das Text, Schrift, Screenshot, Grafiken enthält.&#10;&#10;Automatisch generierte Beschreibung">
            <a:extLst>
              <a:ext uri="{FF2B5EF4-FFF2-40B4-BE49-F238E27FC236}">
                <a16:creationId xmlns:a16="http://schemas.microsoft.com/office/drawing/2014/main" id="{1CF58EC5-18C5-0AB0-F99C-F1220AAA9B6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64271" y="-67456"/>
            <a:ext cx="1771272" cy="885636"/>
          </a:xfrm>
          <a:prstGeom prst="rect">
            <a:avLst/>
          </a:prstGeom>
        </p:spPr>
      </p:pic>
      <p:sp>
        <p:nvSpPr>
          <p:cNvPr id="3" name="Rechteck 2">
            <a:extLst>
              <a:ext uri="{FF2B5EF4-FFF2-40B4-BE49-F238E27FC236}">
                <a16:creationId xmlns:a16="http://schemas.microsoft.com/office/drawing/2014/main" id="{D0ECA64D-A318-4178-0765-4F055AD47E91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solidFill>
            <a:srgbClr val="00677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3600" dirty="0">
                <a:latin typeface="Arial" panose="020B0604020202020204" pitchFamily="34" charset="0"/>
                <a:cs typeface="Arial" panose="020B0604020202020204" pitchFamily="34" charset="0"/>
              </a:rPr>
              <a:t>Chapter 3)</a:t>
            </a:r>
          </a:p>
        </p:txBody>
      </p:sp>
      <p:sp>
        <p:nvSpPr>
          <p:cNvPr id="6" name="Abgerundetes Rechteck 5">
            <a:extLst>
              <a:ext uri="{FF2B5EF4-FFF2-40B4-BE49-F238E27FC236}">
                <a16:creationId xmlns:a16="http://schemas.microsoft.com/office/drawing/2014/main" id="{F207B5E7-3925-0207-0FF8-3F3386325116}"/>
              </a:ext>
            </a:extLst>
          </p:cNvPr>
          <p:cNvSpPr/>
          <p:nvPr/>
        </p:nvSpPr>
        <p:spPr>
          <a:xfrm>
            <a:off x="2982297" y="2996762"/>
            <a:ext cx="5570335" cy="486650"/>
          </a:xfrm>
          <a:prstGeom prst="roundRect">
            <a:avLst/>
          </a:prstGeom>
          <a:solidFill>
            <a:srgbClr val="00677C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b="1" dirty="0">
                <a:latin typeface="Arial" panose="020B0604020202020204" pitchFamily="34" charset="0"/>
                <a:cs typeface="Arial" panose="020B0604020202020204" pitchFamily="34" charset="0"/>
              </a:rPr>
              <a:t>Literature</a:t>
            </a:r>
            <a:r>
              <a:rPr lang="de-DE" sz="3200" b="1" dirty="0">
                <a:latin typeface="Arial" panose="020B0604020202020204" pitchFamily="34" charset="0"/>
                <a:cs typeface="Arial" panose="020B0604020202020204" pitchFamily="34" charset="0"/>
              </a:rPr>
              <a:t> Review</a:t>
            </a:r>
            <a:endParaRPr lang="de-DE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023451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67F995-3419-CCB0-8698-134E2197CE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ustomShape 3">
            <a:extLst>
              <a:ext uri="{FF2B5EF4-FFF2-40B4-BE49-F238E27FC236}">
                <a16:creationId xmlns:a16="http://schemas.microsoft.com/office/drawing/2014/main" id="{89979652-1CC6-B67E-EC59-613F4BB5EDA7}"/>
              </a:ext>
            </a:extLst>
          </p:cNvPr>
          <p:cNvSpPr/>
          <p:nvPr/>
        </p:nvSpPr>
        <p:spPr>
          <a:xfrm>
            <a:off x="540000" y="743529"/>
            <a:ext cx="10079640" cy="269117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/>
          <a:lstStyle/>
          <a:p>
            <a:pPr>
              <a:lnSpc>
                <a:spcPct val="100000"/>
              </a:lnSpc>
            </a:pPr>
            <a:r>
              <a:rPr lang="de-DE" sz="1400" b="1" spc="-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relationship between Energy Commodity Prices and exchange rates: Transmission channels</a:t>
            </a:r>
            <a:r>
              <a:rPr lang="de-DE" sz="1400" b="1" spc="-1" baseline="300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endParaRPr lang="de-DE" sz="1400" b="0" strike="noStrike" spc="-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BD5AEEBE-1DF8-F771-131E-935D08025377}"/>
              </a:ext>
            </a:extLst>
          </p:cNvPr>
          <p:cNvSpPr/>
          <p:nvPr/>
        </p:nvSpPr>
        <p:spPr>
          <a:xfrm>
            <a:off x="1843534" y="4785555"/>
            <a:ext cx="2401991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Volatility and Risk Spillover Effects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55D90CBC-09A3-7803-2E9C-DFD72C73E45D}"/>
              </a:ext>
            </a:extLst>
          </p:cNvPr>
          <p:cNvSpPr/>
          <p:nvPr/>
        </p:nvSpPr>
        <p:spPr>
          <a:xfrm>
            <a:off x="8746536" y="4005332"/>
            <a:ext cx="1492776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Oil export and import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914B7565-F55E-DF40-D57D-2723965218E6}"/>
              </a:ext>
            </a:extLst>
          </p:cNvPr>
          <p:cNvSpPr/>
          <p:nvPr/>
        </p:nvSpPr>
        <p:spPr>
          <a:xfrm>
            <a:off x="1793695" y="2322789"/>
            <a:ext cx="2489092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Financial Transmission Channels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58E3BA33-3B95-D2A5-9B43-0E705A4C8D38}"/>
              </a:ext>
            </a:extLst>
          </p:cNvPr>
          <p:cNvSpPr/>
          <p:nvPr/>
        </p:nvSpPr>
        <p:spPr>
          <a:xfrm>
            <a:off x="8173122" y="2312621"/>
            <a:ext cx="2729150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Fundamental Transmission Channels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8AF11C45-59BA-4C14-05D4-87A6EA6C01B6}"/>
              </a:ext>
            </a:extLst>
          </p:cNvPr>
          <p:cNvSpPr/>
          <p:nvPr/>
        </p:nvSpPr>
        <p:spPr>
          <a:xfrm>
            <a:off x="4683001" y="2316511"/>
            <a:ext cx="2918077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Macroeconomic Transmission Channels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8A2E6972-3072-29F8-F919-3BDC31C70019}"/>
              </a:ext>
            </a:extLst>
          </p:cNvPr>
          <p:cNvSpPr/>
          <p:nvPr/>
        </p:nvSpPr>
        <p:spPr>
          <a:xfrm>
            <a:off x="8930782" y="2860833"/>
            <a:ext cx="1213829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Monetary Policy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0842BDEA-AD1B-8BB8-D81C-7BA0BB3BDF23}"/>
              </a:ext>
            </a:extLst>
          </p:cNvPr>
          <p:cNvSpPr/>
          <p:nvPr/>
        </p:nvSpPr>
        <p:spPr>
          <a:xfrm>
            <a:off x="5714201" y="3415883"/>
            <a:ext cx="763593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Inflation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CB8FA6D9-90C2-BFAF-C91A-D786F0D36A8C}"/>
              </a:ext>
            </a:extLst>
          </p:cNvPr>
          <p:cNvSpPr/>
          <p:nvPr/>
        </p:nvSpPr>
        <p:spPr>
          <a:xfrm>
            <a:off x="5682450" y="4303966"/>
            <a:ext cx="2232000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Denomination (Numeraire) Effect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EDF51B29-AF6D-7E13-44AF-D337D241DCB1}"/>
              </a:ext>
            </a:extLst>
          </p:cNvPr>
          <p:cNvSpPr/>
          <p:nvPr/>
        </p:nvSpPr>
        <p:spPr>
          <a:xfrm>
            <a:off x="2204319" y="2851296"/>
            <a:ext cx="1667844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Wealth Transfer Effect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8E2D4A6C-6185-B444-11A0-F5D8C242F78C}"/>
              </a:ext>
            </a:extLst>
          </p:cNvPr>
          <p:cNvSpPr/>
          <p:nvPr/>
        </p:nvSpPr>
        <p:spPr>
          <a:xfrm>
            <a:off x="4755460" y="2850665"/>
            <a:ext cx="2773157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(Risk Parity) Portfolio Rebalancing Effect</a:t>
            </a:r>
          </a:p>
        </p:txBody>
      </p: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57984F82-DCB0-CD0F-FEC0-450BD3B9EBBC}"/>
              </a:ext>
            </a:extLst>
          </p:cNvPr>
          <p:cNvCxnSpPr/>
          <p:nvPr/>
        </p:nvCxnSpPr>
        <p:spPr>
          <a:xfrm>
            <a:off x="778932" y="2260600"/>
            <a:ext cx="103039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Rechteck 17">
            <a:extLst>
              <a:ext uri="{FF2B5EF4-FFF2-40B4-BE49-F238E27FC236}">
                <a16:creationId xmlns:a16="http://schemas.microsoft.com/office/drawing/2014/main" id="{547BB34D-F2E7-62B8-D919-64BBAC3723E3}"/>
              </a:ext>
            </a:extLst>
          </p:cNvPr>
          <p:cNvSpPr/>
          <p:nvPr/>
        </p:nvSpPr>
        <p:spPr>
          <a:xfrm>
            <a:off x="411140" y="1782177"/>
            <a:ext cx="918576" cy="18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Timeframe</a:t>
            </a: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A3E63AF5-9F5E-95D5-6180-0988AF58E0D8}"/>
              </a:ext>
            </a:extLst>
          </p:cNvPr>
          <p:cNvSpPr/>
          <p:nvPr/>
        </p:nvSpPr>
        <p:spPr>
          <a:xfrm>
            <a:off x="2296467" y="1860414"/>
            <a:ext cx="1495049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Short Run Dynamics</a:t>
            </a: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A1A67F1B-E3AD-966A-74FA-C42FC64ABA33}"/>
              </a:ext>
            </a:extLst>
          </p:cNvPr>
          <p:cNvSpPr/>
          <p:nvPr/>
        </p:nvSpPr>
        <p:spPr>
          <a:xfrm>
            <a:off x="8712197" y="1921320"/>
            <a:ext cx="1651001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Long Run Relationship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2B5C44F8-FDB0-B5C3-7AB6-DAAE91C82D6D}"/>
              </a:ext>
            </a:extLst>
          </p:cNvPr>
          <p:cNvSpPr/>
          <p:nvPr/>
        </p:nvSpPr>
        <p:spPr>
          <a:xfrm>
            <a:off x="5376297" y="1861070"/>
            <a:ext cx="1487262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Mid-term fluctuations</a:t>
            </a:r>
          </a:p>
        </p:txBody>
      </p:sp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886F986F-1ECF-7BA6-5F28-CF166D13E579}"/>
              </a:ext>
            </a:extLst>
          </p:cNvPr>
          <p:cNvCxnSpPr>
            <a:cxnSpLocks/>
          </p:cNvCxnSpPr>
          <p:nvPr/>
        </p:nvCxnSpPr>
        <p:spPr>
          <a:xfrm>
            <a:off x="778932" y="2260600"/>
            <a:ext cx="0" cy="36576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5" name="Rechteck 24">
            <a:extLst>
              <a:ext uri="{FF2B5EF4-FFF2-40B4-BE49-F238E27FC236}">
                <a16:creationId xmlns:a16="http://schemas.microsoft.com/office/drawing/2014/main" id="{B47AC8FF-7365-56DF-F93C-A4ED76F9C2F5}"/>
              </a:ext>
            </a:extLst>
          </p:cNvPr>
          <p:cNvSpPr/>
          <p:nvPr/>
        </p:nvSpPr>
        <p:spPr>
          <a:xfrm>
            <a:off x="0" y="2056589"/>
            <a:ext cx="1329718" cy="18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Relationship Type</a:t>
            </a: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54583658-2C22-32C2-5D95-15BE6A433D72}"/>
              </a:ext>
            </a:extLst>
          </p:cNvPr>
          <p:cNvSpPr/>
          <p:nvPr/>
        </p:nvSpPr>
        <p:spPr>
          <a:xfrm rot="16200000">
            <a:off x="45155" y="2812203"/>
            <a:ext cx="655716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Linear</a:t>
            </a: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DE3E1C60-1677-B084-B1C5-91C284BE2062}"/>
              </a:ext>
            </a:extLst>
          </p:cNvPr>
          <p:cNvSpPr/>
          <p:nvPr/>
        </p:nvSpPr>
        <p:spPr>
          <a:xfrm rot="16200000">
            <a:off x="-84698" y="4912223"/>
            <a:ext cx="915424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Non-Linear</a:t>
            </a: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8556F8FC-7512-A6C0-D0F2-1756DF3991F1}"/>
              </a:ext>
            </a:extLst>
          </p:cNvPr>
          <p:cNvSpPr/>
          <p:nvPr/>
        </p:nvSpPr>
        <p:spPr>
          <a:xfrm>
            <a:off x="5041037" y="4796163"/>
            <a:ext cx="2373309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(US) Terms of Trade Effect</a:t>
            </a: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8E1ABFDC-72F9-38AC-5192-9E813F24C3A5}"/>
              </a:ext>
            </a:extLst>
          </p:cNvPr>
          <p:cNvSpPr/>
          <p:nvPr/>
        </p:nvSpPr>
        <p:spPr>
          <a:xfrm>
            <a:off x="411140" y="1482055"/>
            <a:ext cx="1110289" cy="18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Datafrequency</a:t>
            </a:r>
          </a:p>
        </p:txBody>
      </p:sp>
      <p:cxnSp>
        <p:nvCxnSpPr>
          <p:cNvPr id="31" name="Gerade Verbindung mit Pfeil 30">
            <a:extLst>
              <a:ext uri="{FF2B5EF4-FFF2-40B4-BE49-F238E27FC236}">
                <a16:creationId xmlns:a16="http://schemas.microsoft.com/office/drawing/2014/main" id="{192C12B1-A82B-DA2B-1B42-93D8F5E91563}"/>
              </a:ext>
            </a:extLst>
          </p:cNvPr>
          <p:cNvCxnSpPr/>
          <p:nvPr/>
        </p:nvCxnSpPr>
        <p:spPr>
          <a:xfrm>
            <a:off x="778932" y="1765243"/>
            <a:ext cx="103039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2" name="Rechteck 31">
            <a:extLst>
              <a:ext uri="{FF2B5EF4-FFF2-40B4-BE49-F238E27FC236}">
                <a16:creationId xmlns:a16="http://schemas.microsoft.com/office/drawing/2014/main" id="{E1C0A855-8002-6E58-4CE7-1A3A4E3BAFC1}"/>
              </a:ext>
            </a:extLst>
          </p:cNvPr>
          <p:cNvSpPr/>
          <p:nvPr/>
        </p:nvSpPr>
        <p:spPr>
          <a:xfrm>
            <a:off x="2275981" y="1464107"/>
            <a:ext cx="1536022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Daily, Weely, Monthly</a:t>
            </a: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CEC91CC7-79C2-687B-D6FE-9B94C5931958}"/>
              </a:ext>
            </a:extLst>
          </p:cNvPr>
          <p:cNvSpPr/>
          <p:nvPr/>
        </p:nvSpPr>
        <p:spPr>
          <a:xfrm>
            <a:off x="5435044" y="1464107"/>
            <a:ext cx="1329719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Monthly, Quarterly</a:t>
            </a: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23AAD51E-89CC-0CDE-667F-1D52B0CC7937}"/>
              </a:ext>
            </a:extLst>
          </p:cNvPr>
          <p:cNvSpPr/>
          <p:nvPr/>
        </p:nvSpPr>
        <p:spPr>
          <a:xfrm>
            <a:off x="8828065" y="1464107"/>
            <a:ext cx="1329719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Annually</a:t>
            </a: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1A21882D-84E7-42C9-52E2-F7F8ECCE1776}"/>
              </a:ext>
            </a:extLst>
          </p:cNvPr>
          <p:cNvSpPr/>
          <p:nvPr/>
        </p:nvSpPr>
        <p:spPr>
          <a:xfrm>
            <a:off x="5372776" y="4005332"/>
            <a:ext cx="1435102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Expectation Effects</a:t>
            </a:r>
          </a:p>
        </p:txBody>
      </p:sp>
      <p:cxnSp>
        <p:nvCxnSpPr>
          <p:cNvPr id="37" name="Gewinkelte Verbindung 36">
            <a:extLst>
              <a:ext uri="{FF2B5EF4-FFF2-40B4-BE49-F238E27FC236}">
                <a16:creationId xmlns:a16="http://schemas.microsoft.com/office/drawing/2014/main" id="{772846A8-47BF-C5BD-23BD-90268CF4F83D}"/>
              </a:ext>
            </a:extLst>
          </p:cNvPr>
          <p:cNvCxnSpPr>
            <a:cxnSpLocks/>
            <a:endCxn id="13" idx="1"/>
          </p:cNvCxnSpPr>
          <p:nvPr/>
        </p:nvCxnSpPr>
        <p:spPr>
          <a:xfrm rot="16200000" flipH="1">
            <a:off x="5518186" y="4247702"/>
            <a:ext cx="174014" cy="15451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Gerade Verbindung 41">
            <a:extLst>
              <a:ext uri="{FF2B5EF4-FFF2-40B4-BE49-F238E27FC236}">
                <a16:creationId xmlns:a16="http://schemas.microsoft.com/office/drawing/2014/main" id="{1E45963D-D85B-6D20-9F28-0C285372AB9E}"/>
              </a:ext>
            </a:extLst>
          </p:cNvPr>
          <p:cNvCxnSpPr/>
          <p:nvPr/>
        </p:nvCxnSpPr>
        <p:spPr>
          <a:xfrm>
            <a:off x="4500492" y="1534937"/>
            <a:ext cx="0" cy="4287483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Gerade Verbindung 42">
            <a:extLst>
              <a:ext uri="{FF2B5EF4-FFF2-40B4-BE49-F238E27FC236}">
                <a16:creationId xmlns:a16="http://schemas.microsoft.com/office/drawing/2014/main" id="{ADE954ED-9BD3-5B5F-E4F3-05EEC35F98B1}"/>
              </a:ext>
            </a:extLst>
          </p:cNvPr>
          <p:cNvCxnSpPr/>
          <p:nvPr/>
        </p:nvCxnSpPr>
        <p:spPr>
          <a:xfrm>
            <a:off x="7853290" y="1529117"/>
            <a:ext cx="0" cy="4287483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4" name="Gerade Verbindung 43">
            <a:extLst>
              <a:ext uri="{FF2B5EF4-FFF2-40B4-BE49-F238E27FC236}">
                <a16:creationId xmlns:a16="http://schemas.microsoft.com/office/drawing/2014/main" id="{09F5D47B-6B09-7CFC-5444-D852D1F50422}"/>
              </a:ext>
            </a:extLst>
          </p:cNvPr>
          <p:cNvCxnSpPr>
            <a:cxnSpLocks/>
          </p:cNvCxnSpPr>
          <p:nvPr/>
        </p:nvCxnSpPr>
        <p:spPr>
          <a:xfrm>
            <a:off x="265012" y="3909431"/>
            <a:ext cx="10690855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1" name="Rechteck 50">
            <a:extLst>
              <a:ext uri="{FF2B5EF4-FFF2-40B4-BE49-F238E27FC236}">
                <a16:creationId xmlns:a16="http://schemas.microsoft.com/office/drawing/2014/main" id="{2B0B8714-4735-3D93-DEE2-39EEDF4D561B}"/>
              </a:ext>
            </a:extLst>
          </p:cNvPr>
          <p:cNvSpPr/>
          <p:nvPr/>
        </p:nvSpPr>
        <p:spPr>
          <a:xfrm>
            <a:off x="9046221" y="4303966"/>
            <a:ext cx="1605757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Commodity Currencies</a:t>
            </a:r>
          </a:p>
        </p:txBody>
      </p:sp>
      <p:cxnSp>
        <p:nvCxnSpPr>
          <p:cNvPr id="52" name="Gewinkelte Verbindung 51">
            <a:extLst>
              <a:ext uri="{FF2B5EF4-FFF2-40B4-BE49-F238E27FC236}">
                <a16:creationId xmlns:a16="http://schemas.microsoft.com/office/drawing/2014/main" id="{F71AE3F4-D833-EE71-8CFE-4CED6B06EF3D}"/>
              </a:ext>
            </a:extLst>
          </p:cNvPr>
          <p:cNvCxnSpPr>
            <a:cxnSpLocks/>
            <a:endCxn id="51" idx="1"/>
          </p:cNvCxnSpPr>
          <p:nvPr/>
        </p:nvCxnSpPr>
        <p:spPr>
          <a:xfrm rot="16200000" flipH="1">
            <a:off x="8881957" y="4247702"/>
            <a:ext cx="174014" cy="15451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Rechteck 1">
            <a:extLst>
              <a:ext uri="{FF2B5EF4-FFF2-40B4-BE49-F238E27FC236}">
                <a16:creationId xmlns:a16="http://schemas.microsoft.com/office/drawing/2014/main" id="{0499263F-B069-F131-A5DE-5772AE971F66}"/>
              </a:ext>
            </a:extLst>
          </p:cNvPr>
          <p:cNvSpPr/>
          <p:nvPr/>
        </p:nvSpPr>
        <p:spPr>
          <a:xfrm>
            <a:off x="5690581" y="4550064"/>
            <a:ext cx="1667844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Dominant Pricing Effect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4F559678-A189-0726-673D-DE1DA2DC70F1}"/>
              </a:ext>
            </a:extLst>
          </p:cNvPr>
          <p:cNvSpPr/>
          <p:nvPr/>
        </p:nvSpPr>
        <p:spPr>
          <a:xfrm>
            <a:off x="2204318" y="3276798"/>
            <a:ext cx="1755627" cy="24708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Present Value Approach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68541E07-E6F4-ED82-136D-E8DFBDF1A366}"/>
              </a:ext>
            </a:extLst>
          </p:cNvPr>
          <p:cNvSpPr/>
          <p:nvPr/>
        </p:nvSpPr>
        <p:spPr>
          <a:xfrm>
            <a:off x="3317272" y="5961248"/>
            <a:ext cx="2373309" cy="34735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Oil price shock affecting exchange rate through two channels (see impact of oil shocks Markov Switching)</a:t>
            </a:r>
          </a:p>
        </p:txBody>
      </p: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A1B0DD7A-7D17-5AF6-8729-84131D833385}"/>
              </a:ext>
            </a:extLst>
          </p:cNvPr>
          <p:cNvCxnSpPr>
            <a:cxnSpLocks/>
            <a:stCxn id="12" idx="0"/>
            <a:endCxn id="14" idx="3"/>
          </p:cNvCxnSpPr>
          <p:nvPr/>
        </p:nvCxnSpPr>
        <p:spPr>
          <a:xfrm flipH="1" flipV="1">
            <a:off x="3872163" y="2959296"/>
            <a:ext cx="631764" cy="300195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A58D72F1-5BD3-BE92-5474-39202431B984}"/>
              </a:ext>
            </a:extLst>
          </p:cNvPr>
          <p:cNvCxnSpPr>
            <a:cxnSpLocks/>
            <a:stCxn id="12" idx="0"/>
            <a:endCxn id="29" idx="1"/>
          </p:cNvCxnSpPr>
          <p:nvPr/>
        </p:nvCxnSpPr>
        <p:spPr>
          <a:xfrm flipV="1">
            <a:off x="4503927" y="4904163"/>
            <a:ext cx="537110" cy="105708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" name="Rechteck 22">
            <a:extLst>
              <a:ext uri="{FF2B5EF4-FFF2-40B4-BE49-F238E27FC236}">
                <a16:creationId xmlns:a16="http://schemas.microsoft.com/office/drawing/2014/main" id="{D6455752-85AB-249B-351F-AA1A075CC80E}"/>
              </a:ext>
            </a:extLst>
          </p:cNvPr>
          <p:cNvSpPr/>
          <p:nvPr/>
        </p:nvSpPr>
        <p:spPr>
          <a:xfrm>
            <a:off x="1843534" y="5140383"/>
            <a:ext cx="2401991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Financialization Effects</a:t>
            </a:r>
          </a:p>
        </p:txBody>
      </p:sp>
    </p:spTree>
    <p:extLst>
      <p:ext uri="{BB962C8B-B14F-4D97-AF65-F5344CB8AC3E}">
        <p14:creationId xmlns:p14="http://schemas.microsoft.com/office/powerpoint/2010/main" val="37495497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13000"/>
            <a:lum bright="30000" contrast="45000"/>
          </a:blip>
          <a:srcRect/>
          <a:stretch>
            <a:fillRect l="50000" t="-28000" r="-35000" b="-13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0B86A40-CC4A-F893-4962-D869B85835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273A9A3D-A2C8-0573-AD47-55CA13D2DF59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pic>
        <p:nvPicPr>
          <p:cNvPr id="7" name="Grafik 6" descr="Ein Bild, das Text, Schrift, Screenshot, Grafiken enthält.&#10;&#10;Automatisch generierte Beschreibung">
            <a:extLst>
              <a:ext uri="{FF2B5EF4-FFF2-40B4-BE49-F238E27FC236}">
                <a16:creationId xmlns:a16="http://schemas.microsoft.com/office/drawing/2014/main" id="{3D43F778-3670-5763-3D15-15520B8093D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64271" y="-67456"/>
            <a:ext cx="1771272" cy="885636"/>
          </a:xfrm>
          <a:prstGeom prst="rect">
            <a:avLst/>
          </a:prstGeom>
        </p:spPr>
      </p:pic>
      <p:sp>
        <p:nvSpPr>
          <p:cNvPr id="3" name="Rechteck 2">
            <a:extLst>
              <a:ext uri="{FF2B5EF4-FFF2-40B4-BE49-F238E27FC236}">
                <a16:creationId xmlns:a16="http://schemas.microsoft.com/office/drawing/2014/main" id="{25EC4B36-7CB4-55D3-844F-E9E04B22A35B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solidFill>
            <a:srgbClr val="00677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3600" dirty="0">
                <a:latin typeface="Arial" panose="020B0604020202020204" pitchFamily="34" charset="0"/>
                <a:cs typeface="Arial" panose="020B0604020202020204" pitchFamily="34" charset="0"/>
              </a:rPr>
              <a:t>Chapter 4)</a:t>
            </a:r>
          </a:p>
        </p:txBody>
      </p:sp>
      <p:sp>
        <p:nvSpPr>
          <p:cNvPr id="6" name="Abgerundetes Rechteck 5">
            <a:extLst>
              <a:ext uri="{FF2B5EF4-FFF2-40B4-BE49-F238E27FC236}">
                <a16:creationId xmlns:a16="http://schemas.microsoft.com/office/drawing/2014/main" id="{0B7DE48D-0905-4FF6-EE4B-25F2631EDCAC}"/>
              </a:ext>
            </a:extLst>
          </p:cNvPr>
          <p:cNvSpPr/>
          <p:nvPr/>
        </p:nvSpPr>
        <p:spPr>
          <a:xfrm>
            <a:off x="2821153" y="2996762"/>
            <a:ext cx="5892623" cy="486650"/>
          </a:xfrm>
          <a:prstGeom prst="roundRect">
            <a:avLst/>
          </a:prstGeom>
          <a:solidFill>
            <a:srgbClr val="00677C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3200" b="1" dirty="0">
                <a:latin typeface="Arial" panose="020B0604020202020204" pitchFamily="34" charset="0"/>
                <a:cs typeface="Arial" panose="020B0604020202020204" pitchFamily="34" charset="0"/>
              </a:rPr>
              <a:t>Theoretical Framework</a:t>
            </a:r>
            <a:endParaRPr lang="de-DE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550805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38559F-668E-4622-25B4-5E8DF49067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8" name="Gerade Verbindung 37">
            <a:extLst>
              <a:ext uri="{FF2B5EF4-FFF2-40B4-BE49-F238E27FC236}">
                <a16:creationId xmlns:a16="http://schemas.microsoft.com/office/drawing/2014/main" id="{E7C7C535-5ABA-C8D3-4DBE-69841A10BAC8}"/>
              </a:ext>
            </a:extLst>
          </p:cNvPr>
          <p:cNvCxnSpPr>
            <a:cxnSpLocks/>
          </p:cNvCxnSpPr>
          <p:nvPr/>
        </p:nvCxnSpPr>
        <p:spPr>
          <a:xfrm>
            <a:off x="222029" y="4688326"/>
            <a:ext cx="9756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Rechteck 5">
            <a:extLst>
              <a:ext uri="{FF2B5EF4-FFF2-40B4-BE49-F238E27FC236}">
                <a16:creationId xmlns:a16="http://schemas.microsoft.com/office/drawing/2014/main" id="{73EBEBD3-61E4-A52F-5E12-0CD69AEB0132}"/>
              </a:ext>
            </a:extLst>
          </p:cNvPr>
          <p:cNvSpPr/>
          <p:nvPr/>
        </p:nvSpPr>
        <p:spPr>
          <a:xfrm>
            <a:off x="4010060" y="4778337"/>
            <a:ext cx="2102424" cy="45052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Real Energy commodity prices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F289FE3B-8FB7-30AB-738E-22FF5C48A507}"/>
              </a:ext>
            </a:extLst>
          </p:cNvPr>
          <p:cNvSpPr/>
          <p:nvPr/>
        </p:nvSpPr>
        <p:spPr>
          <a:xfrm>
            <a:off x="7761879" y="3732141"/>
            <a:ext cx="1922827" cy="39166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Real exchange rates in </a:t>
            </a:r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external terms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CPI/PPI</a:t>
            </a:r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01F86257-349A-21C4-CD28-34331020D005}"/>
              </a:ext>
            </a:extLst>
          </p:cNvPr>
          <p:cNvCxnSpPr>
            <a:cxnSpLocks/>
            <a:stCxn id="75" idx="3"/>
            <a:endCxn id="8" idx="1"/>
          </p:cNvCxnSpPr>
          <p:nvPr/>
        </p:nvCxnSpPr>
        <p:spPr>
          <a:xfrm flipV="1">
            <a:off x="7502548" y="3927972"/>
            <a:ext cx="259331" cy="21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Rechteck 11">
            <a:extLst>
              <a:ext uri="{FF2B5EF4-FFF2-40B4-BE49-F238E27FC236}">
                <a16:creationId xmlns:a16="http://schemas.microsoft.com/office/drawing/2014/main" id="{85B157F5-10D5-DAAD-F75D-4C2F2CDC03D3}"/>
              </a:ext>
            </a:extLst>
          </p:cNvPr>
          <p:cNvSpPr/>
          <p:nvPr/>
        </p:nvSpPr>
        <p:spPr>
          <a:xfrm>
            <a:off x="7756589" y="4215974"/>
            <a:ext cx="1922827" cy="78355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Real exchange rates in </a:t>
            </a:r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internal terms/terms of trade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Ratio tradable and non-tradable goods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ACD32FAD-24E8-23D4-09CE-3013A5264E7E}"/>
              </a:ext>
            </a:extLst>
          </p:cNvPr>
          <p:cNvSpPr/>
          <p:nvPr/>
        </p:nvSpPr>
        <p:spPr>
          <a:xfrm>
            <a:off x="683171" y="5432471"/>
            <a:ext cx="2332121" cy="45052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Spot or Futures Markets (prices)</a:t>
            </a:r>
          </a:p>
        </p:txBody>
      </p: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9476DFE7-E92B-C4CD-4498-D54F8FEF5A84}"/>
              </a:ext>
            </a:extLst>
          </p:cNvPr>
          <p:cNvCxnSpPr>
            <a:cxnSpLocks/>
            <a:stCxn id="30" idx="2"/>
            <a:endCxn id="13" idx="0"/>
          </p:cNvCxnSpPr>
          <p:nvPr/>
        </p:nvCxnSpPr>
        <p:spPr>
          <a:xfrm flipH="1">
            <a:off x="1849232" y="5226083"/>
            <a:ext cx="1" cy="2063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Rechteck 28">
                <a:extLst>
                  <a:ext uri="{FF2B5EF4-FFF2-40B4-BE49-F238E27FC236}">
                    <a16:creationId xmlns:a16="http://schemas.microsoft.com/office/drawing/2014/main" id="{7A3A3E26-C1D3-A476-7FC0-CB985ABFB14C}"/>
                  </a:ext>
                </a:extLst>
              </p:cNvPr>
              <p:cNvSpPr/>
              <p:nvPr/>
            </p:nvSpPr>
            <p:spPr>
              <a:xfrm>
                <a:off x="681477" y="3209671"/>
                <a:ext cx="2330959" cy="87034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1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Nominal Exchange Rates </a:t>
                </a:r>
                <a:r>
                  <a:rPr lang="de-DE" sz="1100" b="1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(NER)</a:t>
                </a:r>
              </a:p>
              <a:p>
                <a:pPr algn="ctr"/>
                <a:endParaRPr lang="de-DE" sz="1100" b="1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𝑵𝑬𝑹</m:t>
                          </m:r>
                        </m:e>
                        <m:sub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𝒄𝒐𝒖𝒏𝒕𝒓𝒚</m:t>
                          </m:r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 </m:t>
                          </m:r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𝒊</m:t>
                          </m:r>
                        </m:sub>
                      </m:sSub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= </m:t>
                      </m:r>
                      <m:f>
                        <m:fPr>
                          <m:ctrlPr>
                            <a:rPr lang="de-DE" sz="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sz="8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𝑃𝑟𝑖𝑐𝑒</m:t>
                              </m:r>
                            </m:e>
                            <m:sub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𝑐𝑜𝑢𝑛𝑡𝑟𝑦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 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𝑖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de-DE" sz="8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de-DE" sz="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𝑃𝑟𝑖𝑐𝑒</m:t>
                              </m:r>
                            </m:e>
                            <m:sub>
                              <m:r>
                                <a:rPr lang="de-DE" sz="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𝑐𝑜𝑢𝑛𝑡𝑟𝑦</m:t>
                              </m:r>
                              <m:r>
                                <a:rPr lang="de-DE" sz="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 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𝑗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de-DE" sz="8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29" name="Rechteck 28">
                <a:extLst>
                  <a:ext uri="{FF2B5EF4-FFF2-40B4-BE49-F238E27FC236}">
                    <a16:creationId xmlns:a16="http://schemas.microsoft.com/office/drawing/2014/main" id="{7A3A3E26-C1D3-A476-7FC0-CB985ABFB14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1477" y="3209671"/>
                <a:ext cx="2330959" cy="87034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Rechteck 29">
            <a:extLst>
              <a:ext uri="{FF2B5EF4-FFF2-40B4-BE49-F238E27FC236}">
                <a16:creationId xmlns:a16="http://schemas.microsoft.com/office/drawing/2014/main" id="{37A69D8F-5662-E8F0-40A0-6AF2855D9D8D}"/>
              </a:ext>
            </a:extLst>
          </p:cNvPr>
          <p:cNvSpPr/>
          <p:nvPr/>
        </p:nvSpPr>
        <p:spPr>
          <a:xfrm>
            <a:off x="683172" y="4775560"/>
            <a:ext cx="2332121" cy="45052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Nominal Energy commodity prices</a:t>
            </a:r>
          </a:p>
        </p:txBody>
      </p:sp>
      <p:cxnSp>
        <p:nvCxnSpPr>
          <p:cNvPr id="34" name="Gerade Verbindung mit Pfeil 33">
            <a:extLst>
              <a:ext uri="{FF2B5EF4-FFF2-40B4-BE49-F238E27FC236}">
                <a16:creationId xmlns:a16="http://schemas.microsoft.com/office/drawing/2014/main" id="{50CD1860-0A48-293B-D7AB-C8BFB826EE74}"/>
              </a:ext>
            </a:extLst>
          </p:cNvPr>
          <p:cNvCxnSpPr>
            <a:cxnSpLocks/>
            <a:stCxn id="29" idx="3"/>
          </p:cNvCxnSpPr>
          <p:nvPr/>
        </p:nvCxnSpPr>
        <p:spPr>
          <a:xfrm>
            <a:off x="3012436" y="3644844"/>
            <a:ext cx="504000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Gerade Verbindung mit Pfeil 41">
            <a:extLst>
              <a:ext uri="{FF2B5EF4-FFF2-40B4-BE49-F238E27FC236}">
                <a16:creationId xmlns:a16="http://schemas.microsoft.com/office/drawing/2014/main" id="{EBA84D3F-E99E-C91A-2ED1-359A23F5FD92}"/>
              </a:ext>
            </a:extLst>
          </p:cNvPr>
          <p:cNvCxnSpPr>
            <a:cxnSpLocks/>
          </p:cNvCxnSpPr>
          <p:nvPr/>
        </p:nvCxnSpPr>
        <p:spPr>
          <a:xfrm flipV="1">
            <a:off x="3015293" y="5022042"/>
            <a:ext cx="532607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Gerade Verbindung mit Pfeil 42">
            <a:extLst>
              <a:ext uri="{FF2B5EF4-FFF2-40B4-BE49-F238E27FC236}">
                <a16:creationId xmlns:a16="http://schemas.microsoft.com/office/drawing/2014/main" id="{50EB06B2-8C6F-BA12-1431-DBFA136F6098}"/>
              </a:ext>
            </a:extLst>
          </p:cNvPr>
          <p:cNvCxnSpPr>
            <a:cxnSpLocks/>
            <a:endCxn id="5" idx="1"/>
          </p:cNvCxnSpPr>
          <p:nvPr/>
        </p:nvCxnSpPr>
        <p:spPr>
          <a:xfrm>
            <a:off x="3766845" y="3648479"/>
            <a:ext cx="24321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4" name="Gerade Verbindung mit Pfeil 43">
            <a:extLst>
              <a:ext uri="{FF2B5EF4-FFF2-40B4-BE49-F238E27FC236}">
                <a16:creationId xmlns:a16="http://schemas.microsoft.com/office/drawing/2014/main" id="{42C41811-6436-6937-DB44-58904A364F53}"/>
              </a:ext>
            </a:extLst>
          </p:cNvPr>
          <p:cNvCxnSpPr>
            <a:cxnSpLocks/>
            <a:endCxn id="6" idx="1"/>
          </p:cNvCxnSpPr>
          <p:nvPr/>
        </p:nvCxnSpPr>
        <p:spPr>
          <a:xfrm>
            <a:off x="3763901" y="5003599"/>
            <a:ext cx="24615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6" name="Rechteck 45">
                <a:extLst>
                  <a:ext uri="{FF2B5EF4-FFF2-40B4-BE49-F238E27FC236}">
                    <a16:creationId xmlns:a16="http://schemas.microsoft.com/office/drawing/2014/main" id="{78EDB320-7B77-2427-52B9-89AC9203D682}"/>
                  </a:ext>
                </a:extLst>
              </p:cNvPr>
              <p:cNvSpPr/>
              <p:nvPr/>
            </p:nvSpPr>
            <p:spPr>
              <a:xfrm>
                <a:off x="4259717" y="1661181"/>
                <a:ext cx="2695846" cy="922464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1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Real Effective Exchange Rates </a:t>
                </a:r>
                <a:r>
                  <a:rPr lang="de-DE" sz="1100" b="1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(REER)</a:t>
                </a:r>
              </a:p>
              <a:p>
                <a:pPr algn="ctr"/>
                <a:endParaRPr lang="de-DE" sz="11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𝑹𝑬𝑬𝑹</m:t>
                          </m:r>
                        </m:e>
                        <m:sub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𝒄𝒐𝒖𝒏𝒕𝒓𝒚</m:t>
                          </m:r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 </m:t>
                          </m:r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𝒊</m:t>
                          </m:r>
                        </m:sub>
                      </m:sSub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=</m:t>
                      </m:r>
                    </m:oMath>
                  </m:oMathPara>
                </a14:m>
                <a:endParaRPr lang="de-DE" sz="800" i="1" dirty="0">
                  <a:solidFill>
                    <a:schemeClr val="tx1"/>
                  </a:solidFill>
                  <a:latin typeface="Cambria Math" panose="02040503050406030204" pitchFamily="18" charset="0"/>
                  <a:cs typeface="Arial" panose="020B0604020202020204" pitchFamily="34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de-DE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de-DE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𝑗</m:t>
                          </m:r>
                          <m:r>
                            <a:rPr lang="de-DE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=1</m:t>
                          </m:r>
                        </m:sub>
                        <m:sup>
                          <m:r>
                            <a:rPr lang="de-DE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𝑁</m:t>
                          </m:r>
                        </m:sup>
                        <m:e>
                          <m:sSub>
                            <m:sSubPr>
                              <m:ctrlP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𝑡𝑟𝑎𝑑𝑒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 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𝑤𝑒𝑖𝑔h𝑡</m:t>
                              </m:r>
                            </m:e>
                            <m:sub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𝑐𝑜𝑢𝑛𝑡𝑟𝑦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 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de-DE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 </m:t>
                          </m:r>
                          <m:r>
                            <a:rPr lang="de-DE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 panose="020B0604020202020204" pitchFamily="34" charset="0"/>
                            </a:rPr>
                            <m:t>∙ </m:t>
                          </m:r>
                          <m:sSub>
                            <m:sSubPr>
                              <m:ctrlP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𝑟𝑒𝑎𝑙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 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𝑒𝑥𝑐h𝑎𝑛𝑔𝑒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 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𝑟𝑎𝑡𝑒</m:t>
                              </m:r>
                            </m:e>
                            <m:sub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𝑐𝑜𝑢𝑛𝑡𝑟𝑦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 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𝑗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de-DE" sz="8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46" name="Rechteck 45">
                <a:extLst>
                  <a:ext uri="{FF2B5EF4-FFF2-40B4-BE49-F238E27FC236}">
                    <a16:creationId xmlns:a16="http://schemas.microsoft.com/office/drawing/2014/main" id="{78EDB320-7B77-2427-52B9-89AC9203D68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59717" y="1661181"/>
                <a:ext cx="2695846" cy="922464"/>
              </a:xfrm>
              <a:prstGeom prst="rect">
                <a:avLst/>
              </a:prstGeom>
              <a:blipFill>
                <a:blip r:embed="rId4"/>
                <a:stretch>
                  <a:fillRect l="-9813" b="-5600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9" name="Rechteck 48">
            <a:extLst>
              <a:ext uri="{FF2B5EF4-FFF2-40B4-BE49-F238E27FC236}">
                <a16:creationId xmlns:a16="http://schemas.microsoft.com/office/drawing/2014/main" id="{25A08158-FA53-A0B1-F15D-78175F0085A4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2400" dirty="0">
                <a:latin typeface="Arial" panose="020B0604020202020204" pitchFamily="34" charset="0"/>
                <a:cs typeface="Arial" panose="020B0604020202020204" pitchFamily="34" charset="0"/>
              </a:rPr>
              <a:t>Definitions – What are prices and how are they measured?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DE4BBC49-B846-94F8-A7D3-B443853B5DEF}"/>
              </a:ext>
            </a:extLst>
          </p:cNvPr>
          <p:cNvSpPr/>
          <p:nvPr/>
        </p:nvSpPr>
        <p:spPr>
          <a:xfrm rot="16200000">
            <a:off x="-512864" y="1950096"/>
            <a:ext cx="1536022" cy="39111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Multilateral basket of currencies</a:t>
            </a: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55EB0C0D-1507-F02A-6129-37D3964916FC}"/>
              </a:ext>
            </a:extLst>
          </p:cNvPr>
          <p:cNvSpPr/>
          <p:nvPr/>
        </p:nvSpPr>
        <p:spPr>
          <a:xfrm rot="16200000">
            <a:off x="-510422" y="3751195"/>
            <a:ext cx="1536022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Bilaterail currencies</a:t>
            </a:r>
          </a:p>
        </p:txBody>
      </p: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AC703C1D-45F9-A7F9-9246-0E6AFB22B640}"/>
              </a:ext>
            </a:extLst>
          </p:cNvPr>
          <p:cNvCxnSpPr>
            <a:cxnSpLocks/>
          </p:cNvCxnSpPr>
          <p:nvPr/>
        </p:nvCxnSpPr>
        <p:spPr>
          <a:xfrm flipV="1">
            <a:off x="3768748" y="2135745"/>
            <a:ext cx="468000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Gerade Verbindung 23">
            <a:extLst>
              <a:ext uri="{FF2B5EF4-FFF2-40B4-BE49-F238E27FC236}">
                <a16:creationId xmlns:a16="http://schemas.microsoft.com/office/drawing/2014/main" id="{C6A7EBC0-2B86-32D4-2AD3-80F1D3A6F53D}"/>
              </a:ext>
            </a:extLst>
          </p:cNvPr>
          <p:cNvCxnSpPr>
            <a:cxnSpLocks/>
          </p:cNvCxnSpPr>
          <p:nvPr/>
        </p:nvCxnSpPr>
        <p:spPr>
          <a:xfrm>
            <a:off x="118533" y="3014115"/>
            <a:ext cx="9828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Rechteck 27">
            <a:extLst>
              <a:ext uri="{FF2B5EF4-FFF2-40B4-BE49-F238E27FC236}">
                <a16:creationId xmlns:a16="http://schemas.microsoft.com/office/drawing/2014/main" id="{2C7F210E-44C2-3C66-C47F-64D444F54765}"/>
              </a:ext>
            </a:extLst>
          </p:cNvPr>
          <p:cNvSpPr/>
          <p:nvPr/>
        </p:nvSpPr>
        <p:spPr>
          <a:xfrm rot="16200000">
            <a:off x="1726727" y="3188909"/>
            <a:ext cx="3858348" cy="216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Inflation/Relative Consumer Prices</a:t>
            </a: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BDE87C37-1AF2-CA03-4404-B86BDC1AA136}"/>
              </a:ext>
            </a:extLst>
          </p:cNvPr>
          <p:cNvSpPr/>
          <p:nvPr/>
        </p:nvSpPr>
        <p:spPr>
          <a:xfrm>
            <a:off x="10329215" y="2376852"/>
            <a:ext cx="678753" cy="45052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Broad Index</a:t>
            </a: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028B6CF6-69BF-785B-75DC-3901836C8F31}"/>
              </a:ext>
            </a:extLst>
          </p:cNvPr>
          <p:cNvSpPr/>
          <p:nvPr/>
        </p:nvSpPr>
        <p:spPr>
          <a:xfrm>
            <a:off x="10329215" y="3162640"/>
            <a:ext cx="678753" cy="45052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Narrow Index</a:t>
            </a:r>
          </a:p>
        </p:txBody>
      </p:sp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8FC6C353-D5DB-31EA-1ABD-11B376E66F5C}"/>
              </a:ext>
            </a:extLst>
          </p:cNvPr>
          <p:cNvCxnSpPr>
            <a:cxnSpLocks/>
            <a:stCxn id="57" idx="1"/>
            <a:endCxn id="39" idx="1"/>
          </p:cNvCxnSpPr>
          <p:nvPr/>
        </p:nvCxnSpPr>
        <p:spPr>
          <a:xfrm flipV="1">
            <a:off x="10229680" y="2602114"/>
            <a:ext cx="99535" cy="42591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8" name="Gerade Verbindung mit Pfeil 47">
            <a:extLst>
              <a:ext uri="{FF2B5EF4-FFF2-40B4-BE49-F238E27FC236}">
                <a16:creationId xmlns:a16="http://schemas.microsoft.com/office/drawing/2014/main" id="{0DE0F81B-9E95-B0F4-984D-4CB78B66B8A6}"/>
              </a:ext>
            </a:extLst>
          </p:cNvPr>
          <p:cNvCxnSpPr>
            <a:cxnSpLocks/>
            <a:stCxn id="57" idx="1"/>
            <a:endCxn id="40" idx="1"/>
          </p:cNvCxnSpPr>
          <p:nvPr/>
        </p:nvCxnSpPr>
        <p:spPr>
          <a:xfrm>
            <a:off x="10229680" y="3028026"/>
            <a:ext cx="99535" cy="3598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7" name="Geschweifte Klammer links 56">
            <a:extLst>
              <a:ext uri="{FF2B5EF4-FFF2-40B4-BE49-F238E27FC236}">
                <a16:creationId xmlns:a16="http://schemas.microsoft.com/office/drawing/2014/main" id="{58DDF9A1-2BD4-6DAF-F9C3-655C565256B0}"/>
              </a:ext>
            </a:extLst>
          </p:cNvPr>
          <p:cNvSpPr/>
          <p:nvPr/>
        </p:nvSpPr>
        <p:spPr>
          <a:xfrm rot="10800000">
            <a:off x="9810515" y="1367734"/>
            <a:ext cx="419165" cy="3320584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70" name="Rechteck 69">
            <a:extLst>
              <a:ext uri="{FF2B5EF4-FFF2-40B4-BE49-F238E27FC236}">
                <a16:creationId xmlns:a16="http://schemas.microsoft.com/office/drawing/2014/main" id="{693F2CF6-BF9C-ABAA-8E14-DE62E3722178}"/>
              </a:ext>
            </a:extLst>
          </p:cNvPr>
          <p:cNvSpPr/>
          <p:nvPr/>
        </p:nvSpPr>
        <p:spPr>
          <a:xfrm>
            <a:off x="683171" y="4214764"/>
            <a:ext cx="2332121" cy="45052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Spot or Futures Markets (prices)</a:t>
            </a:r>
          </a:p>
        </p:txBody>
      </p:sp>
      <p:cxnSp>
        <p:nvCxnSpPr>
          <p:cNvPr id="71" name="Gerade Verbindung mit Pfeil 70">
            <a:extLst>
              <a:ext uri="{FF2B5EF4-FFF2-40B4-BE49-F238E27FC236}">
                <a16:creationId xmlns:a16="http://schemas.microsoft.com/office/drawing/2014/main" id="{119E95B4-1BF6-C452-1E1F-2BE496B4BD32}"/>
              </a:ext>
            </a:extLst>
          </p:cNvPr>
          <p:cNvCxnSpPr>
            <a:cxnSpLocks/>
            <a:stCxn id="29" idx="2"/>
            <a:endCxn id="70" idx="0"/>
          </p:cNvCxnSpPr>
          <p:nvPr/>
        </p:nvCxnSpPr>
        <p:spPr>
          <a:xfrm>
            <a:off x="1846957" y="4080016"/>
            <a:ext cx="2275" cy="13474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4" name="Rechteck 73">
            <a:extLst>
              <a:ext uri="{FF2B5EF4-FFF2-40B4-BE49-F238E27FC236}">
                <a16:creationId xmlns:a16="http://schemas.microsoft.com/office/drawing/2014/main" id="{E4478911-13F8-4643-BE07-6BE510CE413D}"/>
              </a:ext>
            </a:extLst>
          </p:cNvPr>
          <p:cNvSpPr/>
          <p:nvPr/>
        </p:nvSpPr>
        <p:spPr>
          <a:xfrm>
            <a:off x="6032683" y="3092033"/>
            <a:ext cx="1469865" cy="55404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100" u="sng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Price variables:</a:t>
            </a:r>
          </a:p>
          <a:p>
            <a:pPr marL="171450" indent="-171450" algn="ctr">
              <a:buFontTx/>
              <a:buChar char="-"/>
            </a:pP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GDP deflator</a:t>
            </a:r>
          </a:p>
          <a:p>
            <a:pPr marL="171450" indent="-171450" algn="ctr">
              <a:buFontTx/>
              <a:buChar char="-"/>
            </a:pP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Unit labor costs</a:t>
            </a:r>
          </a:p>
        </p:txBody>
      </p:sp>
      <p:sp>
        <p:nvSpPr>
          <p:cNvPr id="75" name="Rechteck 74">
            <a:extLst>
              <a:ext uri="{FF2B5EF4-FFF2-40B4-BE49-F238E27FC236}">
                <a16:creationId xmlns:a16="http://schemas.microsoft.com/office/drawing/2014/main" id="{776E1D30-F052-1481-DEF9-9ADB84C06DE1}"/>
              </a:ext>
            </a:extLst>
          </p:cNvPr>
          <p:cNvSpPr/>
          <p:nvPr/>
        </p:nvSpPr>
        <p:spPr>
          <a:xfrm>
            <a:off x="6032685" y="3734298"/>
            <a:ext cx="1469863" cy="39166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 algn="ctr">
              <a:buFontTx/>
              <a:buChar char="-"/>
            </a:pP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Consumer prices</a:t>
            </a:r>
          </a:p>
          <a:p>
            <a:pPr marL="171450" indent="-171450" algn="ctr">
              <a:buFontTx/>
              <a:buChar char="-"/>
            </a:pP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Producer prices</a:t>
            </a:r>
          </a:p>
        </p:txBody>
      </p:sp>
      <p:sp>
        <p:nvSpPr>
          <p:cNvPr id="78" name="Rechteck 77">
            <a:extLst>
              <a:ext uri="{FF2B5EF4-FFF2-40B4-BE49-F238E27FC236}">
                <a16:creationId xmlns:a16="http://schemas.microsoft.com/office/drawing/2014/main" id="{63777F85-A0C5-0394-7180-6549405BE783}"/>
              </a:ext>
            </a:extLst>
          </p:cNvPr>
          <p:cNvSpPr/>
          <p:nvPr/>
        </p:nvSpPr>
        <p:spPr>
          <a:xfrm>
            <a:off x="6028161" y="4224600"/>
            <a:ext cx="1477333" cy="39985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 algn="ctr">
              <a:buFontTx/>
              <a:buChar char="-"/>
            </a:pP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Export prices</a:t>
            </a:r>
          </a:p>
        </p:txBody>
      </p:sp>
      <p:cxnSp>
        <p:nvCxnSpPr>
          <p:cNvPr id="90" name="Gewinkelte Verbindung 89">
            <a:extLst>
              <a:ext uri="{FF2B5EF4-FFF2-40B4-BE49-F238E27FC236}">
                <a16:creationId xmlns:a16="http://schemas.microsoft.com/office/drawing/2014/main" id="{CA409A5D-55EB-43B5-FB41-887ECED819F0}"/>
              </a:ext>
            </a:extLst>
          </p:cNvPr>
          <p:cNvCxnSpPr>
            <a:cxnSpLocks/>
            <a:stCxn id="5" idx="0"/>
            <a:endCxn id="74" idx="1"/>
          </p:cNvCxnSpPr>
          <p:nvPr/>
        </p:nvCxnSpPr>
        <p:spPr>
          <a:xfrm rot="16200000" flipH="1">
            <a:off x="5352811" y="2689185"/>
            <a:ext cx="218766" cy="1140977"/>
          </a:xfrm>
          <a:prstGeom prst="bentConnector4">
            <a:avLst>
              <a:gd name="adj1" fmla="val -37796"/>
              <a:gd name="adj2" fmla="val 88636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1" name="Rechteck 90">
            <a:extLst>
              <a:ext uri="{FF2B5EF4-FFF2-40B4-BE49-F238E27FC236}">
                <a16:creationId xmlns:a16="http://schemas.microsoft.com/office/drawing/2014/main" id="{07892A80-F4C2-70FF-9EA6-C52FCC6D7005}"/>
              </a:ext>
            </a:extLst>
          </p:cNvPr>
          <p:cNvSpPr/>
          <p:nvPr/>
        </p:nvSpPr>
        <p:spPr>
          <a:xfrm>
            <a:off x="6035629" y="3067690"/>
            <a:ext cx="1469865" cy="153241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92" name="Gerade Verbindung mit Pfeil 91">
            <a:extLst>
              <a:ext uri="{FF2B5EF4-FFF2-40B4-BE49-F238E27FC236}">
                <a16:creationId xmlns:a16="http://schemas.microsoft.com/office/drawing/2014/main" id="{D155609F-7F3F-46F3-3787-00D0B2997A8F}"/>
              </a:ext>
            </a:extLst>
          </p:cNvPr>
          <p:cNvCxnSpPr>
            <a:cxnSpLocks/>
            <a:stCxn id="5" idx="0"/>
          </p:cNvCxnSpPr>
          <p:nvPr/>
        </p:nvCxnSpPr>
        <p:spPr>
          <a:xfrm flipH="1" flipV="1">
            <a:off x="4891705" y="2602114"/>
            <a:ext cx="1" cy="5481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0" name="Rechteck 99">
            <a:extLst>
              <a:ext uri="{FF2B5EF4-FFF2-40B4-BE49-F238E27FC236}">
                <a16:creationId xmlns:a16="http://schemas.microsoft.com/office/drawing/2014/main" id="{FAFEEB4E-36E3-F716-444A-A9114AF806CA}"/>
              </a:ext>
            </a:extLst>
          </p:cNvPr>
          <p:cNvSpPr/>
          <p:nvPr/>
        </p:nvSpPr>
        <p:spPr>
          <a:xfrm>
            <a:off x="10119787" y="1693556"/>
            <a:ext cx="1107516" cy="45052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64 economies, since 1994</a:t>
            </a:r>
          </a:p>
        </p:txBody>
      </p:sp>
      <p:cxnSp>
        <p:nvCxnSpPr>
          <p:cNvPr id="101" name="Gerade Verbindung mit Pfeil 100">
            <a:extLst>
              <a:ext uri="{FF2B5EF4-FFF2-40B4-BE49-F238E27FC236}">
                <a16:creationId xmlns:a16="http://schemas.microsoft.com/office/drawing/2014/main" id="{9B3B376E-7655-571E-364F-9741AB117740}"/>
              </a:ext>
            </a:extLst>
          </p:cNvPr>
          <p:cNvCxnSpPr>
            <a:cxnSpLocks/>
            <a:stCxn id="39" idx="0"/>
            <a:endCxn id="100" idx="2"/>
          </p:cNvCxnSpPr>
          <p:nvPr/>
        </p:nvCxnSpPr>
        <p:spPr>
          <a:xfrm flipV="1">
            <a:off x="10668592" y="2144079"/>
            <a:ext cx="4953" cy="23277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4" name="Rechteck 103">
            <a:extLst>
              <a:ext uri="{FF2B5EF4-FFF2-40B4-BE49-F238E27FC236}">
                <a16:creationId xmlns:a16="http://schemas.microsoft.com/office/drawing/2014/main" id="{62B8B1EA-A050-56BE-2C9B-1D1638B45A49}"/>
              </a:ext>
            </a:extLst>
          </p:cNvPr>
          <p:cNvSpPr/>
          <p:nvPr/>
        </p:nvSpPr>
        <p:spPr>
          <a:xfrm>
            <a:off x="10222285" y="3870095"/>
            <a:ext cx="892068" cy="45052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26/27 economies</a:t>
            </a:r>
          </a:p>
        </p:txBody>
      </p:sp>
      <p:cxnSp>
        <p:nvCxnSpPr>
          <p:cNvPr id="105" name="Gerade Verbindung mit Pfeil 104">
            <a:extLst>
              <a:ext uri="{FF2B5EF4-FFF2-40B4-BE49-F238E27FC236}">
                <a16:creationId xmlns:a16="http://schemas.microsoft.com/office/drawing/2014/main" id="{DE121733-0DA9-6D69-117B-692C696959AB}"/>
              </a:ext>
            </a:extLst>
          </p:cNvPr>
          <p:cNvCxnSpPr>
            <a:cxnSpLocks/>
            <a:stCxn id="40" idx="2"/>
            <a:endCxn id="104" idx="0"/>
          </p:cNvCxnSpPr>
          <p:nvPr/>
        </p:nvCxnSpPr>
        <p:spPr>
          <a:xfrm flipH="1">
            <a:off x="10668319" y="3613163"/>
            <a:ext cx="273" cy="2569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2" name="Rechteck 121">
                <a:extLst>
                  <a:ext uri="{FF2B5EF4-FFF2-40B4-BE49-F238E27FC236}">
                    <a16:creationId xmlns:a16="http://schemas.microsoft.com/office/drawing/2014/main" id="{330159BD-A4C7-1118-673E-E6F98994C65C}"/>
                  </a:ext>
                </a:extLst>
              </p:cNvPr>
              <p:cNvSpPr/>
              <p:nvPr/>
            </p:nvSpPr>
            <p:spPr>
              <a:xfrm>
                <a:off x="7149681" y="1822174"/>
                <a:ext cx="2578985" cy="591021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𝒕𝒓𝒂𝒅𝒆</m:t>
                          </m:r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 </m:t>
                          </m:r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𝒘𝒆𝒊𝒈𝒉𝒕</m:t>
                          </m:r>
                        </m:e>
                        <m:sub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𝒄𝒐𝒖𝒏𝒕𝒓𝒚</m:t>
                          </m:r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 </m:t>
                          </m:r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𝒋</m:t>
                          </m:r>
                        </m:sub>
                      </m:sSub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=</m:t>
                      </m:r>
                    </m:oMath>
                  </m:oMathPara>
                </a14:m>
                <a:endParaRPr lang="de-DE" sz="800" i="1" dirty="0">
                  <a:solidFill>
                    <a:schemeClr val="tx1"/>
                  </a:solidFill>
                  <a:latin typeface="Cambria Math" panose="02040503050406030204" pitchFamily="18" charset="0"/>
                  <a:cs typeface="Arial" panose="020B0604020202020204" pitchFamily="34" charset="0"/>
                </a:endParaRPr>
              </a:p>
              <a:p>
                <a:pPr algn="ctr"/>
                <a:endParaRPr lang="de-DE" sz="800" i="1" dirty="0">
                  <a:solidFill>
                    <a:schemeClr val="tx1"/>
                  </a:solidFill>
                  <a:latin typeface="Cambria Math" panose="02040503050406030204" pitchFamily="18" charset="0"/>
                  <a:cs typeface="Arial" panose="020B0604020202020204" pitchFamily="34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𝑚𝑎𝑛𝑢𝑓𝑎𝑐𝑡𝑢𝑟𝑖𝑛𝑔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𝑡𝑟𝑎𝑑𝑒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𝑓𝑙𝑜𝑤𝑠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𝑜𝑟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𝑡𝑖𝑚𝑒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−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𝑣𝑎𝑟𝑦𝑖𝑛𝑔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𝑤𝑒𝑖𝑔h𝑡𝑖𝑛𝑔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𝑝𝑎𝑡𝑡𝑒𝑟𝑛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(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𝑡h𝑟𝑒𝑒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−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𝑦𝑒𝑎𝑟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𝑏𝑎𝑠𝑖𝑠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)</m:t>
                      </m:r>
                    </m:oMath>
                  </m:oMathPara>
                </a14:m>
                <a:endParaRPr lang="de-DE" sz="8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122" name="Rechteck 121">
                <a:extLst>
                  <a:ext uri="{FF2B5EF4-FFF2-40B4-BE49-F238E27FC236}">
                    <a16:creationId xmlns:a16="http://schemas.microsoft.com/office/drawing/2014/main" id="{330159BD-A4C7-1118-673E-E6F98994C65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49681" y="1822174"/>
                <a:ext cx="2578985" cy="59102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hteck 3">
                <a:extLst>
                  <a:ext uri="{FF2B5EF4-FFF2-40B4-BE49-F238E27FC236}">
                    <a16:creationId xmlns:a16="http://schemas.microsoft.com/office/drawing/2014/main" id="{A05DC4F2-D7F3-2FFF-B75D-A55322E5FD0B}"/>
                  </a:ext>
                </a:extLst>
              </p:cNvPr>
              <p:cNvSpPr/>
              <p:nvPr/>
            </p:nvSpPr>
            <p:spPr>
              <a:xfrm>
                <a:off x="507850" y="1675021"/>
                <a:ext cx="2940515" cy="885328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1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Nominal Effective Exchange Rates </a:t>
                </a:r>
                <a:r>
                  <a:rPr lang="de-DE" sz="1100" b="1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(NEER)</a:t>
                </a:r>
              </a:p>
              <a:p>
                <a:pPr algn="ctr"/>
                <a:endParaRPr lang="de-DE" sz="800" b="1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de-DE" sz="8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𝑵𝑬𝑬𝑹</m:t>
                          </m:r>
                        </m:e>
                        <m:sub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𝒄𝒐𝒖𝒏𝒕𝒓𝒚</m:t>
                          </m:r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 </m:t>
                          </m:r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𝒊</m:t>
                          </m:r>
                        </m:sub>
                      </m:sSub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=</m:t>
                      </m:r>
                    </m:oMath>
                  </m:oMathPara>
                </a14:m>
                <a:endParaRPr lang="de-DE" sz="800" i="1" dirty="0">
                  <a:solidFill>
                    <a:schemeClr val="tx1"/>
                  </a:solidFill>
                  <a:latin typeface="Cambria Math" panose="02040503050406030204" pitchFamily="18" charset="0"/>
                  <a:cs typeface="Arial" panose="020B0604020202020204" pitchFamily="34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nary>
                        <m:naryPr>
                          <m:chr m:val="∑"/>
                          <m:ctrlPr>
                            <a:rPr lang="de-DE" sz="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de-DE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𝑗</m:t>
                          </m:r>
                          <m:r>
                            <a:rPr lang="de-DE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=1</m:t>
                          </m:r>
                        </m:sub>
                        <m:sup>
                          <m:r>
                            <a:rPr lang="de-DE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𝑁</m:t>
                          </m:r>
                        </m:sup>
                        <m:e>
                          <m:sSub>
                            <m:sSubPr>
                              <m:ctrlPr>
                                <a:rPr lang="de-DE" sz="8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de-DE" sz="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𝑡𝑟𝑎𝑑𝑒</m:t>
                              </m:r>
                              <m:r>
                                <a:rPr lang="de-DE" sz="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 </m:t>
                              </m:r>
                              <m:r>
                                <a:rPr lang="de-DE" sz="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𝑤𝑒𝑖𝑔h𝑡</m:t>
                              </m:r>
                            </m:e>
                            <m:sub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𝑐𝑜𝑢𝑛𝑡𝑟𝑦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 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de-DE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 </m:t>
                          </m:r>
                          <m:r>
                            <a:rPr lang="de-DE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 panose="020B0604020202020204" pitchFamily="34" charset="0"/>
                            </a:rPr>
                            <m:t>∙</m:t>
                          </m:r>
                          <m:sSub>
                            <m:sSubPr>
                              <m:ctrlPr>
                                <a:rPr lang="de-DE" sz="8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de-DE" sz="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𝑏𝑖𝑙𝑎𝑡𝑒𝑟𝑎𝑙</m:t>
                              </m:r>
                              <m:r>
                                <a:rPr lang="de-DE" sz="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 </m:t>
                              </m:r>
                              <m:r>
                                <a:rPr lang="de-DE" sz="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𝑒𝑥𝑐h𝑎𝑛𝑔𝑒</m:t>
                              </m:r>
                              <m:r>
                                <a:rPr lang="de-DE" sz="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 </m:t>
                              </m:r>
                              <m:r>
                                <a:rPr lang="de-DE" sz="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𝑟𝑎𝑡𝑒</m:t>
                              </m:r>
                            </m:e>
                            <m:sub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𝑐𝑜𝑢𝑛𝑡𝑟𝑦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 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𝑗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de-DE" sz="8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4" name="Rechteck 3">
                <a:extLst>
                  <a:ext uri="{FF2B5EF4-FFF2-40B4-BE49-F238E27FC236}">
                    <a16:creationId xmlns:a16="http://schemas.microsoft.com/office/drawing/2014/main" id="{A05DC4F2-D7F3-2FFF-B75D-A55322E5FD0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7850" y="1675021"/>
                <a:ext cx="2940515" cy="885328"/>
              </a:xfrm>
              <a:prstGeom prst="rect">
                <a:avLst/>
              </a:prstGeom>
              <a:blipFill>
                <a:blip r:embed="rId6"/>
                <a:stretch>
                  <a:fillRect l="-7692" b="-58333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hteck 4">
                <a:extLst>
                  <a:ext uri="{FF2B5EF4-FFF2-40B4-BE49-F238E27FC236}">
                    <a16:creationId xmlns:a16="http://schemas.microsoft.com/office/drawing/2014/main" id="{0131962E-FE57-E17D-3EAA-2DC10F23C951}"/>
                  </a:ext>
                </a:extLst>
              </p:cNvPr>
              <p:cNvSpPr/>
              <p:nvPr/>
            </p:nvSpPr>
            <p:spPr>
              <a:xfrm>
                <a:off x="4010060" y="3150290"/>
                <a:ext cx="1763292" cy="996378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1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Real Exchange Rates</a:t>
                </a:r>
              </a:p>
              <a:p>
                <a:pPr algn="ctr"/>
                <a:r>
                  <a:rPr lang="de-DE" sz="1100" b="1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(RER)</a:t>
                </a:r>
              </a:p>
              <a:p>
                <a:pPr algn="ctr"/>
                <a:endParaRPr lang="de-DE" sz="1100" b="1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𝑹𝑬𝑹</m:t>
                          </m:r>
                        </m:e>
                        <m:sub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𝒄𝒐𝒖𝒏𝒕𝒓𝒚</m:t>
                          </m:r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 </m:t>
                          </m:r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𝒊</m:t>
                          </m:r>
                        </m:sub>
                      </m:sSub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=</m:t>
                      </m:r>
                    </m:oMath>
                  </m:oMathPara>
                </a14:m>
                <a:endParaRPr lang="de-DE" sz="800" i="1" dirty="0">
                  <a:solidFill>
                    <a:schemeClr val="tx1"/>
                  </a:solidFill>
                  <a:latin typeface="Cambria Math" panose="02040503050406030204" pitchFamily="18" charset="0"/>
                  <a:cs typeface="Arial" panose="020B0604020202020204" pitchFamily="34" charset="0"/>
                </a:endParaRPr>
              </a:p>
              <a:p>
                <a:pPr algn="ctr"/>
                <a:endParaRPr lang="de-DE" sz="800" i="1" dirty="0">
                  <a:solidFill>
                    <a:schemeClr val="tx1"/>
                  </a:solidFill>
                  <a:latin typeface="Cambria Math" panose="02040503050406030204" pitchFamily="18" charset="0"/>
                  <a:cs typeface="Arial" panose="020B0604020202020204" pitchFamily="34" charset="0"/>
                </a:endParaRPr>
              </a:p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de-DE" sz="8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de-DE" sz="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𝑁𝐸𝑅</m:t>
                        </m:r>
                      </m:e>
                      <m:sub>
                        <m:r>
                          <a:rPr lang="de-DE" sz="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𝑐𝑜𝑢𝑛𝑡𝑟𝑦</m:t>
                        </m:r>
                        <m:r>
                          <a:rPr lang="de-DE" sz="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 </m:t>
                        </m:r>
                        <m:r>
                          <a:rPr lang="de-DE" sz="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𝑖</m:t>
                        </m:r>
                      </m:sub>
                    </m:sSub>
                    <m:r>
                      <a:rPr lang="de-DE" sz="8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 </m:t>
                    </m:r>
                    <m:r>
                      <a:rPr lang="de-DE" sz="8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∙ </m:t>
                    </m:r>
                    <m:f>
                      <m:fPr>
                        <m:ctrlPr>
                          <a:rPr lang="de-DE" sz="8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8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sSubPr>
                          <m:e>
                            <m:r>
                              <a:rPr lang="de-DE" sz="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Arial" panose="020B0604020202020204" pitchFamily="34" charset="0"/>
                              </a:rPr>
                              <m:t>𝑃𝑟𝑖𝑐𝑒</m:t>
                            </m:r>
                          </m:e>
                          <m:sub>
                            <m:r>
                              <a:rPr lang="de-DE" sz="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Arial" panose="020B0604020202020204" pitchFamily="34" charset="0"/>
                              </a:rPr>
                              <m:t>𝑐𝑜𝑢𝑛𝑡𝑟𝑦</m:t>
                            </m:r>
                            <m:r>
                              <a:rPr lang="de-DE" sz="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Arial" panose="020B0604020202020204" pitchFamily="34" charset="0"/>
                              </a:rPr>
                              <m:t> </m:t>
                            </m:r>
                            <m:r>
                              <a:rPr lang="de-DE" sz="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Arial" panose="020B0604020202020204" pitchFamily="34" charset="0"/>
                              </a:rPr>
                              <m:t>𝑗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sz="8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sSubPr>
                          <m:e>
                            <m:r>
                              <a:rPr lang="de-DE" sz="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Arial" panose="020B0604020202020204" pitchFamily="34" charset="0"/>
                              </a:rPr>
                              <m:t>𝑃𝑟𝑖𝑐𝑒</m:t>
                            </m:r>
                          </m:e>
                          <m:sub>
                            <m:r>
                              <a:rPr lang="de-DE" sz="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Arial" panose="020B0604020202020204" pitchFamily="34" charset="0"/>
                              </a:rPr>
                              <m:t>𝑐𝑜𝑢𝑛𝑡𝑟𝑦</m:t>
                            </m:r>
                            <m:r>
                              <a:rPr lang="de-DE" sz="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Arial" panose="020B0604020202020204" pitchFamily="34" charset="0"/>
                              </a:rPr>
                              <m:t> </m:t>
                            </m:r>
                            <m:r>
                              <a:rPr lang="de-DE" sz="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Arial" panose="020B0604020202020204" pitchFamily="34" charset="0"/>
                              </a:rPr>
                              <m:t>𝑖</m:t>
                            </m:r>
                          </m:sub>
                        </m:sSub>
                      </m:den>
                    </m:f>
                  </m:oMath>
                </a14:m>
                <a:r>
                  <a:rPr lang="de-DE" sz="11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</a:p>
            </p:txBody>
          </p:sp>
        </mc:Choice>
        <mc:Fallback xmlns="">
          <p:sp>
            <p:nvSpPr>
              <p:cNvPr id="5" name="Rechteck 4">
                <a:extLst>
                  <a:ext uri="{FF2B5EF4-FFF2-40B4-BE49-F238E27FC236}">
                    <a16:creationId xmlns:a16="http://schemas.microsoft.com/office/drawing/2014/main" id="{0131962E-FE57-E17D-3EAA-2DC10F23C95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10060" y="3150290"/>
                <a:ext cx="1763292" cy="996378"/>
              </a:xfrm>
              <a:prstGeom prst="rect">
                <a:avLst/>
              </a:prstGeom>
              <a:blipFill>
                <a:blip r:embed="rId7"/>
                <a:stretch>
                  <a:fillRect t="-2500" b="-250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1" name="Gerade Verbindung mit Pfeil 80">
            <a:extLst>
              <a:ext uri="{FF2B5EF4-FFF2-40B4-BE49-F238E27FC236}">
                <a16:creationId xmlns:a16="http://schemas.microsoft.com/office/drawing/2014/main" id="{65DD9C2D-A4F2-D8FA-BEB7-A058236406E1}"/>
              </a:ext>
            </a:extLst>
          </p:cNvPr>
          <p:cNvCxnSpPr>
            <a:cxnSpLocks/>
          </p:cNvCxnSpPr>
          <p:nvPr/>
        </p:nvCxnSpPr>
        <p:spPr>
          <a:xfrm>
            <a:off x="3448365" y="2133808"/>
            <a:ext cx="72000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6" name="Gerade Verbindung mit Pfeil 95">
            <a:extLst>
              <a:ext uri="{FF2B5EF4-FFF2-40B4-BE49-F238E27FC236}">
                <a16:creationId xmlns:a16="http://schemas.microsoft.com/office/drawing/2014/main" id="{99CEACD8-00B4-9DDF-2EC9-6EB90A0637EE}"/>
              </a:ext>
            </a:extLst>
          </p:cNvPr>
          <p:cNvCxnSpPr>
            <a:cxnSpLocks/>
            <a:stCxn id="46" idx="3"/>
            <a:endCxn id="122" idx="1"/>
          </p:cNvCxnSpPr>
          <p:nvPr/>
        </p:nvCxnSpPr>
        <p:spPr>
          <a:xfrm flipV="1">
            <a:off x="6955563" y="2117685"/>
            <a:ext cx="194118" cy="47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6" name="Rechteck 105">
            <a:extLst>
              <a:ext uri="{FF2B5EF4-FFF2-40B4-BE49-F238E27FC236}">
                <a16:creationId xmlns:a16="http://schemas.microsoft.com/office/drawing/2014/main" id="{F355F518-263D-D7FB-3A2D-63E27218F735}"/>
              </a:ext>
            </a:extLst>
          </p:cNvPr>
          <p:cNvSpPr/>
          <p:nvPr/>
        </p:nvSpPr>
        <p:spPr>
          <a:xfrm>
            <a:off x="48933" y="850711"/>
            <a:ext cx="3498967" cy="21165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Nominal terms</a:t>
            </a:r>
          </a:p>
        </p:txBody>
      </p:sp>
      <p:sp>
        <p:nvSpPr>
          <p:cNvPr id="107" name="Rechteck 106">
            <a:extLst>
              <a:ext uri="{FF2B5EF4-FFF2-40B4-BE49-F238E27FC236}">
                <a16:creationId xmlns:a16="http://schemas.microsoft.com/office/drawing/2014/main" id="{152C3B32-94E7-EF18-64BB-E383F284E014}"/>
              </a:ext>
            </a:extLst>
          </p:cNvPr>
          <p:cNvSpPr/>
          <p:nvPr/>
        </p:nvSpPr>
        <p:spPr>
          <a:xfrm>
            <a:off x="3763900" y="845559"/>
            <a:ext cx="6182633" cy="21680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Real terms</a:t>
            </a:r>
          </a:p>
        </p:txBody>
      </p:sp>
      <p:cxnSp>
        <p:nvCxnSpPr>
          <p:cNvPr id="108" name="Gerade Verbindung 107">
            <a:extLst>
              <a:ext uri="{FF2B5EF4-FFF2-40B4-BE49-F238E27FC236}">
                <a16:creationId xmlns:a16="http://schemas.microsoft.com/office/drawing/2014/main" id="{3D78F894-3C2F-6134-B3EC-BADC65CB03E3}"/>
              </a:ext>
            </a:extLst>
          </p:cNvPr>
          <p:cNvCxnSpPr>
            <a:cxnSpLocks/>
          </p:cNvCxnSpPr>
          <p:nvPr/>
        </p:nvCxnSpPr>
        <p:spPr>
          <a:xfrm>
            <a:off x="118533" y="1230710"/>
            <a:ext cx="9828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9" name="Gewinkelte Verbindung 108">
            <a:extLst>
              <a:ext uri="{FF2B5EF4-FFF2-40B4-BE49-F238E27FC236}">
                <a16:creationId xmlns:a16="http://schemas.microsoft.com/office/drawing/2014/main" id="{EB493B03-5273-8FCE-0725-35CDDF48311C}"/>
              </a:ext>
            </a:extLst>
          </p:cNvPr>
          <p:cNvCxnSpPr>
            <a:cxnSpLocks/>
            <a:stCxn id="78" idx="3"/>
            <a:endCxn id="12" idx="1"/>
          </p:cNvCxnSpPr>
          <p:nvPr/>
        </p:nvCxnSpPr>
        <p:spPr>
          <a:xfrm>
            <a:off x="7505494" y="4424527"/>
            <a:ext cx="251095" cy="18322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163476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8818E8-0211-888C-8857-FDE54C2450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Rechteck 48">
            <a:extLst>
              <a:ext uri="{FF2B5EF4-FFF2-40B4-BE49-F238E27FC236}">
                <a16:creationId xmlns:a16="http://schemas.microsoft.com/office/drawing/2014/main" id="{FD8C67DD-13EC-925C-11D1-E7C9636FD942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2400" dirty="0">
                <a:latin typeface="Arial" panose="020B0604020202020204" pitchFamily="34" charset="0"/>
                <a:cs typeface="Arial" panose="020B0604020202020204" pitchFamily="34" charset="0"/>
              </a:rPr>
              <a:t>Definitions – What are prices and how are they measured?</a:t>
            </a:r>
          </a:p>
        </p:txBody>
      </p:sp>
      <p:graphicFrame>
        <p:nvGraphicFramePr>
          <p:cNvPr id="2" name="Tabelle 1">
            <a:extLst>
              <a:ext uri="{FF2B5EF4-FFF2-40B4-BE49-F238E27FC236}">
                <a16:creationId xmlns:a16="http://schemas.microsoft.com/office/drawing/2014/main" id="{21FE59F2-2736-539D-7563-2FEDF9020B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4828474"/>
              </p:ext>
            </p:extLst>
          </p:nvPr>
        </p:nvGraphicFramePr>
        <p:xfrm>
          <a:off x="626492" y="1280047"/>
          <a:ext cx="10267504" cy="426888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422781">
                  <a:extLst>
                    <a:ext uri="{9D8B030D-6E8A-4147-A177-3AD203B41FA5}">
                      <a16:colId xmlns:a16="http://schemas.microsoft.com/office/drawing/2014/main" val="1829092657"/>
                    </a:ext>
                  </a:extLst>
                </a:gridCol>
                <a:gridCol w="1618518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815299">
                  <a:extLst>
                    <a:ext uri="{9D8B030D-6E8A-4147-A177-3AD203B41FA5}">
                      <a16:colId xmlns:a16="http://schemas.microsoft.com/office/drawing/2014/main" val="3044762045"/>
                    </a:ext>
                  </a:extLst>
                </a:gridCol>
                <a:gridCol w="1203089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1248121">
                  <a:extLst>
                    <a:ext uri="{9D8B030D-6E8A-4147-A177-3AD203B41FA5}">
                      <a16:colId xmlns:a16="http://schemas.microsoft.com/office/drawing/2014/main" val="1212434301"/>
                    </a:ext>
                  </a:extLst>
                </a:gridCol>
                <a:gridCol w="1248121">
                  <a:extLst>
                    <a:ext uri="{9D8B030D-6E8A-4147-A177-3AD203B41FA5}">
                      <a16:colId xmlns:a16="http://schemas.microsoft.com/office/drawing/2014/main" val="4146351851"/>
                    </a:ext>
                  </a:extLst>
                </a:gridCol>
                <a:gridCol w="1248121">
                  <a:extLst>
                    <a:ext uri="{9D8B030D-6E8A-4147-A177-3AD203B41FA5}">
                      <a16:colId xmlns:a16="http://schemas.microsoft.com/office/drawing/2014/main" val="1306773420"/>
                    </a:ext>
                  </a:extLst>
                </a:gridCol>
                <a:gridCol w="658070">
                  <a:extLst>
                    <a:ext uri="{9D8B030D-6E8A-4147-A177-3AD203B41FA5}">
                      <a16:colId xmlns:a16="http://schemas.microsoft.com/office/drawing/2014/main" val="3105118240"/>
                    </a:ext>
                  </a:extLst>
                </a:gridCol>
                <a:gridCol w="1022667">
                  <a:extLst>
                    <a:ext uri="{9D8B030D-6E8A-4147-A177-3AD203B41FA5}">
                      <a16:colId xmlns:a16="http://schemas.microsoft.com/office/drawing/2014/main" val="3855398356"/>
                    </a:ext>
                  </a:extLst>
                </a:gridCol>
                <a:gridCol w="782717">
                  <a:extLst>
                    <a:ext uri="{9D8B030D-6E8A-4147-A177-3AD203B41FA5}">
                      <a16:colId xmlns:a16="http://schemas.microsoft.com/office/drawing/2014/main" val="1668350418"/>
                    </a:ext>
                  </a:extLst>
                </a:gridCol>
              </a:tblGrid>
              <a:tr h="428400"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Exchange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Basket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Data</a:t>
                      </a:r>
                    </a:p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Frequency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Data</a:t>
                      </a:r>
                    </a:p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availability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Exchange</a:t>
                      </a:r>
                    </a:p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Rate Type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Bilateral or Multilateral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Source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Data ID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Link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42453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1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Real effective exchange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broad</a:t>
                      </a:r>
                      <a:endParaRPr lang="de-DE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monthly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starting from 1994-01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Multilateral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BIS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M.R.B.US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5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https://data.bis.org/topics/EER/BIS,WS_EER,1.0/M.R.B.US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9946009"/>
                  </a:ext>
                </a:extLst>
              </a:tr>
              <a:tr h="424534">
                <a:tc>
                  <a:txBody>
                    <a:bodyPr/>
                    <a:lstStyle/>
                    <a:p>
                      <a:pPr algn="ctr"/>
                      <a:r>
                        <a:rPr lang="de-DE" sz="11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Real effective exchange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narrow </a:t>
                      </a:r>
                      <a:endParaRPr lang="de-DE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monthly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starting from 1964-01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Multilateral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BIS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M.R.N.US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5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https://data.bis.org/topics/EER/BIS,WS_EER,1.0/M.R.N.US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13541693"/>
                  </a:ext>
                </a:extLst>
              </a:tr>
              <a:tr h="42453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1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Nominal effective exchange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broad</a:t>
                      </a:r>
                      <a:endParaRPr lang="de-DE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monthly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starting from 1994-01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NEER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Multilateral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BIS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M.N.B.US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5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https://data.bis.org/topics/EER/BIS,WS_EER,1.0/M.N.B.US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39837330"/>
                  </a:ext>
                </a:extLst>
              </a:tr>
              <a:tr h="42453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1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Nominal effective exchange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narrow </a:t>
                      </a:r>
                      <a:endParaRPr lang="de-DE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monthly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starting from 1964-01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NEER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Multilateral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BIS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M.N.N.US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5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https://data.bis.org/topics/EER/BIS,WS_EER,1.0/M.N.N.US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17757916"/>
                  </a:ext>
                </a:extLst>
              </a:tr>
              <a:tr h="42453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1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Nominal effective exchange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narrow </a:t>
                      </a:r>
                      <a:endParaRPr lang="de-DE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daily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starting from 1983-10-03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NEER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Multilateral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BIS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D.N.N.US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5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https://data.bis.org/topics/EER/BIS,WS_EER,1.0/D.N.N.US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95674366"/>
                  </a:ext>
                </a:extLst>
              </a:tr>
              <a:tr h="42453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1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Nominal effective exchange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broad </a:t>
                      </a:r>
                      <a:endParaRPr lang="de-DE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daily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starting from 1996-04-11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NEER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Multilateral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BIS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D.N.B.US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5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https://data.bis.org/topics/EER/BIS,WS_EER,1.0/D.N.B.US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09877748"/>
                  </a:ext>
                </a:extLst>
              </a:tr>
              <a:tr h="25787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1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USD-EUR Spot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daily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starting from 1999-01-04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Bilateral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FRED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DEXUSEU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5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https://fred.stlouisfed.org/series/DEXUSEU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7377485"/>
                  </a:ext>
                </a:extLst>
              </a:tr>
              <a:tr h="42453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1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Nominal Broad U.S. Dollar Index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broad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daily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starting from 2006-01-02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NEER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Multilateral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FRED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1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DTWEXBGS</a:t>
                      </a:r>
                    </a:p>
                    <a:p>
                      <a:pPr algn="ctr"/>
                      <a:endParaRPr lang="de-DE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5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https://fred.stlouisfed.org/series/DTWEXBGS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57079788"/>
                  </a:ext>
                </a:extLst>
              </a:tr>
              <a:tr h="42434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1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Real Broad Dollar Index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broad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monthly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starting from 2006-01-01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Multilateral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FRED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RTWEXBGS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5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https://fred.stlouisfed.org/series/RTWEXBGS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275910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878431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85C400-169C-12D0-20F6-2EA61B93E9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" name="Gewinkelte Verbindung 20">
            <a:extLst>
              <a:ext uri="{FF2B5EF4-FFF2-40B4-BE49-F238E27FC236}">
                <a16:creationId xmlns:a16="http://schemas.microsoft.com/office/drawing/2014/main" id="{F32D6AC2-1170-FF45-7100-1F8E19D29D96}"/>
              </a:ext>
            </a:extLst>
          </p:cNvPr>
          <p:cNvCxnSpPr>
            <a:cxnSpLocks/>
            <a:stCxn id="6" idx="2"/>
            <a:endCxn id="19" idx="0"/>
          </p:cNvCxnSpPr>
          <p:nvPr/>
        </p:nvCxnSpPr>
        <p:spPr>
          <a:xfrm rot="16200000" flipH="1">
            <a:off x="5867235" y="1365136"/>
            <a:ext cx="1359061" cy="3189911"/>
          </a:xfrm>
          <a:prstGeom prst="bentConnector3">
            <a:avLst>
              <a:gd name="adj1" fmla="val 70757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3" name="Gewinkelte Verbindung 112">
            <a:extLst>
              <a:ext uri="{FF2B5EF4-FFF2-40B4-BE49-F238E27FC236}">
                <a16:creationId xmlns:a16="http://schemas.microsoft.com/office/drawing/2014/main" id="{CCE8ACD3-57F7-2E1F-A907-CB407544F96B}"/>
              </a:ext>
            </a:extLst>
          </p:cNvPr>
          <p:cNvCxnSpPr>
            <a:cxnSpLocks/>
            <a:stCxn id="6" idx="2"/>
            <a:endCxn id="112" idx="1"/>
          </p:cNvCxnSpPr>
          <p:nvPr/>
        </p:nvCxnSpPr>
        <p:spPr>
          <a:xfrm rot="16200000" flipH="1">
            <a:off x="4704081" y="2528290"/>
            <a:ext cx="658712" cy="16325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9" name="Rechteck 48">
            <a:extLst>
              <a:ext uri="{FF2B5EF4-FFF2-40B4-BE49-F238E27FC236}">
                <a16:creationId xmlns:a16="http://schemas.microsoft.com/office/drawing/2014/main" id="{3920F220-B949-2339-A8C2-BB237B1DB1D4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2400" dirty="0">
                <a:latin typeface="Arial" panose="020B0604020202020204" pitchFamily="34" charset="0"/>
                <a:cs typeface="Arial" panose="020B0604020202020204" pitchFamily="34" charset="0"/>
              </a:rPr>
              <a:t>A simple model of exchange rates and energy commodity prices</a:t>
            </a: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45DB3D19-FB0D-EF49-B5C4-F4FD1FF6DE8D}"/>
              </a:ext>
            </a:extLst>
          </p:cNvPr>
          <p:cNvSpPr/>
          <p:nvPr/>
        </p:nvSpPr>
        <p:spPr>
          <a:xfrm>
            <a:off x="248266" y="1729947"/>
            <a:ext cx="1013015" cy="55061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Fundamental</a:t>
            </a:r>
          </a:p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shock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6E3B20DB-4112-8910-13D9-7A86DEC9A7C4}"/>
              </a:ext>
            </a:extLst>
          </p:cNvPr>
          <p:cNvSpPr/>
          <p:nvPr/>
        </p:nvSpPr>
        <p:spPr>
          <a:xfrm>
            <a:off x="1440374" y="1731970"/>
            <a:ext cx="1667844" cy="55061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Adjusted future expectations for demand-supply levels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3D1EE2EB-33FB-6EDA-10DF-6A28DBAE199A}"/>
              </a:ext>
            </a:extLst>
          </p:cNvPr>
          <p:cNvSpPr/>
          <p:nvPr/>
        </p:nvSpPr>
        <p:spPr>
          <a:xfrm>
            <a:off x="3325347" y="1729950"/>
            <a:ext cx="1013015" cy="55061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(Spot) Price adjustments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13B07525-A5A1-F1B4-8FEE-C3582CE113E6}"/>
              </a:ext>
            </a:extLst>
          </p:cNvPr>
          <p:cNvSpPr/>
          <p:nvPr/>
        </p:nvSpPr>
        <p:spPr>
          <a:xfrm>
            <a:off x="4551106" y="1729945"/>
            <a:ext cx="801408" cy="55061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Increased</a:t>
            </a:r>
          </a:p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volatility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6F9704E9-C9FC-0392-9481-18E53C7E54AB}"/>
              </a:ext>
            </a:extLst>
          </p:cNvPr>
          <p:cNvSpPr/>
          <p:nvPr/>
        </p:nvSpPr>
        <p:spPr>
          <a:xfrm>
            <a:off x="5561975" y="1729947"/>
            <a:ext cx="1470274" cy="55061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Inflationary pressure driving up prices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4DC245E0-1CC8-DB0D-66F1-926593ED389A}"/>
              </a:ext>
            </a:extLst>
          </p:cNvPr>
          <p:cNvSpPr/>
          <p:nvPr/>
        </p:nvSpPr>
        <p:spPr>
          <a:xfrm>
            <a:off x="7241710" y="1731968"/>
            <a:ext cx="1250320" cy="55061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Monetary policy:</a:t>
            </a:r>
          </a:p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rate hikes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97518F9D-DEDF-B6B2-0E24-08F10E38C0E0}"/>
              </a:ext>
            </a:extLst>
          </p:cNvPr>
          <p:cNvSpPr/>
          <p:nvPr/>
        </p:nvSpPr>
        <p:spPr>
          <a:xfrm>
            <a:off x="3499677" y="737582"/>
            <a:ext cx="4414650" cy="28340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Heavily affect energy commodity importing and exporting economies</a:t>
            </a:r>
          </a:p>
        </p:txBody>
      </p:sp>
      <p:cxnSp>
        <p:nvCxnSpPr>
          <p:cNvPr id="4" name="Gerade Verbindung mit Pfeil 3">
            <a:extLst>
              <a:ext uri="{FF2B5EF4-FFF2-40B4-BE49-F238E27FC236}">
                <a16:creationId xmlns:a16="http://schemas.microsoft.com/office/drawing/2014/main" id="{3C939E41-E3A2-C747-4064-B68050C474F3}"/>
              </a:ext>
            </a:extLst>
          </p:cNvPr>
          <p:cNvCxnSpPr>
            <a:cxnSpLocks/>
            <a:stCxn id="2" idx="3"/>
            <a:endCxn id="3" idx="1"/>
          </p:cNvCxnSpPr>
          <p:nvPr/>
        </p:nvCxnSpPr>
        <p:spPr>
          <a:xfrm>
            <a:off x="1261281" y="2005256"/>
            <a:ext cx="179093" cy="202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09FAAAE3-A7B8-1029-83FE-3B9AC849744F}"/>
              </a:ext>
            </a:extLst>
          </p:cNvPr>
          <p:cNvCxnSpPr>
            <a:cxnSpLocks/>
            <a:stCxn id="3" idx="3"/>
            <a:endCxn id="5" idx="1"/>
          </p:cNvCxnSpPr>
          <p:nvPr/>
        </p:nvCxnSpPr>
        <p:spPr>
          <a:xfrm flipV="1">
            <a:off x="3108218" y="2005259"/>
            <a:ext cx="217129" cy="20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D8F030C5-9C48-09E7-A29F-635530C8C3CB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 flipV="1">
            <a:off x="4338362" y="2005254"/>
            <a:ext cx="212744" cy="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Gerade Verbindung mit Pfeil 19">
            <a:extLst>
              <a:ext uri="{FF2B5EF4-FFF2-40B4-BE49-F238E27FC236}">
                <a16:creationId xmlns:a16="http://schemas.microsoft.com/office/drawing/2014/main" id="{664E26FE-27DB-68F7-2056-B905672248EE}"/>
              </a:ext>
            </a:extLst>
          </p:cNvPr>
          <p:cNvCxnSpPr>
            <a:cxnSpLocks/>
            <a:stCxn id="6" idx="3"/>
            <a:endCxn id="7" idx="1"/>
          </p:cNvCxnSpPr>
          <p:nvPr/>
        </p:nvCxnSpPr>
        <p:spPr>
          <a:xfrm>
            <a:off x="5352514" y="2005254"/>
            <a:ext cx="209461" cy="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Gerade Verbindung mit Pfeil 24">
            <a:extLst>
              <a:ext uri="{FF2B5EF4-FFF2-40B4-BE49-F238E27FC236}">
                <a16:creationId xmlns:a16="http://schemas.microsoft.com/office/drawing/2014/main" id="{105F554B-0FE6-6140-6491-7EA5FEB5711F}"/>
              </a:ext>
            </a:extLst>
          </p:cNvPr>
          <p:cNvCxnSpPr>
            <a:cxnSpLocks/>
            <a:stCxn id="7" idx="3"/>
            <a:endCxn id="8" idx="1"/>
          </p:cNvCxnSpPr>
          <p:nvPr/>
        </p:nvCxnSpPr>
        <p:spPr>
          <a:xfrm>
            <a:off x="7032249" y="2005256"/>
            <a:ext cx="209461" cy="20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Geschweifte Klammer links 27">
            <a:extLst>
              <a:ext uri="{FF2B5EF4-FFF2-40B4-BE49-F238E27FC236}">
                <a16:creationId xmlns:a16="http://schemas.microsoft.com/office/drawing/2014/main" id="{0BFEA76D-99AB-C7B1-3409-A2CA2B156445}"/>
              </a:ext>
            </a:extLst>
          </p:cNvPr>
          <p:cNvSpPr/>
          <p:nvPr/>
        </p:nvSpPr>
        <p:spPr>
          <a:xfrm rot="5400000">
            <a:off x="5578026" y="-4297533"/>
            <a:ext cx="257952" cy="10917479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E8E839D3-8E65-96AC-44BB-A8244DC0C808}"/>
              </a:ext>
            </a:extLst>
          </p:cNvPr>
          <p:cNvSpPr/>
          <p:nvPr/>
        </p:nvSpPr>
        <p:spPr>
          <a:xfrm>
            <a:off x="8701491" y="1729946"/>
            <a:ext cx="993976" cy="55061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Interest rate differentials</a:t>
            </a:r>
          </a:p>
        </p:txBody>
      </p:sp>
      <p:cxnSp>
        <p:nvCxnSpPr>
          <p:cNvPr id="31" name="Gerade Verbindung mit Pfeil 30">
            <a:extLst>
              <a:ext uri="{FF2B5EF4-FFF2-40B4-BE49-F238E27FC236}">
                <a16:creationId xmlns:a16="http://schemas.microsoft.com/office/drawing/2014/main" id="{3211AE1E-AE25-8A87-F56C-3147B731828B}"/>
              </a:ext>
            </a:extLst>
          </p:cNvPr>
          <p:cNvCxnSpPr>
            <a:cxnSpLocks/>
            <a:stCxn id="8" idx="3"/>
            <a:endCxn id="29" idx="1"/>
          </p:cNvCxnSpPr>
          <p:nvPr/>
        </p:nvCxnSpPr>
        <p:spPr>
          <a:xfrm flipV="1">
            <a:off x="8492030" y="2005255"/>
            <a:ext cx="209461" cy="202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8" name="Rechteck 67">
            <a:extLst>
              <a:ext uri="{FF2B5EF4-FFF2-40B4-BE49-F238E27FC236}">
                <a16:creationId xmlns:a16="http://schemas.microsoft.com/office/drawing/2014/main" id="{A3D75D58-23EF-B26E-E6B6-BD808793409E}"/>
              </a:ext>
            </a:extLst>
          </p:cNvPr>
          <p:cNvSpPr/>
          <p:nvPr/>
        </p:nvSpPr>
        <p:spPr>
          <a:xfrm>
            <a:off x="4873080" y="2447437"/>
            <a:ext cx="1667844" cy="23133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u="sng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Derived proxy variables</a:t>
            </a:r>
          </a:p>
        </p:txBody>
      </p:sp>
      <p:cxnSp>
        <p:nvCxnSpPr>
          <p:cNvPr id="69" name="Gerade Verbindung 68">
            <a:extLst>
              <a:ext uri="{FF2B5EF4-FFF2-40B4-BE49-F238E27FC236}">
                <a16:creationId xmlns:a16="http://schemas.microsoft.com/office/drawing/2014/main" id="{FE987C23-781F-B2CF-C7AE-167A9F3DD8D1}"/>
              </a:ext>
            </a:extLst>
          </p:cNvPr>
          <p:cNvCxnSpPr>
            <a:cxnSpLocks/>
            <a:stCxn id="68" idx="3"/>
          </p:cNvCxnSpPr>
          <p:nvPr/>
        </p:nvCxnSpPr>
        <p:spPr>
          <a:xfrm>
            <a:off x="6540924" y="2563105"/>
            <a:ext cx="4624817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2" name="Gerade Verbindung 71">
            <a:extLst>
              <a:ext uri="{FF2B5EF4-FFF2-40B4-BE49-F238E27FC236}">
                <a16:creationId xmlns:a16="http://schemas.microsoft.com/office/drawing/2014/main" id="{19AD80B6-AA37-15C4-F4F1-1AB2FCC6B0F7}"/>
              </a:ext>
            </a:extLst>
          </p:cNvPr>
          <p:cNvCxnSpPr>
            <a:cxnSpLocks/>
            <a:endCxn id="68" idx="1"/>
          </p:cNvCxnSpPr>
          <p:nvPr/>
        </p:nvCxnSpPr>
        <p:spPr>
          <a:xfrm>
            <a:off x="248263" y="2563105"/>
            <a:ext cx="4624817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5" name="Rechteck 74">
            <a:extLst>
              <a:ext uri="{FF2B5EF4-FFF2-40B4-BE49-F238E27FC236}">
                <a16:creationId xmlns:a16="http://schemas.microsoft.com/office/drawing/2014/main" id="{E696DFB3-6C85-FB27-6A91-5EA8F7652298}"/>
              </a:ext>
            </a:extLst>
          </p:cNvPr>
          <p:cNvSpPr/>
          <p:nvPr/>
        </p:nvSpPr>
        <p:spPr>
          <a:xfrm>
            <a:off x="9898266" y="1736307"/>
            <a:ext cx="1267475" cy="55061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Parity conditions</a:t>
            </a:r>
          </a:p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(PPP/UIP/CIP)</a:t>
            </a:r>
          </a:p>
        </p:txBody>
      </p:sp>
      <p:cxnSp>
        <p:nvCxnSpPr>
          <p:cNvPr id="91" name="Gerade Verbindung mit Pfeil 90">
            <a:extLst>
              <a:ext uri="{FF2B5EF4-FFF2-40B4-BE49-F238E27FC236}">
                <a16:creationId xmlns:a16="http://schemas.microsoft.com/office/drawing/2014/main" id="{01F56126-26E4-9EEE-B156-7BAD009C4BFB}"/>
              </a:ext>
            </a:extLst>
          </p:cNvPr>
          <p:cNvCxnSpPr>
            <a:cxnSpLocks/>
            <a:stCxn id="29" idx="3"/>
            <a:endCxn id="75" idx="1"/>
          </p:cNvCxnSpPr>
          <p:nvPr/>
        </p:nvCxnSpPr>
        <p:spPr>
          <a:xfrm>
            <a:off x="9695467" y="2005255"/>
            <a:ext cx="202799" cy="636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4" name="Geschweifte Klammer links 93">
            <a:extLst>
              <a:ext uri="{FF2B5EF4-FFF2-40B4-BE49-F238E27FC236}">
                <a16:creationId xmlns:a16="http://schemas.microsoft.com/office/drawing/2014/main" id="{B27D7CBE-6F19-33C5-FAA5-62CCD66AEB24}"/>
              </a:ext>
            </a:extLst>
          </p:cNvPr>
          <p:cNvSpPr/>
          <p:nvPr/>
        </p:nvSpPr>
        <p:spPr>
          <a:xfrm rot="16200000">
            <a:off x="5497420" y="-1324924"/>
            <a:ext cx="419165" cy="10917479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95" name="Rechteck 94">
            <a:extLst>
              <a:ext uri="{FF2B5EF4-FFF2-40B4-BE49-F238E27FC236}">
                <a16:creationId xmlns:a16="http://schemas.microsoft.com/office/drawing/2014/main" id="{546DFDDA-2BBF-08A0-3697-A553591CD972}"/>
              </a:ext>
            </a:extLst>
          </p:cNvPr>
          <p:cNvSpPr/>
          <p:nvPr/>
        </p:nvSpPr>
        <p:spPr>
          <a:xfrm>
            <a:off x="3831854" y="4343398"/>
            <a:ext cx="3770729" cy="230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Transmission depending on degree of financial integration</a:t>
            </a:r>
          </a:p>
        </p:txBody>
      </p:sp>
      <p:sp>
        <p:nvSpPr>
          <p:cNvPr id="96" name="Rechteck 95">
            <a:extLst>
              <a:ext uri="{FF2B5EF4-FFF2-40B4-BE49-F238E27FC236}">
                <a16:creationId xmlns:a16="http://schemas.microsoft.com/office/drawing/2014/main" id="{62278FA6-30BC-7A66-3EC6-1A3FF8DCCFC1}"/>
              </a:ext>
            </a:extLst>
          </p:cNvPr>
          <p:cNvSpPr/>
          <p:nvPr/>
        </p:nvSpPr>
        <p:spPr>
          <a:xfrm>
            <a:off x="5845629" y="4941338"/>
            <a:ext cx="2646401" cy="230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Open interest in oil futures markets</a:t>
            </a:r>
            <a:r>
              <a:rPr lang="de-DE" sz="1100" baseline="30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endParaRPr lang="de-DE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7" name="Rechteck 96">
            <a:extLst>
              <a:ext uri="{FF2B5EF4-FFF2-40B4-BE49-F238E27FC236}">
                <a16:creationId xmlns:a16="http://schemas.microsoft.com/office/drawing/2014/main" id="{EFB9C413-B00B-E725-ECB1-DF29291F41C1}"/>
              </a:ext>
            </a:extLst>
          </p:cNvPr>
          <p:cNvSpPr/>
          <p:nvPr/>
        </p:nvSpPr>
        <p:spPr>
          <a:xfrm>
            <a:off x="4077380" y="3458698"/>
            <a:ext cx="2851717" cy="230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Crude Oil WTI Front Month Future Price</a:t>
            </a:r>
          </a:p>
        </p:txBody>
      </p:sp>
      <p:sp>
        <p:nvSpPr>
          <p:cNvPr id="98" name="Rechteck 97">
            <a:extLst>
              <a:ext uri="{FF2B5EF4-FFF2-40B4-BE49-F238E27FC236}">
                <a16:creationId xmlns:a16="http://schemas.microsoft.com/office/drawing/2014/main" id="{7C4E366A-D035-6428-74DE-7B917A0E8EAE}"/>
              </a:ext>
            </a:extLst>
          </p:cNvPr>
          <p:cNvSpPr/>
          <p:nvPr/>
        </p:nvSpPr>
        <p:spPr>
          <a:xfrm>
            <a:off x="4077379" y="3834376"/>
            <a:ext cx="2851717" cy="230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Crude Oil WTI Spot Price</a:t>
            </a:r>
          </a:p>
        </p:txBody>
      </p:sp>
      <p:cxnSp>
        <p:nvCxnSpPr>
          <p:cNvPr id="99" name="Gewinkelte Verbindung 98">
            <a:extLst>
              <a:ext uri="{FF2B5EF4-FFF2-40B4-BE49-F238E27FC236}">
                <a16:creationId xmlns:a16="http://schemas.microsoft.com/office/drawing/2014/main" id="{1A9821BD-B305-851A-88A4-BBE9C6B02007}"/>
              </a:ext>
            </a:extLst>
          </p:cNvPr>
          <p:cNvCxnSpPr>
            <a:cxnSpLocks/>
            <a:stCxn id="5" idx="2"/>
            <a:endCxn id="97" idx="1"/>
          </p:cNvCxnSpPr>
          <p:nvPr/>
        </p:nvCxnSpPr>
        <p:spPr>
          <a:xfrm rot="16200000" flipH="1">
            <a:off x="3307952" y="2804469"/>
            <a:ext cx="1293331" cy="24552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3" name="Gewinkelte Verbindung 102">
            <a:extLst>
              <a:ext uri="{FF2B5EF4-FFF2-40B4-BE49-F238E27FC236}">
                <a16:creationId xmlns:a16="http://schemas.microsoft.com/office/drawing/2014/main" id="{7D31F963-270D-77EB-ED1F-9EB4B0119ED2}"/>
              </a:ext>
            </a:extLst>
          </p:cNvPr>
          <p:cNvCxnSpPr>
            <a:cxnSpLocks/>
            <a:stCxn id="5" idx="2"/>
            <a:endCxn id="98" idx="1"/>
          </p:cNvCxnSpPr>
          <p:nvPr/>
        </p:nvCxnSpPr>
        <p:spPr>
          <a:xfrm rot="16200000" flipH="1">
            <a:off x="3120113" y="2992309"/>
            <a:ext cx="1669009" cy="24552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6" name="Gewinkelte Verbindung 105">
            <a:extLst>
              <a:ext uri="{FF2B5EF4-FFF2-40B4-BE49-F238E27FC236}">
                <a16:creationId xmlns:a16="http://schemas.microsoft.com/office/drawing/2014/main" id="{4070ED22-2D8D-88E0-E030-E4339E1626CD}"/>
              </a:ext>
            </a:extLst>
          </p:cNvPr>
          <p:cNvCxnSpPr>
            <a:cxnSpLocks/>
            <a:stCxn id="95" idx="2"/>
            <a:endCxn id="96" idx="1"/>
          </p:cNvCxnSpPr>
          <p:nvPr/>
        </p:nvCxnSpPr>
        <p:spPr>
          <a:xfrm rot="16200000" flipH="1">
            <a:off x="5540054" y="4750963"/>
            <a:ext cx="482740" cy="12841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2" name="Rechteck 111">
            <a:extLst>
              <a:ext uri="{FF2B5EF4-FFF2-40B4-BE49-F238E27FC236}">
                <a16:creationId xmlns:a16="http://schemas.microsoft.com/office/drawing/2014/main" id="{6092D3C6-5300-19B1-F4E0-268797166176}"/>
              </a:ext>
            </a:extLst>
          </p:cNvPr>
          <p:cNvSpPr/>
          <p:nvPr/>
        </p:nvSpPr>
        <p:spPr>
          <a:xfrm>
            <a:off x="5115065" y="2824074"/>
            <a:ext cx="2851717" cy="230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0" i="0" u="none" strike="noStrike" dirty="0">
                <a:solidFill>
                  <a:srgbClr val="000000"/>
                </a:solidFill>
                <a:effectLst/>
                <a:latin typeface="Roboto" panose="02000000000000000000" pitchFamily="2" charset="0"/>
              </a:rPr>
              <a:t>CBOE Crude Oil ETF Volatility Index</a:t>
            </a:r>
          </a:p>
        </p:txBody>
      </p:sp>
      <p:cxnSp>
        <p:nvCxnSpPr>
          <p:cNvPr id="118" name="Gewinkelte Verbindung 117">
            <a:extLst>
              <a:ext uri="{FF2B5EF4-FFF2-40B4-BE49-F238E27FC236}">
                <a16:creationId xmlns:a16="http://schemas.microsoft.com/office/drawing/2014/main" id="{58828655-9B5C-D596-6B15-8E7757820871}"/>
              </a:ext>
            </a:extLst>
          </p:cNvPr>
          <p:cNvCxnSpPr>
            <a:cxnSpLocks/>
            <a:stCxn id="2" idx="2"/>
            <a:endCxn id="121" idx="1"/>
          </p:cNvCxnSpPr>
          <p:nvPr/>
        </p:nvCxnSpPr>
        <p:spPr>
          <a:xfrm rot="16200000" flipH="1">
            <a:off x="91296" y="2944042"/>
            <a:ext cx="1475731" cy="14877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1" name="Rechteck 120">
            <a:extLst>
              <a:ext uri="{FF2B5EF4-FFF2-40B4-BE49-F238E27FC236}">
                <a16:creationId xmlns:a16="http://schemas.microsoft.com/office/drawing/2014/main" id="{B0ADA5D6-3FD1-CBB1-749C-1A2DAC0215FD}"/>
              </a:ext>
            </a:extLst>
          </p:cNvPr>
          <p:cNvSpPr/>
          <p:nvPr/>
        </p:nvSpPr>
        <p:spPr>
          <a:xfrm>
            <a:off x="903548" y="3641095"/>
            <a:ext cx="1542696" cy="230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Defined crisis periods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911C4393-6314-BFD0-EDEF-6CF65E414970}"/>
              </a:ext>
            </a:extLst>
          </p:cNvPr>
          <p:cNvSpPr/>
          <p:nvPr/>
        </p:nvSpPr>
        <p:spPr>
          <a:xfrm>
            <a:off x="2501762" y="2849560"/>
            <a:ext cx="1248465" cy="230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OPEC volumes</a:t>
            </a:r>
          </a:p>
        </p:txBody>
      </p:sp>
      <p:cxnSp>
        <p:nvCxnSpPr>
          <p:cNvPr id="13" name="Gewinkelte Verbindung 12">
            <a:extLst>
              <a:ext uri="{FF2B5EF4-FFF2-40B4-BE49-F238E27FC236}">
                <a16:creationId xmlns:a16="http://schemas.microsoft.com/office/drawing/2014/main" id="{2B4BDEEF-7E89-B3C5-3FD6-40F4876B0C60}"/>
              </a:ext>
            </a:extLst>
          </p:cNvPr>
          <p:cNvCxnSpPr>
            <a:cxnSpLocks/>
            <a:stCxn id="3" idx="2"/>
            <a:endCxn id="10" idx="1"/>
          </p:cNvCxnSpPr>
          <p:nvPr/>
        </p:nvCxnSpPr>
        <p:spPr>
          <a:xfrm rot="16200000" flipH="1">
            <a:off x="2046943" y="2509940"/>
            <a:ext cx="682173" cy="227466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Geschweifte Klammer links 17">
            <a:extLst>
              <a:ext uri="{FF2B5EF4-FFF2-40B4-BE49-F238E27FC236}">
                <a16:creationId xmlns:a16="http://schemas.microsoft.com/office/drawing/2014/main" id="{C5B44584-46E0-0BE5-3F1A-2FC7076572F3}"/>
              </a:ext>
            </a:extLst>
          </p:cNvPr>
          <p:cNvSpPr/>
          <p:nvPr/>
        </p:nvSpPr>
        <p:spPr>
          <a:xfrm rot="10800000">
            <a:off x="6994879" y="3450810"/>
            <a:ext cx="419165" cy="637967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FE5CA635-4C49-2BB9-7D73-4A2A0CA141DE}"/>
              </a:ext>
            </a:extLst>
          </p:cNvPr>
          <p:cNvSpPr/>
          <p:nvPr/>
        </p:nvSpPr>
        <p:spPr>
          <a:xfrm>
            <a:off x="7454278" y="3639623"/>
            <a:ext cx="1374885" cy="230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0" i="0" u="none" strike="noStrike" dirty="0">
                <a:solidFill>
                  <a:srgbClr val="000000"/>
                </a:solidFill>
                <a:effectLst/>
                <a:latin typeface="Roboto" panose="02000000000000000000" pitchFamily="2" charset="0"/>
              </a:rPr>
              <a:t>(Rolling) Volatility</a:t>
            </a: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2C2A845E-3515-0FD7-1B97-5549F6F1C794}"/>
              </a:ext>
            </a:extLst>
          </p:cNvPr>
          <p:cNvSpPr/>
          <p:nvPr/>
        </p:nvSpPr>
        <p:spPr>
          <a:xfrm>
            <a:off x="4935654" y="5685068"/>
            <a:ext cx="1542696" cy="230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Regime dependent</a:t>
            </a:r>
          </a:p>
        </p:txBody>
      </p:sp>
      <p:sp>
        <p:nvSpPr>
          <p:cNvPr id="33" name="Geschweifte Klammer links 32">
            <a:extLst>
              <a:ext uri="{FF2B5EF4-FFF2-40B4-BE49-F238E27FC236}">
                <a16:creationId xmlns:a16="http://schemas.microsoft.com/office/drawing/2014/main" id="{A0F6E71F-FFE6-DF2D-BCBE-F758A9BAFC3E}"/>
              </a:ext>
            </a:extLst>
          </p:cNvPr>
          <p:cNvSpPr/>
          <p:nvPr/>
        </p:nvSpPr>
        <p:spPr>
          <a:xfrm rot="16200000">
            <a:off x="5507635" y="-5105"/>
            <a:ext cx="419165" cy="10917479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AD66E357-8389-AD61-8CAC-077D2B7C2E02}"/>
              </a:ext>
            </a:extLst>
          </p:cNvPr>
          <p:cNvSpPr/>
          <p:nvPr/>
        </p:nvSpPr>
        <p:spPr>
          <a:xfrm>
            <a:off x="9378818" y="3054360"/>
            <a:ext cx="1799342" cy="230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0" i="0" u="none" strike="noStrike" dirty="0">
                <a:solidFill>
                  <a:srgbClr val="000000"/>
                </a:solidFill>
                <a:effectLst/>
                <a:latin typeface="Roboto" panose="02000000000000000000" pitchFamily="2" charset="0"/>
              </a:rPr>
              <a:t>Central Bank Policy Rates</a:t>
            </a: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3832D77E-E5BB-792E-3AC5-268CBD4665D8}"/>
              </a:ext>
            </a:extLst>
          </p:cNvPr>
          <p:cNvSpPr/>
          <p:nvPr/>
        </p:nvSpPr>
        <p:spPr>
          <a:xfrm>
            <a:off x="9378818" y="3396185"/>
            <a:ext cx="1799342" cy="3745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0" i="0" u="none" strike="noStrike" dirty="0">
                <a:solidFill>
                  <a:srgbClr val="000000"/>
                </a:solidFill>
                <a:effectLst/>
                <a:latin typeface="Roboto" panose="02000000000000000000" pitchFamily="2" charset="0"/>
              </a:rPr>
              <a:t>3M Interbank lending rates</a:t>
            </a:r>
          </a:p>
        </p:txBody>
      </p:sp>
      <p:cxnSp>
        <p:nvCxnSpPr>
          <p:cNvPr id="36" name="Gewinkelte Verbindung 35">
            <a:extLst>
              <a:ext uri="{FF2B5EF4-FFF2-40B4-BE49-F238E27FC236}">
                <a16:creationId xmlns:a16="http://schemas.microsoft.com/office/drawing/2014/main" id="{5D58BF1E-0267-CD1B-A8D8-D5BA270B2403}"/>
              </a:ext>
            </a:extLst>
          </p:cNvPr>
          <p:cNvCxnSpPr>
            <a:cxnSpLocks/>
            <a:stCxn id="29" idx="2"/>
            <a:endCxn id="34" idx="1"/>
          </p:cNvCxnSpPr>
          <p:nvPr/>
        </p:nvCxnSpPr>
        <p:spPr>
          <a:xfrm rot="16200000" flipH="1">
            <a:off x="8844150" y="2634891"/>
            <a:ext cx="888997" cy="180339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Gewinkelte Verbindung 38">
            <a:extLst>
              <a:ext uri="{FF2B5EF4-FFF2-40B4-BE49-F238E27FC236}">
                <a16:creationId xmlns:a16="http://schemas.microsoft.com/office/drawing/2014/main" id="{AA9E123C-BD88-94BC-D3DD-67CEA79CD5A4}"/>
              </a:ext>
            </a:extLst>
          </p:cNvPr>
          <p:cNvCxnSpPr>
            <a:cxnSpLocks/>
            <a:stCxn id="29" idx="2"/>
            <a:endCxn id="35" idx="1"/>
          </p:cNvCxnSpPr>
          <p:nvPr/>
        </p:nvCxnSpPr>
        <p:spPr>
          <a:xfrm rot="16200000" flipH="1">
            <a:off x="8637196" y="2841845"/>
            <a:ext cx="1302905" cy="180339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4" name="Rechteck 43">
            <a:extLst>
              <a:ext uri="{FF2B5EF4-FFF2-40B4-BE49-F238E27FC236}">
                <a16:creationId xmlns:a16="http://schemas.microsoft.com/office/drawing/2014/main" id="{4143DB3E-7694-5D50-523F-9E580EE43186}"/>
              </a:ext>
            </a:extLst>
          </p:cNvPr>
          <p:cNvSpPr/>
          <p:nvPr/>
        </p:nvSpPr>
        <p:spPr>
          <a:xfrm>
            <a:off x="8305149" y="2593674"/>
            <a:ext cx="576461" cy="230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0" i="0" u="none" strike="noStrike" dirty="0">
                <a:solidFill>
                  <a:srgbClr val="000000"/>
                </a:solidFill>
                <a:effectLst/>
                <a:latin typeface="Roboto" panose="02000000000000000000" pitchFamily="2" charset="0"/>
              </a:rPr>
              <a:t>CPI</a:t>
            </a:r>
          </a:p>
        </p:txBody>
      </p:sp>
      <p:sp>
        <p:nvSpPr>
          <p:cNvPr id="53" name="Geschweifte Klammer links 52">
            <a:extLst>
              <a:ext uri="{FF2B5EF4-FFF2-40B4-BE49-F238E27FC236}">
                <a16:creationId xmlns:a16="http://schemas.microsoft.com/office/drawing/2014/main" id="{75D83B1D-AFD6-D9E6-A4CA-3220113BEC7F}"/>
              </a:ext>
            </a:extLst>
          </p:cNvPr>
          <p:cNvSpPr/>
          <p:nvPr/>
        </p:nvSpPr>
        <p:spPr>
          <a:xfrm rot="16200000">
            <a:off x="6927899" y="919262"/>
            <a:ext cx="215917" cy="2912347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61" name="Geschweifte Klammer links 60">
            <a:extLst>
              <a:ext uri="{FF2B5EF4-FFF2-40B4-BE49-F238E27FC236}">
                <a16:creationId xmlns:a16="http://schemas.microsoft.com/office/drawing/2014/main" id="{A8E3832B-6883-6FD6-2DDE-86585AF6F486}"/>
              </a:ext>
            </a:extLst>
          </p:cNvPr>
          <p:cNvSpPr/>
          <p:nvPr/>
        </p:nvSpPr>
        <p:spPr>
          <a:xfrm rot="5400000">
            <a:off x="2233476" y="-431714"/>
            <a:ext cx="119671" cy="4090100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62" name="Rechteck 61">
            <a:extLst>
              <a:ext uri="{FF2B5EF4-FFF2-40B4-BE49-F238E27FC236}">
                <a16:creationId xmlns:a16="http://schemas.microsoft.com/office/drawing/2014/main" id="{5E383347-8861-E3BF-A928-13C2C0E16831}"/>
              </a:ext>
            </a:extLst>
          </p:cNvPr>
          <p:cNvSpPr/>
          <p:nvPr/>
        </p:nvSpPr>
        <p:spPr>
          <a:xfrm>
            <a:off x="977198" y="1306400"/>
            <a:ext cx="2632225" cy="230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Classical information efficiency theory</a:t>
            </a:r>
          </a:p>
        </p:txBody>
      </p:sp>
      <p:sp>
        <p:nvSpPr>
          <p:cNvPr id="63" name="Rechteck 62">
            <a:extLst>
              <a:ext uri="{FF2B5EF4-FFF2-40B4-BE49-F238E27FC236}">
                <a16:creationId xmlns:a16="http://schemas.microsoft.com/office/drawing/2014/main" id="{4B7D7EC2-4DA3-D574-E32E-60EB0C1F6A5C}"/>
              </a:ext>
            </a:extLst>
          </p:cNvPr>
          <p:cNvSpPr/>
          <p:nvPr/>
        </p:nvSpPr>
        <p:spPr>
          <a:xfrm>
            <a:off x="10689577" y="2607101"/>
            <a:ext cx="792000" cy="230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0" i="0" u="none" strike="noStrike" dirty="0">
                <a:solidFill>
                  <a:srgbClr val="000000"/>
                </a:solidFill>
                <a:effectLst/>
                <a:latin typeface="Roboto" panose="02000000000000000000" pitchFamily="2" charset="0"/>
              </a:rPr>
              <a:t>EUR/USD</a:t>
            </a:r>
          </a:p>
        </p:txBody>
      </p:sp>
      <p:cxnSp>
        <p:nvCxnSpPr>
          <p:cNvPr id="64" name="Gewinkelte Verbindung 63">
            <a:extLst>
              <a:ext uri="{FF2B5EF4-FFF2-40B4-BE49-F238E27FC236}">
                <a16:creationId xmlns:a16="http://schemas.microsoft.com/office/drawing/2014/main" id="{24B51B47-8D5E-7AF1-5416-AAE5A167318F}"/>
              </a:ext>
            </a:extLst>
          </p:cNvPr>
          <p:cNvCxnSpPr>
            <a:cxnSpLocks/>
            <a:stCxn id="75" idx="2"/>
            <a:endCxn id="63" idx="1"/>
          </p:cNvCxnSpPr>
          <p:nvPr/>
        </p:nvCxnSpPr>
        <p:spPr>
          <a:xfrm rot="16200000" flipH="1">
            <a:off x="10393102" y="2425825"/>
            <a:ext cx="435377" cy="15757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4" name="Gewinkelte Verbindung 73">
            <a:extLst>
              <a:ext uri="{FF2B5EF4-FFF2-40B4-BE49-F238E27FC236}">
                <a16:creationId xmlns:a16="http://schemas.microsoft.com/office/drawing/2014/main" id="{FBA6D73B-2EA4-72BF-8355-5763FCEF3193}"/>
              </a:ext>
            </a:extLst>
          </p:cNvPr>
          <p:cNvCxnSpPr>
            <a:cxnSpLocks/>
            <a:stCxn id="53" idx="1"/>
            <a:endCxn id="44" idx="1"/>
          </p:cNvCxnSpPr>
          <p:nvPr/>
        </p:nvCxnSpPr>
        <p:spPr>
          <a:xfrm rot="16200000" flipH="1">
            <a:off x="7557763" y="1961488"/>
            <a:ext cx="225480" cy="1269291"/>
          </a:xfrm>
          <a:prstGeom prst="bentConnector4">
            <a:avLst>
              <a:gd name="adj1" fmla="val 101384"/>
              <a:gd name="adj2" fmla="val 54253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55398143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158F2C-61BE-2FD0-F7A7-D7C43EA5C3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Rechteck 48">
            <a:extLst>
              <a:ext uri="{FF2B5EF4-FFF2-40B4-BE49-F238E27FC236}">
                <a16:creationId xmlns:a16="http://schemas.microsoft.com/office/drawing/2014/main" id="{6047A77A-195C-5F25-75C4-D98FE53FDCC5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2400" dirty="0" err="1">
                <a:latin typeface="Arial" panose="020B0604020202020204" pitchFamily="34" charset="0"/>
                <a:cs typeface="Arial" panose="020B0604020202020204" pitchFamily="34" charset="0"/>
              </a:rPr>
              <a:t>Theoretical</a:t>
            </a:r>
            <a:r>
              <a:rPr lang="de-DE" sz="2400" dirty="0">
                <a:latin typeface="Arial" panose="020B0604020202020204" pitchFamily="34" charset="0"/>
                <a:cs typeface="Arial" panose="020B0604020202020204" pitchFamily="34" charset="0"/>
              </a:rPr>
              <a:t> Framework (I)</a:t>
            </a: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CA2EC787-A499-C95C-2B1F-49527EB77C34}"/>
              </a:ext>
            </a:extLst>
          </p:cNvPr>
          <p:cNvSpPr/>
          <p:nvPr/>
        </p:nvSpPr>
        <p:spPr>
          <a:xfrm>
            <a:off x="376323" y="728896"/>
            <a:ext cx="547600" cy="144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1)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6DE29A15-DF4F-765C-A5B2-90347370B95F}"/>
              </a:ext>
            </a:extLst>
          </p:cNvPr>
          <p:cNvSpPr/>
          <p:nvPr/>
        </p:nvSpPr>
        <p:spPr>
          <a:xfrm>
            <a:off x="1112921" y="728896"/>
            <a:ext cx="2850535" cy="144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Identify relevant regimes in the data</a:t>
            </a:r>
          </a:p>
        </p:txBody>
      </p:sp>
      <p:graphicFrame>
        <p:nvGraphicFramePr>
          <p:cNvPr id="16" name="Tabelle 15">
            <a:extLst>
              <a:ext uri="{FF2B5EF4-FFF2-40B4-BE49-F238E27FC236}">
                <a16:creationId xmlns:a16="http://schemas.microsoft.com/office/drawing/2014/main" id="{7CD823E6-BA5A-5095-3D68-134CDB2F79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32407517"/>
              </p:ext>
            </p:extLst>
          </p:nvPr>
        </p:nvGraphicFramePr>
        <p:xfrm>
          <a:off x="1102735" y="1670952"/>
          <a:ext cx="4516837" cy="4766095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992944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1335893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</a:tblGrid>
              <a:tr h="263672"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Thematic area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Category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4375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EUR/USD spot exchange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FX theory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spot exchange rate (NER)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  <a:tr h="234375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log first diff of EUR/USD spot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FX theory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spot exchange rate log return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5578983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rolling volatilty of log first diff of EUR/USD spot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FX theory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spot exchange rate log return volatility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6497854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Central Bank Policy rates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FX theory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interest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55077558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Central Bank Policy rates differentials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FX theory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interest rate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differential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7185513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3M Interbank lending rates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FX theory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interest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58406197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3M Interbank lending rates differentials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FX theory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interest rate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differential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43982446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WTI Oil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Energy commodity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spot price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83791469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Natural Gas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Energy commodity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spot price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82612393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rolling volatilty of log first diff of WTI Oil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Energy commodity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rolling log return volatility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84772991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rolling volatilty of log first diff of Natural Gas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Energy commodity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rolling log return volatility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26606027"/>
                  </a:ext>
                </a:extLst>
              </a:tr>
              <a:tr h="234375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Futures Trading Open Interest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Degree of Financial Integration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Open Interest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9946009"/>
                  </a:ext>
                </a:extLst>
              </a:tr>
              <a:tr h="23437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Futures Trading Volume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Degree of Financial Integration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Trading Volume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64646873"/>
                  </a:ext>
                </a:extLst>
              </a:tr>
              <a:tr h="234375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VIX Index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(Market-) Volatility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Volatility Index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13541693"/>
                  </a:ext>
                </a:extLst>
              </a:tr>
            </a:tbl>
          </a:graphicData>
        </a:graphic>
      </p:graphicFrame>
      <p:sp>
        <p:nvSpPr>
          <p:cNvPr id="21" name="Rechteck 20">
            <a:extLst>
              <a:ext uri="{FF2B5EF4-FFF2-40B4-BE49-F238E27FC236}">
                <a16:creationId xmlns:a16="http://schemas.microsoft.com/office/drawing/2014/main" id="{D6B181A9-7423-F64F-C454-DCA25B2E528C}"/>
              </a:ext>
            </a:extLst>
          </p:cNvPr>
          <p:cNvSpPr/>
          <p:nvPr/>
        </p:nvSpPr>
        <p:spPr>
          <a:xfrm>
            <a:off x="4330396" y="990170"/>
            <a:ext cx="2988000" cy="161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= 2 regimes (high volatility vs. low volatility)</a:t>
            </a: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D1C1C51E-5D8B-6F7C-2C37-61818542AA66}"/>
              </a:ext>
            </a:extLst>
          </p:cNvPr>
          <p:cNvSpPr/>
          <p:nvPr/>
        </p:nvSpPr>
        <p:spPr>
          <a:xfrm>
            <a:off x="7547874" y="1224009"/>
            <a:ext cx="2969970" cy="37252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Classical approaches: Univariate econometric modelling (benchmarks)</a:t>
            </a: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AF91DC8B-8431-C436-8693-CADE51C6335D}"/>
              </a:ext>
            </a:extLst>
          </p:cNvPr>
          <p:cNvSpPr/>
          <p:nvPr/>
        </p:nvSpPr>
        <p:spPr>
          <a:xfrm>
            <a:off x="1112919" y="1224009"/>
            <a:ext cx="2969970" cy="37252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Alternative approaches: Multivariate Clustering using additional variables</a:t>
            </a:r>
          </a:p>
        </p:txBody>
      </p:sp>
      <p:cxnSp>
        <p:nvCxnSpPr>
          <p:cNvPr id="24" name="Gerade Verbindung mit Pfeil 23">
            <a:extLst>
              <a:ext uri="{FF2B5EF4-FFF2-40B4-BE49-F238E27FC236}">
                <a16:creationId xmlns:a16="http://schemas.microsoft.com/office/drawing/2014/main" id="{200B6B33-D0B3-FB61-99FB-DE2B260A16AB}"/>
              </a:ext>
            </a:extLst>
          </p:cNvPr>
          <p:cNvCxnSpPr>
            <a:cxnSpLocks/>
            <a:stCxn id="21" idx="2"/>
            <a:endCxn id="23" idx="3"/>
          </p:cNvCxnSpPr>
          <p:nvPr/>
        </p:nvCxnSpPr>
        <p:spPr>
          <a:xfrm flipH="1">
            <a:off x="4082889" y="1151391"/>
            <a:ext cx="1741507" cy="2588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FD3D80A1-0057-9041-1EC7-7367B7B25969}"/>
              </a:ext>
            </a:extLst>
          </p:cNvPr>
          <p:cNvCxnSpPr>
            <a:cxnSpLocks/>
            <a:stCxn id="21" idx="2"/>
            <a:endCxn id="22" idx="1"/>
          </p:cNvCxnSpPr>
          <p:nvPr/>
        </p:nvCxnSpPr>
        <p:spPr>
          <a:xfrm>
            <a:off x="5824396" y="1151391"/>
            <a:ext cx="1723478" cy="2588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Rechteck 36">
            <a:extLst>
              <a:ext uri="{FF2B5EF4-FFF2-40B4-BE49-F238E27FC236}">
                <a16:creationId xmlns:a16="http://schemas.microsoft.com/office/drawing/2014/main" id="{EE43A6DD-BA77-C312-7356-31C55CC89726}"/>
              </a:ext>
            </a:extLst>
          </p:cNvPr>
          <p:cNvSpPr/>
          <p:nvPr/>
        </p:nvSpPr>
        <p:spPr>
          <a:xfrm>
            <a:off x="7547874" y="1729708"/>
            <a:ext cx="2850535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Markov Regression/Switching</a:t>
            </a:r>
          </a:p>
        </p:txBody>
      </p:sp>
      <p:graphicFrame>
        <p:nvGraphicFramePr>
          <p:cNvPr id="3" name="Tabelle 2">
            <a:extLst>
              <a:ext uri="{FF2B5EF4-FFF2-40B4-BE49-F238E27FC236}">
                <a16:creationId xmlns:a16="http://schemas.microsoft.com/office/drawing/2014/main" id="{F7DCFDD3-AEE7-F981-C91B-82C94939F4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40463226"/>
              </p:ext>
            </p:extLst>
          </p:nvPr>
        </p:nvGraphicFramePr>
        <p:xfrm>
          <a:off x="6640775" y="2144396"/>
          <a:ext cx="4516837" cy="995192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992944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1335893">
                  <a:extLst>
                    <a:ext uri="{9D8B030D-6E8A-4147-A177-3AD203B41FA5}">
                      <a16:colId xmlns:a16="http://schemas.microsoft.com/office/drawing/2014/main" val="717331518"/>
                    </a:ext>
                  </a:extLst>
                </a:gridCol>
              </a:tblGrid>
              <a:tr h="263672"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Thematic area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Category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4375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log first diff of EUR/USD spot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FX theory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spot exchange rate log return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5578983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Central Bank Policy rates differentials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FX theory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interest rate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differential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6497854"/>
                  </a:ext>
                </a:extLst>
              </a:tr>
            </a:tbl>
          </a:graphicData>
        </a:graphic>
      </p:graphicFrame>
      <p:graphicFrame>
        <p:nvGraphicFramePr>
          <p:cNvPr id="5" name="Tabelle 4">
            <a:extLst>
              <a:ext uri="{FF2B5EF4-FFF2-40B4-BE49-F238E27FC236}">
                <a16:creationId xmlns:a16="http://schemas.microsoft.com/office/drawing/2014/main" id="{FCCECF7D-C21A-080D-16C3-E991942BA5E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06234002"/>
              </p:ext>
            </p:extLst>
          </p:nvPr>
        </p:nvGraphicFramePr>
        <p:xfrm>
          <a:off x="6640775" y="3315877"/>
          <a:ext cx="4516837" cy="73152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992944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1335893">
                  <a:extLst>
                    <a:ext uri="{9D8B030D-6E8A-4147-A177-3AD203B41FA5}">
                      <a16:colId xmlns:a16="http://schemas.microsoft.com/office/drawing/2014/main" val="203178193"/>
                    </a:ext>
                  </a:extLst>
                </a:gridCol>
              </a:tblGrid>
              <a:tr h="234375">
                <a:tc>
                  <a:txBody>
                    <a:bodyPr/>
                    <a:lstStyle/>
                    <a:p>
                      <a:pPr algn="ctr"/>
                      <a:r>
                        <a:rPr lang="de-DE" sz="900" b="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rolling volatilty of log first diff of WTI Oil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Energy commodity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rolling log return volatility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5578983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rolling volatilty of log first diff of Natural Gas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Energy commodity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rolling log return volatility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6497854"/>
                  </a:ext>
                </a:extLst>
              </a:tr>
            </a:tbl>
          </a:graphicData>
        </a:graphic>
      </p:graphicFrame>
      <p:graphicFrame>
        <p:nvGraphicFramePr>
          <p:cNvPr id="6" name="Tabelle 5">
            <a:extLst>
              <a:ext uri="{FF2B5EF4-FFF2-40B4-BE49-F238E27FC236}">
                <a16:creationId xmlns:a16="http://schemas.microsoft.com/office/drawing/2014/main" id="{4453D957-4CD6-677D-3418-388D641D039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48179345"/>
              </p:ext>
            </p:extLst>
          </p:nvPr>
        </p:nvGraphicFramePr>
        <p:xfrm>
          <a:off x="6640775" y="4381558"/>
          <a:ext cx="4516837" cy="995192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992944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1335893">
                  <a:extLst>
                    <a:ext uri="{9D8B030D-6E8A-4147-A177-3AD203B41FA5}">
                      <a16:colId xmlns:a16="http://schemas.microsoft.com/office/drawing/2014/main" val="717331518"/>
                    </a:ext>
                  </a:extLst>
                </a:gridCol>
              </a:tblGrid>
              <a:tr h="263672"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Thematic area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Category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4375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log first diff of EUR/USD spot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FX theory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spot exchange rate log return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5578983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3M Interbank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lending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rates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differentials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FX theory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interest rate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differential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6497854"/>
                  </a:ext>
                </a:extLst>
              </a:tr>
            </a:tbl>
          </a:graphicData>
        </a:graphic>
      </p:graphicFrame>
      <p:graphicFrame>
        <p:nvGraphicFramePr>
          <p:cNvPr id="7" name="Tabelle 6">
            <a:extLst>
              <a:ext uri="{FF2B5EF4-FFF2-40B4-BE49-F238E27FC236}">
                <a16:creationId xmlns:a16="http://schemas.microsoft.com/office/drawing/2014/main" id="{A398DA32-6A27-A2AC-E754-01DDC2223A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45765819"/>
              </p:ext>
            </p:extLst>
          </p:nvPr>
        </p:nvGraphicFramePr>
        <p:xfrm>
          <a:off x="6640775" y="5553039"/>
          <a:ext cx="4516837" cy="73152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992944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1335893">
                  <a:extLst>
                    <a:ext uri="{9D8B030D-6E8A-4147-A177-3AD203B41FA5}">
                      <a16:colId xmlns:a16="http://schemas.microsoft.com/office/drawing/2014/main" val="203178193"/>
                    </a:ext>
                  </a:extLst>
                </a:gridCol>
              </a:tblGrid>
              <a:tr h="234375">
                <a:tc>
                  <a:txBody>
                    <a:bodyPr/>
                    <a:lstStyle/>
                    <a:p>
                      <a:pPr algn="ctr"/>
                      <a:r>
                        <a:rPr lang="de-DE" sz="900" b="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rolling volatilty of log first diff of WTI Oil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Energy commodity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rolling log return volatility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5578983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rolling volatilty of log first diff of Natural Gas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Energy commodity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rolling log return volatility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6497854"/>
                  </a:ext>
                </a:extLst>
              </a:tr>
            </a:tbl>
          </a:graphicData>
        </a:graphic>
      </p:graphicFrame>
      <p:cxnSp>
        <p:nvCxnSpPr>
          <p:cNvPr id="8" name="Gerade Verbindung 7">
            <a:extLst>
              <a:ext uri="{FF2B5EF4-FFF2-40B4-BE49-F238E27FC236}">
                <a16:creationId xmlns:a16="http://schemas.microsoft.com/office/drawing/2014/main" id="{25035102-A03E-642D-0890-B1829DF8E519}"/>
              </a:ext>
            </a:extLst>
          </p:cNvPr>
          <p:cNvCxnSpPr>
            <a:cxnSpLocks/>
          </p:cNvCxnSpPr>
          <p:nvPr/>
        </p:nvCxnSpPr>
        <p:spPr>
          <a:xfrm>
            <a:off x="6095699" y="4217824"/>
            <a:ext cx="5220000" cy="0"/>
          </a:xfrm>
          <a:prstGeom prst="line">
            <a:avLst/>
          </a:prstGeom>
          <a:ln w="19050"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Geschweifte Klammer links 10">
            <a:extLst>
              <a:ext uri="{FF2B5EF4-FFF2-40B4-BE49-F238E27FC236}">
                <a16:creationId xmlns:a16="http://schemas.microsoft.com/office/drawing/2014/main" id="{C949EB2E-B95E-ED0E-A4F9-9EF24BF6DB08}"/>
              </a:ext>
            </a:extLst>
          </p:cNvPr>
          <p:cNvSpPr/>
          <p:nvPr/>
        </p:nvSpPr>
        <p:spPr>
          <a:xfrm>
            <a:off x="6313112" y="2144395"/>
            <a:ext cx="268558" cy="1903001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3" name="Geschweifte Klammer links 12">
            <a:extLst>
              <a:ext uri="{FF2B5EF4-FFF2-40B4-BE49-F238E27FC236}">
                <a16:creationId xmlns:a16="http://schemas.microsoft.com/office/drawing/2014/main" id="{A28345E5-C39D-5E21-4FAC-07BD5B89DDAF}"/>
              </a:ext>
            </a:extLst>
          </p:cNvPr>
          <p:cNvSpPr/>
          <p:nvPr/>
        </p:nvSpPr>
        <p:spPr>
          <a:xfrm>
            <a:off x="6303063" y="4412818"/>
            <a:ext cx="268558" cy="1903001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26791B51-395C-E8E8-EBCC-7318D0259CC0}"/>
              </a:ext>
            </a:extLst>
          </p:cNvPr>
          <p:cNvSpPr/>
          <p:nvPr/>
        </p:nvSpPr>
        <p:spPr>
          <a:xfrm>
            <a:off x="5923485" y="2966455"/>
            <a:ext cx="413377" cy="2588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B1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582DED74-477A-CA33-8906-5C027DE1CA52}"/>
              </a:ext>
            </a:extLst>
          </p:cNvPr>
          <p:cNvSpPr/>
          <p:nvPr/>
        </p:nvSpPr>
        <p:spPr>
          <a:xfrm>
            <a:off x="5923571" y="5226117"/>
            <a:ext cx="413377" cy="2588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B2</a:t>
            </a:r>
          </a:p>
        </p:txBody>
      </p:sp>
      <p:sp>
        <p:nvSpPr>
          <p:cNvPr id="4" name="Geschweifte Klammer links 3">
            <a:extLst>
              <a:ext uri="{FF2B5EF4-FFF2-40B4-BE49-F238E27FC236}">
                <a16:creationId xmlns:a16="http://schemas.microsoft.com/office/drawing/2014/main" id="{BE1EC463-ED28-F20A-CCF7-8EC6BD6CEB13}"/>
              </a:ext>
            </a:extLst>
          </p:cNvPr>
          <p:cNvSpPr/>
          <p:nvPr/>
        </p:nvSpPr>
        <p:spPr>
          <a:xfrm>
            <a:off x="6144820" y="3283561"/>
            <a:ext cx="268558" cy="763834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49C4D93F-B324-14DF-1ED3-76800033C3CD}"/>
              </a:ext>
            </a:extLst>
          </p:cNvPr>
          <p:cNvSpPr/>
          <p:nvPr/>
        </p:nvSpPr>
        <p:spPr>
          <a:xfrm>
            <a:off x="5695414" y="3536038"/>
            <a:ext cx="504000" cy="2588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B1.1</a:t>
            </a:r>
          </a:p>
        </p:txBody>
      </p:sp>
      <p:sp>
        <p:nvSpPr>
          <p:cNvPr id="12" name="Geschweifte Klammer links 11">
            <a:extLst>
              <a:ext uri="{FF2B5EF4-FFF2-40B4-BE49-F238E27FC236}">
                <a16:creationId xmlns:a16="http://schemas.microsoft.com/office/drawing/2014/main" id="{FBFE769F-D17B-FEE3-3CB8-D69F69550B0F}"/>
              </a:ext>
            </a:extLst>
          </p:cNvPr>
          <p:cNvSpPr/>
          <p:nvPr/>
        </p:nvSpPr>
        <p:spPr>
          <a:xfrm>
            <a:off x="6144820" y="5553470"/>
            <a:ext cx="268558" cy="763834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F359A86C-CD94-06E0-9AF9-7C2B42963CE7}"/>
              </a:ext>
            </a:extLst>
          </p:cNvPr>
          <p:cNvSpPr/>
          <p:nvPr/>
        </p:nvSpPr>
        <p:spPr>
          <a:xfrm>
            <a:off x="5695414" y="5805947"/>
            <a:ext cx="504000" cy="2588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B2.1</a:t>
            </a:r>
          </a:p>
        </p:txBody>
      </p:sp>
    </p:spTree>
    <p:extLst>
      <p:ext uri="{BB962C8B-B14F-4D97-AF65-F5344CB8AC3E}">
        <p14:creationId xmlns:p14="http://schemas.microsoft.com/office/powerpoint/2010/main" val="107230695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A1E120-6908-AEF2-32CE-B08554CB51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Rechteck 48">
            <a:extLst>
              <a:ext uri="{FF2B5EF4-FFF2-40B4-BE49-F238E27FC236}">
                <a16:creationId xmlns:a16="http://schemas.microsoft.com/office/drawing/2014/main" id="{486A14B4-485E-E5DE-47EA-6A7DC30AF5CC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2400" dirty="0" err="1">
                <a:latin typeface="Arial" panose="020B0604020202020204" pitchFamily="34" charset="0"/>
                <a:cs typeface="Arial" panose="020B0604020202020204" pitchFamily="34" charset="0"/>
              </a:rPr>
              <a:t>Theoretical</a:t>
            </a:r>
            <a:r>
              <a:rPr lang="de-DE" sz="2400" dirty="0">
                <a:latin typeface="Arial" panose="020B0604020202020204" pitchFamily="34" charset="0"/>
                <a:cs typeface="Arial" panose="020B0604020202020204" pitchFamily="34" charset="0"/>
              </a:rPr>
              <a:t> Framework (II)</a:t>
            </a: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C0965EB1-FCF8-8CEF-2F80-2B6ECAD8BAE4}"/>
              </a:ext>
            </a:extLst>
          </p:cNvPr>
          <p:cNvSpPr/>
          <p:nvPr/>
        </p:nvSpPr>
        <p:spPr>
          <a:xfrm>
            <a:off x="376323" y="728896"/>
            <a:ext cx="547600" cy="144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1)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2730DB4C-2BFB-A9F7-19E6-03AB89BE61C9}"/>
              </a:ext>
            </a:extLst>
          </p:cNvPr>
          <p:cNvSpPr/>
          <p:nvPr/>
        </p:nvSpPr>
        <p:spPr>
          <a:xfrm>
            <a:off x="1112921" y="728896"/>
            <a:ext cx="2850535" cy="144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Identify relevant regimes in the data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6639F194-6AFB-AAE3-6531-6B44F69E4ECD}"/>
              </a:ext>
            </a:extLst>
          </p:cNvPr>
          <p:cNvSpPr/>
          <p:nvPr/>
        </p:nvSpPr>
        <p:spPr>
          <a:xfrm>
            <a:off x="4330396" y="990170"/>
            <a:ext cx="2988000" cy="161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= 2 regimes (high volatility vs. low volatility)</a:t>
            </a: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BCE0BD48-6E41-7208-0692-E1E72FA27BA1}"/>
              </a:ext>
            </a:extLst>
          </p:cNvPr>
          <p:cNvSpPr/>
          <p:nvPr/>
        </p:nvSpPr>
        <p:spPr>
          <a:xfrm>
            <a:off x="7547874" y="1224009"/>
            <a:ext cx="2969970" cy="37252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Classical approaches: Univariate econometric modelling (benchmarks)</a:t>
            </a: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5CAB209E-3252-D7DB-0127-6303A85EC043}"/>
              </a:ext>
            </a:extLst>
          </p:cNvPr>
          <p:cNvSpPr/>
          <p:nvPr/>
        </p:nvSpPr>
        <p:spPr>
          <a:xfrm>
            <a:off x="1112919" y="1224009"/>
            <a:ext cx="2969970" cy="37252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Alternative approaches: Multivariate Clustering using additional variables</a:t>
            </a:r>
          </a:p>
        </p:txBody>
      </p:sp>
      <p:cxnSp>
        <p:nvCxnSpPr>
          <p:cNvPr id="24" name="Gerade Verbindung mit Pfeil 23">
            <a:extLst>
              <a:ext uri="{FF2B5EF4-FFF2-40B4-BE49-F238E27FC236}">
                <a16:creationId xmlns:a16="http://schemas.microsoft.com/office/drawing/2014/main" id="{DCB3143E-25CE-4BA2-EF6E-4A975B8643F6}"/>
              </a:ext>
            </a:extLst>
          </p:cNvPr>
          <p:cNvCxnSpPr>
            <a:cxnSpLocks/>
            <a:stCxn id="21" idx="2"/>
            <a:endCxn id="23" idx="3"/>
          </p:cNvCxnSpPr>
          <p:nvPr/>
        </p:nvCxnSpPr>
        <p:spPr>
          <a:xfrm flipH="1">
            <a:off x="4082889" y="1151391"/>
            <a:ext cx="1741507" cy="2588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D98D6D79-61CE-9212-877A-69D558C2A9D2}"/>
              </a:ext>
            </a:extLst>
          </p:cNvPr>
          <p:cNvCxnSpPr>
            <a:cxnSpLocks/>
            <a:stCxn id="21" idx="2"/>
            <a:endCxn id="22" idx="1"/>
          </p:cNvCxnSpPr>
          <p:nvPr/>
        </p:nvCxnSpPr>
        <p:spPr>
          <a:xfrm>
            <a:off x="5824396" y="1151391"/>
            <a:ext cx="1723478" cy="2588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Rechteck 36">
            <a:extLst>
              <a:ext uri="{FF2B5EF4-FFF2-40B4-BE49-F238E27FC236}">
                <a16:creationId xmlns:a16="http://schemas.microsoft.com/office/drawing/2014/main" id="{8DD25FF0-7B9D-D3F4-B308-E3DAFE68A3E0}"/>
              </a:ext>
            </a:extLst>
          </p:cNvPr>
          <p:cNvSpPr/>
          <p:nvPr/>
        </p:nvSpPr>
        <p:spPr>
          <a:xfrm>
            <a:off x="7547874" y="1729708"/>
            <a:ext cx="2850535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Markov Regression/Switching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21B35F85-5C60-A2B2-9AED-A39CA8450E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5513" y="3469439"/>
            <a:ext cx="1240264" cy="756609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1FE0D6D8-413C-B0B5-6FF1-5207E8412C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17262" y="4038858"/>
            <a:ext cx="1600200" cy="266700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5ACD4DEC-1D2B-19A7-8B63-B85590BD69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37141" y="3399966"/>
            <a:ext cx="2437821" cy="905592"/>
          </a:xfrm>
          <a:prstGeom prst="rect">
            <a:avLst/>
          </a:prstGeom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54D91347-74D8-4128-A021-014DA9906DC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62164" y="4364294"/>
            <a:ext cx="2347226" cy="989747"/>
          </a:xfrm>
          <a:prstGeom prst="rect">
            <a:avLst/>
          </a:prstGeom>
        </p:spPr>
      </p:pic>
      <p:pic>
        <p:nvPicPr>
          <p:cNvPr id="18" name="Grafik 17">
            <a:extLst>
              <a:ext uri="{FF2B5EF4-FFF2-40B4-BE49-F238E27FC236}">
                <a16:creationId xmlns:a16="http://schemas.microsoft.com/office/drawing/2014/main" id="{09EBC807-DA31-5B87-258C-588C9B52FEB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79498" y="4396789"/>
            <a:ext cx="1995464" cy="1239552"/>
          </a:xfrm>
          <a:prstGeom prst="rect">
            <a:avLst/>
          </a:prstGeom>
        </p:spPr>
      </p:pic>
      <p:pic>
        <p:nvPicPr>
          <p:cNvPr id="19" name="Grafik 18">
            <a:extLst>
              <a:ext uri="{FF2B5EF4-FFF2-40B4-BE49-F238E27FC236}">
                <a16:creationId xmlns:a16="http://schemas.microsoft.com/office/drawing/2014/main" id="{5C58E6A0-07CE-9181-EF27-C8A2F0276CE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86135" y="5338659"/>
            <a:ext cx="2373088" cy="906992"/>
          </a:xfrm>
          <a:prstGeom prst="rect">
            <a:avLst/>
          </a:prstGeom>
        </p:spPr>
      </p:pic>
      <p:pic>
        <p:nvPicPr>
          <p:cNvPr id="20" name="Grafik 19">
            <a:extLst>
              <a:ext uri="{FF2B5EF4-FFF2-40B4-BE49-F238E27FC236}">
                <a16:creationId xmlns:a16="http://schemas.microsoft.com/office/drawing/2014/main" id="{462AE5FB-E160-CC98-6E33-3AF3AFC70F9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441057" y="5636341"/>
            <a:ext cx="1733905" cy="843834"/>
          </a:xfrm>
          <a:prstGeom prst="rect">
            <a:avLst/>
          </a:prstGeom>
        </p:spPr>
      </p:pic>
      <p:graphicFrame>
        <p:nvGraphicFramePr>
          <p:cNvPr id="25" name="Tabelle 24">
            <a:extLst>
              <a:ext uri="{FF2B5EF4-FFF2-40B4-BE49-F238E27FC236}">
                <a16:creationId xmlns:a16="http://schemas.microsoft.com/office/drawing/2014/main" id="{191E56BF-65D1-0604-83F1-D404606A697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38041432"/>
              </p:ext>
            </p:extLst>
          </p:nvPr>
        </p:nvGraphicFramePr>
        <p:xfrm>
          <a:off x="1102735" y="1670952"/>
          <a:ext cx="4460423" cy="2684838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45923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1921193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</a:tblGrid>
              <a:tr h="263672"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Algorithm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Source package (version)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Category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4375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KMeans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scikit-learn (1.7.2)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Clustering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  <a:tr h="23437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AgglomerativeClustering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scikit-learn (1.7.2)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Clustering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5578983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DBSCAN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scikit-learn (1.7.2)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Clustering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6497854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SpectralClustering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scikit-learn (1.7.2)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Clustering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55077558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MeanShift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scikit-learn (1.7.2)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Clustering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7185513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GaussianMixture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scikit-learn (1.7.2)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Clustering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58406197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Birch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scikit-learn (1.7.2)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Clustering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43982446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AffinityPropagation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scikit-learn (1.7.2)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Clustering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83791469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OPTICS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scikit-learn (1.7.2)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Clustering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82612393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MiniBatchKMeans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scikit-learn (1.7.2)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Clustering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84772991"/>
                  </a:ext>
                </a:extLst>
              </a:tr>
            </a:tbl>
          </a:graphicData>
        </a:graphic>
      </p:graphicFrame>
      <p:graphicFrame>
        <p:nvGraphicFramePr>
          <p:cNvPr id="26" name="Tabelle 25">
            <a:extLst>
              <a:ext uri="{FF2B5EF4-FFF2-40B4-BE49-F238E27FC236}">
                <a16:creationId xmlns:a16="http://schemas.microsoft.com/office/drawing/2014/main" id="{2CA932F0-FF5E-538B-F33F-F6EA7802857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70909615"/>
              </p:ext>
            </p:extLst>
          </p:nvPr>
        </p:nvGraphicFramePr>
        <p:xfrm>
          <a:off x="6948697" y="2069493"/>
          <a:ext cx="4168323" cy="766592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16713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1921193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</a:tblGrid>
              <a:tr h="263672"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Algorithm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Source package (version)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Category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437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MarkovRegression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statsmodels (0.14.5)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Regime Switching Regression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</a:tbl>
          </a:graphicData>
        </a:graphic>
      </p:graphicFrame>
      <p:sp>
        <p:nvSpPr>
          <p:cNvPr id="3" name="Geschweifte Klammer links 2">
            <a:extLst>
              <a:ext uri="{FF2B5EF4-FFF2-40B4-BE49-F238E27FC236}">
                <a16:creationId xmlns:a16="http://schemas.microsoft.com/office/drawing/2014/main" id="{3493DB9E-2C94-8084-D29D-13BDFE0720BD}"/>
              </a:ext>
            </a:extLst>
          </p:cNvPr>
          <p:cNvSpPr/>
          <p:nvPr/>
        </p:nvSpPr>
        <p:spPr>
          <a:xfrm rot="16200000">
            <a:off x="3198670" y="2334275"/>
            <a:ext cx="268558" cy="4460423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graphicFrame>
        <p:nvGraphicFramePr>
          <p:cNvPr id="5" name="Tabelle 4">
            <a:extLst>
              <a:ext uri="{FF2B5EF4-FFF2-40B4-BE49-F238E27FC236}">
                <a16:creationId xmlns:a16="http://schemas.microsoft.com/office/drawing/2014/main" id="{FBFCF98F-771C-0813-20F1-CE1317934EB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82963421"/>
              </p:ext>
            </p:extLst>
          </p:nvPr>
        </p:nvGraphicFramePr>
        <p:xfrm>
          <a:off x="1072396" y="5046446"/>
          <a:ext cx="4490762" cy="79248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61594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1801368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1073454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</a:tblGrid>
              <a:tr h="263672"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Technique</a:t>
                      </a:r>
                      <a:endParaRPr lang="de-DE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Source package (version)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Category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4375">
                <a:tc>
                  <a:txBody>
                    <a:bodyPr/>
                    <a:lstStyle/>
                    <a:p>
                      <a:pPr algn="ctr"/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GridSearchCV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scikit-learn (1.7.2)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Parameter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Optimization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</a:tbl>
          </a:graphicData>
        </a:graphic>
      </p:graphicFrame>
      <p:sp>
        <p:nvSpPr>
          <p:cNvPr id="6" name="Rechteck 5">
            <a:extLst>
              <a:ext uri="{FF2B5EF4-FFF2-40B4-BE49-F238E27FC236}">
                <a16:creationId xmlns:a16="http://schemas.microsoft.com/office/drawing/2014/main" id="{32FEE27F-95EE-DEED-7397-BB968F5C810B}"/>
              </a:ext>
            </a:extLst>
          </p:cNvPr>
          <p:cNvSpPr/>
          <p:nvPr/>
        </p:nvSpPr>
        <p:spPr>
          <a:xfrm>
            <a:off x="1907678" y="4751167"/>
            <a:ext cx="2850535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Hyperparameter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Optimisation</a:t>
            </a:r>
            <a:endParaRPr lang="de-DE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8FBCD425-D912-7A64-E17D-940F90EC19AF}"/>
              </a:ext>
            </a:extLst>
          </p:cNvPr>
          <p:cNvSpPr/>
          <p:nvPr/>
        </p:nvSpPr>
        <p:spPr>
          <a:xfrm>
            <a:off x="1071562" y="6120513"/>
            <a:ext cx="1620000" cy="21620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TimeSeriesSplit</a:t>
            </a:r>
            <a:endParaRPr lang="de-DE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9FE57130-780F-1242-233E-7AF177D7AD84}"/>
              </a:ext>
            </a:extLst>
          </p:cNvPr>
          <p:cNvSpPr/>
          <p:nvPr/>
        </p:nvSpPr>
        <p:spPr>
          <a:xfrm>
            <a:off x="3942324" y="6120513"/>
            <a:ext cx="1620834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PurgedTimeSeriesSplit</a:t>
            </a:r>
            <a:endParaRPr lang="de-DE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60393098-2965-2B68-EAE6-59833D554545}"/>
              </a:ext>
            </a:extLst>
          </p:cNvPr>
          <p:cNvCxnSpPr>
            <a:cxnSpLocks/>
            <a:stCxn id="5" idx="2"/>
            <a:endCxn id="8" idx="0"/>
          </p:cNvCxnSpPr>
          <p:nvPr/>
        </p:nvCxnSpPr>
        <p:spPr>
          <a:xfrm>
            <a:off x="3317777" y="5838926"/>
            <a:ext cx="1434964" cy="28158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1B800936-FFF5-9A06-3234-0B882F67A212}"/>
              </a:ext>
            </a:extLst>
          </p:cNvPr>
          <p:cNvCxnSpPr>
            <a:cxnSpLocks/>
            <a:stCxn id="5" idx="2"/>
            <a:endCxn id="7" idx="0"/>
          </p:cNvCxnSpPr>
          <p:nvPr/>
        </p:nvCxnSpPr>
        <p:spPr>
          <a:xfrm flipH="1">
            <a:off x="1881562" y="5838926"/>
            <a:ext cx="1436215" cy="28158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7534399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4A7E9F-43F9-5DFC-0383-DDDDAC311E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Rechteck 48">
            <a:extLst>
              <a:ext uri="{FF2B5EF4-FFF2-40B4-BE49-F238E27FC236}">
                <a16:creationId xmlns:a16="http://schemas.microsoft.com/office/drawing/2014/main" id="{02B33C8D-42D8-7A2C-97A8-03E2E749BCC5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2400" dirty="0" err="1">
                <a:latin typeface="Arial" panose="020B0604020202020204" pitchFamily="34" charset="0"/>
                <a:cs typeface="Arial" panose="020B0604020202020204" pitchFamily="34" charset="0"/>
              </a:rPr>
              <a:t>Theoretical</a:t>
            </a:r>
            <a:r>
              <a:rPr lang="de-DE" sz="2400" dirty="0">
                <a:latin typeface="Arial" panose="020B0604020202020204" pitchFamily="34" charset="0"/>
                <a:cs typeface="Arial" panose="020B0604020202020204" pitchFamily="34" charset="0"/>
              </a:rPr>
              <a:t> Framework (III)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8F54ADB2-B149-B409-C8E6-C7CD7113A746}"/>
              </a:ext>
            </a:extLst>
          </p:cNvPr>
          <p:cNvSpPr/>
          <p:nvPr/>
        </p:nvSpPr>
        <p:spPr>
          <a:xfrm>
            <a:off x="215456" y="682953"/>
            <a:ext cx="547600" cy="144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2)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82ED42DC-D506-3763-18CE-273E33265963}"/>
              </a:ext>
            </a:extLst>
          </p:cNvPr>
          <p:cNvSpPr/>
          <p:nvPr/>
        </p:nvSpPr>
        <p:spPr>
          <a:xfrm>
            <a:off x="952054" y="682953"/>
            <a:ext cx="2850535" cy="144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Analyze and compare the regimes</a:t>
            </a: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698ACBCE-853C-2E82-4FCA-204C598A7ABD}"/>
              </a:ext>
            </a:extLst>
          </p:cNvPr>
          <p:cNvSpPr/>
          <p:nvPr/>
        </p:nvSpPr>
        <p:spPr>
          <a:xfrm>
            <a:off x="952059" y="2427238"/>
            <a:ext cx="5004000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Theoretically affecting crisis periods - major global shocks and us recessions</a:t>
            </a: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1C205661-3FB5-27A8-FF0A-613BDC13C5BE}"/>
              </a:ext>
            </a:extLst>
          </p:cNvPr>
          <p:cNvSpPr/>
          <p:nvPr/>
        </p:nvSpPr>
        <p:spPr>
          <a:xfrm>
            <a:off x="952059" y="911365"/>
            <a:ext cx="3816000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Model evaluation and selection</a:t>
            </a:r>
          </a:p>
        </p:txBody>
      </p:sp>
      <p:graphicFrame>
        <p:nvGraphicFramePr>
          <p:cNvPr id="3" name="Tabelle 2">
            <a:extLst>
              <a:ext uri="{FF2B5EF4-FFF2-40B4-BE49-F238E27FC236}">
                <a16:creationId xmlns:a16="http://schemas.microsoft.com/office/drawing/2014/main" id="{AB5C5E8D-2779-73F6-B891-F5883B202C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3400092"/>
              </p:ext>
            </p:extLst>
          </p:nvPr>
        </p:nvGraphicFramePr>
        <p:xfrm>
          <a:off x="952055" y="1167391"/>
          <a:ext cx="9791910" cy="9504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51003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1921193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1116330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  <a:gridCol w="1013143">
                  <a:extLst>
                    <a:ext uri="{9D8B030D-6E8A-4147-A177-3AD203B41FA5}">
                      <a16:colId xmlns:a16="http://schemas.microsoft.com/office/drawing/2014/main" val="1498112505"/>
                    </a:ext>
                  </a:extLst>
                </a:gridCol>
                <a:gridCol w="4231214">
                  <a:extLst>
                    <a:ext uri="{9D8B030D-6E8A-4147-A177-3AD203B41FA5}">
                      <a16:colId xmlns:a16="http://schemas.microsoft.com/office/drawing/2014/main" val="1316433638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Evaluation metric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Source package (version)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Category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Value range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Interpretation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Silhouette Score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scikit-learn (1.7.2)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Clustering Scores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[-1, 1]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 being best, -1 being worst, values near 0 indicate overlapping clusters. 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RCM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Paper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[0, 100]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5578983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Crisis overlap percentage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Own computation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61324491"/>
                  </a:ext>
                </a:extLst>
              </a:tr>
            </a:tbl>
          </a:graphicData>
        </a:graphic>
      </p:graphicFrame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75E309DD-F646-F4A7-64AE-E808C3BCC6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85483884"/>
              </p:ext>
            </p:extLst>
          </p:nvPr>
        </p:nvGraphicFramePr>
        <p:xfrm>
          <a:off x="952054" y="2687143"/>
          <a:ext cx="9404922" cy="357100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73786">
                  <a:extLst>
                    <a:ext uri="{9D8B030D-6E8A-4147-A177-3AD203B41FA5}">
                      <a16:colId xmlns:a16="http://schemas.microsoft.com/office/drawing/2014/main" val="2975178182"/>
                    </a:ext>
                  </a:extLst>
                </a:gridCol>
                <a:gridCol w="1105345">
                  <a:extLst>
                    <a:ext uri="{9D8B030D-6E8A-4147-A177-3AD203B41FA5}">
                      <a16:colId xmlns:a16="http://schemas.microsoft.com/office/drawing/2014/main" val="2920841970"/>
                    </a:ext>
                  </a:extLst>
                </a:gridCol>
                <a:gridCol w="1090435">
                  <a:extLst>
                    <a:ext uri="{9D8B030D-6E8A-4147-A177-3AD203B41FA5}">
                      <a16:colId xmlns:a16="http://schemas.microsoft.com/office/drawing/2014/main" val="2491132898"/>
                    </a:ext>
                  </a:extLst>
                </a:gridCol>
                <a:gridCol w="1758923">
                  <a:extLst>
                    <a:ext uri="{9D8B030D-6E8A-4147-A177-3AD203B41FA5}">
                      <a16:colId xmlns:a16="http://schemas.microsoft.com/office/drawing/2014/main" val="3640099135"/>
                    </a:ext>
                  </a:extLst>
                </a:gridCol>
                <a:gridCol w="2432381">
                  <a:extLst>
                    <a:ext uri="{9D8B030D-6E8A-4147-A177-3AD203B41FA5}">
                      <a16:colId xmlns:a16="http://schemas.microsoft.com/office/drawing/2014/main" val="1431062659"/>
                    </a:ext>
                  </a:extLst>
                </a:gridCol>
                <a:gridCol w="2444052">
                  <a:extLst>
                    <a:ext uri="{9D8B030D-6E8A-4147-A177-3AD203B41FA5}">
                      <a16:colId xmlns:a16="http://schemas.microsoft.com/office/drawing/2014/main" val="2286573246"/>
                    </a:ext>
                  </a:extLst>
                </a:gridCol>
              </a:tblGrid>
              <a:tr h="171318">
                <a:tc>
                  <a:txBody>
                    <a:bodyPr/>
                    <a:lstStyle/>
                    <a:p>
                      <a:pPr algn="ctr" fontAlgn="b"/>
                      <a:r>
                        <a:rPr lang="de-DE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No.</a:t>
                      </a:r>
                    </a:p>
                  </a:txBody>
                  <a:tcPr marL="8566" marR="8566" marT="8566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1100" b="1" u="none" strike="noStrike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Start-date</a:t>
                      </a:r>
                      <a:endParaRPr lang="de-DE" sz="1100" b="1" i="0" u="none" strike="noStrike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1100" b="1" u="none" strike="noStrike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End-date</a:t>
                      </a:r>
                      <a:endParaRPr lang="de-DE" sz="1100" b="1" i="0" u="none" strike="noStrike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1100" b="1" u="none" strike="noStrike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Event-Type</a:t>
                      </a:r>
                      <a:endParaRPr lang="de-DE" sz="1100" b="1" i="0" u="none" strike="noStrike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Event</a:t>
                      </a:r>
                    </a:p>
                  </a:txBody>
                  <a:tcPr marL="8566" marR="8566" marT="8566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1100" b="1" u="none" strike="noStrike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Source</a:t>
                      </a:r>
                      <a:endParaRPr lang="de-DE" sz="1100" b="1" i="0" u="none" strike="noStrike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9731443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1970-01-01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1970-12-01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US-Recession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 Recession 1970-1970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FRED: USREC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47748657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1971-08-15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1973-03-19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Bretton Woods Breakdown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Various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72465442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1971-08-15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1973-03-19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Nixon Shock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Various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00083656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1973-10-17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1974-03-01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Oil Crisis I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Various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99882049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5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1973-12-01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1975-04-01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US-Recession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 Recession 1973-1975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FRED: USREC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17132909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1979-01-01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1981-03-01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Oil Crisis II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Various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19787468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7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1980-02-01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1980-08-01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US-Recession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 Recession 1980-1980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FRED: USREC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89639066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8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1981-08-01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1982-12-01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US-Recession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 Recession 1981-1982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FRED: USREC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86477127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9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1987-10-19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1987-10-19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Black Monday Crash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Various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81646899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10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1990-08-01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1991-04-01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US-Recession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 Recession 1990-1991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FRED: USREC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88968524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11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1997-07-02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1998-12-31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Asian Financial Crisis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Various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24113705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12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1998-08-17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1998-09-01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Russian Crisis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Various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3536028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13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2000-03-01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2002-10-01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Dot-com Bubble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Various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03398720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14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2001-04-01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2001-12-01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US-Recession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 Recession 2001-2001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FRED: USREC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8747341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15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2007-08-09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2009-03-09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Global Financial Crisis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Various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97489982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16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2008-01-01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2009-07-01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US-Recession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 Recession 2008-2009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FRED: USREC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82380043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17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2008-11-25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2014-12-31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 QE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Various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05467765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18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2009-10-01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2012-12-31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European Debt Crisis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Various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4542053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2011-08-20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2011-08-05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 Debt Ceiling Crisis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Various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13125058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2018-03-22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2020-01-15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US-China Trade War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Various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8018509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21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2020-02-20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2021-11-16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COVID-19 Pandemic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Various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15658122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22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2020-03-01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2020-05-01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US-Recession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 Recession 2020-2020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FRED: USREC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89815750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23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2022-02-24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2022-06-01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Russia-Ukraine War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Various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92388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191147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1A86FF-0FA1-FA96-F37A-21BE396C18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Rechteck 48">
            <a:extLst>
              <a:ext uri="{FF2B5EF4-FFF2-40B4-BE49-F238E27FC236}">
                <a16:creationId xmlns:a16="http://schemas.microsoft.com/office/drawing/2014/main" id="{2F1D4B39-6ECD-A011-3D89-D6208F0757AB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2400" dirty="0" err="1">
                <a:latin typeface="Arial" panose="020B0604020202020204" pitchFamily="34" charset="0"/>
                <a:cs typeface="Arial" panose="020B0604020202020204" pitchFamily="34" charset="0"/>
              </a:rPr>
              <a:t>Theoretical</a:t>
            </a:r>
            <a:r>
              <a:rPr lang="de-DE" sz="2400" dirty="0">
                <a:latin typeface="Arial" panose="020B0604020202020204" pitchFamily="34" charset="0"/>
                <a:cs typeface="Arial" panose="020B0604020202020204" pitchFamily="34" charset="0"/>
              </a:rPr>
              <a:t> Framework (IV)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F026C892-2E94-1107-A258-C8124E337D86}"/>
              </a:ext>
            </a:extLst>
          </p:cNvPr>
          <p:cNvSpPr/>
          <p:nvPr/>
        </p:nvSpPr>
        <p:spPr>
          <a:xfrm>
            <a:off x="215456" y="682953"/>
            <a:ext cx="547600" cy="144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3)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B095F87D-A565-3E72-9DAA-8DD34D44EB8F}"/>
              </a:ext>
            </a:extLst>
          </p:cNvPr>
          <p:cNvSpPr/>
          <p:nvPr/>
        </p:nvSpPr>
        <p:spPr>
          <a:xfrm>
            <a:off x="952054" y="682953"/>
            <a:ext cx="2850535" cy="144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Test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for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UIP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conditional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on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regimes</a:t>
            </a:r>
            <a:endParaRPr lang="de-DE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BEADD146-03B0-C365-61EA-2666941F6D64}"/>
              </a:ext>
            </a:extLst>
          </p:cNvPr>
          <p:cNvSpPr/>
          <p:nvPr/>
        </p:nvSpPr>
        <p:spPr>
          <a:xfrm>
            <a:off x="952059" y="911365"/>
            <a:ext cx="3816000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Model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comparison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– UIP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Testing</a:t>
            </a:r>
            <a:endParaRPr lang="de-DE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064A2696-F1DF-14FD-2228-6A8E9EFF39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2206" y="1206776"/>
            <a:ext cx="3890517" cy="18436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295575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13000"/>
            <a:lum bright="30000" contrast="45000"/>
          </a:blip>
          <a:srcRect/>
          <a:stretch>
            <a:fillRect l="50000" t="-28000" r="-35000" b="-13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B61BD31-E41C-32E5-CB26-73CD8B2AE3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BFF4BF66-5482-53AC-ED7C-8225E60A2FBA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pic>
        <p:nvPicPr>
          <p:cNvPr id="7" name="Grafik 6" descr="Ein Bild, das Text, Schrift, Screenshot, Grafiken enthält.&#10;&#10;Automatisch generierte Beschreibung">
            <a:extLst>
              <a:ext uri="{FF2B5EF4-FFF2-40B4-BE49-F238E27FC236}">
                <a16:creationId xmlns:a16="http://schemas.microsoft.com/office/drawing/2014/main" id="{62C5BAF0-AD8C-D57B-C614-5150314E57E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64271" y="-67456"/>
            <a:ext cx="1771272" cy="885636"/>
          </a:xfrm>
          <a:prstGeom prst="rect">
            <a:avLst/>
          </a:prstGeom>
        </p:spPr>
      </p:pic>
      <p:sp>
        <p:nvSpPr>
          <p:cNvPr id="3" name="Rechteck 2">
            <a:extLst>
              <a:ext uri="{FF2B5EF4-FFF2-40B4-BE49-F238E27FC236}">
                <a16:creationId xmlns:a16="http://schemas.microsoft.com/office/drawing/2014/main" id="{18D9E65A-EF33-23FC-1FF7-67BC136923B9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solidFill>
            <a:srgbClr val="00677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3600" dirty="0">
                <a:latin typeface="Arial" panose="020B0604020202020204" pitchFamily="34" charset="0"/>
                <a:cs typeface="Arial" panose="020B0604020202020204" pitchFamily="34" charset="0"/>
              </a:rPr>
              <a:t>Chapter 5)</a:t>
            </a:r>
          </a:p>
        </p:txBody>
      </p:sp>
      <p:sp>
        <p:nvSpPr>
          <p:cNvPr id="6" name="Abgerundetes Rechteck 5">
            <a:extLst>
              <a:ext uri="{FF2B5EF4-FFF2-40B4-BE49-F238E27FC236}">
                <a16:creationId xmlns:a16="http://schemas.microsoft.com/office/drawing/2014/main" id="{8CDF5D73-B632-4729-DE34-23C491524185}"/>
              </a:ext>
            </a:extLst>
          </p:cNvPr>
          <p:cNvSpPr/>
          <p:nvPr/>
        </p:nvSpPr>
        <p:spPr>
          <a:xfrm>
            <a:off x="2821153" y="2996762"/>
            <a:ext cx="5892623" cy="486650"/>
          </a:xfrm>
          <a:prstGeom prst="roundRect">
            <a:avLst/>
          </a:prstGeom>
          <a:solidFill>
            <a:srgbClr val="00677C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3200" b="1" dirty="0">
                <a:latin typeface="Arial" panose="020B0604020202020204" pitchFamily="34" charset="0"/>
                <a:cs typeface="Arial" panose="020B0604020202020204" pitchFamily="34" charset="0"/>
              </a:rPr>
              <a:t>Methodology Overview</a:t>
            </a:r>
            <a:endParaRPr lang="de-DE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2379754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2BAD20-E796-1EE6-F1F4-6DE5BFB810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ustomShape 3">
            <a:extLst>
              <a:ext uri="{FF2B5EF4-FFF2-40B4-BE49-F238E27FC236}">
                <a16:creationId xmlns:a16="http://schemas.microsoft.com/office/drawing/2014/main" id="{D7F7FB85-4E9D-84C1-96E4-C5B3043593B5}"/>
              </a:ext>
            </a:extLst>
          </p:cNvPr>
          <p:cNvSpPr/>
          <p:nvPr/>
        </p:nvSpPr>
        <p:spPr>
          <a:xfrm>
            <a:off x="540000" y="743529"/>
            <a:ext cx="10079640" cy="269117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/>
          <a:lstStyle/>
          <a:p>
            <a:pPr>
              <a:lnSpc>
                <a:spcPct val="100000"/>
              </a:lnSpc>
            </a:pPr>
            <a:r>
              <a:rPr lang="de-DE" sz="1400" b="1" spc="-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relationship between Energy Commodity Prices and exchange rates: Transmission channels</a:t>
            </a:r>
            <a:endParaRPr lang="de-DE" sz="1400" b="0" strike="noStrike" spc="-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1C335FAC-F85F-20FB-E7C7-5D38364D8B01}"/>
              </a:ext>
            </a:extLst>
          </p:cNvPr>
          <p:cNvSpPr/>
          <p:nvPr/>
        </p:nvSpPr>
        <p:spPr>
          <a:xfrm>
            <a:off x="1843534" y="4785555"/>
            <a:ext cx="2401991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Volatility and Risk Spillover Effects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24E632F0-ACE3-0DAB-5FA2-1DA5F3534911}"/>
              </a:ext>
            </a:extLst>
          </p:cNvPr>
          <p:cNvSpPr/>
          <p:nvPr/>
        </p:nvSpPr>
        <p:spPr>
          <a:xfrm>
            <a:off x="8746536" y="4005332"/>
            <a:ext cx="1492776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Oil export and import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077F835F-4EF6-44F8-43B6-075AB1250D85}"/>
              </a:ext>
            </a:extLst>
          </p:cNvPr>
          <p:cNvSpPr/>
          <p:nvPr/>
        </p:nvSpPr>
        <p:spPr>
          <a:xfrm>
            <a:off x="1793695" y="2322789"/>
            <a:ext cx="2489092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Financial Transmission Channels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D253F265-53D5-D8AB-DAE8-2C8A71B499AD}"/>
              </a:ext>
            </a:extLst>
          </p:cNvPr>
          <p:cNvSpPr/>
          <p:nvPr/>
        </p:nvSpPr>
        <p:spPr>
          <a:xfrm>
            <a:off x="8173122" y="2312621"/>
            <a:ext cx="2729150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Fundamental Transmission Channels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FB3D74FF-F7E2-C9C7-7760-817DF146BE28}"/>
              </a:ext>
            </a:extLst>
          </p:cNvPr>
          <p:cNvSpPr/>
          <p:nvPr/>
        </p:nvSpPr>
        <p:spPr>
          <a:xfrm>
            <a:off x="4683001" y="2316511"/>
            <a:ext cx="2918077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Macroeconomic Transmission Channels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57727AD4-DC24-0B86-82F6-FC41548A5B1D}"/>
              </a:ext>
            </a:extLst>
          </p:cNvPr>
          <p:cNvSpPr/>
          <p:nvPr/>
        </p:nvSpPr>
        <p:spPr>
          <a:xfrm>
            <a:off x="8930782" y="2860833"/>
            <a:ext cx="1213829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Monetary Policy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816A8A89-BD6D-401D-3C1B-52235CA9B8CF}"/>
              </a:ext>
            </a:extLst>
          </p:cNvPr>
          <p:cNvSpPr/>
          <p:nvPr/>
        </p:nvSpPr>
        <p:spPr>
          <a:xfrm>
            <a:off x="5714201" y="3415883"/>
            <a:ext cx="763593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Inflation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741EF3A8-2956-95B6-2F5A-B99143FCB4D2}"/>
              </a:ext>
            </a:extLst>
          </p:cNvPr>
          <p:cNvSpPr/>
          <p:nvPr/>
        </p:nvSpPr>
        <p:spPr>
          <a:xfrm>
            <a:off x="5682450" y="4303966"/>
            <a:ext cx="1515134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Denomination Effect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F8F8B152-EED8-4423-1C73-CC17CD51EEA3}"/>
              </a:ext>
            </a:extLst>
          </p:cNvPr>
          <p:cNvSpPr/>
          <p:nvPr/>
        </p:nvSpPr>
        <p:spPr>
          <a:xfrm>
            <a:off x="2204319" y="2851296"/>
            <a:ext cx="1667844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Wealth Transfer Effect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3CFBA069-CCF6-532F-F4CB-76B9BD8755B3}"/>
              </a:ext>
            </a:extLst>
          </p:cNvPr>
          <p:cNvSpPr/>
          <p:nvPr/>
        </p:nvSpPr>
        <p:spPr>
          <a:xfrm>
            <a:off x="4755460" y="2850665"/>
            <a:ext cx="2773157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(Risk Parity) Portfolio Rebalancing Effect</a:t>
            </a:r>
          </a:p>
        </p:txBody>
      </p: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8A0CFAEC-01B2-A0CA-E857-3AF00A946BA0}"/>
              </a:ext>
            </a:extLst>
          </p:cNvPr>
          <p:cNvCxnSpPr/>
          <p:nvPr/>
        </p:nvCxnSpPr>
        <p:spPr>
          <a:xfrm>
            <a:off x="778932" y="2260600"/>
            <a:ext cx="103039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Rechteck 17">
            <a:extLst>
              <a:ext uri="{FF2B5EF4-FFF2-40B4-BE49-F238E27FC236}">
                <a16:creationId xmlns:a16="http://schemas.microsoft.com/office/drawing/2014/main" id="{19CF8815-EF39-ABFA-1238-004A8F1101E6}"/>
              </a:ext>
            </a:extLst>
          </p:cNvPr>
          <p:cNvSpPr/>
          <p:nvPr/>
        </p:nvSpPr>
        <p:spPr>
          <a:xfrm>
            <a:off x="411140" y="1782177"/>
            <a:ext cx="918576" cy="18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Timeframe</a:t>
            </a: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C4344797-D1BE-0F39-8003-717929ABE343}"/>
              </a:ext>
            </a:extLst>
          </p:cNvPr>
          <p:cNvSpPr/>
          <p:nvPr/>
        </p:nvSpPr>
        <p:spPr>
          <a:xfrm>
            <a:off x="2296467" y="1860414"/>
            <a:ext cx="1495049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Short Run Dynamics</a:t>
            </a: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F8DEBD9E-73EE-F468-25B0-C1F48E091FED}"/>
              </a:ext>
            </a:extLst>
          </p:cNvPr>
          <p:cNvSpPr/>
          <p:nvPr/>
        </p:nvSpPr>
        <p:spPr>
          <a:xfrm>
            <a:off x="8712197" y="1921320"/>
            <a:ext cx="1651001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Long Run Relationship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7AF715F8-8652-7032-E72B-7601076C96FA}"/>
              </a:ext>
            </a:extLst>
          </p:cNvPr>
          <p:cNvSpPr/>
          <p:nvPr/>
        </p:nvSpPr>
        <p:spPr>
          <a:xfrm>
            <a:off x="5376297" y="1861070"/>
            <a:ext cx="1487262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Mid-term fluctuations</a:t>
            </a:r>
          </a:p>
        </p:txBody>
      </p:sp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1670D4AF-BD95-BB10-7C89-69CCA8CD936F}"/>
              </a:ext>
            </a:extLst>
          </p:cNvPr>
          <p:cNvCxnSpPr>
            <a:cxnSpLocks/>
          </p:cNvCxnSpPr>
          <p:nvPr/>
        </p:nvCxnSpPr>
        <p:spPr>
          <a:xfrm>
            <a:off x="778932" y="2260600"/>
            <a:ext cx="0" cy="36576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5" name="Rechteck 24">
            <a:extLst>
              <a:ext uri="{FF2B5EF4-FFF2-40B4-BE49-F238E27FC236}">
                <a16:creationId xmlns:a16="http://schemas.microsoft.com/office/drawing/2014/main" id="{CD56A400-2E4C-A636-1EE5-377F0A0E74E9}"/>
              </a:ext>
            </a:extLst>
          </p:cNvPr>
          <p:cNvSpPr/>
          <p:nvPr/>
        </p:nvSpPr>
        <p:spPr>
          <a:xfrm>
            <a:off x="0" y="2056589"/>
            <a:ext cx="1329718" cy="18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Relationship Type</a:t>
            </a: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939CE900-17E4-83ED-0FF6-EEA1F83BEF37}"/>
              </a:ext>
            </a:extLst>
          </p:cNvPr>
          <p:cNvSpPr/>
          <p:nvPr/>
        </p:nvSpPr>
        <p:spPr>
          <a:xfrm rot="16200000">
            <a:off x="45155" y="2812203"/>
            <a:ext cx="655716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Linear</a:t>
            </a: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82433117-232D-D43C-F701-BE591F5A3D2A}"/>
              </a:ext>
            </a:extLst>
          </p:cNvPr>
          <p:cNvSpPr/>
          <p:nvPr/>
        </p:nvSpPr>
        <p:spPr>
          <a:xfrm rot="16200000">
            <a:off x="-84698" y="4912223"/>
            <a:ext cx="915424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Non-Linear</a:t>
            </a: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F3727570-03AC-E92B-9D9E-07638E8FF6FA}"/>
              </a:ext>
            </a:extLst>
          </p:cNvPr>
          <p:cNvSpPr/>
          <p:nvPr/>
        </p:nvSpPr>
        <p:spPr>
          <a:xfrm>
            <a:off x="5041037" y="4796163"/>
            <a:ext cx="2373309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(US) Terms of Trade Effect</a:t>
            </a: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E8E84B6A-9295-3B6A-2AAC-70E318E45433}"/>
              </a:ext>
            </a:extLst>
          </p:cNvPr>
          <p:cNvSpPr/>
          <p:nvPr/>
        </p:nvSpPr>
        <p:spPr>
          <a:xfrm>
            <a:off x="411140" y="1482055"/>
            <a:ext cx="1110289" cy="18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Datafrequency</a:t>
            </a:r>
          </a:p>
        </p:txBody>
      </p:sp>
      <p:cxnSp>
        <p:nvCxnSpPr>
          <p:cNvPr id="31" name="Gerade Verbindung mit Pfeil 30">
            <a:extLst>
              <a:ext uri="{FF2B5EF4-FFF2-40B4-BE49-F238E27FC236}">
                <a16:creationId xmlns:a16="http://schemas.microsoft.com/office/drawing/2014/main" id="{2ABF927C-6532-EF25-3DB9-B165E7B109FA}"/>
              </a:ext>
            </a:extLst>
          </p:cNvPr>
          <p:cNvCxnSpPr/>
          <p:nvPr/>
        </p:nvCxnSpPr>
        <p:spPr>
          <a:xfrm>
            <a:off x="778932" y="1765243"/>
            <a:ext cx="103039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2" name="Rechteck 31">
            <a:extLst>
              <a:ext uri="{FF2B5EF4-FFF2-40B4-BE49-F238E27FC236}">
                <a16:creationId xmlns:a16="http://schemas.microsoft.com/office/drawing/2014/main" id="{3F211A30-3C89-7603-2902-726ABA95F9B3}"/>
              </a:ext>
            </a:extLst>
          </p:cNvPr>
          <p:cNvSpPr/>
          <p:nvPr/>
        </p:nvSpPr>
        <p:spPr>
          <a:xfrm>
            <a:off x="2275981" y="1464107"/>
            <a:ext cx="1536022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Daily, Weely, Monthly</a:t>
            </a: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0969D7CE-36B1-464F-AEE4-F2BC016C28E2}"/>
              </a:ext>
            </a:extLst>
          </p:cNvPr>
          <p:cNvSpPr/>
          <p:nvPr/>
        </p:nvSpPr>
        <p:spPr>
          <a:xfrm>
            <a:off x="5435044" y="1464107"/>
            <a:ext cx="1329719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Monthly, Quarterly</a:t>
            </a: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04EDFBED-BE1F-16ED-923E-BDB55CDDEE4D}"/>
              </a:ext>
            </a:extLst>
          </p:cNvPr>
          <p:cNvSpPr/>
          <p:nvPr/>
        </p:nvSpPr>
        <p:spPr>
          <a:xfrm>
            <a:off x="8828065" y="1464107"/>
            <a:ext cx="1329719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Annually</a:t>
            </a: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2188E2BA-0200-8E7D-E4BF-57E474E7CE46}"/>
              </a:ext>
            </a:extLst>
          </p:cNvPr>
          <p:cNvSpPr/>
          <p:nvPr/>
        </p:nvSpPr>
        <p:spPr>
          <a:xfrm>
            <a:off x="5372776" y="4005332"/>
            <a:ext cx="1435102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Expectation Effects</a:t>
            </a:r>
          </a:p>
        </p:txBody>
      </p:sp>
      <p:cxnSp>
        <p:nvCxnSpPr>
          <p:cNvPr id="37" name="Gewinkelte Verbindung 36">
            <a:extLst>
              <a:ext uri="{FF2B5EF4-FFF2-40B4-BE49-F238E27FC236}">
                <a16:creationId xmlns:a16="http://schemas.microsoft.com/office/drawing/2014/main" id="{CDA3FC37-EF11-7705-0A77-B9C2FDA2D7A8}"/>
              </a:ext>
            </a:extLst>
          </p:cNvPr>
          <p:cNvCxnSpPr>
            <a:cxnSpLocks/>
            <a:endCxn id="13" idx="1"/>
          </p:cNvCxnSpPr>
          <p:nvPr/>
        </p:nvCxnSpPr>
        <p:spPr>
          <a:xfrm rot="16200000" flipH="1">
            <a:off x="5518186" y="4247702"/>
            <a:ext cx="174014" cy="15451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Gerade Verbindung 41">
            <a:extLst>
              <a:ext uri="{FF2B5EF4-FFF2-40B4-BE49-F238E27FC236}">
                <a16:creationId xmlns:a16="http://schemas.microsoft.com/office/drawing/2014/main" id="{88C80A15-7A7C-8E86-8118-A92442E97EEF}"/>
              </a:ext>
            </a:extLst>
          </p:cNvPr>
          <p:cNvCxnSpPr/>
          <p:nvPr/>
        </p:nvCxnSpPr>
        <p:spPr>
          <a:xfrm>
            <a:off x="4500492" y="1534937"/>
            <a:ext cx="0" cy="4287483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Gerade Verbindung 42">
            <a:extLst>
              <a:ext uri="{FF2B5EF4-FFF2-40B4-BE49-F238E27FC236}">
                <a16:creationId xmlns:a16="http://schemas.microsoft.com/office/drawing/2014/main" id="{FA11DBCE-08E6-3647-01EE-C5BF895F9069}"/>
              </a:ext>
            </a:extLst>
          </p:cNvPr>
          <p:cNvCxnSpPr/>
          <p:nvPr/>
        </p:nvCxnSpPr>
        <p:spPr>
          <a:xfrm>
            <a:off x="7853290" y="1529117"/>
            <a:ext cx="0" cy="4287483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4" name="Gerade Verbindung 43">
            <a:extLst>
              <a:ext uri="{FF2B5EF4-FFF2-40B4-BE49-F238E27FC236}">
                <a16:creationId xmlns:a16="http://schemas.microsoft.com/office/drawing/2014/main" id="{C5AE9B1F-901B-6B27-1C7A-7209097BAA36}"/>
              </a:ext>
            </a:extLst>
          </p:cNvPr>
          <p:cNvCxnSpPr>
            <a:cxnSpLocks/>
          </p:cNvCxnSpPr>
          <p:nvPr/>
        </p:nvCxnSpPr>
        <p:spPr>
          <a:xfrm>
            <a:off x="265012" y="3909431"/>
            <a:ext cx="10690855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1" name="Rechteck 50">
            <a:extLst>
              <a:ext uri="{FF2B5EF4-FFF2-40B4-BE49-F238E27FC236}">
                <a16:creationId xmlns:a16="http://schemas.microsoft.com/office/drawing/2014/main" id="{43296D82-6E52-8B7C-8B25-7501C20ECE69}"/>
              </a:ext>
            </a:extLst>
          </p:cNvPr>
          <p:cNvSpPr/>
          <p:nvPr/>
        </p:nvSpPr>
        <p:spPr>
          <a:xfrm>
            <a:off x="9046221" y="4303966"/>
            <a:ext cx="1605757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Commodity Currencies</a:t>
            </a:r>
          </a:p>
        </p:txBody>
      </p:sp>
      <p:cxnSp>
        <p:nvCxnSpPr>
          <p:cNvPr id="52" name="Gewinkelte Verbindung 51">
            <a:extLst>
              <a:ext uri="{FF2B5EF4-FFF2-40B4-BE49-F238E27FC236}">
                <a16:creationId xmlns:a16="http://schemas.microsoft.com/office/drawing/2014/main" id="{8BFB2F93-6A48-1F50-B6FC-14E651A6C917}"/>
              </a:ext>
            </a:extLst>
          </p:cNvPr>
          <p:cNvCxnSpPr>
            <a:cxnSpLocks/>
            <a:endCxn id="51" idx="1"/>
          </p:cNvCxnSpPr>
          <p:nvPr/>
        </p:nvCxnSpPr>
        <p:spPr>
          <a:xfrm rot="16200000" flipH="1">
            <a:off x="8881957" y="4247702"/>
            <a:ext cx="174014" cy="15451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Rechteck 1">
            <a:extLst>
              <a:ext uri="{FF2B5EF4-FFF2-40B4-BE49-F238E27FC236}">
                <a16:creationId xmlns:a16="http://schemas.microsoft.com/office/drawing/2014/main" id="{17A71FB6-D072-0717-BA12-D4D6C06D00D6}"/>
              </a:ext>
            </a:extLst>
          </p:cNvPr>
          <p:cNvSpPr/>
          <p:nvPr/>
        </p:nvSpPr>
        <p:spPr>
          <a:xfrm>
            <a:off x="5690581" y="4550064"/>
            <a:ext cx="1667844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Dominant Pricing Effect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529091BE-4A5B-0EF5-7E5A-F7A3AEA548B1}"/>
              </a:ext>
            </a:extLst>
          </p:cNvPr>
          <p:cNvSpPr/>
          <p:nvPr/>
        </p:nvSpPr>
        <p:spPr>
          <a:xfrm>
            <a:off x="2204319" y="3148351"/>
            <a:ext cx="1667844" cy="49305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DCC - GRACH</a:t>
            </a:r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87031130-C61F-326F-B8DA-6843B06F2F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1627" y="2636365"/>
            <a:ext cx="4117052" cy="3657600"/>
          </a:xfrm>
          <a:prstGeom prst="rect">
            <a:avLst/>
          </a:prstGeom>
        </p:spPr>
      </p:pic>
      <p:sp>
        <p:nvSpPr>
          <p:cNvPr id="16" name="Rechteck 15">
            <a:extLst>
              <a:ext uri="{FF2B5EF4-FFF2-40B4-BE49-F238E27FC236}">
                <a16:creationId xmlns:a16="http://schemas.microsoft.com/office/drawing/2014/main" id="{533BCD88-E6BD-F0D5-1197-3A807AC3E8C7}"/>
              </a:ext>
            </a:extLst>
          </p:cNvPr>
          <p:cNvSpPr/>
          <p:nvPr/>
        </p:nvSpPr>
        <p:spPr>
          <a:xfrm>
            <a:off x="1885543" y="3965101"/>
            <a:ext cx="1667844" cy="49305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VAR</a:t>
            </a: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55A81917-1044-5C15-8D02-840E0835B6C4}"/>
              </a:ext>
            </a:extLst>
          </p:cNvPr>
          <p:cNvSpPr/>
          <p:nvPr/>
        </p:nvSpPr>
        <p:spPr>
          <a:xfrm>
            <a:off x="2292104" y="3444207"/>
            <a:ext cx="1667844" cy="49305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SVAR</a:t>
            </a:r>
          </a:p>
        </p:txBody>
      </p:sp>
    </p:spTree>
    <p:extLst>
      <p:ext uri="{BB962C8B-B14F-4D97-AF65-F5344CB8AC3E}">
        <p14:creationId xmlns:p14="http://schemas.microsoft.com/office/powerpoint/2010/main" val="249702553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184817-5310-267E-9D93-4FFF68B37F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9" name="Gerade Verbindung 38">
            <a:extLst>
              <a:ext uri="{FF2B5EF4-FFF2-40B4-BE49-F238E27FC236}">
                <a16:creationId xmlns:a16="http://schemas.microsoft.com/office/drawing/2014/main" id="{44F02557-566E-ABFE-A63B-E971481BA2B8}"/>
              </a:ext>
            </a:extLst>
          </p:cNvPr>
          <p:cNvCxnSpPr/>
          <p:nvPr/>
        </p:nvCxnSpPr>
        <p:spPr>
          <a:xfrm>
            <a:off x="5003670" y="1012646"/>
            <a:ext cx="0" cy="4287483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" name="CustomShape 3">
            <a:extLst>
              <a:ext uri="{FF2B5EF4-FFF2-40B4-BE49-F238E27FC236}">
                <a16:creationId xmlns:a16="http://schemas.microsoft.com/office/drawing/2014/main" id="{0819741F-CF4B-BAE2-960A-015C7AFDF3C4}"/>
              </a:ext>
            </a:extLst>
          </p:cNvPr>
          <p:cNvSpPr/>
          <p:nvPr/>
        </p:nvSpPr>
        <p:spPr>
          <a:xfrm>
            <a:off x="540000" y="743529"/>
            <a:ext cx="10079640" cy="269117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/>
          <a:lstStyle/>
          <a:p>
            <a:pPr>
              <a:lnSpc>
                <a:spcPct val="100000"/>
              </a:lnSpc>
            </a:pPr>
            <a:r>
              <a:rPr lang="de-DE" sz="1400" b="1" spc="-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relationship between Energy Commodity Prices and exchange rates: Econometric modelling </a:t>
            </a:r>
            <a:endParaRPr lang="de-DE" sz="1400" b="0" strike="noStrike" spc="-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CDEC4D6D-1C3C-17DB-D63A-05047A97D0E9}"/>
              </a:ext>
            </a:extLst>
          </p:cNvPr>
          <p:cNvSpPr/>
          <p:nvPr/>
        </p:nvSpPr>
        <p:spPr>
          <a:xfrm>
            <a:off x="1564188" y="1182569"/>
            <a:ext cx="1329718" cy="18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Relationship Type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6B0CA8E9-01B9-9B6A-9426-857F2C6668B6}"/>
              </a:ext>
            </a:extLst>
          </p:cNvPr>
          <p:cNvSpPr/>
          <p:nvPr/>
        </p:nvSpPr>
        <p:spPr>
          <a:xfrm>
            <a:off x="4347861" y="1597403"/>
            <a:ext cx="1329718" cy="18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Relationship</a:t>
            </a: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038B7DF9-7673-E6B1-D7CA-464A91A7CB2E}"/>
              </a:ext>
            </a:extLst>
          </p:cNvPr>
          <p:cNvSpPr/>
          <p:nvPr/>
        </p:nvSpPr>
        <p:spPr>
          <a:xfrm>
            <a:off x="4265195" y="1933779"/>
            <a:ext cx="1495049" cy="216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Correlation</a:t>
            </a: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EE9748DC-C95B-724D-BEBE-A0525B98F38C}"/>
              </a:ext>
            </a:extLst>
          </p:cNvPr>
          <p:cNvSpPr/>
          <p:nvPr/>
        </p:nvSpPr>
        <p:spPr>
          <a:xfrm>
            <a:off x="3421713" y="1167973"/>
            <a:ext cx="1495049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Linear</a:t>
            </a: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E26B94DC-D64F-901A-4DB7-881C106CD901}"/>
              </a:ext>
            </a:extLst>
          </p:cNvPr>
          <p:cNvSpPr/>
          <p:nvPr/>
        </p:nvSpPr>
        <p:spPr>
          <a:xfrm>
            <a:off x="5085147" y="1164569"/>
            <a:ext cx="1495049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Non-linear</a:t>
            </a: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6A7B4CF5-B35A-3757-432F-187385F2F1C2}"/>
              </a:ext>
            </a:extLst>
          </p:cNvPr>
          <p:cNvSpPr/>
          <p:nvPr/>
        </p:nvSpPr>
        <p:spPr>
          <a:xfrm>
            <a:off x="3313071" y="2424480"/>
            <a:ext cx="1495049" cy="40212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Linear Pearson Correlation</a:t>
            </a: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BFB7EC7F-3FD3-4349-C0CC-EA528B46B0DE}"/>
              </a:ext>
            </a:extLst>
          </p:cNvPr>
          <p:cNvSpPr/>
          <p:nvPr/>
        </p:nvSpPr>
        <p:spPr>
          <a:xfrm>
            <a:off x="5175681" y="2424480"/>
            <a:ext cx="1495049" cy="40212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Non-linear rank correlation</a:t>
            </a: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A2099ED4-3F22-BAB9-CB08-483E6D8B9BD4}"/>
              </a:ext>
            </a:extLst>
          </p:cNvPr>
          <p:cNvSpPr/>
          <p:nvPr/>
        </p:nvSpPr>
        <p:spPr>
          <a:xfrm>
            <a:off x="2443271" y="3093740"/>
            <a:ext cx="1495049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Granger-Causality</a:t>
            </a:r>
          </a:p>
        </p:txBody>
      </p:sp>
      <p:sp>
        <p:nvSpPr>
          <p:cNvPr id="41" name="Rechteck 40">
            <a:extLst>
              <a:ext uri="{FF2B5EF4-FFF2-40B4-BE49-F238E27FC236}">
                <a16:creationId xmlns:a16="http://schemas.microsoft.com/office/drawing/2014/main" id="{65D3966F-C84D-34A4-3CA7-4B256E8F79D0}"/>
              </a:ext>
            </a:extLst>
          </p:cNvPr>
          <p:cNvSpPr/>
          <p:nvPr/>
        </p:nvSpPr>
        <p:spPr>
          <a:xfrm>
            <a:off x="4210544" y="4612557"/>
            <a:ext cx="1495049" cy="216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Cointegration</a:t>
            </a:r>
          </a:p>
        </p:txBody>
      </p:sp>
      <p:sp>
        <p:nvSpPr>
          <p:cNvPr id="45" name="Rechteck 44">
            <a:extLst>
              <a:ext uri="{FF2B5EF4-FFF2-40B4-BE49-F238E27FC236}">
                <a16:creationId xmlns:a16="http://schemas.microsoft.com/office/drawing/2014/main" id="{CFC6ED35-12C9-C92A-9A1A-7E3ECFE8B4AC}"/>
              </a:ext>
            </a:extLst>
          </p:cNvPr>
          <p:cNvSpPr/>
          <p:nvPr/>
        </p:nvSpPr>
        <p:spPr>
          <a:xfrm>
            <a:off x="4191257" y="5087913"/>
            <a:ext cx="1495049" cy="216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Connectedness</a:t>
            </a:r>
          </a:p>
        </p:txBody>
      </p:sp>
      <p:cxnSp>
        <p:nvCxnSpPr>
          <p:cNvPr id="47" name="Gerade Verbindung mit Pfeil 46">
            <a:extLst>
              <a:ext uri="{FF2B5EF4-FFF2-40B4-BE49-F238E27FC236}">
                <a16:creationId xmlns:a16="http://schemas.microsoft.com/office/drawing/2014/main" id="{01FFB200-5314-B158-EFEA-C54C915B6805}"/>
              </a:ext>
            </a:extLst>
          </p:cNvPr>
          <p:cNvCxnSpPr>
            <a:stCxn id="23" idx="2"/>
            <a:endCxn id="36" idx="0"/>
          </p:cNvCxnSpPr>
          <p:nvPr/>
        </p:nvCxnSpPr>
        <p:spPr>
          <a:xfrm flipH="1">
            <a:off x="4060596" y="2149779"/>
            <a:ext cx="952124" cy="27470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8" name="Gerade Verbindung mit Pfeil 47">
            <a:extLst>
              <a:ext uri="{FF2B5EF4-FFF2-40B4-BE49-F238E27FC236}">
                <a16:creationId xmlns:a16="http://schemas.microsoft.com/office/drawing/2014/main" id="{D28C7E10-2C36-CB5B-FC07-42839D42A291}"/>
              </a:ext>
            </a:extLst>
          </p:cNvPr>
          <p:cNvCxnSpPr>
            <a:cxnSpLocks/>
            <a:stCxn id="23" idx="2"/>
            <a:endCxn id="38" idx="0"/>
          </p:cNvCxnSpPr>
          <p:nvPr/>
        </p:nvCxnSpPr>
        <p:spPr>
          <a:xfrm>
            <a:off x="5012720" y="2149779"/>
            <a:ext cx="910486" cy="27470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3" name="Gerade Verbindung mit Pfeil 52">
            <a:extLst>
              <a:ext uri="{FF2B5EF4-FFF2-40B4-BE49-F238E27FC236}">
                <a16:creationId xmlns:a16="http://schemas.microsoft.com/office/drawing/2014/main" id="{732874AF-67E6-3731-E328-D90FA9AC0CEE}"/>
              </a:ext>
            </a:extLst>
          </p:cNvPr>
          <p:cNvCxnSpPr>
            <a:cxnSpLocks/>
            <a:stCxn id="36" idx="2"/>
            <a:endCxn id="40" idx="0"/>
          </p:cNvCxnSpPr>
          <p:nvPr/>
        </p:nvCxnSpPr>
        <p:spPr>
          <a:xfrm flipH="1">
            <a:off x="3190796" y="2826607"/>
            <a:ext cx="869800" cy="26713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6" name="Rechteck 55">
            <a:extLst>
              <a:ext uri="{FF2B5EF4-FFF2-40B4-BE49-F238E27FC236}">
                <a16:creationId xmlns:a16="http://schemas.microsoft.com/office/drawing/2014/main" id="{DB473DC3-0802-1B1D-E2CA-B15F3C18F55C}"/>
              </a:ext>
            </a:extLst>
          </p:cNvPr>
          <p:cNvSpPr/>
          <p:nvPr/>
        </p:nvSpPr>
        <p:spPr>
          <a:xfrm>
            <a:off x="4191256" y="5620763"/>
            <a:ext cx="1495049" cy="52824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Vector Autoregression (VAR)</a:t>
            </a:r>
          </a:p>
        </p:txBody>
      </p:sp>
      <p:sp>
        <p:nvSpPr>
          <p:cNvPr id="57" name="Rechteck 56">
            <a:extLst>
              <a:ext uri="{FF2B5EF4-FFF2-40B4-BE49-F238E27FC236}">
                <a16:creationId xmlns:a16="http://schemas.microsoft.com/office/drawing/2014/main" id="{1F287F64-41FC-92B6-E26F-2A707EFA7E65}"/>
              </a:ext>
            </a:extLst>
          </p:cNvPr>
          <p:cNvSpPr/>
          <p:nvPr/>
        </p:nvSpPr>
        <p:spPr>
          <a:xfrm>
            <a:off x="6095410" y="3651348"/>
            <a:ext cx="1495049" cy="40212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Regime Switching</a:t>
            </a:r>
          </a:p>
        </p:txBody>
      </p:sp>
      <p:sp>
        <p:nvSpPr>
          <p:cNvPr id="58" name="Rechteck 57">
            <a:extLst>
              <a:ext uri="{FF2B5EF4-FFF2-40B4-BE49-F238E27FC236}">
                <a16:creationId xmlns:a16="http://schemas.microsoft.com/office/drawing/2014/main" id="{2FEB09D5-548A-EEE9-E024-9B0FA12F968C}"/>
              </a:ext>
            </a:extLst>
          </p:cNvPr>
          <p:cNvSpPr/>
          <p:nvPr/>
        </p:nvSpPr>
        <p:spPr>
          <a:xfrm>
            <a:off x="6095410" y="4235614"/>
            <a:ext cx="1495049" cy="40212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Markov-Switching</a:t>
            </a:r>
          </a:p>
        </p:txBody>
      </p:sp>
      <p:cxnSp>
        <p:nvCxnSpPr>
          <p:cNvPr id="59" name="Gerade Verbindung mit Pfeil 58">
            <a:extLst>
              <a:ext uri="{FF2B5EF4-FFF2-40B4-BE49-F238E27FC236}">
                <a16:creationId xmlns:a16="http://schemas.microsoft.com/office/drawing/2014/main" id="{AF6F4AB1-851F-142F-B6A0-251DC4B65C78}"/>
              </a:ext>
            </a:extLst>
          </p:cNvPr>
          <p:cNvCxnSpPr>
            <a:cxnSpLocks/>
            <a:stCxn id="57" idx="2"/>
            <a:endCxn id="58" idx="0"/>
          </p:cNvCxnSpPr>
          <p:nvPr/>
        </p:nvCxnSpPr>
        <p:spPr>
          <a:xfrm>
            <a:off x="6842935" y="4053475"/>
            <a:ext cx="0" cy="18213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2" name="Rechteck 61">
            <a:extLst>
              <a:ext uri="{FF2B5EF4-FFF2-40B4-BE49-F238E27FC236}">
                <a16:creationId xmlns:a16="http://schemas.microsoft.com/office/drawing/2014/main" id="{75C028C9-BB8F-0AD2-961D-CEEDC47AC25F}"/>
              </a:ext>
            </a:extLst>
          </p:cNvPr>
          <p:cNvSpPr/>
          <p:nvPr/>
        </p:nvSpPr>
        <p:spPr>
          <a:xfrm>
            <a:off x="4265195" y="3665025"/>
            <a:ext cx="1495049" cy="37132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Time-varying causality</a:t>
            </a:r>
          </a:p>
        </p:txBody>
      </p:sp>
      <p:cxnSp>
        <p:nvCxnSpPr>
          <p:cNvPr id="63" name="Gerade Verbindung mit Pfeil 62">
            <a:extLst>
              <a:ext uri="{FF2B5EF4-FFF2-40B4-BE49-F238E27FC236}">
                <a16:creationId xmlns:a16="http://schemas.microsoft.com/office/drawing/2014/main" id="{FA4859EF-6480-2912-A543-60C80AC0161C}"/>
              </a:ext>
            </a:extLst>
          </p:cNvPr>
          <p:cNvCxnSpPr>
            <a:cxnSpLocks/>
            <a:stCxn id="40" idx="2"/>
            <a:endCxn id="62" idx="0"/>
          </p:cNvCxnSpPr>
          <p:nvPr/>
        </p:nvCxnSpPr>
        <p:spPr>
          <a:xfrm>
            <a:off x="3190796" y="3309740"/>
            <a:ext cx="1821924" cy="35528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7" name="Gerade Verbindung mit Pfeil 66">
            <a:extLst>
              <a:ext uri="{FF2B5EF4-FFF2-40B4-BE49-F238E27FC236}">
                <a16:creationId xmlns:a16="http://schemas.microsoft.com/office/drawing/2014/main" id="{6EE9DD6E-D5ED-8201-8222-D20A995210D7}"/>
              </a:ext>
            </a:extLst>
          </p:cNvPr>
          <p:cNvCxnSpPr>
            <a:cxnSpLocks/>
            <a:stCxn id="62" idx="3"/>
            <a:endCxn id="57" idx="1"/>
          </p:cNvCxnSpPr>
          <p:nvPr/>
        </p:nvCxnSpPr>
        <p:spPr>
          <a:xfrm>
            <a:off x="5760244" y="3850689"/>
            <a:ext cx="335166" cy="172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0" name="Rechteck 69">
            <a:extLst>
              <a:ext uri="{FF2B5EF4-FFF2-40B4-BE49-F238E27FC236}">
                <a16:creationId xmlns:a16="http://schemas.microsoft.com/office/drawing/2014/main" id="{AB69956F-14F6-8A83-004A-C57AC89ABE70}"/>
              </a:ext>
            </a:extLst>
          </p:cNvPr>
          <p:cNvSpPr/>
          <p:nvPr/>
        </p:nvSpPr>
        <p:spPr>
          <a:xfrm>
            <a:off x="1562920" y="4430812"/>
            <a:ext cx="1667844" cy="49305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DCC - GRACH</a:t>
            </a:r>
          </a:p>
        </p:txBody>
      </p:sp>
      <p:sp>
        <p:nvSpPr>
          <p:cNvPr id="71" name="Rechteck 70">
            <a:extLst>
              <a:ext uri="{FF2B5EF4-FFF2-40B4-BE49-F238E27FC236}">
                <a16:creationId xmlns:a16="http://schemas.microsoft.com/office/drawing/2014/main" id="{7F984D5E-75D1-D322-81F0-D8B4581A6F5E}"/>
              </a:ext>
            </a:extLst>
          </p:cNvPr>
          <p:cNvSpPr/>
          <p:nvPr/>
        </p:nvSpPr>
        <p:spPr>
          <a:xfrm>
            <a:off x="1244144" y="5247562"/>
            <a:ext cx="1667844" cy="49305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VAR</a:t>
            </a:r>
          </a:p>
        </p:txBody>
      </p:sp>
      <p:sp>
        <p:nvSpPr>
          <p:cNvPr id="72" name="Rechteck 71">
            <a:extLst>
              <a:ext uri="{FF2B5EF4-FFF2-40B4-BE49-F238E27FC236}">
                <a16:creationId xmlns:a16="http://schemas.microsoft.com/office/drawing/2014/main" id="{2053A14E-923B-472E-8D72-BFA7E933D4FE}"/>
              </a:ext>
            </a:extLst>
          </p:cNvPr>
          <p:cNvSpPr/>
          <p:nvPr/>
        </p:nvSpPr>
        <p:spPr>
          <a:xfrm>
            <a:off x="1650705" y="4726668"/>
            <a:ext cx="1667844" cy="49305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SVAR</a:t>
            </a:r>
          </a:p>
        </p:txBody>
      </p:sp>
      <p:sp>
        <p:nvSpPr>
          <p:cNvPr id="73" name="Geschweifte Klammer links 72">
            <a:extLst>
              <a:ext uri="{FF2B5EF4-FFF2-40B4-BE49-F238E27FC236}">
                <a16:creationId xmlns:a16="http://schemas.microsoft.com/office/drawing/2014/main" id="{C6DDB5AB-BDFB-B7D6-5847-D809AE3FD070}"/>
              </a:ext>
            </a:extLst>
          </p:cNvPr>
          <p:cNvSpPr/>
          <p:nvPr/>
        </p:nvSpPr>
        <p:spPr>
          <a:xfrm>
            <a:off x="2024106" y="1629702"/>
            <a:ext cx="419165" cy="2253286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74" name="Rechteck 73">
            <a:extLst>
              <a:ext uri="{FF2B5EF4-FFF2-40B4-BE49-F238E27FC236}">
                <a16:creationId xmlns:a16="http://schemas.microsoft.com/office/drawing/2014/main" id="{27EAFFA8-9FE0-FB97-5017-F125E067C3DB}"/>
              </a:ext>
            </a:extLst>
          </p:cNvPr>
          <p:cNvSpPr/>
          <p:nvPr/>
        </p:nvSpPr>
        <p:spPr>
          <a:xfrm>
            <a:off x="476685" y="2424480"/>
            <a:ext cx="1495049" cy="76420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When we find a certain relationship we can proceed further</a:t>
            </a:r>
          </a:p>
        </p:txBody>
      </p:sp>
      <p:sp>
        <p:nvSpPr>
          <p:cNvPr id="77" name="Rechteck 76">
            <a:extLst>
              <a:ext uri="{FF2B5EF4-FFF2-40B4-BE49-F238E27FC236}">
                <a16:creationId xmlns:a16="http://schemas.microsoft.com/office/drawing/2014/main" id="{EEA54DEA-3E61-E23A-991C-16479EC23410}"/>
              </a:ext>
            </a:extLst>
          </p:cNvPr>
          <p:cNvSpPr/>
          <p:nvPr/>
        </p:nvSpPr>
        <p:spPr>
          <a:xfrm>
            <a:off x="4265195" y="3093740"/>
            <a:ext cx="1495049" cy="21221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Rolling Correlation</a:t>
            </a:r>
          </a:p>
        </p:txBody>
      </p:sp>
      <p:cxnSp>
        <p:nvCxnSpPr>
          <p:cNvPr id="78" name="Gerade Verbindung mit Pfeil 77">
            <a:extLst>
              <a:ext uri="{FF2B5EF4-FFF2-40B4-BE49-F238E27FC236}">
                <a16:creationId xmlns:a16="http://schemas.microsoft.com/office/drawing/2014/main" id="{9029CC9D-F3FF-AB5B-4773-37510517BD43}"/>
              </a:ext>
            </a:extLst>
          </p:cNvPr>
          <p:cNvCxnSpPr>
            <a:cxnSpLocks/>
            <a:stCxn id="36" idx="2"/>
            <a:endCxn id="77" idx="0"/>
          </p:cNvCxnSpPr>
          <p:nvPr/>
        </p:nvCxnSpPr>
        <p:spPr>
          <a:xfrm>
            <a:off x="4060596" y="2826607"/>
            <a:ext cx="952124" cy="26713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1" name="Gerade Verbindung mit Pfeil 80">
            <a:extLst>
              <a:ext uri="{FF2B5EF4-FFF2-40B4-BE49-F238E27FC236}">
                <a16:creationId xmlns:a16="http://schemas.microsoft.com/office/drawing/2014/main" id="{E35B6059-A343-14A8-6034-34B9204956FE}"/>
              </a:ext>
            </a:extLst>
          </p:cNvPr>
          <p:cNvCxnSpPr>
            <a:cxnSpLocks/>
            <a:stCxn id="77" idx="2"/>
            <a:endCxn id="62" idx="0"/>
          </p:cNvCxnSpPr>
          <p:nvPr/>
        </p:nvCxnSpPr>
        <p:spPr>
          <a:xfrm>
            <a:off x="5012720" y="3305956"/>
            <a:ext cx="0" cy="35906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8" name="Rechteck 87">
            <a:extLst>
              <a:ext uri="{FF2B5EF4-FFF2-40B4-BE49-F238E27FC236}">
                <a16:creationId xmlns:a16="http://schemas.microsoft.com/office/drawing/2014/main" id="{D793DB29-96BB-C695-83F5-DD3D135ECDF1}"/>
              </a:ext>
            </a:extLst>
          </p:cNvPr>
          <p:cNvSpPr/>
          <p:nvPr/>
        </p:nvSpPr>
        <p:spPr>
          <a:xfrm>
            <a:off x="7808546" y="4509680"/>
            <a:ext cx="1495049" cy="40212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Long Run Relationship</a:t>
            </a:r>
          </a:p>
        </p:txBody>
      </p:sp>
      <p:sp>
        <p:nvSpPr>
          <p:cNvPr id="89" name="Rechteck 88">
            <a:extLst>
              <a:ext uri="{FF2B5EF4-FFF2-40B4-BE49-F238E27FC236}">
                <a16:creationId xmlns:a16="http://schemas.microsoft.com/office/drawing/2014/main" id="{96511A50-7272-CFB6-6346-6DFC13E70339}"/>
              </a:ext>
            </a:extLst>
          </p:cNvPr>
          <p:cNvSpPr/>
          <p:nvPr/>
        </p:nvSpPr>
        <p:spPr>
          <a:xfrm>
            <a:off x="8160906" y="1182569"/>
            <a:ext cx="918576" cy="18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Timeframe</a:t>
            </a:r>
          </a:p>
        </p:txBody>
      </p:sp>
      <p:cxnSp>
        <p:nvCxnSpPr>
          <p:cNvPr id="90" name="Gerade Verbindung 89">
            <a:extLst>
              <a:ext uri="{FF2B5EF4-FFF2-40B4-BE49-F238E27FC236}">
                <a16:creationId xmlns:a16="http://schemas.microsoft.com/office/drawing/2014/main" id="{E84F85FC-ED79-B59A-87AB-D6FAE7541F79}"/>
              </a:ext>
            </a:extLst>
          </p:cNvPr>
          <p:cNvCxnSpPr/>
          <p:nvPr/>
        </p:nvCxnSpPr>
        <p:spPr>
          <a:xfrm>
            <a:off x="7727254" y="1103598"/>
            <a:ext cx="0" cy="4287483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1" name="Gerade Verbindung 90">
            <a:extLst>
              <a:ext uri="{FF2B5EF4-FFF2-40B4-BE49-F238E27FC236}">
                <a16:creationId xmlns:a16="http://schemas.microsoft.com/office/drawing/2014/main" id="{A5978FE9-9B97-F0A9-F5CA-D344B72CC110}"/>
              </a:ext>
            </a:extLst>
          </p:cNvPr>
          <p:cNvCxnSpPr/>
          <p:nvPr/>
        </p:nvCxnSpPr>
        <p:spPr>
          <a:xfrm>
            <a:off x="3186390" y="1164569"/>
            <a:ext cx="0" cy="4287483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2" name="Gerade Verbindung mit Pfeil 91">
            <a:extLst>
              <a:ext uri="{FF2B5EF4-FFF2-40B4-BE49-F238E27FC236}">
                <a16:creationId xmlns:a16="http://schemas.microsoft.com/office/drawing/2014/main" id="{8C5149CE-219C-3F45-659C-27FB103E0AC3}"/>
              </a:ext>
            </a:extLst>
          </p:cNvPr>
          <p:cNvCxnSpPr>
            <a:cxnSpLocks/>
            <a:stCxn id="41" idx="3"/>
            <a:endCxn id="88" idx="1"/>
          </p:cNvCxnSpPr>
          <p:nvPr/>
        </p:nvCxnSpPr>
        <p:spPr>
          <a:xfrm flipV="1">
            <a:off x="5705593" y="4710744"/>
            <a:ext cx="2102953" cy="981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6" name="Rechteck 95">
            <a:extLst>
              <a:ext uri="{FF2B5EF4-FFF2-40B4-BE49-F238E27FC236}">
                <a16:creationId xmlns:a16="http://schemas.microsoft.com/office/drawing/2014/main" id="{9086E540-8D63-582F-8E48-A6DD167B8902}"/>
              </a:ext>
            </a:extLst>
          </p:cNvPr>
          <p:cNvSpPr/>
          <p:nvPr/>
        </p:nvSpPr>
        <p:spPr>
          <a:xfrm>
            <a:off x="378608" y="3633511"/>
            <a:ext cx="1667844" cy="49305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ECM</a:t>
            </a:r>
          </a:p>
        </p:txBody>
      </p:sp>
      <p:sp>
        <p:nvSpPr>
          <p:cNvPr id="97" name="Rechteck 96">
            <a:extLst>
              <a:ext uri="{FF2B5EF4-FFF2-40B4-BE49-F238E27FC236}">
                <a16:creationId xmlns:a16="http://schemas.microsoft.com/office/drawing/2014/main" id="{7419BE5C-8D7E-F0CC-CC59-6B68C821F058}"/>
              </a:ext>
            </a:extLst>
          </p:cNvPr>
          <p:cNvSpPr/>
          <p:nvPr/>
        </p:nvSpPr>
        <p:spPr>
          <a:xfrm>
            <a:off x="1049856" y="5717552"/>
            <a:ext cx="1667844" cy="49305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VECM</a:t>
            </a:r>
          </a:p>
        </p:txBody>
      </p:sp>
      <p:sp>
        <p:nvSpPr>
          <p:cNvPr id="98" name="Rechteck 97">
            <a:extLst>
              <a:ext uri="{FF2B5EF4-FFF2-40B4-BE49-F238E27FC236}">
                <a16:creationId xmlns:a16="http://schemas.microsoft.com/office/drawing/2014/main" id="{657363FA-CCBB-878B-A5C5-2795052BA2DE}"/>
              </a:ext>
            </a:extLst>
          </p:cNvPr>
          <p:cNvSpPr/>
          <p:nvPr/>
        </p:nvSpPr>
        <p:spPr>
          <a:xfrm>
            <a:off x="31386" y="4391211"/>
            <a:ext cx="1667844" cy="49305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MS-VAR</a:t>
            </a: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10966C5E-2567-6B92-9B38-67360F165CC9}"/>
              </a:ext>
            </a:extLst>
          </p:cNvPr>
          <p:cNvSpPr/>
          <p:nvPr/>
        </p:nvSpPr>
        <p:spPr>
          <a:xfrm>
            <a:off x="8117071" y="3886122"/>
            <a:ext cx="1495049" cy="40212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Clustering techniques</a:t>
            </a:r>
          </a:p>
        </p:txBody>
      </p:sp>
      <p:cxnSp>
        <p:nvCxnSpPr>
          <p:cNvPr id="3" name="Gerade Verbindung mit Pfeil 2">
            <a:extLst>
              <a:ext uri="{FF2B5EF4-FFF2-40B4-BE49-F238E27FC236}">
                <a16:creationId xmlns:a16="http://schemas.microsoft.com/office/drawing/2014/main" id="{BFFBB656-F091-14A7-CBC6-5070A1AC180D}"/>
              </a:ext>
            </a:extLst>
          </p:cNvPr>
          <p:cNvCxnSpPr>
            <a:cxnSpLocks/>
            <a:stCxn id="57" idx="2"/>
            <a:endCxn id="2" idx="0"/>
          </p:cNvCxnSpPr>
          <p:nvPr/>
        </p:nvCxnSpPr>
        <p:spPr>
          <a:xfrm flipV="1">
            <a:off x="6842935" y="3886122"/>
            <a:ext cx="2021661" cy="16735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26422534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1F7CBD-8332-74F7-363D-54DEF46BA8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550487F7-DEA4-8B5E-6491-7069043AED81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pic>
        <p:nvPicPr>
          <p:cNvPr id="7" name="Grafik 6" descr="Ein Bild, das Text, Schrift, Screenshot, Grafiken enthält.&#10;&#10;Automatisch generierte Beschreibung">
            <a:extLst>
              <a:ext uri="{FF2B5EF4-FFF2-40B4-BE49-F238E27FC236}">
                <a16:creationId xmlns:a16="http://schemas.microsoft.com/office/drawing/2014/main" id="{60821FED-5F7F-1FE2-BBE8-E06CCD3120F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64271" y="-67456"/>
            <a:ext cx="1771272" cy="885636"/>
          </a:xfrm>
          <a:prstGeom prst="rect">
            <a:avLst/>
          </a:prstGeom>
        </p:spPr>
      </p:pic>
      <p:sp>
        <p:nvSpPr>
          <p:cNvPr id="3" name="Rechteck 2">
            <a:extLst>
              <a:ext uri="{FF2B5EF4-FFF2-40B4-BE49-F238E27FC236}">
                <a16:creationId xmlns:a16="http://schemas.microsoft.com/office/drawing/2014/main" id="{AD8CAB03-51FE-1B16-9670-5131825D91B3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solidFill>
            <a:srgbClr val="00677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3600" dirty="0">
                <a:latin typeface="Arial" panose="020B0604020202020204" pitchFamily="34" charset="0"/>
                <a:cs typeface="Arial" panose="020B0604020202020204" pitchFamily="34" charset="0"/>
              </a:rPr>
              <a:t>Chapter 7)</a:t>
            </a:r>
          </a:p>
        </p:txBody>
      </p:sp>
      <p:sp>
        <p:nvSpPr>
          <p:cNvPr id="6" name="Abgerundetes Rechteck 5">
            <a:extLst>
              <a:ext uri="{FF2B5EF4-FFF2-40B4-BE49-F238E27FC236}">
                <a16:creationId xmlns:a16="http://schemas.microsoft.com/office/drawing/2014/main" id="{587D3387-6A57-9B3C-BB30-E2DF1C88EF9B}"/>
              </a:ext>
            </a:extLst>
          </p:cNvPr>
          <p:cNvSpPr/>
          <p:nvPr/>
        </p:nvSpPr>
        <p:spPr>
          <a:xfrm>
            <a:off x="2821153" y="2996762"/>
            <a:ext cx="5892623" cy="486650"/>
          </a:xfrm>
          <a:prstGeom prst="roundRect">
            <a:avLst/>
          </a:prstGeom>
          <a:solidFill>
            <a:srgbClr val="00677C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3200" b="1" dirty="0">
                <a:latin typeface="Arial" panose="020B0604020202020204" pitchFamily="34" charset="0"/>
                <a:cs typeface="Arial" panose="020B0604020202020204" pitchFamily="34" charset="0"/>
              </a:rPr>
              <a:t>Model </a:t>
            </a:r>
            <a:r>
              <a:rPr lang="de-DE" sz="3200" b="1" dirty="0" err="1">
                <a:latin typeface="Arial" panose="020B0604020202020204" pitchFamily="34" charset="0"/>
                <a:cs typeface="Arial" panose="020B0604020202020204" pitchFamily="34" charset="0"/>
              </a:rPr>
              <a:t>Results</a:t>
            </a:r>
            <a:endParaRPr lang="de-DE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025" name="Picture 1" descr="page42image37982480">
            <a:extLst>
              <a:ext uri="{FF2B5EF4-FFF2-40B4-BE49-F238E27FC236}">
                <a16:creationId xmlns:a16="http://schemas.microsoft.com/office/drawing/2014/main" id="{A696F850-3878-6B28-8B4C-A825E7CC2EA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2705100" cy="190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7578779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C727FD-4D4C-3A23-8D2F-0AA26D9CDD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Rechteck 48">
            <a:extLst>
              <a:ext uri="{FF2B5EF4-FFF2-40B4-BE49-F238E27FC236}">
                <a16:creationId xmlns:a16="http://schemas.microsoft.com/office/drawing/2014/main" id="{45DB04BC-99C3-D773-5405-558DA30BD454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2400" dirty="0">
                <a:latin typeface="Arial" panose="020B0604020202020204" pitchFamily="34" charset="0"/>
                <a:cs typeface="Arial" panose="020B0604020202020204" pitchFamily="34" charset="0"/>
              </a:rPr>
              <a:t>Model </a:t>
            </a:r>
            <a:r>
              <a:rPr lang="de-DE" sz="2400" dirty="0" err="1">
                <a:latin typeface="Arial" panose="020B0604020202020204" pitchFamily="34" charset="0"/>
                <a:cs typeface="Arial" panose="020B0604020202020204" pitchFamily="34" charset="0"/>
              </a:rPr>
              <a:t>results</a:t>
            </a:r>
            <a:r>
              <a:rPr lang="de-DE" sz="2400" dirty="0">
                <a:latin typeface="Arial" panose="020B0604020202020204" pitchFamily="34" charset="0"/>
                <a:cs typeface="Arial" panose="020B0604020202020204" pitchFamily="34" charset="0"/>
              </a:rPr>
              <a:t> - </a:t>
            </a:r>
            <a:r>
              <a:rPr lang="de-DE" sz="2400" dirty="0" err="1">
                <a:latin typeface="Arial" panose="020B0604020202020204" pitchFamily="34" charset="0"/>
                <a:cs typeface="Arial" panose="020B0604020202020204" pitchFamily="34" charset="0"/>
              </a:rPr>
              <a:t>explaining</a:t>
            </a:r>
            <a:r>
              <a:rPr lang="de-DE" sz="2400" dirty="0">
                <a:latin typeface="Arial" panose="020B0604020202020204" pitchFamily="34" charset="0"/>
                <a:cs typeface="Arial" panose="020B0604020202020204" pitchFamily="34" charset="0"/>
              </a:rPr>
              <a:t> UIP</a:t>
            </a:r>
          </a:p>
        </p:txBody>
      </p:sp>
      <p:graphicFrame>
        <p:nvGraphicFramePr>
          <p:cNvPr id="3" name="Tabelle 2">
            <a:extLst>
              <a:ext uri="{FF2B5EF4-FFF2-40B4-BE49-F238E27FC236}">
                <a16:creationId xmlns:a16="http://schemas.microsoft.com/office/drawing/2014/main" id="{0C0F6949-5D6B-651B-A994-4F1D7AB394B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49303180"/>
              </p:ext>
            </p:extLst>
          </p:nvPr>
        </p:nvGraphicFramePr>
        <p:xfrm>
          <a:off x="1044903" y="831954"/>
          <a:ext cx="10101465" cy="4896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458931">
                  <a:extLst>
                    <a:ext uri="{9D8B030D-6E8A-4147-A177-3AD203B41FA5}">
                      <a16:colId xmlns:a16="http://schemas.microsoft.com/office/drawing/2014/main" val="2463779370"/>
                    </a:ext>
                  </a:extLst>
                </a:gridCol>
                <a:gridCol w="1173769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896320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842463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  <a:gridCol w="689051">
                  <a:extLst>
                    <a:ext uri="{9D8B030D-6E8A-4147-A177-3AD203B41FA5}">
                      <a16:colId xmlns:a16="http://schemas.microsoft.com/office/drawing/2014/main" val="1498112505"/>
                    </a:ext>
                  </a:extLst>
                </a:gridCol>
                <a:gridCol w="2799080">
                  <a:extLst>
                    <a:ext uri="{9D8B030D-6E8A-4147-A177-3AD203B41FA5}">
                      <a16:colId xmlns:a16="http://schemas.microsoft.com/office/drawing/2014/main" val="1316433638"/>
                    </a:ext>
                  </a:extLst>
                </a:gridCol>
                <a:gridCol w="2043430">
                  <a:extLst>
                    <a:ext uri="{9D8B030D-6E8A-4147-A177-3AD203B41FA5}">
                      <a16:colId xmlns:a16="http://schemas.microsoft.com/office/drawing/2014/main" val="2435684961"/>
                    </a:ext>
                  </a:extLst>
                </a:gridCol>
                <a:gridCol w="514421">
                  <a:extLst>
                    <a:ext uri="{9D8B030D-6E8A-4147-A177-3AD203B41FA5}">
                      <a16:colId xmlns:a16="http://schemas.microsoft.com/office/drawing/2014/main" val="1526740981"/>
                    </a:ext>
                  </a:extLst>
                </a:gridCol>
                <a:gridCol w="684000">
                  <a:extLst>
                    <a:ext uri="{9D8B030D-6E8A-4147-A177-3AD203B41FA5}">
                      <a16:colId xmlns:a16="http://schemas.microsoft.com/office/drawing/2014/main" val="2450294761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</a:t>
                      </a:r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Model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Start-date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End-date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 Obs.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Dep</a:t>
                      </a:r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Exp</a:t>
                      </a:r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Adj. R2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Linear Regression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1999-01-05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2025-10-14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6715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EUR/USD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spot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exchange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rate (log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first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differences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Central Bank Policy Rate differential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</a:tbl>
          </a:graphicData>
        </a:graphic>
      </p:graphicFrame>
      <p:graphicFrame>
        <p:nvGraphicFramePr>
          <p:cNvPr id="5" name="Tabelle 4">
            <a:extLst>
              <a:ext uri="{FF2B5EF4-FFF2-40B4-BE49-F238E27FC236}">
                <a16:creationId xmlns:a16="http://schemas.microsoft.com/office/drawing/2014/main" id="{75D85585-C098-EB86-CEAD-AC0003C8F9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77632214"/>
              </p:ext>
            </p:extLst>
          </p:nvPr>
        </p:nvGraphicFramePr>
        <p:xfrm>
          <a:off x="1044903" y="1398242"/>
          <a:ext cx="4661967" cy="7200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760730">
                  <a:extLst>
                    <a:ext uri="{9D8B030D-6E8A-4147-A177-3AD203B41FA5}">
                      <a16:colId xmlns:a16="http://schemas.microsoft.com/office/drawing/2014/main" val="2463779370"/>
                    </a:ext>
                  </a:extLst>
                </a:gridCol>
                <a:gridCol w="76708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665480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538480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  <a:gridCol w="521017">
                  <a:extLst>
                    <a:ext uri="{9D8B030D-6E8A-4147-A177-3AD203B41FA5}">
                      <a16:colId xmlns:a16="http://schemas.microsoft.com/office/drawing/2014/main" val="1498112505"/>
                    </a:ext>
                  </a:extLst>
                </a:gridCol>
                <a:gridCol w="703580">
                  <a:extLst>
                    <a:ext uri="{9D8B030D-6E8A-4147-A177-3AD203B41FA5}">
                      <a16:colId xmlns:a16="http://schemas.microsoft.com/office/drawing/2014/main" val="1316433638"/>
                    </a:ext>
                  </a:extLst>
                </a:gridCol>
                <a:gridCol w="705600">
                  <a:extLst>
                    <a:ext uri="{9D8B030D-6E8A-4147-A177-3AD203B41FA5}">
                      <a16:colId xmlns:a16="http://schemas.microsoft.com/office/drawing/2014/main" val="2435684961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/>
                      <a:endParaRPr lang="de-DE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coef</a:t>
                      </a:r>
                      <a:endParaRPr lang="de-DE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std</a:t>
                      </a:r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err</a:t>
                      </a:r>
                      <a:endParaRPr lang="de-DE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P&gt;|t|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[0.025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0.975]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const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-6.038e-06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7.38e-05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-0.082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0.935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-0.000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0.000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i_diff_EUR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2.279e-05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5.41e-05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0.422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0.673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-8.32e-05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5844176"/>
                  </a:ext>
                </a:extLst>
              </a:tr>
            </a:tbl>
          </a:graphicData>
        </a:graphic>
      </p:graphicFrame>
      <p:cxnSp>
        <p:nvCxnSpPr>
          <p:cNvPr id="6" name="Gerade Verbindung 5">
            <a:extLst>
              <a:ext uri="{FF2B5EF4-FFF2-40B4-BE49-F238E27FC236}">
                <a16:creationId xmlns:a16="http://schemas.microsoft.com/office/drawing/2014/main" id="{A3C992C4-F47A-CFA5-71E6-34B5D15061D6}"/>
              </a:ext>
            </a:extLst>
          </p:cNvPr>
          <p:cNvCxnSpPr>
            <a:cxnSpLocks/>
          </p:cNvCxnSpPr>
          <p:nvPr/>
        </p:nvCxnSpPr>
        <p:spPr>
          <a:xfrm>
            <a:off x="925244" y="2215771"/>
            <a:ext cx="10512000" cy="0"/>
          </a:xfrm>
          <a:prstGeom prst="line">
            <a:avLst/>
          </a:prstGeom>
          <a:ln w="19050"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7" name="Tabelle 6">
            <a:extLst>
              <a:ext uri="{FF2B5EF4-FFF2-40B4-BE49-F238E27FC236}">
                <a16:creationId xmlns:a16="http://schemas.microsoft.com/office/drawing/2014/main" id="{52C28980-9118-818E-B856-0F1D8EE59EE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81147540"/>
              </p:ext>
            </p:extLst>
          </p:nvPr>
        </p:nvGraphicFramePr>
        <p:xfrm>
          <a:off x="1044903" y="2313301"/>
          <a:ext cx="10142475" cy="4896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427971">
                  <a:extLst>
                    <a:ext uri="{9D8B030D-6E8A-4147-A177-3AD203B41FA5}">
                      <a16:colId xmlns:a16="http://schemas.microsoft.com/office/drawing/2014/main" val="2463779370"/>
                    </a:ext>
                  </a:extLst>
                </a:gridCol>
                <a:gridCol w="179578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835854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785630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  <a:gridCol w="642567">
                  <a:extLst>
                    <a:ext uri="{9D8B030D-6E8A-4147-A177-3AD203B41FA5}">
                      <a16:colId xmlns:a16="http://schemas.microsoft.com/office/drawing/2014/main" val="1498112505"/>
                    </a:ext>
                  </a:extLst>
                </a:gridCol>
                <a:gridCol w="803593">
                  <a:extLst>
                    <a:ext uri="{9D8B030D-6E8A-4147-A177-3AD203B41FA5}">
                      <a16:colId xmlns:a16="http://schemas.microsoft.com/office/drawing/2014/main" val="2341012291"/>
                    </a:ext>
                  </a:extLst>
                </a:gridCol>
                <a:gridCol w="2799080">
                  <a:extLst>
                    <a:ext uri="{9D8B030D-6E8A-4147-A177-3AD203B41FA5}">
                      <a16:colId xmlns:a16="http://schemas.microsoft.com/office/drawing/2014/main" val="1316433638"/>
                    </a:ext>
                  </a:extLst>
                </a:gridCol>
                <a:gridCol w="2052000">
                  <a:extLst>
                    <a:ext uri="{9D8B030D-6E8A-4147-A177-3AD203B41FA5}">
                      <a16:colId xmlns:a16="http://schemas.microsoft.com/office/drawing/2014/main" val="2435684961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</a:t>
                      </a:r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Model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Start-date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End-date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 Obs.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Regimes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Dep</a:t>
                      </a:r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Exp</a:t>
                      </a:r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Markov (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Switching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 Regression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1999-01-05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2025-10-14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6715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K=2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EUR/USD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spot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exchange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rate (log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first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differences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Central Bank Policy Rate differential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</a:tbl>
          </a:graphicData>
        </a:graphic>
      </p:graphicFrame>
      <p:graphicFrame>
        <p:nvGraphicFramePr>
          <p:cNvPr id="8" name="Tabelle 7">
            <a:extLst>
              <a:ext uri="{FF2B5EF4-FFF2-40B4-BE49-F238E27FC236}">
                <a16:creationId xmlns:a16="http://schemas.microsoft.com/office/drawing/2014/main" id="{90298AFB-66DD-4DE1-8349-601980CFBD3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93760695"/>
              </p:ext>
            </p:extLst>
          </p:nvPr>
        </p:nvGraphicFramePr>
        <p:xfrm>
          <a:off x="1044902" y="2887178"/>
          <a:ext cx="4661967" cy="7200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760730">
                  <a:extLst>
                    <a:ext uri="{9D8B030D-6E8A-4147-A177-3AD203B41FA5}">
                      <a16:colId xmlns:a16="http://schemas.microsoft.com/office/drawing/2014/main" val="2463779370"/>
                    </a:ext>
                  </a:extLst>
                </a:gridCol>
                <a:gridCol w="76708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665480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538480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  <a:gridCol w="521017">
                  <a:extLst>
                    <a:ext uri="{9D8B030D-6E8A-4147-A177-3AD203B41FA5}">
                      <a16:colId xmlns:a16="http://schemas.microsoft.com/office/drawing/2014/main" val="1498112505"/>
                    </a:ext>
                  </a:extLst>
                </a:gridCol>
                <a:gridCol w="703580">
                  <a:extLst>
                    <a:ext uri="{9D8B030D-6E8A-4147-A177-3AD203B41FA5}">
                      <a16:colId xmlns:a16="http://schemas.microsoft.com/office/drawing/2014/main" val="1316433638"/>
                    </a:ext>
                  </a:extLst>
                </a:gridCol>
                <a:gridCol w="705600">
                  <a:extLst>
                    <a:ext uri="{9D8B030D-6E8A-4147-A177-3AD203B41FA5}">
                      <a16:colId xmlns:a16="http://schemas.microsoft.com/office/drawing/2014/main" val="2435684961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/>
                      <a:endParaRPr lang="de-DE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coef</a:t>
                      </a:r>
                      <a:endParaRPr lang="de-DE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std</a:t>
                      </a:r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err</a:t>
                      </a:r>
                      <a:endParaRPr lang="de-DE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P&gt;|t|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[0.025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0.975]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5844176"/>
                  </a:ext>
                </a:extLst>
              </a:tr>
            </a:tbl>
          </a:graphicData>
        </a:graphic>
      </p:graphicFrame>
      <p:graphicFrame>
        <p:nvGraphicFramePr>
          <p:cNvPr id="9" name="Tabelle 8">
            <a:extLst>
              <a:ext uri="{FF2B5EF4-FFF2-40B4-BE49-F238E27FC236}">
                <a16:creationId xmlns:a16="http://schemas.microsoft.com/office/drawing/2014/main" id="{94D6D007-B024-3C98-C1BD-F49D3088208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62205574"/>
              </p:ext>
            </p:extLst>
          </p:nvPr>
        </p:nvGraphicFramePr>
        <p:xfrm>
          <a:off x="1044903" y="3788056"/>
          <a:ext cx="10142475" cy="4896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427971">
                  <a:extLst>
                    <a:ext uri="{9D8B030D-6E8A-4147-A177-3AD203B41FA5}">
                      <a16:colId xmlns:a16="http://schemas.microsoft.com/office/drawing/2014/main" val="2463779370"/>
                    </a:ext>
                  </a:extLst>
                </a:gridCol>
                <a:gridCol w="179578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835854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785630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  <a:gridCol w="642567">
                  <a:extLst>
                    <a:ext uri="{9D8B030D-6E8A-4147-A177-3AD203B41FA5}">
                      <a16:colId xmlns:a16="http://schemas.microsoft.com/office/drawing/2014/main" val="1498112505"/>
                    </a:ext>
                  </a:extLst>
                </a:gridCol>
                <a:gridCol w="803593">
                  <a:extLst>
                    <a:ext uri="{9D8B030D-6E8A-4147-A177-3AD203B41FA5}">
                      <a16:colId xmlns:a16="http://schemas.microsoft.com/office/drawing/2014/main" val="2341012291"/>
                    </a:ext>
                  </a:extLst>
                </a:gridCol>
                <a:gridCol w="2799080">
                  <a:extLst>
                    <a:ext uri="{9D8B030D-6E8A-4147-A177-3AD203B41FA5}">
                      <a16:colId xmlns:a16="http://schemas.microsoft.com/office/drawing/2014/main" val="1316433638"/>
                    </a:ext>
                  </a:extLst>
                </a:gridCol>
                <a:gridCol w="2052000">
                  <a:extLst>
                    <a:ext uri="{9D8B030D-6E8A-4147-A177-3AD203B41FA5}">
                      <a16:colId xmlns:a16="http://schemas.microsoft.com/office/drawing/2014/main" val="2435684961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</a:t>
                      </a:r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Model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Start-date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End-date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 Obs.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Regimes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Dep</a:t>
                      </a:r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Exp</a:t>
                      </a:r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Markov (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Switching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 Regression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1999-01-05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2025-10-14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6715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K=2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EUR/USD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spot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exchange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rate (log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first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differences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Central Bank Policy Rate differential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</a:tbl>
          </a:graphicData>
        </a:graphic>
      </p:graphicFrame>
      <p:graphicFrame>
        <p:nvGraphicFramePr>
          <p:cNvPr id="10" name="Tabelle 9">
            <a:extLst>
              <a:ext uri="{FF2B5EF4-FFF2-40B4-BE49-F238E27FC236}">
                <a16:creationId xmlns:a16="http://schemas.microsoft.com/office/drawing/2014/main" id="{EB4A58ED-6494-2AF4-289F-A850D7091D3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0364862"/>
              </p:ext>
            </p:extLst>
          </p:nvPr>
        </p:nvGraphicFramePr>
        <p:xfrm>
          <a:off x="1044902" y="4361933"/>
          <a:ext cx="4661967" cy="7200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760730">
                  <a:extLst>
                    <a:ext uri="{9D8B030D-6E8A-4147-A177-3AD203B41FA5}">
                      <a16:colId xmlns:a16="http://schemas.microsoft.com/office/drawing/2014/main" val="2463779370"/>
                    </a:ext>
                  </a:extLst>
                </a:gridCol>
                <a:gridCol w="76708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665480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538480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  <a:gridCol w="521017">
                  <a:extLst>
                    <a:ext uri="{9D8B030D-6E8A-4147-A177-3AD203B41FA5}">
                      <a16:colId xmlns:a16="http://schemas.microsoft.com/office/drawing/2014/main" val="1498112505"/>
                    </a:ext>
                  </a:extLst>
                </a:gridCol>
                <a:gridCol w="703580">
                  <a:extLst>
                    <a:ext uri="{9D8B030D-6E8A-4147-A177-3AD203B41FA5}">
                      <a16:colId xmlns:a16="http://schemas.microsoft.com/office/drawing/2014/main" val="1316433638"/>
                    </a:ext>
                  </a:extLst>
                </a:gridCol>
                <a:gridCol w="705600">
                  <a:extLst>
                    <a:ext uri="{9D8B030D-6E8A-4147-A177-3AD203B41FA5}">
                      <a16:colId xmlns:a16="http://schemas.microsoft.com/office/drawing/2014/main" val="2435684961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/>
                      <a:endParaRPr lang="de-DE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coef</a:t>
                      </a:r>
                      <a:endParaRPr lang="de-DE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std</a:t>
                      </a:r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err</a:t>
                      </a:r>
                      <a:endParaRPr lang="de-DE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P&gt;|t|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[0.025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0.975]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5844176"/>
                  </a:ext>
                </a:extLst>
              </a:tr>
            </a:tbl>
          </a:graphicData>
        </a:graphic>
      </p:graphicFrame>
      <p:sp>
        <p:nvSpPr>
          <p:cNvPr id="11" name="Geschweifte Klammer links 10">
            <a:extLst>
              <a:ext uri="{FF2B5EF4-FFF2-40B4-BE49-F238E27FC236}">
                <a16:creationId xmlns:a16="http://schemas.microsoft.com/office/drawing/2014/main" id="{6D6EFB97-B742-EE6E-7CD1-36E67FAD87C3}"/>
              </a:ext>
            </a:extLst>
          </p:cNvPr>
          <p:cNvSpPr/>
          <p:nvPr/>
        </p:nvSpPr>
        <p:spPr>
          <a:xfrm>
            <a:off x="656686" y="2313301"/>
            <a:ext cx="268558" cy="2768627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32B211AA-7DA5-3037-BABB-AAEA26D32635}"/>
              </a:ext>
            </a:extLst>
          </p:cNvPr>
          <p:cNvSpPr/>
          <p:nvPr/>
        </p:nvSpPr>
        <p:spPr>
          <a:xfrm>
            <a:off x="348713" y="3568174"/>
            <a:ext cx="413377" cy="2588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B1</a:t>
            </a:r>
          </a:p>
        </p:txBody>
      </p:sp>
    </p:spTree>
    <p:extLst>
      <p:ext uri="{BB962C8B-B14F-4D97-AF65-F5344CB8AC3E}">
        <p14:creationId xmlns:p14="http://schemas.microsoft.com/office/powerpoint/2010/main" val="374802122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D8F8CA-E295-16B0-5747-D3F32C8B1C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Rechteck 48">
            <a:extLst>
              <a:ext uri="{FF2B5EF4-FFF2-40B4-BE49-F238E27FC236}">
                <a16:creationId xmlns:a16="http://schemas.microsoft.com/office/drawing/2014/main" id="{93D53EE7-432E-1825-43FF-F209A8BB6D7A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2400" dirty="0">
                <a:latin typeface="Arial" panose="020B0604020202020204" pitchFamily="34" charset="0"/>
                <a:cs typeface="Arial" panose="020B0604020202020204" pitchFamily="34" charset="0"/>
              </a:rPr>
              <a:t>Model </a:t>
            </a:r>
            <a:r>
              <a:rPr lang="de-DE" sz="2400" dirty="0" err="1">
                <a:latin typeface="Arial" panose="020B0604020202020204" pitchFamily="34" charset="0"/>
                <a:cs typeface="Arial" panose="020B0604020202020204" pitchFamily="34" charset="0"/>
              </a:rPr>
              <a:t>results</a:t>
            </a:r>
            <a:r>
              <a:rPr lang="de-DE" sz="2400" dirty="0">
                <a:latin typeface="Arial" panose="020B0604020202020204" pitchFamily="34" charset="0"/>
                <a:cs typeface="Arial" panose="020B0604020202020204" pitchFamily="34" charset="0"/>
              </a:rPr>
              <a:t> - </a:t>
            </a:r>
            <a:r>
              <a:rPr lang="de-DE" sz="2400" dirty="0" err="1">
                <a:latin typeface="Arial" panose="020B0604020202020204" pitchFamily="34" charset="0"/>
                <a:cs typeface="Arial" panose="020B0604020202020204" pitchFamily="34" charset="0"/>
              </a:rPr>
              <a:t>explaining</a:t>
            </a:r>
            <a:r>
              <a:rPr lang="de-DE" sz="2400" dirty="0">
                <a:latin typeface="Arial" panose="020B0604020202020204" pitchFamily="34" charset="0"/>
                <a:cs typeface="Arial" panose="020B0604020202020204" pitchFamily="34" charset="0"/>
              </a:rPr>
              <a:t> UIP</a:t>
            </a:r>
          </a:p>
        </p:txBody>
      </p:sp>
      <p:graphicFrame>
        <p:nvGraphicFramePr>
          <p:cNvPr id="3" name="Tabelle 2">
            <a:extLst>
              <a:ext uri="{FF2B5EF4-FFF2-40B4-BE49-F238E27FC236}">
                <a16:creationId xmlns:a16="http://schemas.microsoft.com/office/drawing/2014/main" id="{A94F580B-F8C1-0592-151C-A1D9A547DCDD}"/>
              </a:ext>
            </a:extLst>
          </p:cNvPr>
          <p:cNvGraphicFramePr>
            <a:graphicFrameLocks noGrp="1"/>
          </p:cNvGraphicFramePr>
          <p:nvPr/>
        </p:nvGraphicFramePr>
        <p:xfrm>
          <a:off x="1044903" y="831954"/>
          <a:ext cx="10101465" cy="4896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458931">
                  <a:extLst>
                    <a:ext uri="{9D8B030D-6E8A-4147-A177-3AD203B41FA5}">
                      <a16:colId xmlns:a16="http://schemas.microsoft.com/office/drawing/2014/main" val="2463779370"/>
                    </a:ext>
                  </a:extLst>
                </a:gridCol>
                <a:gridCol w="1173769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896320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842463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  <a:gridCol w="689051">
                  <a:extLst>
                    <a:ext uri="{9D8B030D-6E8A-4147-A177-3AD203B41FA5}">
                      <a16:colId xmlns:a16="http://schemas.microsoft.com/office/drawing/2014/main" val="1498112505"/>
                    </a:ext>
                  </a:extLst>
                </a:gridCol>
                <a:gridCol w="2799080">
                  <a:extLst>
                    <a:ext uri="{9D8B030D-6E8A-4147-A177-3AD203B41FA5}">
                      <a16:colId xmlns:a16="http://schemas.microsoft.com/office/drawing/2014/main" val="1316433638"/>
                    </a:ext>
                  </a:extLst>
                </a:gridCol>
                <a:gridCol w="2043430">
                  <a:extLst>
                    <a:ext uri="{9D8B030D-6E8A-4147-A177-3AD203B41FA5}">
                      <a16:colId xmlns:a16="http://schemas.microsoft.com/office/drawing/2014/main" val="2435684961"/>
                    </a:ext>
                  </a:extLst>
                </a:gridCol>
                <a:gridCol w="514421">
                  <a:extLst>
                    <a:ext uri="{9D8B030D-6E8A-4147-A177-3AD203B41FA5}">
                      <a16:colId xmlns:a16="http://schemas.microsoft.com/office/drawing/2014/main" val="1526740981"/>
                    </a:ext>
                  </a:extLst>
                </a:gridCol>
                <a:gridCol w="684000">
                  <a:extLst>
                    <a:ext uri="{9D8B030D-6E8A-4147-A177-3AD203B41FA5}">
                      <a16:colId xmlns:a16="http://schemas.microsoft.com/office/drawing/2014/main" val="2450294761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</a:t>
                      </a:r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Model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Start-date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End-date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 Obs.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Dep</a:t>
                      </a:r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Exp</a:t>
                      </a:r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Adj. R2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Linear Regression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1999-01-05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2025-10-14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6715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EUR/USD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spot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exchange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rate (log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first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differences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Central Bank Policy Rate differential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</a:tbl>
          </a:graphicData>
        </a:graphic>
      </p:graphicFrame>
      <p:graphicFrame>
        <p:nvGraphicFramePr>
          <p:cNvPr id="5" name="Tabelle 4">
            <a:extLst>
              <a:ext uri="{FF2B5EF4-FFF2-40B4-BE49-F238E27FC236}">
                <a16:creationId xmlns:a16="http://schemas.microsoft.com/office/drawing/2014/main" id="{6152FC1A-019B-D5DE-B30A-F1EEC670E763}"/>
              </a:ext>
            </a:extLst>
          </p:cNvPr>
          <p:cNvGraphicFramePr>
            <a:graphicFrameLocks noGrp="1"/>
          </p:cNvGraphicFramePr>
          <p:nvPr/>
        </p:nvGraphicFramePr>
        <p:xfrm>
          <a:off x="1044903" y="1398242"/>
          <a:ext cx="4661967" cy="7200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760730">
                  <a:extLst>
                    <a:ext uri="{9D8B030D-6E8A-4147-A177-3AD203B41FA5}">
                      <a16:colId xmlns:a16="http://schemas.microsoft.com/office/drawing/2014/main" val="2463779370"/>
                    </a:ext>
                  </a:extLst>
                </a:gridCol>
                <a:gridCol w="76708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665480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538480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  <a:gridCol w="521017">
                  <a:extLst>
                    <a:ext uri="{9D8B030D-6E8A-4147-A177-3AD203B41FA5}">
                      <a16:colId xmlns:a16="http://schemas.microsoft.com/office/drawing/2014/main" val="1498112505"/>
                    </a:ext>
                  </a:extLst>
                </a:gridCol>
                <a:gridCol w="703580">
                  <a:extLst>
                    <a:ext uri="{9D8B030D-6E8A-4147-A177-3AD203B41FA5}">
                      <a16:colId xmlns:a16="http://schemas.microsoft.com/office/drawing/2014/main" val="1316433638"/>
                    </a:ext>
                  </a:extLst>
                </a:gridCol>
                <a:gridCol w="705600">
                  <a:extLst>
                    <a:ext uri="{9D8B030D-6E8A-4147-A177-3AD203B41FA5}">
                      <a16:colId xmlns:a16="http://schemas.microsoft.com/office/drawing/2014/main" val="2435684961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/>
                      <a:endParaRPr lang="de-DE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coef</a:t>
                      </a:r>
                      <a:endParaRPr lang="de-DE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std</a:t>
                      </a:r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err</a:t>
                      </a:r>
                      <a:endParaRPr lang="de-DE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P&gt;|t|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[0.025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0.975]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const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-6.038e-06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7.38e-05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-0.082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0.935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-0.000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0.000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i_diff_EUR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2.279e-05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5.41e-05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0.422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0.673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-8.32e-05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5844176"/>
                  </a:ext>
                </a:extLst>
              </a:tr>
            </a:tbl>
          </a:graphicData>
        </a:graphic>
      </p:graphicFrame>
      <p:cxnSp>
        <p:nvCxnSpPr>
          <p:cNvPr id="6" name="Gerade Verbindung 5">
            <a:extLst>
              <a:ext uri="{FF2B5EF4-FFF2-40B4-BE49-F238E27FC236}">
                <a16:creationId xmlns:a16="http://schemas.microsoft.com/office/drawing/2014/main" id="{4C791D11-F34C-EE14-DEB4-EA86AC5F5C3E}"/>
              </a:ext>
            </a:extLst>
          </p:cNvPr>
          <p:cNvCxnSpPr>
            <a:cxnSpLocks/>
          </p:cNvCxnSpPr>
          <p:nvPr/>
        </p:nvCxnSpPr>
        <p:spPr>
          <a:xfrm>
            <a:off x="925244" y="2215771"/>
            <a:ext cx="10512000" cy="0"/>
          </a:xfrm>
          <a:prstGeom prst="line">
            <a:avLst/>
          </a:prstGeom>
          <a:ln w="19050"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7" name="Tabelle 6">
            <a:extLst>
              <a:ext uri="{FF2B5EF4-FFF2-40B4-BE49-F238E27FC236}">
                <a16:creationId xmlns:a16="http://schemas.microsoft.com/office/drawing/2014/main" id="{2933D3D6-CC4A-96ED-21C9-AB2209A18B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80591249"/>
              </p:ext>
            </p:extLst>
          </p:nvPr>
        </p:nvGraphicFramePr>
        <p:xfrm>
          <a:off x="1044903" y="2313301"/>
          <a:ext cx="10250475" cy="4896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427971">
                  <a:extLst>
                    <a:ext uri="{9D8B030D-6E8A-4147-A177-3AD203B41FA5}">
                      <a16:colId xmlns:a16="http://schemas.microsoft.com/office/drawing/2014/main" val="2463779370"/>
                    </a:ext>
                  </a:extLst>
                </a:gridCol>
                <a:gridCol w="179578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835854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785630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  <a:gridCol w="642567">
                  <a:extLst>
                    <a:ext uri="{9D8B030D-6E8A-4147-A177-3AD203B41FA5}">
                      <a16:colId xmlns:a16="http://schemas.microsoft.com/office/drawing/2014/main" val="1498112505"/>
                    </a:ext>
                  </a:extLst>
                </a:gridCol>
                <a:gridCol w="803593">
                  <a:extLst>
                    <a:ext uri="{9D8B030D-6E8A-4147-A177-3AD203B41FA5}">
                      <a16:colId xmlns:a16="http://schemas.microsoft.com/office/drawing/2014/main" val="2341012291"/>
                    </a:ext>
                  </a:extLst>
                </a:gridCol>
                <a:gridCol w="2799080">
                  <a:extLst>
                    <a:ext uri="{9D8B030D-6E8A-4147-A177-3AD203B41FA5}">
                      <a16:colId xmlns:a16="http://schemas.microsoft.com/office/drawing/2014/main" val="1316433638"/>
                    </a:ext>
                  </a:extLst>
                </a:gridCol>
                <a:gridCol w="2160000">
                  <a:extLst>
                    <a:ext uri="{9D8B030D-6E8A-4147-A177-3AD203B41FA5}">
                      <a16:colId xmlns:a16="http://schemas.microsoft.com/office/drawing/2014/main" val="2435684961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</a:t>
                      </a:r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Model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Start-date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End-date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 Obs.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Regimes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Dep</a:t>
                      </a:r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Exp</a:t>
                      </a:r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Markov (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Switching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 Regression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1999-01-05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2025-10-14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6715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K=2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EUR/USD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spot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exchange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rate (log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first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differences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3M Interbank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lending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rates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differentials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</a:tbl>
          </a:graphicData>
        </a:graphic>
      </p:graphicFrame>
      <p:graphicFrame>
        <p:nvGraphicFramePr>
          <p:cNvPr id="8" name="Tabelle 7">
            <a:extLst>
              <a:ext uri="{FF2B5EF4-FFF2-40B4-BE49-F238E27FC236}">
                <a16:creationId xmlns:a16="http://schemas.microsoft.com/office/drawing/2014/main" id="{BC344C31-F022-4FB8-93CE-14BA42E11DAB}"/>
              </a:ext>
            </a:extLst>
          </p:cNvPr>
          <p:cNvGraphicFramePr>
            <a:graphicFrameLocks noGrp="1"/>
          </p:cNvGraphicFramePr>
          <p:nvPr/>
        </p:nvGraphicFramePr>
        <p:xfrm>
          <a:off x="1044902" y="2887178"/>
          <a:ext cx="4661967" cy="7200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760730">
                  <a:extLst>
                    <a:ext uri="{9D8B030D-6E8A-4147-A177-3AD203B41FA5}">
                      <a16:colId xmlns:a16="http://schemas.microsoft.com/office/drawing/2014/main" val="2463779370"/>
                    </a:ext>
                  </a:extLst>
                </a:gridCol>
                <a:gridCol w="76708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665480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538480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  <a:gridCol w="521017">
                  <a:extLst>
                    <a:ext uri="{9D8B030D-6E8A-4147-A177-3AD203B41FA5}">
                      <a16:colId xmlns:a16="http://schemas.microsoft.com/office/drawing/2014/main" val="1498112505"/>
                    </a:ext>
                  </a:extLst>
                </a:gridCol>
                <a:gridCol w="703580">
                  <a:extLst>
                    <a:ext uri="{9D8B030D-6E8A-4147-A177-3AD203B41FA5}">
                      <a16:colId xmlns:a16="http://schemas.microsoft.com/office/drawing/2014/main" val="1316433638"/>
                    </a:ext>
                  </a:extLst>
                </a:gridCol>
                <a:gridCol w="705600">
                  <a:extLst>
                    <a:ext uri="{9D8B030D-6E8A-4147-A177-3AD203B41FA5}">
                      <a16:colId xmlns:a16="http://schemas.microsoft.com/office/drawing/2014/main" val="2435684961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/>
                      <a:endParaRPr lang="de-DE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coef</a:t>
                      </a:r>
                      <a:endParaRPr lang="de-DE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std</a:t>
                      </a:r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err</a:t>
                      </a:r>
                      <a:endParaRPr lang="de-DE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P&gt;|t|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[0.025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0.975]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5844176"/>
                  </a:ext>
                </a:extLst>
              </a:tr>
            </a:tbl>
          </a:graphicData>
        </a:graphic>
      </p:graphicFrame>
      <p:graphicFrame>
        <p:nvGraphicFramePr>
          <p:cNvPr id="9" name="Tabelle 8">
            <a:extLst>
              <a:ext uri="{FF2B5EF4-FFF2-40B4-BE49-F238E27FC236}">
                <a16:creationId xmlns:a16="http://schemas.microsoft.com/office/drawing/2014/main" id="{29249722-BBAA-3941-69DC-DC74E4E5147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32903985"/>
              </p:ext>
            </p:extLst>
          </p:nvPr>
        </p:nvGraphicFramePr>
        <p:xfrm>
          <a:off x="1044903" y="3788056"/>
          <a:ext cx="10250475" cy="4896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427971">
                  <a:extLst>
                    <a:ext uri="{9D8B030D-6E8A-4147-A177-3AD203B41FA5}">
                      <a16:colId xmlns:a16="http://schemas.microsoft.com/office/drawing/2014/main" val="2463779370"/>
                    </a:ext>
                  </a:extLst>
                </a:gridCol>
                <a:gridCol w="179578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835854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785630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  <a:gridCol w="642567">
                  <a:extLst>
                    <a:ext uri="{9D8B030D-6E8A-4147-A177-3AD203B41FA5}">
                      <a16:colId xmlns:a16="http://schemas.microsoft.com/office/drawing/2014/main" val="1498112505"/>
                    </a:ext>
                  </a:extLst>
                </a:gridCol>
                <a:gridCol w="803593">
                  <a:extLst>
                    <a:ext uri="{9D8B030D-6E8A-4147-A177-3AD203B41FA5}">
                      <a16:colId xmlns:a16="http://schemas.microsoft.com/office/drawing/2014/main" val="2341012291"/>
                    </a:ext>
                  </a:extLst>
                </a:gridCol>
                <a:gridCol w="2799080">
                  <a:extLst>
                    <a:ext uri="{9D8B030D-6E8A-4147-A177-3AD203B41FA5}">
                      <a16:colId xmlns:a16="http://schemas.microsoft.com/office/drawing/2014/main" val="1316433638"/>
                    </a:ext>
                  </a:extLst>
                </a:gridCol>
                <a:gridCol w="2160000">
                  <a:extLst>
                    <a:ext uri="{9D8B030D-6E8A-4147-A177-3AD203B41FA5}">
                      <a16:colId xmlns:a16="http://schemas.microsoft.com/office/drawing/2014/main" val="2435684961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</a:t>
                      </a:r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Model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Start-date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End-date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 Obs.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Regimes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Dep</a:t>
                      </a:r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Exp</a:t>
                      </a:r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Markov (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Switching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 Regression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1999-01-05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2025-10-14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6715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K=2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EUR/USD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spot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exchange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rate (log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first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differences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3M Interbank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lending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rates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differentials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</a:tbl>
          </a:graphicData>
        </a:graphic>
      </p:graphicFrame>
      <p:graphicFrame>
        <p:nvGraphicFramePr>
          <p:cNvPr id="10" name="Tabelle 9">
            <a:extLst>
              <a:ext uri="{FF2B5EF4-FFF2-40B4-BE49-F238E27FC236}">
                <a16:creationId xmlns:a16="http://schemas.microsoft.com/office/drawing/2014/main" id="{A4C027EE-57BE-86AB-4D60-3B56C686D916}"/>
              </a:ext>
            </a:extLst>
          </p:cNvPr>
          <p:cNvGraphicFramePr>
            <a:graphicFrameLocks noGrp="1"/>
          </p:cNvGraphicFramePr>
          <p:nvPr/>
        </p:nvGraphicFramePr>
        <p:xfrm>
          <a:off x="1044902" y="4361933"/>
          <a:ext cx="4661967" cy="7200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760730">
                  <a:extLst>
                    <a:ext uri="{9D8B030D-6E8A-4147-A177-3AD203B41FA5}">
                      <a16:colId xmlns:a16="http://schemas.microsoft.com/office/drawing/2014/main" val="2463779370"/>
                    </a:ext>
                  </a:extLst>
                </a:gridCol>
                <a:gridCol w="76708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665480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538480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  <a:gridCol w="521017">
                  <a:extLst>
                    <a:ext uri="{9D8B030D-6E8A-4147-A177-3AD203B41FA5}">
                      <a16:colId xmlns:a16="http://schemas.microsoft.com/office/drawing/2014/main" val="1498112505"/>
                    </a:ext>
                  </a:extLst>
                </a:gridCol>
                <a:gridCol w="703580">
                  <a:extLst>
                    <a:ext uri="{9D8B030D-6E8A-4147-A177-3AD203B41FA5}">
                      <a16:colId xmlns:a16="http://schemas.microsoft.com/office/drawing/2014/main" val="1316433638"/>
                    </a:ext>
                  </a:extLst>
                </a:gridCol>
                <a:gridCol w="705600">
                  <a:extLst>
                    <a:ext uri="{9D8B030D-6E8A-4147-A177-3AD203B41FA5}">
                      <a16:colId xmlns:a16="http://schemas.microsoft.com/office/drawing/2014/main" val="2435684961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/>
                      <a:endParaRPr lang="de-DE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coef</a:t>
                      </a:r>
                      <a:endParaRPr lang="de-DE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std</a:t>
                      </a:r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err</a:t>
                      </a:r>
                      <a:endParaRPr lang="de-DE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P&gt;|t|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[0.025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0.975]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5844176"/>
                  </a:ext>
                </a:extLst>
              </a:tr>
            </a:tbl>
          </a:graphicData>
        </a:graphic>
      </p:graphicFrame>
      <p:sp>
        <p:nvSpPr>
          <p:cNvPr id="11" name="Geschweifte Klammer links 10">
            <a:extLst>
              <a:ext uri="{FF2B5EF4-FFF2-40B4-BE49-F238E27FC236}">
                <a16:creationId xmlns:a16="http://schemas.microsoft.com/office/drawing/2014/main" id="{FDC7C83E-AACC-2485-CB4C-5377FA10AE62}"/>
              </a:ext>
            </a:extLst>
          </p:cNvPr>
          <p:cNvSpPr/>
          <p:nvPr/>
        </p:nvSpPr>
        <p:spPr>
          <a:xfrm>
            <a:off x="656686" y="2313301"/>
            <a:ext cx="268558" cy="2768627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32A1ADA5-2D13-3A88-C581-1B13B4B0812D}"/>
              </a:ext>
            </a:extLst>
          </p:cNvPr>
          <p:cNvSpPr/>
          <p:nvPr/>
        </p:nvSpPr>
        <p:spPr>
          <a:xfrm>
            <a:off x="348713" y="3568174"/>
            <a:ext cx="413377" cy="2588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B2</a:t>
            </a:r>
          </a:p>
        </p:txBody>
      </p:sp>
    </p:spTree>
    <p:extLst>
      <p:ext uri="{BB962C8B-B14F-4D97-AF65-F5344CB8AC3E}">
        <p14:creationId xmlns:p14="http://schemas.microsoft.com/office/powerpoint/2010/main" val="346581954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5F3E87-9FB7-BCCC-E76E-84F6CEC96B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Rechteck 48">
            <a:extLst>
              <a:ext uri="{FF2B5EF4-FFF2-40B4-BE49-F238E27FC236}">
                <a16:creationId xmlns:a16="http://schemas.microsoft.com/office/drawing/2014/main" id="{5575104F-1E7F-62E6-1A3E-305BB9B1A6B7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2400" dirty="0">
                <a:latin typeface="Arial" panose="020B0604020202020204" pitchFamily="34" charset="0"/>
                <a:cs typeface="Arial" panose="020B0604020202020204" pitchFamily="34" charset="0"/>
              </a:rPr>
              <a:t>Model </a:t>
            </a:r>
            <a:r>
              <a:rPr lang="de-DE" sz="2400" dirty="0" err="1">
                <a:latin typeface="Arial" panose="020B0604020202020204" pitchFamily="34" charset="0"/>
                <a:cs typeface="Arial" panose="020B0604020202020204" pitchFamily="34" charset="0"/>
              </a:rPr>
              <a:t>results</a:t>
            </a:r>
            <a:r>
              <a:rPr lang="de-DE" sz="2400" dirty="0">
                <a:latin typeface="Arial" panose="020B0604020202020204" pitchFamily="34" charset="0"/>
                <a:cs typeface="Arial" panose="020B0604020202020204" pitchFamily="34" charset="0"/>
              </a:rPr>
              <a:t> - </a:t>
            </a:r>
            <a:r>
              <a:rPr lang="de-DE" sz="2400" dirty="0" err="1">
                <a:latin typeface="Arial" panose="020B0604020202020204" pitchFamily="34" charset="0"/>
                <a:cs typeface="Arial" panose="020B0604020202020204" pitchFamily="34" charset="0"/>
              </a:rPr>
              <a:t>explaining</a:t>
            </a:r>
            <a:r>
              <a:rPr lang="de-DE" sz="2400" dirty="0">
                <a:latin typeface="Arial" panose="020B0604020202020204" pitchFamily="34" charset="0"/>
                <a:cs typeface="Arial" panose="020B0604020202020204" pitchFamily="34" charset="0"/>
              </a:rPr>
              <a:t> UIP</a:t>
            </a:r>
          </a:p>
        </p:txBody>
      </p:sp>
      <p:graphicFrame>
        <p:nvGraphicFramePr>
          <p:cNvPr id="3" name="Tabelle 2">
            <a:extLst>
              <a:ext uri="{FF2B5EF4-FFF2-40B4-BE49-F238E27FC236}">
                <a16:creationId xmlns:a16="http://schemas.microsoft.com/office/drawing/2014/main" id="{BBB95CF9-0D05-0996-0C82-BA8CC807BD2A}"/>
              </a:ext>
            </a:extLst>
          </p:cNvPr>
          <p:cNvGraphicFramePr>
            <a:graphicFrameLocks noGrp="1"/>
          </p:cNvGraphicFramePr>
          <p:nvPr/>
        </p:nvGraphicFramePr>
        <p:xfrm>
          <a:off x="1044903" y="831954"/>
          <a:ext cx="10101465" cy="4896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458931">
                  <a:extLst>
                    <a:ext uri="{9D8B030D-6E8A-4147-A177-3AD203B41FA5}">
                      <a16:colId xmlns:a16="http://schemas.microsoft.com/office/drawing/2014/main" val="2463779370"/>
                    </a:ext>
                  </a:extLst>
                </a:gridCol>
                <a:gridCol w="1173769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896320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842463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  <a:gridCol w="689051">
                  <a:extLst>
                    <a:ext uri="{9D8B030D-6E8A-4147-A177-3AD203B41FA5}">
                      <a16:colId xmlns:a16="http://schemas.microsoft.com/office/drawing/2014/main" val="1498112505"/>
                    </a:ext>
                  </a:extLst>
                </a:gridCol>
                <a:gridCol w="2799080">
                  <a:extLst>
                    <a:ext uri="{9D8B030D-6E8A-4147-A177-3AD203B41FA5}">
                      <a16:colId xmlns:a16="http://schemas.microsoft.com/office/drawing/2014/main" val="1316433638"/>
                    </a:ext>
                  </a:extLst>
                </a:gridCol>
                <a:gridCol w="2043430">
                  <a:extLst>
                    <a:ext uri="{9D8B030D-6E8A-4147-A177-3AD203B41FA5}">
                      <a16:colId xmlns:a16="http://schemas.microsoft.com/office/drawing/2014/main" val="2435684961"/>
                    </a:ext>
                  </a:extLst>
                </a:gridCol>
                <a:gridCol w="514421">
                  <a:extLst>
                    <a:ext uri="{9D8B030D-6E8A-4147-A177-3AD203B41FA5}">
                      <a16:colId xmlns:a16="http://schemas.microsoft.com/office/drawing/2014/main" val="1526740981"/>
                    </a:ext>
                  </a:extLst>
                </a:gridCol>
                <a:gridCol w="684000">
                  <a:extLst>
                    <a:ext uri="{9D8B030D-6E8A-4147-A177-3AD203B41FA5}">
                      <a16:colId xmlns:a16="http://schemas.microsoft.com/office/drawing/2014/main" val="2450294761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</a:t>
                      </a:r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Model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Start-date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End-date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 Obs.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Dep</a:t>
                      </a:r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Exp</a:t>
                      </a:r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Adj. R2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Linear Regression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1999-01-05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2025-10-14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6715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EUR/USD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spot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exchange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rate (log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first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differences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Central Bank Policy Rate differential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</a:tbl>
          </a:graphicData>
        </a:graphic>
      </p:graphicFrame>
      <p:graphicFrame>
        <p:nvGraphicFramePr>
          <p:cNvPr id="5" name="Tabelle 4">
            <a:extLst>
              <a:ext uri="{FF2B5EF4-FFF2-40B4-BE49-F238E27FC236}">
                <a16:creationId xmlns:a16="http://schemas.microsoft.com/office/drawing/2014/main" id="{4EB66E07-F5D3-FA59-428E-FA5F9B5B944D}"/>
              </a:ext>
            </a:extLst>
          </p:cNvPr>
          <p:cNvGraphicFramePr>
            <a:graphicFrameLocks noGrp="1"/>
          </p:cNvGraphicFramePr>
          <p:nvPr/>
        </p:nvGraphicFramePr>
        <p:xfrm>
          <a:off x="1044903" y="1398242"/>
          <a:ext cx="4661967" cy="7200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760730">
                  <a:extLst>
                    <a:ext uri="{9D8B030D-6E8A-4147-A177-3AD203B41FA5}">
                      <a16:colId xmlns:a16="http://schemas.microsoft.com/office/drawing/2014/main" val="2463779370"/>
                    </a:ext>
                  </a:extLst>
                </a:gridCol>
                <a:gridCol w="76708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665480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538480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  <a:gridCol w="521017">
                  <a:extLst>
                    <a:ext uri="{9D8B030D-6E8A-4147-A177-3AD203B41FA5}">
                      <a16:colId xmlns:a16="http://schemas.microsoft.com/office/drawing/2014/main" val="1498112505"/>
                    </a:ext>
                  </a:extLst>
                </a:gridCol>
                <a:gridCol w="703580">
                  <a:extLst>
                    <a:ext uri="{9D8B030D-6E8A-4147-A177-3AD203B41FA5}">
                      <a16:colId xmlns:a16="http://schemas.microsoft.com/office/drawing/2014/main" val="1316433638"/>
                    </a:ext>
                  </a:extLst>
                </a:gridCol>
                <a:gridCol w="705600">
                  <a:extLst>
                    <a:ext uri="{9D8B030D-6E8A-4147-A177-3AD203B41FA5}">
                      <a16:colId xmlns:a16="http://schemas.microsoft.com/office/drawing/2014/main" val="2435684961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/>
                      <a:endParaRPr lang="de-DE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coef</a:t>
                      </a:r>
                      <a:endParaRPr lang="de-DE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std</a:t>
                      </a:r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err</a:t>
                      </a:r>
                      <a:endParaRPr lang="de-DE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P&gt;|t|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[0.025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0.975]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const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-6.038e-06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7.38e-05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-0.082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0.935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-0.000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0.000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i_diff_EUR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2.279e-05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5.41e-05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0.422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0.673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-8.32e-05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5844176"/>
                  </a:ext>
                </a:extLst>
              </a:tr>
            </a:tbl>
          </a:graphicData>
        </a:graphic>
      </p:graphicFrame>
      <p:cxnSp>
        <p:nvCxnSpPr>
          <p:cNvPr id="6" name="Gerade Verbindung 5">
            <a:extLst>
              <a:ext uri="{FF2B5EF4-FFF2-40B4-BE49-F238E27FC236}">
                <a16:creationId xmlns:a16="http://schemas.microsoft.com/office/drawing/2014/main" id="{4B84112F-74E5-B870-4975-F4747F9A2170}"/>
              </a:ext>
            </a:extLst>
          </p:cNvPr>
          <p:cNvCxnSpPr>
            <a:cxnSpLocks/>
          </p:cNvCxnSpPr>
          <p:nvPr/>
        </p:nvCxnSpPr>
        <p:spPr>
          <a:xfrm>
            <a:off x="925244" y="2215771"/>
            <a:ext cx="10512000" cy="0"/>
          </a:xfrm>
          <a:prstGeom prst="line">
            <a:avLst/>
          </a:prstGeom>
          <a:ln w="19050"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7" name="Tabelle 6">
            <a:extLst>
              <a:ext uri="{FF2B5EF4-FFF2-40B4-BE49-F238E27FC236}">
                <a16:creationId xmlns:a16="http://schemas.microsoft.com/office/drawing/2014/main" id="{8239FEC7-76D9-AA20-5031-B7554BA4C8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550935"/>
              </p:ext>
            </p:extLst>
          </p:nvPr>
        </p:nvGraphicFramePr>
        <p:xfrm>
          <a:off x="1044903" y="2313301"/>
          <a:ext cx="10250475" cy="4896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427971">
                  <a:extLst>
                    <a:ext uri="{9D8B030D-6E8A-4147-A177-3AD203B41FA5}">
                      <a16:colId xmlns:a16="http://schemas.microsoft.com/office/drawing/2014/main" val="2463779370"/>
                    </a:ext>
                  </a:extLst>
                </a:gridCol>
                <a:gridCol w="179578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835854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785630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  <a:gridCol w="642567">
                  <a:extLst>
                    <a:ext uri="{9D8B030D-6E8A-4147-A177-3AD203B41FA5}">
                      <a16:colId xmlns:a16="http://schemas.microsoft.com/office/drawing/2014/main" val="1498112505"/>
                    </a:ext>
                  </a:extLst>
                </a:gridCol>
                <a:gridCol w="803593">
                  <a:extLst>
                    <a:ext uri="{9D8B030D-6E8A-4147-A177-3AD203B41FA5}">
                      <a16:colId xmlns:a16="http://schemas.microsoft.com/office/drawing/2014/main" val="2341012291"/>
                    </a:ext>
                  </a:extLst>
                </a:gridCol>
                <a:gridCol w="2799080">
                  <a:extLst>
                    <a:ext uri="{9D8B030D-6E8A-4147-A177-3AD203B41FA5}">
                      <a16:colId xmlns:a16="http://schemas.microsoft.com/office/drawing/2014/main" val="1316433638"/>
                    </a:ext>
                  </a:extLst>
                </a:gridCol>
                <a:gridCol w="2160000">
                  <a:extLst>
                    <a:ext uri="{9D8B030D-6E8A-4147-A177-3AD203B41FA5}">
                      <a16:colId xmlns:a16="http://schemas.microsoft.com/office/drawing/2014/main" val="2435684961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</a:t>
                      </a:r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Model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Start-date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End-date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 Obs.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Regimes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Dep</a:t>
                      </a:r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Exp</a:t>
                      </a:r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K=2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</a:tbl>
          </a:graphicData>
        </a:graphic>
      </p:graphicFrame>
      <p:graphicFrame>
        <p:nvGraphicFramePr>
          <p:cNvPr id="8" name="Tabelle 7">
            <a:extLst>
              <a:ext uri="{FF2B5EF4-FFF2-40B4-BE49-F238E27FC236}">
                <a16:creationId xmlns:a16="http://schemas.microsoft.com/office/drawing/2014/main" id="{9A8E479D-FA60-1120-0320-2CAB2F007C70}"/>
              </a:ext>
            </a:extLst>
          </p:cNvPr>
          <p:cNvGraphicFramePr>
            <a:graphicFrameLocks noGrp="1"/>
          </p:cNvGraphicFramePr>
          <p:nvPr/>
        </p:nvGraphicFramePr>
        <p:xfrm>
          <a:off x="1044902" y="2887178"/>
          <a:ext cx="4661967" cy="7200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760730">
                  <a:extLst>
                    <a:ext uri="{9D8B030D-6E8A-4147-A177-3AD203B41FA5}">
                      <a16:colId xmlns:a16="http://schemas.microsoft.com/office/drawing/2014/main" val="2463779370"/>
                    </a:ext>
                  </a:extLst>
                </a:gridCol>
                <a:gridCol w="76708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665480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538480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  <a:gridCol w="521017">
                  <a:extLst>
                    <a:ext uri="{9D8B030D-6E8A-4147-A177-3AD203B41FA5}">
                      <a16:colId xmlns:a16="http://schemas.microsoft.com/office/drawing/2014/main" val="1498112505"/>
                    </a:ext>
                  </a:extLst>
                </a:gridCol>
                <a:gridCol w="703580">
                  <a:extLst>
                    <a:ext uri="{9D8B030D-6E8A-4147-A177-3AD203B41FA5}">
                      <a16:colId xmlns:a16="http://schemas.microsoft.com/office/drawing/2014/main" val="1316433638"/>
                    </a:ext>
                  </a:extLst>
                </a:gridCol>
                <a:gridCol w="705600">
                  <a:extLst>
                    <a:ext uri="{9D8B030D-6E8A-4147-A177-3AD203B41FA5}">
                      <a16:colId xmlns:a16="http://schemas.microsoft.com/office/drawing/2014/main" val="2435684961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/>
                      <a:endParaRPr lang="de-DE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coef</a:t>
                      </a:r>
                      <a:endParaRPr lang="de-DE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std</a:t>
                      </a:r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err</a:t>
                      </a:r>
                      <a:endParaRPr lang="de-DE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P&gt;|t|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[0.025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0.975]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5844176"/>
                  </a:ext>
                </a:extLst>
              </a:tr>
            </a:tbl>
          </a:graphicData>
        </a:graphic>
      </p:graphicFrame>
      <p:graphicFrame>
        <p:nvGraphicFramePr>
          <p:cNvPr id="9" name="Tabelle 8">
            <a:extLst>
              <a:ext uri="{FF2B5EF4-FFF2-40B4-BE49-F238E27FC236}">
                <a16:creationId xmlns:a16="http://schemas.microsoft.com/office/drawing/2014/main" id="{C2A18132-1E9D-4C0B-9AAA-2200C042A22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20451536"/>
              </p:ext>
            </p:extLst>
          </p:nvPr>
        </p:nvGraphicFramePr>
        <p:xfrm>
          <a:off x="1044903" y="3788056"/>
          <a:ext cx="10250475" cy="4896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427971">
                  <a:extLst>
                    <a:ext uri="{9D8B030D-6E8A-4147-A177-3AD203B41FA5}">
                      <a16:colId xmlns:a16="http://schemas.microsoft.com/office/drawing/2014/main" val="2463779370"/>
                    </a:ext>
                  </a:extLst>
                </a:gridCol>
                <a:gridCol w="179578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835854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785630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  <a:gridCol w="642567">
                  <a:extLst>
                    <a:ext uri="{9D8B030D-6E8A-4147-A177-3AD203B41FA5}">
                      <a16:colId xmlns:a16="http://schemas.microsoft.com/office/drawing/2014/main" val="1498112505"/>
                    </a:ext>
                  </a:extLst>
                </a:gridCol>
                <a:gridCol w="803593">
                  <a:extLst>
                    <a:ext uri="{9D8B030D-6E8A-4147-A177-3AD203B41FA5}">
                      <a16:colId xmlns:a16="http://schemas.microsoft.com/office/drawing/2014/main" val="2341012291"/>
                    </a:ext>
                  </a:extLst>
                </a:gridCol>
                <a:gridCol w="2799080">
                  <a:extLst>
                    <a:ext uri="{9D8B030D-6E8A-4147-A177-3AD203B41FA5}">
                      <a16:colId xmlns:a16="http://schemas.microsoft.com/office/drawing/2014/main" val="1316433638"/>
                    </a:ext>
                  </a:extLst>
                </a:gridCol>
                <a:gridCol w="2160000">
                  <a:extLst>
                    <a:ext uri="{9D8B030D-6E8A-4147-A177-3AD203B41FA5}">
                      <a16:colId xmlns:a16="http://schemas.microsoft.com/office/drawing/2014/main" val="2435684961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</a:t>
                      </a:r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Model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Start-date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End-date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 Obs.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Regimes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Dep</a:t>
                      </a:r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Exp</a:t>
                      </a:r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K=2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</a:tbl>
          </a:graphicData>
        </a:graphic>
      </p:graphicFrame>
      <p:graphicFrame>
        <p:nvGraphicFramePr>
          <p:cNvPr id="10" name="Tabelle 9">
            <a:extLst>
              <a:ext uri="{FF2B5EF4-FFF2-40B4-BE49-F238E27FC236}">
                <a16:creationId xmlns:a16="http://schemas.microsoft.com/office/drawing/2014/main" id="{A63415FF-986F-3F60-EFDA-0B8C488868E5}"/>
              </a:ext>
            </a:extLst>
          </p:cNvPr>
          <p:cNvGraphicFramePr>
            <a:graphicFrameLocks noGrp="1"/>
          </p:cNvGraphicFramePr>
          <p:nvPr/>
        </p:nvGraphicFramePr>
        <p:xfrm>
          <a:off x="1044902" y="4361933"/>
          <a:ext cx="4661967" cy="7200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760730">
                  <a:extLst>
                    <a:ext uri="{9D8B030D-6E8A-4147-A177-3AD203B41FA5}">
                      <a16:colId xmlns:a16="http://schemas.microsoft.com/office/drawing/2014/main" val="2463779370"/>
                    </a:ext>
                  </a:extLst>
                </a:gridCol>
                <a:gridCol w="76708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665480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538480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  <a:gridCol w="521017">
                  <a:extLst>
                    <a:ext uri="{9D8B030D-6E8A-4147-A177-3AD203B41FA5}">
                      <a16:colId xmlns:a16="http://schemas.microsoft.com/office/drawing/2014/main" val="1498112505"/>
                    </a:ext>
                  </a:extLst>
                </a:gridCol>
                <a:gridCol w="703580">
                  <a:extLst>
                    <a:ext uri="{9D8B030D-6E8A-4147-A177-3AD203B41FA5}">
                      <a16:colId xmlns:a16="http://schemas.microsoft.com/office/drawing/2014/main" val="1316433638"/>
                    </a:ext>
                  </a:extLst>
                </a:gridCol>
                <a:gridCol w="705600">
                  <a:extLst>
                    <a:ext uri="{9D8B030D-6E8A-4147-A177-3AD203B41FA5}">
                      <a16:colId xmlns:a16="http://schemas.microsoft.com/office/drawing/2014/main" val="2435684961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/>
                      <a:endParaRPr lang="de-DE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coef</a:t>
                      </a:r>
                      <a:endParaRPr lang="de-DE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std</a:t>
                      </a:r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err</a:t>
                      </a:r>
                      <a:endParaRPr lang="de-DE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P&gt;|t|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[0.025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0.975]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58441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42639379"/>
      </p:ext>
    </p:extLst>
  </p:cSld>
  <p:clrMapOvr>
    <a:masterClrMapping/>
  </p:clrMapOvr>
</p:sld>
</file>

<file path=ppt/theme/theme1.xml><?xml version="1.0" encoding="utf-8"?>
<a:theme xmlns:a="http://schemas.openxmlformats.org/drawingml/2006/main" name="Einfache Foli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Minimale Foli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2805</Words>
  <Application>Microsoft Macintosh PowerPoint</Application>
  <PresentationFormat>Benutzerdefiniert</PresentationFormat>
  <Paragraphs>879</Paragraphs>
  <Slides>20</Slides>
  <Notes>13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7</vt:i4>
      </vt:variant>
      <vt:variant>
        <vt:lpstr>Design</vt:lpstr>
      </vt:variant>
      <vt:variant>
        <vt:i4>2</vt:i4>
      </vt:variant>
      <vt:variant>
        <vt:lpstr>Folientitel</vt:lpstr>
      </vt:variant>
      <vt:variant>
        <vt:i4>20</vt:i4>
      </vt:variant>
    </vt:vector>
  </HeadingPairs>
  <TitlesOfParts>
    <vt:vector size="29" baseType="lpstr">
      <vt:lpstr>AdvTT5235d5a9</vt:lpstr>
      <vt:lpstr>Aptos</vt:lpstr>
      <vt:lpstr>Arial</vt:lpstr>
      <vt:lpstr>Calibri</vt:lpstr>
      <vt:lpstr>Cambria Math</vt:lpstr>
      <vt:lpstr>Roboto</vt:lpstr>
      <vt:lpstr>Times New Roman,Bold</vt:lpstr>
      <vt:lpstr>Einfache Folie</vt:lpstr>
      <vt:lpstr>Minimale Folie</vt:lpstr>
      <vt:lpstr>PowerPoint-Präsentation</vt:lpstr>
      <vt:lpstr>Beginning: Newspaper article about energy + recent USD 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Muster</dc:title>
  <dc:subject/>
  <dc:creator>Universität Kiel  (CAU)</dc:creator>
  <dc:description/>
  <cp:lastModifiedBy>Robert Hennings</cp:lastModifiedBy>
  <cp:revision>307</cp:revision>
  <cp:lastPrinted>1601-01-01T00:00:00Z</cp:lastPrinted>
  <dcterms:created xsi:type="dcterms:W3CDTF">2010-06-02T10:39:48Z</dcterms:created>
  <dcterms:modified xsi:type="dcterms:W3CDTF">2025-10-23T14:02:47Z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ppVersion">
    <vt:lpwstr>16.0000</vt:lpwstr>
  </property>
  <property fmtid="{D5CDD505-2E9C-101B-9397-08002B2CF9AE}" pid="3" name="HiddenSlides">
    <vt:i4>0</vt:i4>
  </property>
  <property fmtid="{D5CDD505-2E9C-101B-9397-08002B2CF9AE}" pid="4" name="HyperlinksChanged">
    <vt:bool>false</vt:bool>
  </property>
  <property fmtid="{D5CDD505-2E9C-101B-9397-08002B2CF9AE}" pid="5" name="LinksUpToDate">
    <vt:bool>false</vt:bool>
  </property>
  <property fmtid="{D5CDD505-2E9C-101B-9397-08002B2CF9AE}" pid="6" name="MMClips">
    <vt:i4>0</vt:i4>
  </property>
  <property fmtid="{D5CDD505-2E9C-101B-9397-08002B2CF9AE}" pid="7" name="Notes">
    <vt:i4>0</vt:i4>
  </property>
  <property fmtid="{D5CDD505-2E9C-101B-9397-08002B2CF9AE}" pid="8" name="PresentationFormat">
    <vt:lpwstr>Benutzerdefiniert</vt:lpwstr>
  </property>
  <property fmtid="{D5CDD505-2E9C-101B-9397-08002B2CF9AE}" pid="9" name="ScaleCrop">
    <vt:bool>false</vt:bool>
  </property>
  <property fmtid="{D5CDD505-2E9C-101B-9397-08002B2CF9AE}" pid="10" name="ShareDoc">
    <vt:bool>false</vt:bool>
  </property>
  <property fmtid="{D5CDD505-2E9C-101B-9397-08002B2CF9AE}" pid="11" name="Slides">
    <vt:i4>1</vt:i4>
  </property>
</Properties>
</file>