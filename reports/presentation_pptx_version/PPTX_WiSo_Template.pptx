
<file path=[Content_Types].xml><?xml version="1.0" encoding="utf-8"?>
<Types xmlns="http://schemas.openxmlformats.org/package/2006/content-types">
  <Default Extension="emf" ContentType="image/x-emf"/>
  <Default Extension="png" ContentType="image/png"/>
  <Default Extension="rels" ContentType="application/vnd.openxmlformats-package.relationships+xml"/>
  <Default Extension="ti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50" r:id="rId1"/>
    <p:sldMasterId id="2147483652" r:id="rId2"/>
  </p:sldMasterIdLst>
  <p:notesMasterIdLst>
    <p:notesMasterId r:id="rId18"/>
  </p:notesMasterIdLst>
  <p:sldIdLst>
    <p:sldId id="260" r:id="rId3"/>
    <p:sldId id="262" r:id="rId4"/>
    <p:sldId id="259" r:id="rId5"/>
    <p:sldId id="264" r:id="rId6"/>
    <p:sldId id="267" r:id="rId7"/>
    <p:sldId id="268" r:id="rId8"/>
    <p:sldId id="270" r:id="rId9"/>
    <p:sldId id="275" r:id="rId10"/>
    <p:sldId id="274" r:id="rId11"/>
    <p:sldId id="279" r:id="rId12"/>
    <p:sldId id="276" r:id="rId13"/>
    <p:sldId id="277" r:id="rId14"/>
    <p:sldId id="281" r:id="rId15"/>
    <p:sldId id="278" r:id="rId16"/>
    <p:sldId id="280" r:id="rId17"/>
  </p:sldIdLst>
  <p:sldSz cx="11520488" cy="6480175"/>
  <p:notesSz cx="7559675" cy="10691813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BD6F2EB9-0F9D-11FF-3725-6E6478E33E3F}" name="Robert Hennings" initials="RH" userId="0c30f06d2451ee71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77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ittlere Formatvorlag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343"/>
    <p:restoredTop sz="73720"/>
  </p:normalViewPr>
  <p:slideViewPr>
    <p:cSldViewPr snapToGrid="0">
      <p:cViewPr varScale="1">
        <p:scale>
          <a:sx n="114" d="100"/>
          <a:sy n="114" d="100"/>
        </p:scale>
        <p:origin x="1712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1" Type="http://schemas.openxmlformats.org/officeDocument/2006/relationships/theme" Target="theme/them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microsoft.com/office/2018/10/relationships/authors" Target="authors.xml"/><Relationship Id="rId10" Type="http://schemas.openxmlformats.org/officeDocument/2006/relationships/slide" Target="slides/slide8.xml"/><Relationship Id="rId19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4281488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F52E0DD-2BD6-4943-A289-4CB69F215D9E}" type="datetimeFigureOut">
              <a:rPr lang="de-DE" smtClean="0"/>
              <a:t>05.11.25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573088" y="1336675"/>
            <a:ext cx="6413500" cy="36083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755650" y="5145088"/>
            <a:ext cx="6048375" cy="42100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4281488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DD16613-3B1F-DD4D-99CB-38F4196ACFC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502407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Figure: </a:t>
            </a:r>
            <a:r>
              <a:rPr lang="de-DE" dirty="0" err="1"/>
              <a:t>Systematic</a:t>
            </a:r>
            <a:r>
              <a:rPr lang="de-DE" dirty="0"/>
              <a:t> </a:t>
            </a:r>
            <a:r>
              <a:rPr lang="de-DE" dirty="0" err="1"/>
              <a:t>Overview</a:t>
            </a:r>
            <a:r>
              <a:rPr lang="de-DE" dirty="0"/>
              <a:t> </a:t>
            </a:r>
            <a:r>
              <a:rPr lang="de-DE" dirty="0" err="1"/>
              <a:t>about</a:t>
            </a:r>
            <a:r>
              <a:rPr lang="de-DE" dirty="0"/>
              <a:t> </a:t>
            </a:r>
            <a:r>
              <a:rPr lang="de-DE" dirty="0" err="1"/>
              <a:t>main</a:t>
            </a:r>
            <a:r>
              <a:rPr lang="de-DE" dirty="0"/>
              <a:t> </a:t>
            </a:r>
            <a:r>
              <a:rPr lang="de-DE" dirty="0" err="1"/>
              <a:t>theoretical</a:t>
            </a:r>
            <a:r>
              <a:rPr lang="de-DE" dirty="0"/>
              <a:t> </a:t>
            </a:r>
            <a:r>
              <a:rPr lang="de-DE" dirty="0" err="1"/>
              <a:t>approaches</a:t>
            </a:r>
            <a:r>
              <a:rPr lang="de-DE" dirty="0"/>
              <a:t>, own </a:t>
            </a:r>
            <a:r>
              <a:rPr lang="de-DE" dirty="0" err="1"/>
              <a:t>illustration</a:t>
            </a:r>
            <a:r>
              <a:rPr lang="de-DE" dirty="0"/>
              <a:t> </a:t>
            </a:r>
            <a:r>
              <a:rPr lang="de-DE" dirty="0" err="1"/>
              <a:t>based</a:t>
            </a:r>
            <a:r>
              <a:rPr lang="de-DE" dirty="0"/>
              <a:t> on </a:t>
            </a:r>
            <a:r>
              <a:rPr lang="de-DE" sz="1800" dirty="0">
                <a:effectLst/>
                <a:latin typeface="AdvTT5235d5a9"/>
              </a:rPr>
              <a:t>The </a:t>
            </a:r>
            <a:r>
              <a:rPr lang="de-DE" sz="1800" dirty="0" err="1">
                <a:effectLst/>
                <a:latin typeface="AdvTT5235d5a9"/>
              </a:rPr>
              <a:t>relationship</a:t>
            </a:r>
            <a:r>
              <a:rPr lang="de-DE" sz="1800" dirty="0">
                <a:effectLst/>
                <a:latin typeface="AdvTT5235d5a9"/>
              </a:rPr>
              <a:t> </a:t>
            </a:r>
            <a:r>
              <a:rPr lang="de-DE" sz="1800" dirty="0" err="1">
                <a:effectLst/>
                <a:latin typeface="AdvTT5235d5a9"/>
              </a:rPr>
              <a:t>between</a:t>
            </a:r>
            <a:r>
              <a:rPr lang="de-DE" sz="1800" dirty="0">
                <a:effectLst/>
                <a:latin typeface="AdvTT5235d5a9"/>
              </a:rPr>
              <a:t> </a:t>
            </a:r>
            <a:r>
              <a:rPr lang="de-DE" sz="1800" dirty="0" err="1">
                <a:effectLst/>
                <a:latin typeface="AdvTT5235d5a9"/>
              </a:rPr>
              <a:t>oil</a:t>
            </a:r>
            <a:r>
              <a:rPr lang="de-DE" sz="1800" dirty="0">
                <a:effectLst/>
                <a:latin typeface="AdvTT5235d5a9"/>
              </a:rPr>
              <a:t> </a:t>
            </a:r>
            <a:r>
              <a:rPr lang="de-DE" sz="1800" dirty="0" err="1">
                <a:effectLst/>
                <a:latin typeface="AdvTT5235d5a9"/>
              </a:rPr>
              <a:t>prices</a:t>
            </a:r>
            <a:r>
              <a:rPr lang="de-DE" sz="1800" dirty="0">
                <a:effectLst/>
                <a:latin typeface="AdvTT5235d5a9"/>
              </a:rPr>
              <a:t> and </a:t>
            </a:r>
            <a:r>
              <a:rPr lang="de-DE" sz="1800" dirty="0" err="1">
                <a:effectLst/>
                <a:latin typeface="AdvTT5235d5a9"/>
              </a:rPr>
              <a:t>exchange</a:t>
            </a:r>
            <a:r>
              <a:rPr lang="de-DE" sz="1800" dirty="0">
                <a:effectLst/>
                <a:latin typeface="AdvTT5235d5a9"/>
              </a:rPr>
              <a:t> </a:t>
            </a:r>
            <a:r>
              <a:rPr lang="de-DE" sz="1800" dirty="0" err="1">
                <a:effectLst/>
                <a:latin typeface="AdvTT5235d5a9"/>
              </a:rPr>
              <a:t>rates</a:t>
            </a:r>
            <a:r>
              <a:rPr lang="de-DE" sz="1800" dirty="0">
                <a:effectLst/>
                <a:latin typeface="AdvTT5235d5a9"/>
              </a:rPr>
              <a:t>: </a:t>
            </a:r>
            <a:r>
              <a:rPr lang="de-DE" sz="1800" dirty="0" err="1">
                <a:effectLst/>
                <a:latin typeface="AdvTT5235d5a9"/>
              </a:rPr>
              <a:t>Revisiting</a:t>
            </a:r>
            <a:r>
              <a:rPr lang="de-DE" sz="1800" dirty="0">
                <a:effectLst/>
                <a:latin typeface="AdvTT5235d5a9"/>
              </a:rPr>
              <a:t> </a:t>
            </a:r>
            <a:r>
              <a:rPr lang="de-DE" sz="1800" dirty="0" err="1">
                <a:effectLst/>
                <a:latin typeface="AdvTT5235d5a9"/>
              </a:rPr>
              <a:t>theory</a:t>
            </a:r>
            <a:r>
              <a:rPr lang="de-DE" sz="1800" dirty="0">
                <a:effectLst/>
                <a:latin typeface="AdvTT5235d5a9"/>
              </a:rPr>
              <a:t> and </a:t>
            </a:r>
            <a:r>
              <a:rPr lang="de-DE" sz="1800" dirty="0" err="1">
                <a:effectLst/>
                <a:latin typeface="AdvTT5235d5a9"/>
              </a:rPr>
              <a:t>evidence</a:t>
            </a:r>
            <a:r>
              <a:rPr lang="de-DE" sz="1800" dirty="0">
                <a:effectLst/>
                <a:latin typeface="AdvTT5235d5a9"/>
              </a:rPr>
              <a:t> </a:t>
            </a:r>
            <a:r>
              <a:rPr lang="de-DE" dirty="0"/>
              <a:t>(</a:t>
            </a:r>
            <a:r>
              <a:rPr lang="de-DE" sz="1800" dirty="0">
                <a:solidFill>
                  <a:srgbClr val="0000FF"/>
                </a:solidFill>
                <a:effectLst/>
                <a:latin typeface="AdvTT5235d5a9"/>
              </a:rPr>
              <a:t>Energy Economics 88 (2020) 104772</a:t>
            </a:r>
            <a:r>
              <a:rPr lang="de-DE" dirty="0"/>
              <a:t>), </a:t>
            </a:r>
            <a:r>
              <a:rPr lang="de-DE" dirty="0" err="1"/>
              <a:t>pages</a:t>
            </a:r>
            <a:r>
              <a:rPr lang="de-DE" dirty="0"/>
              <a:t> 3-8.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Sources: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de-DE" b="1" dirty="0"/>
              <a:t>Theory of Storage</a:t>
            </a:r>
            <a:r>
              <a:rPr lang="de-DE" dirty="0"/>
              <a:t> (Taken from </a:t>
            </a:r>
            <a:r>
              <a:rPr lang="de-DE" dirty="0" err="1"/>
              <a:t>paper</a:t>
            </a:r>
            <a:r>
              <a:rPr lang="de-DE" dirty="0"/>
              <a:t>: </a:t>
            </a:r>
            <a:r>
              <a:rPr lang="de-DE" sz="1800" dirty="0">
                <a:effectLst/>
                <a:latin typeface="Code2000"/>
              </a:rPr>
              <a:t>Commodity Futures Prices: </a:t>
            </a:r>
            <a:r>
              <a:rPr lang="de-DE" sz="1800" dirty="0" err="1">
                <a:effectLst/>
                <a:latin typeface="Code2000"/>
              </a:rPr>
              <a:t>Some</a:t>
            </a:r>
            <a:r>
              <a:rPr lang="de-DE" sz="1800" dirty="0">
                <a:effectLst/>
                <a:latin typeface="Code2000"/>
              </a:rPr>
              <a:t> </a:t>
            </a:r>
            <a:r>
              <a:rPr lang="de-DE" sz="1800" dirty="0" err="1">
                <a:effectLst/>
                <a:latin typeface="Code2000"/>
              </a:rPr>
              <a:t>Evidence</a:t>
            </a:r>
            <a:r>
              <a:rPr lang="de-DE" sz="1800" dirty="0">
                <a:effectLst/>
                <a:latin typeface="Code2000"/>
              </a:rPr>
              <a:t> on Forecast Power, </a:t>
            </a:r>
            <a:r>
              <a:rPr lang="de-DE" sz="1800" dirty="0" err="1">
                <a:effectLst/>
                <a:latin typeface="Code2000"/>
              </a:rPr>
              <a:t>Premiums</a:t>
            </a:r>
            <a:r>
              <a:rPr lang="de-DE" sz="1800" dirty="0">
                <a:effectLst/>
                <a:latin typeface="Code2000"/>
              </a:rPr>
              <a:t>, and </a:t>
            </a:r>
            <a:r>
              <a:rPr lang="de-DE" sz="1800" dirty="0" err="1">
                <a:effectLst/>
                <a:latin typeface="Code2000"/>
              </a:rPr>
              <a:t>the</a:t>
            </a:r>
            <a:r>
              <a:rPr lang="de-DE" sz="1800" dirty="0">
                <a:effectLst/>
                <a:latin typeface="Code2000"/>
              </a:rPr>
              <a:t> Theory of Storage</a:t>
            </a:r>
            <a:r>
              <a:rPr lang="de-DE" dirty="0"/>
              <a:t>, p.1)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de-DE" b="1" dirty="0"/>
              <a:t>Expected Risk Premium</a:t>
            </a:r>
            <a:r>
              <a:rPr lang="de-DE" dirty="0"/>
              <a:t> (Taken from </a:t>
            </a:r>
            <a:r>
              <a:rPr lang="de-DE" dirty="0" err="1"/>
              <a:t>paper</a:t>
            </a:r>
            <a:r>
              <a:rPr lang="de-DE" dirty="0"/>
              <a:t>: </a:t>
            </a:r>
            <a:r>
              <a:rPr lang="de-DE" sz="1200" dirty="0">
                <a:effectLst/>
                <a:latin typeface="Code2000"/>
              </a:rPr>
              <a:t>Commodity Futures Prices: </a:t>
            </a:r>
            <a:r>
              <a:rPr lang="de-DE" sz="1200" dirty="0" err="1">
                <a:effectLst/>
                <a:latin typeface="Code2000"/>
              </a:rPr>
              <a:t>Some</a:t>
            </a:r>
            <a:r>
              <a:rPr lang="de-DE" sz="1200" dirty="0">
                <a:effectLst/>
                <a:latin typeface="Code2000"/>
              </a:rPr>
              <a:t> </a:t>
            </a:r>
            <a:r>
              <a:rPr lang="de-DE" sz="1200" dirty="0" err="1">
                <a:effectLst/>
                <a:latin typeface="Code2000"/>
              </a:rPr>
              <a:t>Evidence</a:t>
            </a:r>
            <a:r>
              <a:rPr lang="de-DE" sz="1200" dirty="0">
                <a:effectLst/>
                <a:latin typeface="Code2000"/>
              </a:rPr>
              <a:t> on Forecast Power, </a:t>
            </a:r>
            <a:r>
              <a:rPr lang="de-DE" sz="1200" dirty="0" err="1">
                <a:effectLst/>
                <a:latin typeface="Code2000"/>
              </a:rPr>
              <a:t>Premiums</a:t>
            </a:r>
            <a:r>
              <a:rPr lang="de-DE" sz="1200" dirty="0">
                <a:effectLst/>
                <a:latin typeface="Code2000"/>
              </a:rPr>
              <a:t>, and </a:t>
            </a:r>
            <a:r>
              <a:rPr lang="de-DE" sz="1200" dirty="0" err="1">
                <a:effectLst/>
                <a:latin typeface="Code2000"/>
              </a:rPr>
              <a:t>the</a:t>
            </a:r>
            <a:r>
              <a:rPr lang="de-DE" sz="1200" dirty="0">
                <a:effectLst/>
                <a:latin typeface="Code2000"/>
              </a:rPr>
              <a:t> Theory of Storage</a:t>
            </a:r>
            <a:r>
              <a:rPr lang="de-DE" dirty="0"/>
              <a:t>, p.1)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de-DE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Spot – Future Divergence</a:t>
            </a:r>
            <a:r>
              <a:rPr lang="de-DE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dirty="0"/>
              <a:t>(Taken from </a:t>
            </a:r>
            <a:r>
              <a:rPr lang="de-DE" dirty="0" err="1"/>
              <a:t>paper</a:t>
            </a:r>
            <a:r>
              <a:rPr lang="de-DE" dirty="0"/>
              <a:t>: </a:t>
            </a:r>
            <a:r>
              <a:rPr lang="de-DE" sz="1200" dirty="0">
                <a:effectLst/>
                <a:latin typeface="Code2000"/>
              </a:rPr>
              <a:t>Commodity Futures Prices: </a:t>
            </a:r>
            <a:r>
              <a:rPr lang="de-DE" sz="1200" dirty="0" err="1">
                <a:effectLst/>
                <a:latin typeface="Code2000"/>
              </a:rPr>
              <a:t>Some</a:t>
            </a:r>
            <a:r>
              <a:rPr lang="de-DE" sz="1200" dirty="0">
                <a:effectLst/>
                <a:latin typeface="Code2000"/>
              </a:rPr>
              <a:t> </a:t>
            </a:r>
            <a:r>
              <a:rPr lang="de-DE" sz="1200" dirty="0" err="1">
                <a:effectLst/>
                <a:latin typeface="Code2000"/>
              </a:rPr>
              <a:t>Evidence</a:t>
            </a:r>
            <a:r>
              <a:rPr lang="de-DE" sz="1200" dirty="0">
                <a:effectLst/>
                <a:latin typeface="Code2000"/>
              </a:rPr>
              <a:t> on Forecast Power, </a:t>
            </a:r>
            <a:r>
              <a:rPr lang="de-DE" sz="1200" dirty="0" err="1">
                <a:effectLst/>
                <a:latin typeface="Code2000"/>
              </a:rPr>
              <a:t>Premiums</a:t>
            </a:r>
            <a:r>
              <a:rPr lang="de-DE" sz="1200" dirty="0">
                <a:effectLst/>
                <a:latin typeface="Code2000"/>
              </a:rPr>
              <a:t>, and </a:t>
            </a:r>
            <a:r>
              <a:rPr lang="de-DE" sz="1200" dirty="0" err="1">
                <a:effectLst/>
                <a:latin typeface="Code2000"/>
              </a:rPr>
              <a:t>the</a:t>
            </a:r>
            <a:r>
              <a:rPr lang="de-DE" sz="1200" dirty="0">
                <a:effectLst/>
                <a:latin typeface="Code2000"/>
              </a:rPr>
              <a:t> Theory of Storage</a:t>
            </a:r>
            <a:r>
              <a:rPr lang="de-DE" dirty="0"/>
              <a:t>, p.1 and </a:t>
            </a:r>
            <a:r>
              <a:rPr lang="de-DE" sz="1800" b="0" dirty="0">
                <a:effectLst/>
                <a:latin typeface="Calibri" panose="020F0502020204030204" pitchFamily="34" charset="0"/>
              </a:rPr>
              <a:t>Impact of U.S. </a:t>
            </a:r>
            <a:r>
              <a:rPr lang="de-DE" sz="1800" b="0" dirty="0" err="1">
                <a:effectLst/>
                <a:latin typeface="Calibri" panose="020F0502020204030204" pitchFamily="34" charset="0"/>
              </a:rPr>
              <a:t>Tight</a:t>
            </a:r>
            <a:r>
              <a:rPr lang="de-DE" sz="1800" b="0" dirty="0">
                <a:effectLst/>
                <a:latin typeface="Calibri" panose="020F0502020204030204" pitchFamily="34" charset="0"/>
              </a:rPr>
              <a:t> Oil on NYMEX WTI Futures</a:t>
            </a:r>
            <a:r>
              <a:rPr lang="de-DE" dirty="0"/>
              <a:t>)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de-DE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Present Value Approach</a:t>
            </a:r>
            <a:r>
              <a:rPr lang="de-DE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(Taken from </a:t>
            </a:r>
            <a:r>
              <a:rPr lang="de-DE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paper</a:t>
            </a:r>
            <a:r>
              <a:rPr lang="de-DE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de-DE" sz="1800" b="0" dirty="0" err="1">
                <a:effectLst/>
                <a:latin typeface="UniversLTStd"/>
              </a:rPr>
              <a:t>What</a:t>
            </a:r>
            <a:r>
              <a:rPr lang="de-DE" sz="1800" b="0" dirty="0">
                <a:effectLst/>
                <a:latin typeface="UniversLTStd"/>
              </a:rPr>
              <a:t> </a:t>
            </a:r>
            <a:r>
              <a:rPr lang="de-DE" sz="1800" b="0" dirty="0" err="1">
                <a:effectLst/>
                <a:latin typeface="UniversLTStd"/>
              </a:rPr>
              <a:t>drives</a:t>
            </a:r>
            <a:r>
              <a:rPr lang="de-DE" sz="1800" b="0" dirty="0">
                <a:effectLst/>
                <a:latin typeface="UniversLTStd"/>
              </a:rPr>
              <a:t> </a:t>
            </a:r>
            <a:r>
              <a:rPr lang="de-DE" sz="1800" b="0" dirty="0" err="1">
                <a:effectLst/>
                <a:latin typeface="UniversLTStd"/>
              </a:rPr>
              <a:t>commodity</a:t>
            </a:r>
            <a:r>
              <a:rPr lang="de-DE" sz="1800" b="0" dirty="0">
                <a:effectLst/>
                <a:latin typeface="UniversLTStd"/>
              </a:rPr>
              <a:t> </a:t>
            </a:r>
            <a:r>
              <a:rPr lang="de-DE" sz="1800" b="0" dirty="0" err="1">
                <a:effectLst/>
                <a:latin typeface="UniversLTStd"/>
              </a:rPr>
              <a:t>price</a:t>
            </a:r>
            <a:r>
              <a:rPr lang="de-DE" sz="1800" b="0" dirty="0">
                <a:effectLst/>
                <a:latin typeface="UniversLTStd"/>
              </a:rPr>
              <a:t> </a:t>
            </a:r>
            <a:r>
              <a:rPr lang="de-DE" sz="1800" b="0" dirty="0" err="1">
                <a:effectLst/>
                <a:latin typeface="UniversLTStd"/>
              </a:rPr>
              <a:t>variation</a:t>
            </a:r>
            <a:r>
              <a:rPr lang="de-DE" sz="1800" b="0" dirty="0">
                <a:effectLst/>
                <a:latin typeface="UniversLTStd"/>
              </a:rPr>
              <a:t>?</a:t>
            </a:r>
            <a:r>
              <a:rPr lang="de-DE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p. 349)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de-DE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Commodity Currencies</a:t>
            </a:r>
            <a:r>
              <a:rPr lang="de-DE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(Taken from </a:t>
            </a:r>
            <a:r>
              <a:rPr lang="de-DE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paper</a:t>
            </a:r>
            <a:r>
              <a:rPr lang="de-DE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de-DE" sz="1800" dirty="0">
                <a:effectLst/>
                <a:latin typeface="TimesNewRomanPSMT"/>
              </a:rPr>
              <a:t>Commodity Price Effects on Currencies, p. 1 and </a:t>
            </a:r>
            <a:r>
              <a:rPr lang="de-DE" sz="1200" dirty="0">
                <a:effectLst/>
                <a:latin typeface="AdvTT5843c571"/>
              </a:rPr>
              <a:t>Commodity </a:t>
            </a:r>
            <a:r>
              <a:rPr lang="de-DE" sz="1200" dirty="0" err="1">
                <a:effectLst/>
                <a:latin typeface="AdvTT5843c571"/>
              </a:rPr>
              <a:t>currencies</a:t>
            </a:r>
            <a:r>
              <a:rPr lang="de-DE" sz="1200" dirty="0">
                <a:effectLst/>
                <a:latin typeface="AdvTT5843c571"/>
              </a:rPr>
              <a:t> and </a:t>
            </a:r>
            <a:r>
              <a:rPr lang="de-DE" sz="1200" dirty="0" err="1">
                <a:effectLst/>
                <a:latin typeface="AdvTT5843c571"/>
              </a:rPr>
              <a:t>the</a:t>
            </a:r>
            <a:r>
              <a:rPr lang="de-DE" sz="1200" dirty="0">
                <a:effectLst/>
                <a:latin typeface="AdvTT5843c571"/>
              </a:rPr>
              <a:t> real </a:t>
            </a:r>
            <a:r>
              <a:rPr lang="de-DE" sz="1200" dirty="0" err="1">
                <a:effectLst/>
                <a:latin typeface="AdvTT5843c571"/>
              </a:rPr>
              <a:t>exchange</a:t>
            </a:r>
            <a:r>
              <a:rPr lang="de-DE" sz="1200" dirty="0">
                <a:effectLst/>
                <a:latin typeface="AdvTT5843c571"/>
              </a:rPr>
              <a:t> rate, p. 239-240 and </a:t>
            </a:r>
            <a:r>
              <a:rPr lang="de-DE" sz="1200" dirty="0">
                <a:effectLst/>
                <a:latin typeface="Times" pitchFamily="2" charset="0"/>
              </a:rPr>
              <a:t>Commodity </a:t>
            </a:r>
            <a:r>
              <a:rPr lang="de-DE" sz="1200" dirty="0" err="1">
                <a:effectLst/>
                <a:latin typeface="Times" pitchFamily="2" charset="0"/>
              </a:rPr>
              <a:t>currencies</a:t>
            </a:r>
            <a:r>
              <a:rPr lang="de-DE" sz="1200" dirty="0">
                <a:effectLst/>
                <a:latin typeface="Times" pitchFamily="2" charset="0"/>
              </a:rPr>
              <a:t>, p. 133-134</a:t>
            </a:r>
            <a:r>
              <a:rPr lang="de-DE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de-DE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Business Cycle and Uncertainty</a:t>
            </a:r>
            <a:r>
              <a:rPr lang="de-DE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(Taken from </a:t>
            </a:r>
            <a:r>
              <a:rPr lang="de-DE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de-DE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paper</a:t>
            </a:r>
            <a:r>
              <a:rPr lang="de-DE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de-DE" sz="1800" dirty="0">
                <a:effectLst/>
                <a:latin typeface="AdvOT596495f2"/>
              </a:rPr>
              <a:t>Do all </a:t>
            </a:r>
            <a:r>
              <a:rPr lang="de-DE" sz="1800" dirty="0" err="1">
                <a:effectLst/>
                <a:latin typeface="AdvOT596495f2"/>
              </a:rPr>
              <a:t>oil</a:t>
            </a:r>
            <a:r>
              <a:rPr lang="de-DE" sz="1800" dirty="0">
                <a:effectLst/>
                <a:latin typeface="AdvOT596495f2"/>
              </a:rPr>
              <a:t> </a:t>
            </a:r>
            <a:r>
              <a:rPr lang="de-DE" sz="1800" dirty="0" err="1">
                <a:effectLst/>
                <a:latin typeface="AdvOT596495f2"/>
              </a:rPr>
              <a:t>price</a:t>
            </a:r>
            <a:r>
              <a:rPr lang="de-DE" sz="1800" dirty="0">
                <a:effectLst/>
                <a:latin typeface="AdvOT596495f2"/>
              </a:rPr>
              <a:t> </a:t>
            </a:r>
            <a:r>
              <a:rPr lang="de-DE" sz="1800" dirty="0" err="1">
                <a:effectLst/>
                <a:latin typeface="AdvOT596495f2"/>
              </a:rPr>
              <a:t>shocks</a:t>
            </a:r>
            <a:r>
              <a:rPr lang="de-DE" sz="1800" dirty="0">
                <a:effectLst/>
                <a:latin typeface="AdvOT596495f2"/>
              </a:rPr>
              <a:t> </a:t>
            </a:r>
            <a:r>
              <a:rPr lang="de-DE" sz="1800" dirty="0" err="1">
                <a:effectLst/>
                <a:latin typeface="AdvOT596495f2"/>
              </a:rPr>
              <a:t>have</a:t>
            </a:r>
            <a:r>
              <a:rPr lang="de-DE" sz="1800" dirty="0">
                <a:effectLst/>
                <a:latin typeface="AdvOT596495f2"/>
              </a:rPr>
              <a:t> </a:t>
            </a:r>
            <a:r>
              <a:rPr lang="de-DE" sz="1800" dirty="0" err="1">
                <a:effectLst/>
                <a:latin typeface="AdvOT596495f2"/>
              </a:rPr>
              <a:t>the</a:t>
            </a:r>
            <a:r>
              <a:rPr lang="de-DE" sz="1800" dirty="0">
                <a:effectLst/>
                <a:latin typeface="AdvOT596495f2"/>
              </a:rPr>
              <a:t> same </a:t>
            </a:r>
            <a:r>
              <a:rPr lang="de-DE" sz="1800" dirty="0" err="1">
                <a:effectLst/>
                <a:latin typeface="AdvOT596495f2"/>
              </a:rPr>
              <a:t>impact</a:t>
            </a:r>
            <a:r>
              <a:rPr lang="de-DE" sz="1800" dirty="0">
                <a:effectLst/>
                <a:latin typeface="AdvOT596495f2"/>
              </a:rPr>
              <a:t>? </a:t>
            </a:r>
            <a:r>
              <a:rPr lang="de-DE" sz="1800" dirty="0" err="1">
                <a:effectLst/>
                <a:latin typeface="AdvOT596495f2"/>
              </a:rPr>
              <a:t>Evidence</a:t>
            </a:r>
            <a:r>
              <a:rPr lang="de-DE" sz="1800" dirty="0">
                <a:effectLst/>
                <a:latin typeface="AdvOT596495f2"/>
              </a:rPr>
              <a:t> from </a:t>
            </a:r>
            <a:r>
              <a:rPr lang="de-DE" sz="1800" dirty="0" err="1">
                <a:effectLst/>
                <a:latin typeface="AdvOT596495f2"/>
              </a:rPr>
              <a:t>the</a:t>
            </a:r>
            <a:r>
              <a:rPr lang="de-DE" sz="1800" dirty="0">
                <a:effectLst/>
                <a:latin typeface="AdvOT596495f2"/>
              </a:rPr>
              <a:t> </a:t>
            </a:r>
            <a:r>
              <a:rPr lang="de-DE" sz="1800" dirty="0" err="1">
                <a:effectLst/>
                <a:latin typeface="AdvOT596495f2"/>
              </a:rPr>
              <a:t>euro</a:t>
            </a:r>
            <a:r>
              <a:rPr lang="de-DE" sz="1800" dirty="0">
                <a:effectLst/>
                <a:latin typeface="AdvOT596495f2"/>
              </a:rPr>
              <a:t> </a:t>
            </a:r>
            <a:r>
              <a:rPr lang="de-DE" sz="1800" dirty="0" err="1">
                <a:effectLst/>
                <a:latin typeface="AdvOT596495f2"/>
              </a:rPr>
              <a:t>area</a:t>
            </a:r>
            <a:r>
              <a:rPr lang="de-DE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p. 151)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de-DE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Adaptive Market Hypothesis</a:t>
            </a:r>
            <a:r>
              <a:rPr lang="de-DE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(Taken from </a:t>
            </a:r>
            <a:r>
              <a:rPr lang="de-DE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de-DE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paper</a:t>
            </a:r>
            <a:r>
              <a:rPr lang="de-DE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de-DE" sz="1800" dirty="0">
                <a:effectLst/>
                <a:latin typeface="AdvOT863180fb"/>
              </a:rPr>
              <a:t>Exchange-rate </a:t>
            </a:r>
            <a:r>
              <a:rPr lang="de-DE" sz="1800" dirty="0" err="1">
                <a:effectLst/>
                <a:latin typeface="AdvOT863180fb"/>
              </a:rPr>
              <a:t>return</a:t>
            </a:r>
            <a:r>
              <a:rPr lang="de-DE" sz="1800" dirty="0">
                <a:effectLst/>
                <a:latin typeface="AdvOT863180fb"/>
              </a:rPr>
              <a:t> </a:t>
            </a:r>
            <a:r>
              <a:rPr lang="de-DE" sz="1800" dirty="0" err="1">
                <a:effectLst/>
                <a:latin typeface="AdvOT863180fb"/>
              </a:rPr>
              <a:t>predictability</a:t>
            </a:r>
            <a:r>
              <a:rPr lang="de-DE" sz="1800" dirty="0">
                <a:effectLst/>
                <a:latin typeface="AdvOT863180fb"/>
              </a:rPr>
              <a:t> and </a:t>
            </a:r>
            <a:r>
              <a:rPr lang="de-DE" sz="1800" dirty="0" err="1">
                <a:effectLst/>
                <a:latin typeface="AdvOT863180fb"/>
              </a:rPr>
              <a:t>the</a:t>
            </a:r>
            <a:r>
              <a:rPr lang="de-DE" sz="1800" dirty="0">
                <a:effectLst/>
                <a:latin typeface="AdvOT863180fb"/>
              </a:rPr>
              <a:t> adaptive </a:t>
            </a:r>
            <a:r>
              <a:rPr lang="de-DE" sz="1800" dirty="0" err="1">
                <a:effectLst/>
                <a:latin typeface="AdvOT863180fb"/>
              </a:rPr>
              <a:t>markets</a:t>
            </a:r>
            <a:r>
              <a:rPr lang="de-DE" sz="1800" dirty="0">
                <a:effectLst/>
                <a:latin typeface="AdvOT863180fb"/>
              </a:rPr>
              <a:t> </a:t>
            </a:r>
            <a:r>
              <a:rPr lang="de-DE" sz="1800" dirty="0" err="1">
                <a:effectLst/>
                <a:latin typeface="AdvOT863180fb"/>
              </a:rPr>
              <a:t>hypothesis</a:t>
            </a:r>
            <a:r>
              <a:rPr lang="de-DE" sz="1800" dirty="0">
                <a:effectLst/>
                <a:latin typeface="AdvOT863180fb"/>
              </a:rPr>
              <a:t>: </a:t>
            </a:r>
            <a:r>
              <a:rPr lang="de-DE" sz="1800" dirty="0" err="1">
                <a:effectLst/>
                <a:latin typeface="AdvOT863180fb"/>
              </a:rPr>
              <a:t>Evidence</a:t>
            </a:r>
            <a:r>
              <a:rPr lang="de-DE" sz="1800" dirty="0">
                <a:effectLst/>
                <a:latin typeface="AdvOT863180fb"/>
              </a:rPr>
              <a:t> from </a:t>
            </a:r>
            <a:r>
              <a:rPr lang="de-DE" sz="1800" dirty="0" err="1">
                <a:effectLst/>
                <a:latin typeface="AdvOT863180fb"/>
              </a:rPr>
              <a:t>major</a:t>
            </a:r>
            <a:r>
              <a:rPr lang="de-DE" sz="1800" dirty="0">
                <a:effectLst/>
                <a:latin typeface="AdvOT863180fb"/>
              </a:rPr>
              <a:t> </a:t>
            </a:r>
            <a:r>
              <a:rPr lang="de-DE" sz="1800" dirty="0" err="1">
                <a:effectLst/>
                <a:latin typeface="AdvOT863180fb"/>
              </a:rPr>
              <a:t>foreign</a:t>
            </a:r>
            <a:r>
              <a:rPr lang="de-DE" sz="1800" dirty="0">
                <a:effectLst/>
                <a:latin typeface="AdvOT863180fb"/>
              </a:rPr>
              <a:t> </a:t>
            </a:r>
            <a:r>
              <a:rPr lang="de-DE" sz="1800" dirty="0" err="1">
                <a:effectLst/>
                <a:latin typeface="AdvOT863180fb"/>
              </a:rPr>
              <a:t>exchange</a:t>
            </a:r>
            <a:r>
              <a:rPr lang="de-DE" sz="1800" dirty="0">
                <a:effectLst/>
                <a:latin typeface="AdvOT863180fb"/>
              </a:rPr>
              <a:t> </a:t>
            </a:r>
            <a:r>
              <a:rPr lang="de-DE" sz="1800" dirty="0" err="1">
                <a:effectLst/>
                <a:latin typeface="AdvOT863180fb"/>
              </a:rPr>
              <a:t>rates</a:t>
            </a:r>
            <a:r>
              <a:rPr lang="de-DE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p.1607 and </a:t>
            </a:r>
            <a:r>
              <a:rPr lang="de-DE" sz="1800" dirty="0">
                <a:effectLst/>
                <a:latin typeface="CharisSIL"/>
              </a:rPr>
              <a:t>Time </a:t>
            </a:r>
            <a:r>
              <a:rPr lang="de-DE" sz="1800" dirty="0" err="1">
                <a:effectLst/>
                <a:latin typeface="CharisSIL"/>
              </a:rPr>
              <a:t>varying</a:t>
            </a:r>
            <a:r>
              <a:rPr lang="de-DE" sz="1800" dirty="0">
                <a:effectLst/>
                <a:latin typeface="CharisSIL"/>
              </a:rPr>
              <a:t> </a:t>
            </a:r>
            <a:r>
              <a:rPr lang="de-DE" sz="1800" dirty="0" err="1">
                <a:effectLst/>
                <a:latin typeface="CharisSIL"/>
              </a:rPr>
              <a:t>market</a:t>
            </a:r>
            <a:r>
              <a:rPr lang="de-DE" sz="1800" dirty="0">
                <a:effectLst/>
                <a:latin typeface="CharisSIL"/>
              </a:rPr>
              <a:t> </a:t>
            </a:r>
            <a:r>
              <a:rPr lang="de-DE" sz="1800" dirty="0" err="1">
                <a:effectLst/>
                <a:latin typeface="CharisSIL"/>
              </a:rPr>
              <a:t>efficiency</a:t>
            </a:r>
            <a:r>
              <a:rPr lang="de-DE" sz="1800" dirty="0">
                <a:effectLst/>
                <a:latin typeface="CharisSIL"/>
              </a:rPr>
              <a:t> in </a:t>
            </a:r>
            <a:r>
              <a:rPr lang="de-DE" sz="1800" dirty="0" err="1">
                <a:effectLst/>
                <a:latin typeface="CharisSIL"/>
              </a:rPr>
              <a:t>the</a:t>
            </a:r>
            <a:r>
              <a:rPr lang="de-DE" sz="1800" dirty="0">
                <a:effectLst/>
                <a:latin typeface="CharisSIL"/>
              </a:rPr>
              <a:t> Brent and WTI </a:t>
            </a:r>
            <a:r>
              <a:rPr lang="de-DE" sz="1800" dirty="0" err="1">
                <a:effectLst/>
                <a:latin typeface="CharisSIL"/>
              </a:rPr>
              <a:t>crude</a:t>
            </a:r>
            <a:r>
              <a:rPr lang="de-DE" sz="1800" dirty="0">
                <a:effectLst/>
                <a:latin typeface="CharisSIL"/>
              </a:rPr>
              <a:t> </a:t>
            </a:r>
            <a:r>
              <a:rPr lang="de-DE" sz="1800" dirty="0" err="1">
                <a:effectLst/>
                <a:latin typeface="CharisSIL"/>
              </a:rPr>
              <a:t>market</a:t>
            </a:r>
            <a:r>
              <a:rPr lang="de-DE" sz="1800" dirty="0">
                <a:effectLst/>
                <a:latin typeface="CharisSIL"/>
              </a:rPr>
              <a:t>, p.1</a:t>
            </a:r>
            <a:r>
              <a:rPr lang="de-DE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de-DE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Fundamental Shock</a:t>
            </a:r>
            <a:r>
              <a:rPr lang="de-DE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(Taken from </a:t>
            </a:r>
            <a:r>
              <a:rPr lang="de-DE" sz="10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de-DE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0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paper</a:t>
            </a:r>
            <a:r>
              <a:rPr lang="de-DE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de-DE" sz="1200" dirty="0">
                <a:effectLst/>
                <a:latin typeface="AdvOT863180fb"/>
              </a:rPr>
              <a:t>Exchange-rate </a:t>
            </a:r>
            <a:r>
              <a:rPr lang="de-DE" sz="1200" dirty="0" err="1">
                <a:effectLst/>
                <a:latin typeface="AdvOT863180fb"/>
              </a:rPr>
              <a:t>return</a:t>
            </a:r>
            <a:r>
              <a:rPr lang="de-DE" sz="1200" dirty="0">
                <a:effectLst/>
                <a:latin typeface="AdvOT863180fb"/>
              </a:rPr>
              <a:t> </a:t>
            </a:r>
            <a:r>
              <a:rPr lang="de-DE" sz="1200" dirty="0" err="1">
                <a:effectLst/>
                <a:latin typeface="AdvOT863180fb"/>
              </a:rPr>
              <a:t>predictability</a:t>
            </a:r>
            <a:r>
              <a:rPr lang="de-DE" sz="1200" dirty="0">
                <a:effectLst/>
                <a:latin typeface="AdvOT863180fb"/>
              </a:rPr>
              <a:t> and </a:t>
            </a:r>
            <a:r>
              <a:rPr lang="de-DE" sz="1200" dirty="0" err="1">
                <a:effectLst/>
                <a:latin typeface="AdvOT863180fb"/>
              </a:rPr>
              <a:t>the</a:t>
            </a:r>
            <a:r>
              <a:rPr lang="de-DE" sz="1200" dirty="0">
                <a:effectLst/>
                <a:latin typeface="AdvOT863180fb"/>
              </a:rPr>
              <a:t> adaptive </a:t>
            </a:r>
            <a:r>
              <a:rPr lang="de-DE" sz="1200" dirty="0" err="1">
                <a:effectLst/>
                <a:latin typeface="AdvOT863180fb"/>
              </a:rPr>
              <a:t>markets</a:t>
            </a:r>
            <a:r>
              <a:rPr lang="de-DE" sz="1200" dirty="0">
                <a:effectLst/>
                <a:latin typeface="AdvOT863180fb"/>
              </a:rPr>
              <a:t> </a:t>
            </a:r>
            <a:r>
              <a:rPr lang="de-DE" sz="1200" dirty="0" err="1">
                <a:effectLst/>
                <a:latin typeface="AdvOT863180fb"/>
              </a:rPr>
              <a:t>hypothesis</a:t>
            </a:r>
            <a:r>
              <a:rPr lang="de-DE" sz="1200" dirty="0">
                <a:effectLst/>
                <a:latin typeface="AdvOT863180fb"/>
              </a:rPr>
              <a:t>: </a:t>
            </a:r>
            <a:r>
              <a:rPr lang="de-DE" sz="1200" dirty="0" err="1">
                <a:effectLst/>
                <a:latin typeface="AdvOT863180fb"/>
              </a:rPr>
              <a:t>Evidence</a:t>
            </a:r>
            <a:r>
              <a:rPr lang="de-DE" sz="1200" dirty="0">
                <a:effectLst/>
                <a:latin typeface="AdvOT863180fb"/>
              </a:rPr>
              <a:t> from </a:t>
            </a:r>
            <a:r>
              <a:rPr lang="de-DE" sz="1200" dirty="0" err="1">
                <a:effectLst/>
                <a:latin typeface="AdvOT863180fb"/>
              </a:rPr>
              <a:t>major</a:t>
            </a:r>
            <a:r>
              <a:rPr lang="de-DE" sz="1200" dirty="0">
                <a:effectLst/>
                <a:latin typeface="AdvOT863180fb"/>
              </a:rPr>
              <a:t> </a:t>
            </a:r>
            <a:r>
              <a:rPr lang="de-DE" sz="1200" dirty="0" err="1">
                <a:effectLst/>
                <a:latin typeface="AdvOT863180fb"/>
              </a:rPr>
              <a:t>foreign</a:t>
            </a:r>
            <a:r>
              <a:rPr lang="de-DE" sz="1200" dirty="0">
                <a:effectLst/>
                <a:latin typeface="AdvOT863180fb"/>
              </a:rPr>
              <a:t> </a:t>
            </a:r>
            <a:r>
              <a:rPr lang="de-DE" sz="1200" dirty="0" err="1">
                <a:effectLst/>
                <a:latin typeface="AdvOT863180fb"/>
              </a:rPr>
              <a:t>exchange</a:t>
            </a:r>
            <a:r>
              <a:rPr lang="de-DE" sz="1200" dirty="0">
                <a:effectLst/>
                <a:latin typeface="AdvOT863180fb"/>
              </a:rPr>
              <a:t> </a:t>
            </a:r>
            <a:r>
              <a:rPr lang="de-DE" sz="1200" dirty="0" err="1">
                <a:effectLst/>
                <a:latin typeface="AdvOT863180fb"/>
              </a:rPr>
              <a:t>rates</a:t>
            </a:r>
            <a:r>
              <a:rPr lang="de-DE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p.1607)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de-DE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Dominant Pricing Effect</a:t>
            </a:r>
            <a:r>
              <a:rPr lang="de-DE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(Taken from </a:t>
            </a:r>
            <a:r>
              <a:rPr lang="de-DE" sz="10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de-DE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0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paper</a:t>
            </a:r>
            <a:r>
              <a:rPr lang="de-DE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de-DE" sz="1800" dirty="0">
                <a:effectLst/>
                <a:latin typeface="CharisSIL"/>
              </a:rPr>
              <a:t>International </a:t>
            </a:r>
            <a:r>
              <a:rPr lang="de-DE" sz="1800" dirty="0" err="1">
                <a:effectLst/>
                <a:latin typeface="CharisSIL"/>
              </a:rPr>
              <a:t>energy</a:t>
            </a:r>
            <a:r>
              <a:rPr lang="de-DE" sz="1800" dirty="0">
                <a:effectLst/>
                <a:latin typeface="CharisSIL"/>
              </a:rPr>
              <a:t> trade and </a:t>
            </a:r>
            <a:r>
              <a:rPr lang="de-DE" sz="1800" dirty="0" err="1">
                <a:effectLst/>
                <a:latin typeface="CharisSIL"/>
              </a:rPr>
              <a:t>inflation</a:t>
            </a:r>
            <a:r>
              <a:rPr lang="de-DE" sz="1800" dirty="0">
                <a:effectLst/>
                <a:latin typeface="CharisSIL"/>
              </a:rPr>
              <a:t> </a:t>
            </a:r>
            <a:r>
              <a:rPr lang="de-DE" sz="1800" dirty="0" err="1">
                <a:effectLst/>
                <a:latin typeface="CharisSIL"/>
              </a:rPr>
              <a:t>dynamics</a:t>
            </a:r>
            <a:r>
              <a:rPr lang="de-DE" sz="1800" dirty="0">
                <a:effectLst/>
                <a:latin typeface="CharisSIL"/>
              </a:rPr>
              <a:t>: The </a:t>
            </a:r>
            <a:r>
              <a:rPr lang="de-DE" sz="1800" dirty="0" err="1">
                <a:effectLst/>
                <a:latin typeface="CharisSIL"/>
              </a:rPr>
              <a:t>role</a:t>
            </a:r>
            <a:r>
              <a:rPr lang="de-DE" sz="1800" dirty="0">
                <a:effectLst/>
                <a:latin typeface="CharisSIL"/>
              </a:rPr>
              <a:t> of </a:t>
            </a:r>
            <a:r>
              <a:rPr lang="de-DE" sz="1800" dirty="0" err="1">
                <a:effectLst/>
                <a:latin typeface="CharisSIL"/>
              </a:rPr>
              <a:t>invoicing</a:t>
            </a:r>
            <a:r>
              <a:rPr lang="de-DE" sz="1800" dirty="0">
                <a:effectLst/>
                <a:latin typeface="CharisSIL"/>
              </a:rPr>
              <a:t> </a:t>
            </a:r>
            <a:r>
              <a:rPr lang="de-DE" sz="1800" dirty="0" err="1">
                <a:effectLst/>
                <a:latin typeface="CharisSIL"/>
              </a:rPr>
              <a:t>currency</a:t>
            </a:r>
            <a:r>
              <a:rPr lang="de-DE" sz="1800" dirty="0">
                <a:effectLst/>
                <a:latin typeface="CharisSIL"/>
              </a:rPr>
              <a:t> </a:t>
            </a:r>
            <a:r>
              <a:rPr lang="de-DE" sz="1800" dirty="0" err="1">
                <a:effectLst/>
                <a:latin typeface="CharisSIL"/>
              </a:rPr>
              <a:t>use</a:t>
            </a:r>
            <a:r>
              <a:rPr lang="de-DE" sz="1800" dirty="0">
                <a:effectLst/>
                <a:latin typeface="CharisSIL"/>
              </a:rPr>
              <a:t> </a:t>
            </a:r>
            <a:r>
              <a:rPr lang="de-DE" sz="1800" dirty="0" err="1">
                <a:effectLst/>
                <a:latin typeface="CharisSIL"/>
              </a:rPr>
              <a:t>during</a:t>
            </a:r>
            <a:r>
              <a:rPr lang="de-DE" sz="1800" dirty="0">
                <a:effectLst/>
                <a:latin typeface="CharisSIL"/>
              </a:rPr>
              <a:t> </a:t>
            </a:r>
            <a:r>
              <a:rPr lang="de-DE" sz="1800" dirty="0" err="1">
                <a:effectLst/>
                <a:latin typeface="CharisSIL"/>
              </a:rPr>
              <a:t>the</a:t>
            </a:r>
            <a:r>
              <a:rPr lang="de-DE" sz="1800" dirty="0">
                <a:effectLst/>
                <a:latin typeface="CharisSIL"/>
              </a:rPr>
              <a:t> </a:t>
            </a:r>
            <a:r>
              <a:rPr lang="de-DE" sz="1800" dirty="0" err="1">
                <a:effectLst/>
                <a:latin typeface="CharisSIL"/>
              </a:rPr>
              <a:t>low</a:t>
            </a:r>
            <a:r>
              <a:rPr lang="de-DE" sz="1800" dirty="0">
                <a:effectLst/>
                <a:latin typeface="CharisSIL"/>
              </a:rPr>
              <a:t> </a:t>
            </a:r>
            <a:r>
              <a:rPr lang="de-DE" sz="1800" dirty="0" err="1">
                <a:effectLst/>
                <a:latin typeface="CharisSIL"/>
              </a:rPr>
              <a:t>carbon</a:t>
            </a:r>
            <a:r>
              <a:rPr lang="de-DE" sz="1800" dirty="0">
                <a:effectLst/>
                <a:latin typeface="CharisSIL"/>
              </a:rPr>
              <a:t> </a:t>
            </a:r>
            <a:r>
              <a:rPr lang="de-DE" sz="1800" dirty="0" err="1">
                <a:effectLst/>
                <a:latin typeface="CharisSIL"/>
              </a:rPr>
              <a:t>transition</a:t>
            </a:r>
            <a:r>
              <a:rPr lang="de-DE" sz="1800" dirty="0">
                <a:effectLst/>
                <a:latin typeface="CharisSIL"/>
              </a:rPr>
              <a:t>, p.1</a:t>
            </a:r>
            <a:r>
              <a:rPr lang="de-DE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de-DE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Volatility and Risk Spillover Effects</a:t>
            </a:r>
            <a:r>
              <a:rPr lang="de-DE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(Taken from </a:t>
            </a:r>
            <a:r>
              <a:rPr lang="de-DE" sz="10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de-DE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0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paper</a:t>
            </a:r>
            <a:r>
              <a:rPr lang="de-DE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de-DE" sz="1800" dirty="0">
                <a:effectLst/>
                <a:latin typeface="CharisSIL"/>
              </a:rPr>
              <a:t>Volatility </a:t>
            </a:r>
            <a:r>
              <a:rPr lang="de-DE" sz="1800" dirty="0" err="1">
                <a:effectLst/>
                <a:latin typeface="CharisSIL"/>
              </a:rPr>
              <a:t>spillover</a:t>
            </a:r>
            <a:r>
              <a:rPr lang="de-DE" sz="1800" dirty="0">
                <a:effectLst/>
                <a:latin typeface="CharisSIL"/>
              </a:rPr>
              <a:t> </a:t>
            </a:r>
            <a:r>
              <a:rPr lang="de-DE" sz="1800" dirty="0" err="1">
                <a:effectLst/>
                <a:latin typeface="CharisSIL"/>
              </a:rPr>
              <a:t>between</a:t>
            </a:r>
            <a:r>
              <a:rPr lang="de-DE" sz="1800" dirty="0">
                <a:effectLst/>
                <a:latin typeface="CharisSIL"/>
              </a:rPr>
              <a:t> </a:t>
            </a:r>
            <a:r>
              <a:rPr lang="de-DE" sz="1800" dirty="0" err="1">
                <a:effectLst/>
                <a:latin typeface="CharisSIL"/>
              </a:rPr>
              <a:t>oil</a:t>
            </a:r>
            <a:r>
              <a:rPr lang="de-DE" sz="1800" dirty="0">
                <a:effectLst/>
                <a:latin typeface="CharisSIL"/>
              </a:rPr>
              <a:t> </a:t>
            </a:r>
            <a:r>
              <a:rPr lang="de-DE" sz="1800" dirty="0" err="1">
                <a:effectLst/>
                <a:latin typeface="CharisSIL"/>
              </a:rPr>
              <a:t>prices</a:t>
            </a:r>
            <a:r>
              <a:rPr lang="de-DE" sz="1800" dirty="0">
                <a:effectLst/>
                <a:latin typeface="CharisSIL"/>
              </a:rPr>
              <a:t> and main </a:t>
            </a:r>
            <a:r>
              <a:rPr lang="de-DE" sz="1800" dirty="0" err="1">
                <a:effectLst/>
                <a:latin typeface="CharisSIL"/>
              </a:rPr>
              <a:t>exchange</a:t>
            </a:r>
            <a:r>
              <a:rPr lang="de-DE" sz="1800" dirty="0">
                <a:effectLst/>
                <a:latin typeface="CharisSIL"/>
              </a:rPr>
              <a:t> </a:t>
            </a:r>
            <a:r>
              <a:rPr lang="de-DE" sz="1800" dirty="0" err="1">
                <a:effectLst/>
                <a:latin typeface="CharisSIL"/>
              </a:rPr>
              <a:t>rates</a:t>
            </a:r>
            <a:r>
              <a:rPr lang="de-DE" sz="1800" dirty="0">
                <a:effectLst/>
                <a:latin typeface="CharisSIL"/>
              </a:rPr>
              <a:t>: </a:t>
            </a:r>
            <a:r>
              <a:rPr lang="de-DE" sz="1800" dirty="0" err="1">
                <a:effectLst/>
                <a:latin typeface="CharisSIL"/>
              </a:rPr>
              <a:t>Evidence</a:t>
            </a:r>
            <a:r>
              <a:rPr lang="de-DE" sz="1800" dirty="0">
                <a:effectLst/>
                <a:latin typeface="CharisSIL"/>
              </a:rPr>
              <a:t> from a DCC-GARCH-</a:t>
            </a:r>
            <a:r>
              <a:rPr lang="de-DE" sz="1800" dirty="0" err="1">
                <a:effectLst/>
                <a:latin typeface="CharisSIL"/>
              </a:rPr>
              <a:t>connectedness</a:t>
            </a:r>
            <a:r>
              <a:rPr lang="de-DE" sz="1800" dirty="0">
                <a:effectLst/>
                <a:latin typeface="CharisSIL"/>
              </a:rPr>
              <a:t> </a:t>
            </a:r>
            <a:r>
              <a:rPr lang="de-DE" sz="1800" dirty="0" err="1">
                <a:effectLst/>
                <a:latin typeface="CharisSIL"/>
              </a:rPr>
              <a:t>approach</a:t>
            </a:r>
            <a:r>
              <a:rPr lang="de-DE" sz="1800" dirty="0">
                <a:effectLst/>
                <a:latin typeface="CharisSIL"/>
              </a:rPr>
              <a:t>, p. 1 and </a:t>
            </a:r>
            <a:r>
              <a:rPr lang="de-DE" sz="1800" dirty="0" err="1">
                <a:effectLst/>
                <a:latin typeface="Times New Roman,Bold" pitchFamily="2" charset="0"/>
              </a:rPr>
              <a:t>How</a:t>
            </a:r>
            <a:r>
              <a:rPr lang="de-DE" sz="1800" dirty="0">
                <a:effectLst/>
                <a:latin typeface="Times New Roman,Bold" pitchFamily="2" charset="0"/>
              </a:rPr>
              <a:t> Exchange Rate Volatility Shapes Commodity Derivatives Market: </a:t>
            </a:r>
            <a:r>
              <a:rPr lang="de-DE" sz="1800" dirty="0" err="1">
                <a:effectLst/>
                <a:latin typeface="Times New Roman,Bold" pitchFamily="2" charset="0"/>
              </a:rPr>
              <a:t>Lessons</a:t>
            </a:r>
            <a:r>
              <a:rPr lang="de-DE" sz="1800" dirty="0">
                <a:effectLst/>
                <a:latin typeface="Times New Roman,Bold" pitchFamily="2" charset="0"/>
              </a:rPr>
              <a:t> from Five Global Shocks (2007–2023), p. 1 and </a:t>
            </a:r>
            <a:r>
              <a:rPr lang="de-DE" sz="1800" dirty="0">
                <a:effectLst/>
                <a:latin typeface="AdvTT5235d5a9"/>
              </a:rPr>
              <a:t>Oil </a:t>
            </a:r>
            <a:r>
              <a:rPr lang="de-DE" sz="1800" dirty="0" err="1">
                <a:effectLst/>
                <a:latin typeface="AdvTT5235d5a9"/>
              </a:rPr>
              <a:t>price</a:t>
            </a:r>
            <a:r>
              <a:rPr lang="de-DE" sz="1800" dirty="0">
                <a:effectLst/>
                <a:latin typeface="AdvTT5235d5a9"/>
              </a:rPr>
              <a:t> </a:t>
            </a:r>
            <a:r>
              <a:rPr lang="de-DE" sz="1800" dirty="0" err="1">
                <a:effectLst/>
                <a:latin typeface="AdvTT5235d5a9"/>
              </a:rPr>
              <a:t>shocks</a:t>
            </a:r>
            <a:r>
              <a:rPr lang="de-DE" sz="1800" dirty="0">
                <a:effectLst/>
                <a:latin typeface="AdvTT5235d5a9"/>
              </a:rPr>
              <a:t> and </a:t>
            </a:r>
            <a:r>
              <a:rPr lang="de-DE" sz="1800" dirty="0" err="1">
                <a:effectLst/>
                <a:latin typeface="AdvTT5235d5a9"/>
              </a:rPr>
              <a:t>exchange</a:t>
            </a:r>
            <a:r>
              <a:rPr lang="de-DE" sz="1800" dirty="0">
                <a:effectLst/>
                <a:latin typeface="AdvTT5235d5a9"/>
              </a:rPr>
              <a:t> rate </a:t>
            </a:r>
            <a:r>
              <a:rPr lang="de-DE" sz="1800" dirty="0" err="1">
                <a:effectLst/>
                <a:latin typeface="AdvTT5235d5a9"/>
              </a:rPr>
              <a:t>movements</a:t>
            </a:r>
            <a:r>
              <a:rPr lang="de-DE" sz="1800" dirty="0">
                <a:effectLst/>
                <a:latin typeface="AdvTT5235d5a9"/>
              </a:rPr>
              <a:t>, p. 18</a:t>
            </a:r>
            <a:r>
              <a:rPr lang="de-DE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de-DE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Central Bank Policy</a:t>
            </a:r>
            <a:r>
              <a:rPr lang="de-DE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(Taken from </a:t>
            </a:r>
            <a:r>
              <a:rPr lang="de-DE" sz="10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de-DE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0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paper</a:t>
            </a:r>
            <a:r>
              <a:rPr lang="de-DE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de-DE" sz="1800" dirty="0">
                <a:effectLst/>
                <a:latin typeface="MathPackOne"/>
              </a:rPr>
              <a:t>Regime </a:t>
            </a:r>
            <a:r>
              <a:rPr lang="de-DE" sz="1800" dirty="0" err="1">
                <a:effectLst/>
                <a:latin typeface="MathPackOne"/>
              </a:rPr>
              <a:t>switching</a:t>
            </a:r>
            <a:r>
              <a:rPr lang="de-DE" sz="1800" dirty="0">
                <a:effectLst/>
                <a:latin typeface="MathPackOne"/>
              </a:rPr>
              <a:t> in </a:t>
            </a:r>
            <a:r>
              <a:rPr lang="de-DE" sz="1800" dirty="0" err="1">
                <a:effectLst/>
                <a:latin typeface="MathPackOne"/>
              </a:rPr>
              <a:t>foreign</a:t>
            </a:r>
            <a:r>
              <a:rPr lang="de-DE" sz="1800" dirty="0">
                <a:effectLst/>
                <a:latin typeface="MathPackOne"/>
              </a:rPr>
              <a:t> </a:t>
            </a:r>
            <a:r>
              <a:rPr lang="de-DE" sz="1800" dirty="0" err="1">
                <a:effectLst/>
                <a:latin typeface="MathPackOne"/>
              </a:rPr>
              <a:t>exchange</a:t>
            </a:r>
            <a:r>
              <a:rPr lang="de-DE" sz="1800" dirty="0">
                <a:effectLst/>
                <a:latin typeface="MathPackOne"/>
              </a:rPr>
              <a:t> </a:t>
            </a:r>
            <a:r>
              <a:rPr lang="de-DE" sz="1800" dirty="0" err="1">
                <a:effectLst/>
                <a:latin typeface="MathPackOne"/>
              </a:rPr>
              <a:t>rates</a:t>
            </a:r>
            <a:r>
              <a:rPr lang="de-DE" sz="1800" dirty="0">
                <a:effectLst/>
                <a:latin typeface="MathPackOne"/>
              </a:rPr>
              <a:t>: </a:t>
            </a:r>
            <a:r>
              <a:rPr lang="de-DE" sz="1800" dirty="0" err="1">
                <a:effectLst/>
                <a:latin typeface="MathPackOne"/>
              </a:rPr>
              <a:t>Evidence</a:t>
            </a:r>
            <a:r>
              <a:rPr lang="de-DE" sz="1800" dirty="0">
                <a:effectLst/>
                <a:latin typeface="MathPackOne"/>
              </a:rPr>
              <a:t> from </a:t>
            </a:r>
            <a:r>
              <a:rPr lang="de-DE" sz="1800" dirty="0" err="1">
                <a:effectLst/>
                <a:latin typeface="MathPackOne"/>
              </a:rPr>
              <a:t>currency</a:t>
            </a:r>
            <a:r>
              <a:rPr lang="de-DE" sz="1800" dirty="0">
                <a:effectLst/>
                <a:latin typeface="MathPackOne"/>
              </a:rPr>
              <a:t> </a:t>
            </a:r>
            <a:r>
              <a:rPr lang="de-DE" sz="1800" dirty="0" err="1">
                <a:effectLst/>
                <a:latin typeface="MathPackOne"/>
              </a:rPr>
              <a:t>option</a:t>
            </a:r>
            <a:r>
              <a:rPr lang="de-DE" sz="1800" dirty="0">
                <a:effectLst/>
                <a:latin typeface="MathPackOne"/>
              </a:rPr>
              <a:t> </a:t>
            </a:r>
            <a:r>
              <a:rPr lang="de-DE" sz="1800" dirty="0" err="1">
                <a:effectLst/>
                <a:latin typeface="MathPackOne"/>
              </a:rPr>
              <a:t>prices</a:t>
            </a:r>
            <a:r>
              <a:rPr lang="de-DE" sz="1800" dirty="0">
                <a:effectLst/>
                <a:latin typeface="MathPackOne"/>
              </a:rPr>
              <a:t> </a:t>
            </a:r>
            <a:r>
              <a:rPr lang="de-DE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p. 240)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de-DE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(US) Terms of Trade Effect</a:t>
            </a:r>
            <a:r>
              <a:rPr lang="de-DE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(Taken from </a:t>
            </a:r>
            <a:r>
              <a:rPr lang="de-DE" sz="10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de-DE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0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paper</a:t>
            </a:r>
            <a:r>
              <a:rPr lang="de-DE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de-DE" sz="1800" dirty="0">
                <a:effectLst/>
                <a:latin typeface="AdvTT5235d5a9"/>
              </a:rPr>
              <a:t>The </a:t>
            </a:r>
            <a:r>
              <a:rPr lang="de-DE" sz="1800" dirty="0" err="1">
                <a:effectLst/>
                <a:latin typeface="AdvTT5235d5a9"/>
              </a:rPr>
              <a:t>impact</a:t>
            </a:r>
            <a:r>
              <a:rPr lang="de-DE" sz="1800" dirty="0">
                <a:effectLst/>
                <a:latin typeface="AdvTT5235d5a9"/>
              </a:rPr>
              <a:t> of </a:t>
            </a:r>
            <a:r>
              <a:rPr lang="de-DE" sz="1800" dirty="0" err="1">
                <a:effectLst/>
                <a:latin typeface="AdvTT5235d5a9"/>
              </a:rPr>
              <a:t>oil</a:t>
            </a:r>
            <a:r>
              <a:rPr lang="de-DE" sz="1800" dirty="0">
                <a:effectLst/>
                <a:latin typeface="AdvTT5235d5a9"/>
              </a:rPr>
              <a:t> </a:t>
            </a:r>
            <a:r>
              <a:rPr lang="de-DE" sz="1800" dirty="0" err="1">
                <a:effectLst/>
                <a:latin typeface="AdvTT5235d5a9"/>
              </a:rPr>
              <a:t>shocks</a:t>
            </a:r>
            <a:r>
              <a:rPr lang="de-DE" sz="1800" dirty="0">
                <a:effectLst/>
                <a:latin typeface="AdvTT5235d5a9"/>
              </a:rPr>
              <a:t> on </a:t>
            </a:r>
            <a:r>
              <a:rPr lang="de-DE" sz="1800" dirty="0" err="1">
                <a:effectLst/>
                <a:latin typeface="AdvTT5235d5a9"/>
              </a:rPr>
              <a:t>exchange</a:t>
            </a:r>
            <a:r>
              <a:rPr lang="de-DE" sz="1800" dirty="0">
                <a:effectLst/>
                <a:latin typeface="AdvTT5235d5a9"/>
              </a:rPr>
              <a:t> </a:t>
            </a:r>
            <a:r>
              <a:rPr lang="de-DE" sz="1800" dirty="0" err="1">
                <a:effectLst/>
                <a:latin typeface="AdvTT5235d5a9"/>
              </a:rPr>
              <a:t>rates</a:t>
            </a:r>
            <a:r>
              <a:rPr lang="de-DE" sz="1800" dirty="0">
                <a:effectLst/>
                <a:latin typeface="AdvTT5235d5a9"/>
              </a:rPr>
              <a:t>: A Markov-</a:t>
            </a:r>
            <a:r>
              <a:rPr lang="de-DE" sz="1800" dirty="0" err="1">
                <a:effectLst/>
                <a:latin typeface="AdvTT5235d5a9"/>
              </a:rPr>
              <a:t>switching</a:t>
            </a:r>
            <a:r>
              <a:rPr lang="de-DE" sz="1800" dirty="0">
                <a:effectLst/>
                <a:latin typeface="AdvTT5235d5a9"/>
              </a:rPr>
              <a:t> </a:t>
            </a:r>
            <a:r>
              <a:rPr lang="de-DE" sz="1800" dirty="0" err="1">
                <a:effectLst/>
                <a:latin typeface="AdvTT5235d5a9"/>
              </a:rPr>
              <a:t>approach</a:t>
            </a:r>
            <a:r>
              <a:rPr lang="de-DE" sz="1800" dirty="0">
                <a:effectLst/>
                <a:latin typeface="AdvTT5235d5a9"/>
              </a:rPr>
              <a:t>, p. 11 and </a:t>
            </a:r>
            <a:r>
              <a:rPr lang="de-DE" sz="1800" dirty="0">
                <a:effectLst/>
                <a:latin typeface="AdvTT6120e2aa"/>
              </a:rPr>
              <a:t>Oil </a:t>
            </a:r>
            <a:r>
              <a:rPr lang="de-DE" sz="1800" dirty="0" err="1">
                <a:effectLst/>
                <a:latin typeface="AdvTT6120e2aa"/>
              </a:rPr>
              <a:t>prices</a:t>
            </a:r>
            <a:r>
              <a:rPr lang="de-DE" sz="1800" dirty="0">
                <a:effectLst/>
                <a:latin typeface="AdvTT6120e2aa"/>
              </a:rPr>
              <a:t> and real </a:t>
            </a:r>
            <a:r>
              <a:rPr lang="de-DE" sz="1800" dirty="0" err="1">
                <a:effectLst/>
                <a:latin typeface="AdvTT6120e2aa"/>
              </a:rPr>
              <a:t>exchange</a:t>
            </a:r>
            <a:r>
              <a:rPr lang="de-DE" sz="1800" dirty="0">
                <a:effectLst/>
                <a:latin typeface="AdvTT6120e2aa"/>
              </a:rPr>
              <a:t> </a:t>
            </a:r>
            <a:r>
              <a:rPr lang="de-DE" sz="1800" dirty="0" err="1">
                <a:effectLst/>
                <a:latin typeface="AdvTT6120e2aa"/>
              </a:rPr>
              <a:t>rates</a:t>
            </a:r>
            <a:r>
              <a:rPr lang="de-DE" sz="1800" dirty="0">
                <a:effectLst/>
                <a:latin typeface="AdvTT6120e2aa"/>
              </a:rPr>
              <a:t>, p. 391</a:t>
            </a:r>
            <a:r>
              <a:rPr lang="de-DE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de-DE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Oil export and import</a:t>
            </a:r>
            <a:r>
              <a:rPr lang="de-DE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(Taken from </a:t>
            </a:r>
            <a:r>
              <a:rPr lang="de-DE" sz="10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de-DE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0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paper</a:t>
            </a:r>
            <a:r>
              <a:rPr lang="de-DE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de-DE" sz="1800" dirty="0">
                <a:effectLst/>
                <a:latin typeface="CharisSIL"/>
              </a:rPr>
              <a:t>Non-linear </a:t>
            </a:r>
            <a:r>
              <a:rPr lang="de-DE" sz="1800" dirty="0" err="1">
                <a:effectLst/>
                <a:latin typeface="CharisSIL"/>
              </a:rPr>
              <a:t>relationship</a:t>
            </a:r>
            <a:r>
              <a:rPr lang="de-DE" sz="1800" dirty="0">
                <a:effectLst/>
                <a:latin typeface="CharisSIL"/>
              </a:rPr>
              <a:t> </a:t>
            </a:r>
            <a:r>
              <a:rPr lang="de-DE" sz="1800" dirty="0" err="1">
                <a:effectLst/>
                <a:latin typeface="CharisSIL"/>
              </a:rPr>
              <a:t>between</a:t>
            </a:r>
            <a:r>
              <a:rPr lang="de-DE" sz="1800" dirty="0">
                <a:effectLst/>
                <a:latin typeface="CharisSIL"/>
              </a:rPr>
              <a:t> real </a:t>
            </a:r>
            <a:r>
              <a:rPr lang="de-DE" sz="1800" dirty="0" err="1">
                <a:effectLst/>
                <a:latin typeface="CharisSIL"/>
              </a:rPr>
              <a:t>commodity</a:t>
            </a:r>
            <a:r>
              <a:rPr lang="de-DE" sz="1800" dirty="0">
                <a:effectLst/>
                <a:latin typeface="CharisSIL"/>
              </a:rPr>
              <a:t> </a:t>
            </a:r>
            <a:r>
              <a:rPr lang="de-DE" sz="1800" dirty="0" err="1">
                <a:effectLst/>
                <a:latin typeface="CharisSIL"/>
              </a:rPr>
              <a:t>price</a:t>
            </a:r>
            <a:r>
              <a:rPr lang="de-DE" sz="1800" dirty="0">
                <a:effectLst/>
                <a:latin typeface="CharisSIL"/>
              </a:rPr>
              <a:t> </a:t>
            </a:r>
            <a:r>
              <a:rPr lang="de-DE" sz="1800" dirty="0" err="1">
                <a:effectLst/>
                <a:latin typeface="CharisSIL"/>
              </a:rPr>
              <a:t>volatility</a:t>
            </a:r>
            <a:r>
              <a:rPr lang="de-DE" sz="1800" dirty="0">
                <a:effectLst/>
                <a:latin typeface="CharisSIL"/>
              </a:rPr>
              <a:t> and real </a:t>
            </a:r>
            <a:r>
              <a:rPr lang="de-DE" sz="1800" dirty="0" err="1">
                <a:effectLst/>
                <a:latin typeface="CharisSIL"/>
              </a:rPr>
              <a:t>effective</a:t>
            </a:r>
            <a:r>
              <a:rPr lang="de-DE" sz="1800" dirty="0">
                <a:effectLst/>
                <a:latin typeface="CharisSIL"/>
              </a:rPr>
              <a:t> </a:t>
            </a:r>
            <a:r>
              <a:rPr lang="de-DE" sz="1800" dirty="0" err="1">
                <a:effectLst/>
                <a:latin typeface="CharisSIL"/>
              </a:rPr>
              <a:t>exchange</a:t>
            </a:r>
            <a:r>
              <a:rPr lang="de-DE" sz="1800" dirty="0">
                <a:effectLst/>
                <a:latin typeface="CharisSIL"/>
              </a:rPr>
              <a:t> rate: The </a:t>
            </a:r>
            <a:r>
              <a:rPr lang="de-DE" sz="1800" dirty="0" err="1">
                <a:effectLst/>
                <a:latin typeface="CharisSIL"/>
              </a:rPr>
              <a:t>case</a:t>
            </a:r>
            <a:r>
              <a:rPr lang="de-DE" sz="1800" dirty="0">
                <a:effectLst/>
                <a:latin typeface="CharisSIL"/>
              </a:rPr>
              <a:t> of </a:t>
            </a:r>
            <a:r>
              <a:rPr lang="de-DE" sz="1800" dirty="0" err="1">
                <a:effectLst/>
                <a:latin typeface="CharisSIL"/>
              </a:rPr>
              <a:t>commodity-exporting</a:t>
            </a:r>
            <a:r>
              <a:rPr lang="de-DE" sz="1800" dirty="0">
                <a:effectLst/>
                <a:latin typeface="CharisSIL"/>
              </a:rPr>
              <a:t> countries, p. 212-213</a:t>
            </a:r>
            <a:r>
              <a:rPr lang="de-DE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de-DE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Financialization Effects</a:t>
            </a:r>
            <a:r>
              <a:rPr lang="de-DE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(Taken from </a:t>
            </a:r>
            <a:r>
              <a:rPr lang="de-DE" sz="10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de-DE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0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paper</a:t>
            </a:r>
            <a:r>
              <a:rPr lang="de-DE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de-DE" sz="1800" dirty="0">
                <a:effectLst/>
                <a:latin typeface="NotoSansSemiCondensed"/>
              </a:rPr>
              <a:t>Oil </a:t>
            </a:r>
            <a:r>
              <a:rPr lang="de-DE" sz="1800" dirty="0" err="1">
                <a:effectLst/>
                <a:latin typeface="NotoSansSemiCondensed"/>
              </a:rPr>
              <a:t>prices</a:t>
            </a:r>
            <a:r>
              <a:rPr lang="de-DE" sz="1800" dirty="0">
                <a:effectLst/>
                <a:latin typeface="NotoSansSemiCondensed"/>
              </a:rPr>
              <a:t>, </a:t>
            </a:r>
            <a:r>
              <a:rPr lang="de-DE" sz="1800" dirty="0" err="1">
                <a:effectLst/>
                <a:latin typeface="NotoSansSemiCondensed"/>
              </a:rPr>
              <a:t>exchange</a:t>
            </a:r>
            <a:r>
              <a:rPr lang="de-DE" sz="1800" dirty="0">
                <a:effectLst/>
                <a:latin typeface="NotoSansSemiCondensed"/>
              </a:rPr>
              <a:t> </a:t>
            </a:r>
            <a:r>
              <a:rPr lang="de-DE" sz="1800" dirty="0" err="1">
                <a:effectLst/>
                <a:latin typeface="NotoSansSemiCondensed"/>
              </a:rPr>
              <a:t>rates</a:t>
            </a:r>
            <a:r>
              <a:rPr lang="de-DE" sz="1800" dirty="0">
                <a:effectLst/>
                <a:latin typeface="NotoSansSemiCondensed"/>
              </a:rPr>
              <a:t> and </a:t>
            </a:r>
            <a:r>
              <a:rPr lang="de-DE" sz="1800" dirty="0" err="1">
                <a:effectLst/>
                <a:latin typeface="NotoSansSemiCondensed"/>
              </a:rPr>
              <a:t>asset</a:t>
            </a:r>
            <a:r>
              <a:rPr lang="de-DE" sz="1800" dirty="0">
                <a:effectLst/>
                <a:latin typeface="NotoSansSemiCondensed"/>
              </a:rPr>
              <a:t> </a:t>
            </a:r>
            <a:r>
              <a:rPr lang="de-DE" sz="1800" dirty="0" err="1">
                <a:effectLst/>
                <a:latin typeface="NotoSansSemiCondensed"/>
              </a:rPr>
              <a:t>prices</a:t>
            </a:r>
            <a:r>
              <a:rPr lang="de-DE" sz="1800" dirty="0">
                <a:effectLst/>
                <a:latin typeface="NotoSansSemiCondensed"/>
              </a:rPr>
              <a:t>, p. 1-3 and </a:t>
            </a:r>
            <a:r>
              <a:rPr lang="de-DE" sz="1800" dirty="0">
                <a:effectLst/>
                <a:latin typeface="CharisSIL"/>
              </a:rPr>
              <a:t>The power </a:t>
            </a:r>
            <a:r>
              <a:rPr lang="de-DE" sz="1800" dirty="0" err="1">
                <a:effectLst/>
                <a:latin typeface="CharisSIL"/>
              </a:rPr>
              <a:t>play</a:t>
            </a:r>
            <a:r>
              <a:rPr lang="de-DE" sz="1800" dirty="0">
                <a:effectLst/>
                <a:latin typeface="CharisSIL"/>
              </a:rPr>
              <a:t> of </a:t>
            </a:r>
            <a:r>
              <a:rPr lang="de-DE" sz="1800" dirty="0" err="1">
                <a:effectLst/>
                <a:latin typeface="CharisSIL"/>
              </a:rPr>
              <a:t>natural</a:t>
            </a:r>
            <a:r>
              <a:rPr lang="de-DE" sz="1800" dirty="0">
                <a:effectLst/>
                <a:latin typeface="CharisSIL"/>
              </a:rPr>
              <a:t> gas and </a:t>
            </a:r>
            <a:r>
              <a:rPr lang="de-DE" sz="1800" dirty="0" err="1">
                <a:effectLst/>
                <a:latin typeface="CharisSIL"/>
              </a:rPr>
              <a:t>crude</a:t>
            </a:r>
            <a:r>
              <a:rPr lang="de-DE" sz="1800" dirty="0">
                <a:effectLst/>
                <a:latin typeface="CharisSIL"/>
              </a:rPr>
              <a:t> </a:t>
            </a:r>
            <a:r>
              <a:rPr lang="de-DE" sz="1800" dirty="0" err="1">
                <a:effectLst/>
                <a:latin typeface="CharisSIL"/>
              </a:rPr>
              <a:t>oil</a:t>
            </a:r>
            <a:r>
              <a:rPr lang="de-DE" sz="1800" dirty="0">
                <a:effectLst/>
                <a:latin typeface="CharisSIL"/>
              </a:rPr>
              <a:t> in </a:t>
            </a:r>
            <a:r>
              <a:rPr lang="de-DE" sz="1800" dirty="0" err="1">
                <a:effectLst/>
                <a:latin typeface="CharisSIL"/>
              </a:rPr>
              <a:t>the</a:t>
            </a:r>
            <a:r>
              <a:rPr lang="de-DE" sz="1800" dirty="0">
                <a:effectLst/>
                <a:latin typeface="CharisSIL"/>
              </a:rPr>
              <a:t> </a:t>
            </a:r>
            <a:r>
              <a:rPr lang="de-DE" sz="1800" dirty="0" err="1">
                <a:effectLst/>
                <a:latin typeface="CharisSIL"/>
              </a:rPr>
              <a:t>move</a:t>
            </a:r>
            <a:r>
              <a:rPr lang="de-DE" sz="1800" dirty="0">
                <a:effectLst/>
                <a:latin typeface="CharisSIL"/>
              </a:rPr>
              <a:t> </a:t>
            </a:r>
            <a:r>
              <a:rPr lang="de-DE" sz="1800" dirty="0" err="1">
                <a:effectLst/>
                <a:latin typeface="CharisSIL"/>
              </a:rPr>
              <a:t>towards</a:t>
            </a:r>
            <a:r>
              <a:rPr lang="de-DE" sz="1800" dirty="0">
                <a:effectLst/>
                <a:latin typeface="CharisSIL"/>
              </a:rPr>
              <a:t> </a:t>
            </a:r>
            <a:r>
              <a:rPr lang="de-DE" sz="1800" dirty="0" err="1">
                <a:effectLst/>
                <a:latin typeface="CharisSIL"/>
              </a:rPr>
              <a:t>the</a:t>
            </a:r>
            <a:r>
              <a:rPr lang="de-DE" sz="1800" dirty="0">
                <a:effectLst/>
                <a:latin typeface="CharisSIL"/>
              </a:rPr>
              <a:t> </a:t>
            </a:r>
            <a:r>
              <a:rPr lang="de-DE" sz="1800" dirty="0" err="1">
                <a:effectLst/>
                <a:latin typeface="CharisSIL"/>
              </a:rPr>
              <a:t>financialization</a:t>
            </a:r>
            <a:r>
              <a:rPr lang="de-DE" sz="1800" dirty="0">
                <a:effectLst/>
                <a:latin typeface="CharisSIL"/>
              </a:rPr>
              <a:t> of </a:t>
            </a:r>
            <a:r>
              <a:rPr lang="de-DE" sz="1800" dirty="0" err="1">
                <a:effectLst/>
                <a:latin typeface="CharisSIL"/>
              </a:rPr>
              <a:t>the</a:t>
            </a:r>
            <a:r>
              <a:rPr lang="de-DE" sz="1800" dirty="0">
                <a:effectLst/>
                <a:latin typeface="CharisSIL"/>
              </a:rPr>
              <a:t> </a:t>
            </a:r>
            <a:r>
              <a:rPr lang="de-DE" sz="1800" dirty="0" err="1">
                <a:effectLst/>
                <a:latin typeface="CharisSIL"/>
              </a:rPr>
              <a:t>energy</a:t>
            </a:r>
            <a:r>
              <a:rPr lang="de-DE" sz="1800" dirty="0">
                <a:effectLst/>
                <a:latin typeface="CharisSIL"/>
              </a:rPr>
              <a:t> </a:t>
            </a:r>
            <a:r>
              <a:rPr lang="de-DE" sz="1800" dirty="0" err="1">
                <a:effectLst/>
                <a:latin typeface="CharisSIL"/>
              </a:rPr>
              <a:t>market</a:t>
            </a:r>
            <a:r>
              <a:rPr lang="de-DE" sz="1800" dirty="0">
                <a:effectLst/>
                <a:latin typeface="CharisSIL"/>
              </a:rPr>
              <a:t>, p. 1</a:t>
            </a:r>
            <a:r>
              <a:rPr lang="de-DE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de-DE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(Risk Parity) Portfolio Rebalancing Effect</a:t>
            </a:r>
            <a:r>
              <a:rPr lang="de-DE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(Taken from </a:t>
            </a:r>
            <a:r>
              <a:rPr lang="de-DE" sz="10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paper</a:t>
            </a:r>
            <a:r>
              <a:rPr lang="de-DE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de-DE" sz="1800" dirty="0" err="1">
                <a:effectLst/>
                <a:latin typeface="AdvTT5235d5a9"/>
              </a:rPr>
              <a:t>Dependence</a:t>
            </a:r>
            <a:r>
              <a:rPr lang="de-DE" sz="1800" dirty="0">
                <a:effectLst/>
                <a:latin typeface="AdvTT5235d5a9"/>
              </a:rPr>
              <a:t> and extreme </a:t>
            </a:r>
            <a:r>
              <a:rPr lang="de-DE" sz="1800" dirty="0" err="1">
                <a:effectLst/>
                <a:latin typeface="AdvTT5235d5a9"/>
              </a:rPr>
              <a:t>dependence</a:t>
            </a:r>
            <a:r>
              <a:rPr lang="de-DE" sz="1800" dirty="0">
                <a:effectLst/>
                <a:latin typeface="AdvTT5235d5a9"/>
              </a:rPr>
              <a:t> of </a:t>
            </a:r>
            <a:r>
              <a:rPr lang="de-DE" sz="1800" dirty="0" err="1">
                <a:effectLst/>
                <a:latin typeface="AdvTT5235d5a9"/>
              </a:rPr>
              <a:t>crude</a:t>
            </a:r>
            <a:r>
              <a:rPr lang="de-DE" sz="1800" dirty="0">
                <a:effectLst/>
                <a:latin typeface="AdvTT5235d5a9"/>
              </a:rPr>
              <a:t> </a:t>
            </a:r>
            <a:r>
              <a:rPr lang="de-DE" sz="1800" dirty="0" err="1">
                <a:effectLst/>
                <a:latin typeface="AdvTT5235d5a9"/>
              </a:rPr>
              <a:t>oil</a:t>
            </a:r>
            <a:r>
              <a:rPr lang="de-DE" sz="1800" dirty="0">
                <a:effectLst/>
                <a:latin typeface="AdvTT5235d5a9"/>
              </a:rPr>
              <a:t> and </a:t>
            </a:r>
            <a:r>
              <a:rPr lang="de-DE" sz="1800" dirty="0" err="1">
                <a:effectLst/>
                <a:latin typeface="AdvTT5235d5a9"/>
              </a:rPr>
              <a:t>natural</a:t>
            </a:r>
            <a:r>
              <a:rPr lang="de-DE" sz="1800" dirty="0">
                <a:effectLst/>
                <a:latin typeface="AdvTT5235d5a9"/>
              </a:rPr>
              <a:t> gas </a:t>
            </a:r>
            <a:r>
              <a:rPr lang="de-DE" sz="1800" dirty="0" err="1">
                <a:effectLst/>
                <a:latin typeface="AdvTT5235d5a9"/>
              </a:rPr>
              <a:t>prices</a:t>
            </a:r>
            <a:r>
              <a:rPr lang="de-DE" sz="1800" dirty="0">
                <a:effectLst/>
                <a:latin typeface="AdvTT5235d5a9"/>
              </a:rPr>
              <a:t> </a:t>
            </a:r>
            <a:r>
              <a:rPr lang="de-DE" sz="1800" dirty="0" err="1">
                <a:effectLst/>
                <a:latin typeface="AdvTT5235d5a9"/>
              </a:rPr>
              <a:t>with</a:t>
            </a:r>
            <a:r>
              <a:rPr lang="de-DE" sz="1800" dirty="0">
                <a:effectLst/>
                <a:latin typeface="AdvTT5235d5a9"/>
              </a:rPr>
              <a:t> </a:t>
            </a:r>
            <a:r>
              <a:rPr lang="de-DE" sz="1800" dirty="0" err="1">
                <a:effectLst/>
                <a:latin typeface="AdvTT5235d5a9"/>
              </a:rPr>
              <a:t>applications</a:t>
            </a:r>
            <a:r>
              <a:rPr lang="de-DE" sz="1800" dirty="0">
                <a:effectLst/>
                <a:latin typeface="AdvTT5235d5a9"/>
              </a:rPr>
              <a:t> </a:t>
            </a:r>
            <a:r>
              <a:rPr lang="de-DE" sz="1800" dirty="0" err="1">
                <a:effectLst/>
                <a:latin typeface="AdvTT5235d5a9"/>
              </a:rPr>
              <a:t>to</a:t>
            </a:r>
            <a:r>
              <a:rPr lang="de-DE" sz="1800" dirty="0">
                <a:effectLst/>
                <a:latin typeface="AdvTT5235d5a9"/>
              </a:rPr>
              <a:t> </a:t>
            </a:r>
            <a:r>
              <a:rPr lang="de-DE" sz="1800" dirty="0" err="1">
                <a:effectLst/>
                <a:latin typeface="AdvTT5235d5a9"/>
              </a:rPr>
              <a:t>risk</a:t>
            </a:r>
            <a:r>
              <a:rPr lang="de-DE" sz="1800" dirty="0">
                <a:effectLst/>
                <a:latin typeface="AdvTT5235d5a9"/>
              </a:rPr>
              <a:t> </a:t>
            </a:r>
            <a:r>
              <a:rPr lang="de-DE" sz="1800" dirty="0" err="1">
                <a:effectLst/>
                <a:latin typeface="AdvTT5235d5a9"/>
              </a:rPr>
              <a:t>management</a:t>
            </a:r>
            <a:r>
              <a:rPr lang="de-DE" sz="1800" dirty="0">
                <a:effectLst/>
                <a:latin typeface="AdvTT5235d5a9"/>
              </a:rPr>
              <a:t>, p. 332 and </a:t>
            </a:r>
            <a:r>
              <a:rPr lang="de-DE" sz="1800" dirty="0">
                <a:effectLst/>
                <a:latin typeface="CharisSIL"/>
              </a:rPr>
              <a:t>Dynamic </a:t>
            </a:r>
            <a:r>
              <a:rPr lang="de-DE" sz="1800" dirty="0" err="1">
                <a:effectLst/>
                <a:latin typeface="CharisSIL"/>
              </a:rPr>
              <a:t>frequency</a:t>
            </a:r>
            <a:r>
              <a:rPr lang="de-DE" sz="1800" dirty="0">
                <a:effectLst/>
                <a:latin typeface="CharisSIL"/>
              </a:rPr>
              <a:t> </a:t>
            </a:r>
            <a:r>
              <a:rPr lang="de-DE" sz="1800" dirty="0" err="1">
                <a:effectLst/>
                <a:latin typeface="CharisSIL"/>
              </a:rPr>
              <a:t>relationships</a:t>
            </a:r>
            <a:r>
              <a:rPr lang="de-DE" sz="1800" dirty="0">
                <a:effectLst/>
                <a:latin typeface="CharisSIL"/>
              </a:rPr>
              <a:t> and </a:t>
            </a:r>
            <a:r>
              <a:rPr lang="de-DE" sz="1800" dirty="0" err="1">
                <a:effectLst/>
                <a:latin typeface="CharisSIL"/>
              </a:rPr>
              <a:t>volatility</a:t>
            </a:r>
            <a:r>
              <a:rPr lang="de-DE" sz="1800" dirty="0">
                <a:effectLst/>
                <a:latin typeface="CharisSIL"/>
              </a:rPr>
              <a:t> </a:t>
            </a:r>
            <a:r>
              <a:rPr lang="de-DE" sz="1800" dirty="0" err="1">
                <a:effectLst/>
                <a:latin typeface="CharisSIL"/>
              </a:rPr>
              <a:t>spillovers</a:t>
            </a:r>
            <a:r>
              <a:rPr lang="de-DE" sz="1800" dirty="0">
                <a:effectLst/>
                <a:latin typeface="CharisSIL"/>
              </a:rPr>
              <a:t> in </a:t>
            </a:r>
            <a:r>
              <a:rPr lang="de-DE" sz="1800" dirty="0" err="1">
                <a:effectLst/>
                <a:latin typeface="CharisSIL"/>
              </a:rPr>
              <a:t>natural</a:t>
            </a:r>
            <a:r>
              <a:rPr lang="de-DE" sz="1800" dirty="0">
                <a:effectLst/>
                <a:latin typeface="CharisSIL"/>
              </a:rPr>
              <a:t> gas, </a:t>
            </a:r>
            <a:r>
              <a:rPr lang="de-DE" sz="1800" dirty="0" err="1">
                <a:effectLst/>
                <a:latin typeface="CharisSIL"/>
              </a:rPr>
              <a:t>crude</a:t>
            </a:r>
            <a:r>
              <a:rPr lang="de-DE" sz="1800" dirty="0">
                <a:effectLst/>
                <a:latin typeface="CharisSIL"/>
              </a:rPr>
              <a:t> </a:t>
            </a:r>
            <a:r>
              <a:rPr lang="de-DE" sz="1800" dirty="0" err="1">
                <a:effectLst/>
                <a:latin typeface="CharisSIL"/>
              </a:rPr>
              <a:t>oil</a:t>
            </a:r>
            <a:r>
              <a:rPr lang="de-DE" sz="1800" dirty="0">
                <a:effectLst/>
                <a:latin typeface="CharisSIL"/>
              </a:rPr>
              <a:t>, gas </a:t>
            </a:r>
            <a:r>
              <a:rPr lang="de-DE" sz="1800" dirty="0" err="1">
                <a:effectLst/>
                <a:latin typeface="CharisSIL"/>
              </a:rPr>
              <a:t>oil</a:t>
            </a:r>
            <a:r>
              <a:rPr lang="de-DE" sz="1800" dirty="0">
                <a:effectLst/>
                <a:latin typeface="CharisSIL"/>
              </a:rPr>
              <a:t>, </a:t>
            </a:r>
            <a:r>
              <a:rPr lang="de-DE" sz="1800" dirty="0" err="1">
                <a:effectLst/>
                <a:latin typeface="CharisSIL"/>
              </a:rPr>
              <a:t>gasoline</a:t>
            </a:r>
            <a:r>
              <a:rPr lang="de-DE" sz="1800" dirty="0">
                <a:effectLst/>
                <a:latin typeface="CharisSIL"/>
              </a:rPr>
              <a:t>, and </a:t>
            </a:r>
            <a:r>
              <a:rPr lang="de-DE" sz="1800" dirty="0" err="1">
                <a:effectLst/>
                <a:latin typeface="CharisSIL"/>
              </a:rPr>
              <a:t>heating</a:t>
            </a:r>
            <a:r>
              <a:rPr lang="de-DE" sz="1800" dirty="0">
                <a:effectLst/>
                <a:latin typeface="CharisSIL"/>
              </a:rPr>
              <a:t> </a:t>
            </a:r>
            <a:r>
              <a:rPr lang="de-DE" sz="1800" dirty="0" err="1">
                <a:effectLst/>
                <a:latin typeface="CharisSIL"/>
              </a:rPr>
              <a:t>oil</a:t>
            </a:r>
            <a:r>
              <a:rPr lang="de-DE" sz="1800" dirty="0">
                <a:effectLst/>
                <a:latin typeface="CharisSIL"/>
              </a:rPr>
              <a:t> </a:t>
            </a:r>
            <a:r>
              <a:rPr lang="de-DE" sz="1800" dirty="0" err="1">
                <a:effectLst/>
                <a:latin typeface="CharisSIL"/>
              </a:rPr>
              <a:t>markets</a:t>
            </a:r>
            <a:r>
              <a:rPr lang="de-DE" sz="1800" dirty="0">
                <a:effectLst/>
                <a:latin typeface="CharisSIL"/>
              </a:rPr>
              <a:t>: </a:t>
            </a:r>
            <a:r>
              <a:rPr lang="de-DE" sz="1800" dirty="0" err="1">
                <a:effectLst/>
                <a:latin typeface="CharisSIL"/>
              </a:rPr>
              <a:t>Implications</a:t>
            </a:r>
            <a:r>
              <a:rPr lang="de-DE" sz="1800" dirty="0">
                <a:effectLst/>
                <a:latin typeface="CharisSIL"/>
              </a:rPr>
              <a:t> </a:t>
            </a:r>
            <a:r>
              <a:rPr lang="de-DE" sz="1800" dirty="0" err="1">
                <a:effectLst/>
                <a:latin typeface="CharisSIL"/>
              </a:rPr>
              <a:t>for</a:t>
            </a:r>
            <a:r>
              <a:rPr lang="de-DE" sz="1800" dirty="0">
                <a:effectLst/>
                <a:latin typeface="CharisSIL"/>
              </a:rPr>
              <a:t> </a:t>
            </a:r>
            <a:r>
              <a:rPr lang="de-DE" sz="1800" dirty="0" err="1">
                <a:effectLst/>
                <a:latin typeface="CharisSIL"/>
              </a:rPr>
              <a:t>portfolio</a:t>
            </a:r>
            <a:r>
              <a:rPr lang="de-DE" sz="1800" dirty="0">
                <a:effectLst/>
                <a:latin typeface="CharisSIL"/>
              </a:rPr>
              <a:t> </a:t>
            </a:r>
            <a:r>
              <a:rPr lang="de-DE" sz="1800" dirty="0" err="1">
                <a:effectLst/>
                <a:latin typeface="CharisSIL"/>
              </a:rPr>
              <a:t>management</a:t>
            </a:r>
            <a:r>
              <a:rPr lang="de-DE" sz="1800" dirty="0">
                <a:effectLst/>
                <a:latin typeface="CharisSIL"/>
              </a:rPr>
              <a:t>, p. 1</a:t>
            </a:r>
            <a:r>
              <a:rPr lang="de-DE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de-DE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Inflation</a:t>
            </a:r>
            <a:r>
              <a:rPr lang="de-DE" sz="1000" b="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(Taken from: </a:t>
            </a:r>
            <a:r>
              <a:rPr lang="de-DE" sz="1800" dirty="0">
                <a:effectLst/>
                <a:latin typeface="TimesLTStd"/>
              </a:rPr>
              <a:t>Inflation, </a:t>
            </a:r>
            <a:r>
              <a:rPr lang="de-DE" sz="1800" dirty="0" err="1">
                <a:effectLst/>
                <a:latin typeface="TimesLTStd"/>
              </a:rPr>
              <a:t>oil</a:t>
            </a:r>
            <a:r>
              <a:rPr lang="de-DE" sz="1800" dirty="0">
                <a:effectLst/>
                <a:latin typeface="TimesLTStd"/>
              </a:rPr>
              <a:t> </a:t>
            </a:r>
            <a:r>
              <a:rPr lang="de-DE" sz="1800" dirty="0" err="1">
                <a:effectLst/>
                <a:latin typeface="TimesLTStd"/>
              </a:rPr>
              <a:t>prices</a:t>
            </a:r>
            <a:r>
              <a:rPr lang="de-DE" sz="1800" dirty="0">
                <a:effectLst/>
                <a:latin typeface="TimesLTStd"/>
              </a:rPr>
              <a:t> and </a:t>
            </a:r>
            <a:r>
              <a:rPr lang="de-DE" sz="1800" dirty="0" err="1">
                <a:effectLst/>
                <a:latin typeface="TimesLTStd"/>
              </a:rPr>
              <a:t>exchange</a:t>
            </a:r>
            <a:r>
              <a:rPr lang="de-DE" sz="1800" dirty="0">
                <a:effectLst/>
                <a:latin typeface="TimesLTStd"/>
              </a:rPr>
              <a:t> </a:t>
            </a:r>
            <a:r>
              <a:rPr lang="de-DE" sz="1800" dirty="0" err="1">
                <a:effectLst/>
                <a:latin typeface="TimesLTStd"/>
              </a:rPr>
              <a:t>rates</a:t>
            </a:r>
            <a:r>
              <a:rPr lang="de-DE" sz="1800" dirty="0">
                <a:effectLst/>
                <a:latin typeface="TimesLTStd"/>
              </a:rPr>
              <a:t>. The </a:t>
            </a:r>
            <a:r>
              <a:rPr lang="de-DE" sz="1800" dirty="0" err="1">
                <a:effectLst/>
                <a:latin typeface="TimesLTStd"/>
              </a:rPr>
              <a:t>Euro’s</a:t>
            </a:r>
            <a:r>
              <a:rPr lang="de-DE" sz="1800" dirty="0">
                <a:effectLst/>
                <a:latin typeface="TimesLTStd"/>
              </a:rPr>
              <a:t> </a:t>
            </a:r>
            <a:r>
              <a:rPr lang="de-DE" sz="1800" dirty="0" err="1">
                <a:effectLst/>
                <a:latin typeface="TimesLTStd"/>
              </a:rPr>
              <a:t>dampening</a:t>
            </a:r>
            <a:r>
              <a:rPr lang="de-DE" sz="1800" dirty="0">
                <a:effectLst/>
                <a:latin typeface="TimesLTStd"/>
              </a:rPr>
              <a:t> </a:t>
            </a:r>
            <a:r>
              <a:rPr lang="de-DE" sz="1800" dirty="0" err="1">
                <a:effectLst/>
                <a:latin typeface="TimesLTStd"/>
              </a:rPr>
              <a:t>effect</a:t>
            </a:r>
            <a:r>
              <a:rPr lang="de-DE" sz="1800" dirty="0">
                <a:effectLst/>
                <a:latin typeface="TimesLTStd"/>
              </a:rPr>
              <a:t>, p. 130 and </a:t>
            </a:r>
            <a:r>
              <a:rPr lang="de-DE" sz="1800" dirty="0">
                <a:effectLst/>
                <a:latin typeface="Times" pitchFamily="2" charset="0"/>
              </a:rPr>
              <a:t>Long-run </a:t>
            </a:r>
            <a:r>
              <a:rPr lang="de-DE" sz="1800" dirty="0" err="1">
                <a:effectLst/>
                <a:latin typeface="Times" pitchFamily="2" charset="0"/>
              </a:rPr>
              <a:t>equilibrium</a:t>
            </a:r>
            <a:r>
              <a:rPr lang="de-DE" sz="1800" dirty="0">
                <a:effectLst/>
                <a:latin typeface="Times" pitchFamily="2" charset="0"/>
              </a:rPr>
              <a:t> real </a:t>
            </a:r>
            <a:r>
              <a:rPr lang="de-DE" sz="1800" dirty="0" err="1">
                <a:effectLst/>
                <a:latin typeface="Times" pitchFamily="2" charset="0"/>
              </a:rPr>
              <a:t>exchange</a:t>
            </a:r>
            <a:r>
              <a:rPr lang="de-DE" sz="1800" dirty="0">
                <a:effectLst/>
                <a:latin typeface="Times" pitchFamily="2" charset="0"/>
              </a:rPr>
              <a:t> </a:t>
            </a:r>
            <a:r>
              <a:rPr lang="de-DE" sz="1800" dirty="0" err="1">
                <a:effectLst/>
                <a:latin typeface="Times" pitchFamily="2" charset="0"/>
              </a:rPr>
              <a:t>rates</a:t>
            </a:r>
            <a:r>
              <a:rPr lang="de-DE" sz="1800" dirty="0">
                <a:effectLst/>
                <a:latin typeface="Times" pitchFamily="2" charset="0"/>
              </a:rPr>
              <a:t> and </a:t>
            </a:r>
            <a:r>
              <a:rPr lang="de-DE" sz="1800" dirty="0" err="1">
                <a:effectLst/>
                <a:latin typeface="Times" pitchFamily="2" charset="0"/>
              </a:rPr>
              <a:t>oil</a:t>
            </a:r>
            <a:r>
              <a:rPr lang="de-DE" sz="1800" dirty="0">
                <a:effectLst/>
                <a:latin typeface="Times" pitchFamily="2" charset="0"/>
              </a:rPr>
              <a:t> </a:t>
            </a:r>
            <a:r>
              <a:rPr lang="de-DE" sz="1800" dirty="0" err="1">
                <a:effectLst/>
                <a:latin typeface="Times" pitchFamily="2" charset="0"/>
              </a:rPr>
              <a:t>prices</a:t>
            </a:r>
            <a:r>
              <a:rPr lang="de-DE" sz="1800" dirty="0">
                <a:effectLst/>
                <a:latin typeface="Times" pitchFamily="2" charset="0"/>
              </a:rPr>
              <a:t>, p. 231</a:t>
            </a:r>
            <a:r>
              <a:rPr lang="de-DE" sz="1000" b="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de-DE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Denomination (Numeraire) Effect</a:t>
            </a:r>
            <a:r>
              <a:rPr lang="de-DE" sz="1000" b="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(Taken from </a:t>
            </a:r>
            <a:r>
              <a:rPr lang="de-DE" sz="1800" dirty="0">
                <a:solidFill>
                  <a:srgbClr val="211E1E"/>
                </a:solidFill>
                <a:effectLst/>
                <a:latin typeface="AdvTT5235d5a9"/>
              </a:rPr>
              <a:t>Oil </a:t>
            </a:r>
            <a:r>
              <a:rPr lang="de-DE" sz="1800" dirty="0" err="1">
                <a:solidFill>
                  <a:srgbClr val="211E1E"/>
                </a:solidFill>
                <a:effectLst/>
                <a:latin typeface="AdvTT5235d5a9"/>
              </a:rPr>
              <a:t>price</a:t>
            </a:r>
            <a:r>
              <a:rPr lang="de-DE" sz="1800" dirty="0">
                <a:solidFill>
                  <a:srgbClr val="211E1E"/>
                </a:solidFill>
                <a:effectLst/>
                <a:latin typeface="AdvTT5235d5a9"/>
              </a:rPr>
              <a:t> </a:t>
            </a:r>
            <a:r>
              <a:rPr lang="de-DE" sz="1800" dirty="0">
                <a:solidFill>
                  <a:srgbClr val="211E1E"/>
                </a:solidFill>
                <a:effectLst/>
                <a:latin typeface="AdvTT5235d5a9+fb"/>
              </a:rPr>
              <a:t>fl</a:t>
            </a:r>
            <a:r>
              <a:rPr lang="de-DE" sz="1800" dirty="0">
                <a:solidFill>
                  <a:srgbClr val="211E1E"/>
                </a:solidFill>
                <a:effectLst/>
                <a:latin typeface="AdvTT5235d5a9"/>
              </a:rPr>
              <a:t>uctuations and U.S. </a:t>
            </a:r>
            <a:r>
              <a:rPr lang="de-DE" sz="1800" dirty="0" err="1">
                <a:solidFill>
                  <a:srgbClr val="211E1E"/>
                </a:solidFill>
                <a:effectLst/>
                <a:latin typeface="AdvTT5235d5a9"/>
              </a:rPr>
              <a:t>dollar</a:t>
            </a:r>
            <a:r>
              <a:rPr lang="de-DE" sz="1800" dirty="0">
                <a:solidFill>
                  <a:srgbClr val="211E1E"/>
                </a:solidFill>
                <a:effectLst/>
                <a:latin typeface="AdvTT5235d5a9"/>
              </a:rPr>
              <a:t> </a:t>
            </a:r>
            <a:r>
              <a:rPr lang="de-DE" sz="1800" dirty="0" err="1">
                <a:solidFill>
                  <a:srgbClr val="211E1E"/>
                </a:solidFill>
                <a:effectLst/>
                <a:latin typeface="AdvTT5235d5a9"/>
              </a:rPr>
              <a:t>exchange</a:t>
            </a:r>
            <a:r>
              <a:rPr lang="de-DE" sz="1800" dirty="0">
                <a:solidFill>
                  <a:srgbClr val="211E1E"/>
                </a:solidFill>
                <a:effectLst/>
                <a:latin typeface="AdvTT5235d5a9"/>
              </a:rPr>
              <a:t> </a:t>
            </a:r>
            <a:r>
              <a:rPr lang="de-DE" sz="1800" dirty="0" err="1">
                <a:solidFill>
                  <a:srgbClr val="211E1E"/>
                </a:solidFill>
                <a:effectLst/>
                <a:latin typeface="AdvTT5235d5a9"/>
              </a:rPr>
              <a:t>rates</a:t>
            </a:r>
            <a:r>
              <a:rPr lang="de-DE" sz="1800" dirty="0">
                <a:solidFill>
                  <a:srgbClr val="211E1E"/>
                </a:solidFill>
                <a:effectLst/>
                <a:latin typeface="AdvTT5235d5a9"/>
              </a:rPr>
              <a:t>, p. 399</a:t>
            </a:r>
            <a:r>
              <a:rPr lang="de-DE" sz="1000" b="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lang="de-DE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endParaRPr lang="de-DE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endParaRPr lang="de-DE" sz="10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endParaRPr lang="de-DE" sz="10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endParaRPr lang="de-DE" sz="10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endParaRPr lang="de-DE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endParaRPr lang="de-DE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endParaRPr lang="de-DE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endParaRPr lang="de-DE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D16613-3B1F-DD4D-99CB-38F4196ACFC3}" type="slidenum">
              <a:rPr lang="de-DE" smtClean="0"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6595613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Figure: </a:t>
            </a:r>
            <a:r>
              <a:rPr lang="de-DE" dirty="0" err="1"/>
              <a:t>Schematic</a:t>
            </a:r>
            <a:r>
              <a:rPr lang="de-DE" dirty="0"/>
              <a:t> </a:t>
            </a:r>
            <a:r>
              <a:rPr lang="de-DE" dirty="0" err="1"/>
              <a:t>overview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prices</a:t>
            </a:r>
            <a:r>
              <a:rPr lang="de-DE" dirty="0"/>
              <a:t> and </a:t>
            </a:r>
            <a:r>
              <a:rPr lang="de-DE" dirty="0" err="1"/>
              <a:t>measurements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various</a:t>
            </a:r>
            <a:r>
              <a:rPr lang="de-DE" dirty="0"/>
              <a:t> </a:t>
            </a:r>
            <a:r>
              <a:rPr lang="de-DE" dirty="0" err="1"/>
              <a:t>exchange</a:t>
            </a:r>
            <a:r>
              <a:rPr lang="de-DE" dirty="0"/>
              <a:t> rate </a:t>
            </a:r>
            <a:r>
              <a:rPr lang="de-DE" dirty="0" err="1"/>
              <a:t>types</a:t>
            </a:r>
            <a:r>
              <a:rPr lang="de-DE" dirty="0"/>
              <a:t>.</a:t>
            </a:r>
          </a:p>
          <a:p>
            <a:r>
              <a:rPr lang="de-DE" dirty="0"/>
              <a:t>Sources:</a:t>
            </a:r>
          </a:p>
          <a:p>
            <a:pPr marL="171450" indent="-171450">
              <a:buFontTx/>
              <a:buChar char="-"/>
            </a:pPr>
            <a:r>
              <a:rPr lang="de-DE" dirty="0"/>
              <a:t>[AL22] Garz ´on Antonio J and Hierro Luis A. “</a:t>
            </a:r>
            <a:r>
              <a:rPr lang="de-DE" dirty="0" err="1"/>
              <a:t>Inﬂation</a:t>
            </a:r>
            <a:r>
              <a:rPr lang="de-DE" dirty="0"/>
              <a:t>, </a:t>
            </a:r>
            <a:r>
              <a:rPr lang="de-DE" dirty="0" err="1"/>
              <a:t>oil</a:t>
            </a:r>
            <a:r>
              <a:rPr lang="de-DE" dirty="0"/>
              <a:t> </a:t>
            </a:r>
            <a:r>
              <a:rPr lang="de-DE" dirty="0" err="1"/>
              <a:t>prices</a:t>
            </a:r>
            <a:r>
              <a:rPr lang="de-DE" dirty="0"/>
              <a:t> and </a:t>
            </a:r>
            <a:r>
              <a:rPr lang="de-DE" dirty="0" err="1"/>
              <a:t>exchange</a:t>
            </a:r>
            <a:r>
              <a:rPr lang="de-DE" dirty="0"/>
              <a:t> </a:t>
            </a:r>
            <a:r>
              <a:rPr lang="de-DE" dirty="0" err="1"/>
              <a:t>rates</a:t>
            </a:r>
            <a:r>
              <a:rPr lang="de-DE" dirty="0"/>
              <a:t>. The </a:t>
            </a:r>
            <a:r>
              <a:rPr lang="de-DE" dirty="0" err="1"/>
              <a:t>Euro’s</a:t>
            </a:r>
            <a:r>
              <a:rPr lang="de-DE" dirty="0"/>
              <a:t> </a:t>
            </a:r>
            <a:r>
              <a:rPr lang="de-DE" dirty="0" err="1"/>
              <a:t>dampening</a:t>
            </a:r>
            <a:r>
              <a:rPr lang="de-DE" dirty="0"/>
              <a:t> </a:t>
            </a:r>
            <a:r>
              <a:rPr lang="de-DE" dirty="0" err="1"/>
              <a:t>effect</a:t>
            </a:r>
            <a:r>
              <a:rPr lang="de-DE" dirty="0"/>
              <a:t>”. In: Journal </a:t>
            </a:r>
            <a:r>
              <a:rPr lang="de-DE" dirty="0" err="1"/>
              <a:t>of</a:t>
            </a:r>
            <a:r>
              <a:rPr lang="de-DE" dirty="0"/>
              <a:t> Policy Modeling 44.1 (2022). </a:t>
            </a:r>
            <a:r>
              <a:rPr lang="de-DE" dirty="0" err="1"/>
              <a:t>Ref</a:t>
            </a:r>
            <a:r>
              <a:rPr lang="de-DE" dirty="0"/>
              <a:t> </a:t>
            </a:r>
            <a:r>
              <a:rPr lang="de-DE" dirty="0" err="1"/>
              <a:t>Inﬂation</a:t>
            </a:r>
            <a:r>
              <a:rPr lang="de-DE" dirty="0"/>
              <a:t>, p.130, pp. 130–146.</a:t>
            </a:r>
          </a:p>
          <a:p>
            <a:pPr marL="171450" indent="-171450">
              <a:buFontTx/>
              <a:buChar char="-"/>
            </a:pPr>
            <a:r>
              <a:rPr lang="de-DE" dirty="0"/>
              <a:t>[Alo+14] </a:t>
            </a:r>
            <a:r>
              <a:rPr lang="de-DE" dirty="0" err="1"/>
              <a:t>Riadh</a:t>
            </a:r>
            <a:r>
              <a:rPr lang="de-DE" dirty="0"/>
              <a:t> </a:t>
            </a:r>
            <a:r>
              <a:rPr lang="de-DE" dirty="0" err="1"/>
              <a:t>Aloui</a:t>
            </a:r>
            <a:r>
              <a:rPr lang="de-DE" dirty="0"/>
              <a:t> et al. “</a:t>
            </a:r>
            <a:r>
              <a:rPr lang="de-DE" dirty="0" err="1"/>
              <a:t>Dependence</a:t>
            </a:r>
            <a:r>
              <a:rPr lang="de-DE" dirty="0"/>
              <a:t> and extreme </a:t>
            </a:r>
            <a:r>
              <a:rPr lang="de-DE" dirty="0" err="1"/>
              <a:t>dependence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crude</a:t>
            </a:r>
            <a:r>
              <a:rPr lang="de-DE" dirty="0"/>
              <a:t> </a:t>
            </a:r>
            <a:r>
              <a:rPr lang="de-DE" dirty="0" err="1"/>
              <a:t>oil</a:t>
            </a:r>
            <a:r>
              <a:rPr lang="de-DE" dirty="0"/>
              <a:t> and </a:t>
            </a:r>
            <a:r>
              <a:rPr lang="de-DE" dirty="0" err="1"/>
              <a:t>natural</a:t>
            </a:r>
            <a:r>
              <a:rPr lang="de-DE" dirty="0"/>
              <a:t> gas </a:t>
            </a:r>
            <a:r>
              <a:rPr lang="de-DE" dirty="0" err="1"/>
              <a:t>prices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applications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risk</a:t>
            </a:r>
            <a:r>
              <a:rPr lang="de-DE" dirty="0"/>
              <a:t> </a:t>
            </a:r>
            <a:r>
              <a:rPr lang="de-DE" dirty="0" err="1"/>
              <a:t>management</a:t>
            </a:r>
            <a:r>
              <a:rPr lang="de-DE" dirty="0"/>
              <a:t>”. In: Energy Economics 42 (2014). </a:t>
            </a:r>
            <a:r>
              <a:rPr lang="de-DE" dirty="0" err="1"/>
              <a:t>Ref</a:t>
            </a:r>
            <a:r>
              <a:rPr lang="de-DE" dirty="0"/>
              <a:t> (Risk Parity) Portfolio </a:t>
            </a:r>
            <a:r>
              <a:rPr lang="de-DE" dirty="0" err="1"/>
              <a:t>Rebalancing</a:t>
            </a:r>
            <a:r>
              <a:rPr lang="de-DE" dirty="0"/>
              <a:t> </a:t>
            </a:r>
            <a:r>
              <a:rPr lang="de-DE" dirty="0" err="1"/>
              <a:t>Effect</a:t>
            </a:r>
            <a:r>
              <a:rPr lang="de-DE" dirty="0"/>
              <a:t>, p.332, pp. 332–342.</a:t>
            </a:r>
          </a:p>
          <a:p>
            <a:pPr marL="171450" indent="-171450">
              <a:buFontTx/>
              <a:buChar char="-"/>
            </a:pPr>
            <a:r>
              <a:rPr lang="de-DE" dirty="0"/>
              <a:t>[BGS19] Salem </a:t>
            </a:r>
            <a:r>
              <a:rPr lang="de-DE" dirty="0" err="1"/>
              <a:t>Boubakri</a:t>
            </a:r>
            <a:r>
              <a:rPr lang="de-DE" dirty="0"/>
              <a:t>, </a:t>
            </a:r>
            <a:r>
              <a:rPr lang="de-DE" dirty="0" err="1"/>
              <a:t>Cyriac</a:t>
            </a:r>
            <a:r>
              <a:rPr lang="de-DE" dirty="0"/>
              <a:t> </a:t>
            </a:r>
            <a:r>
              <a:rPr lang="de-DE" dirty="0" err="1"/>
              <a:t>Guillaumin</a:t>
            </a:r>
            <a:r>
              <a:rPr lang="de-DE" dirty="0"/>
              <a:t>, and Alexandre </a:t>
            </a:r>
            <a:r>
              <a:rPr lang="de-DE" dirty="0" err="1"/>
              <a:t>Silanine</a:t>
            </a:r>
            <a:r>
              <a:rPr lang="de-DE" dirty="0"/>
              <a:t>. “Non-linear </a:t>
            </a:r>
            <a:r>
              <a:rPr lang="de-DE" dirty="0" err="1"/>
              <a:t>relationship</a:t>
            </a:r>
            <a:r>
              <a:rPr lang="de-DE" dirty="0"/>
              <a:t> </a:t>
            </a:r>
            <a:r>
              <a:rPr lang="de-DE" dirty="0" err="1"/>
              <a:t>between</a:t>
            </a:r>
            <a:r>
              <a:rPr lang="de-DE" dirty="0"/>
              <a:t> real </a:t>
            </a:r>
            <a:r>
              <a:rPr lang="de-DE" dirty="0" err="1"/>
              <a:t>commodity</a:t>
            </a:r>
            <a:r>
              <a:rPr lang="de-DE" dirty="0"/>
              <a:t> </a:t>
            </a:r>
            <a:r>
              <a:rPr lang="de-DE" dirty="0" err="1"/>
              <a:t>price</a:t>
            </a:r>
            <a:r>
              <a:rPr lang="de-DE" dirty="0"/>
              <a:t> </a:t>
            </a:r>
            <a:r>
              <a:rPr lang="de-DE" dirty="0" err="1"/>
              <a:t>volatility</a:t>
            </a:r>
            <a:r>
              <a:rPr lang="de-DE" dirty="0"/>
              <a:t> and real </a:t>
            </a:r>
            <a:r>
              <a:rPr lang="de-DE" dirty="0" err="1"/>
              <a:t>effective</a:t>
            </a:r>
            <a:r>
              <a:rPr lang="de-DE" dirty="0"/>
              <a:t> </a:t>
            </a:r>
            <a:r>
              <a:rPr lang="de-DE" dirty="0" err="1"/>
              <a:t>exchange</a:t>
            </a:r>
            <a:r>
              <a:rPr lang="de-DE" dirty="0"/>
              <a:t> rate: The </a:t>
            </a:r>
            <a:r>
              <a:rPr lang="de-DE" dirty="0" err="1"/>
              <a:t>case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commodity-exporting</a:t>
            </a:r>
            <a:r>
              <a:rPr lang="de-DE" dirty="0"/>
              <a:t> countries”. In: Journal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Macroeconomics</a:t>
            </a:r>
            <a:r>
              <a:rPr lang="de-DE" dirty="0"/>
              <a:t> 60 (2019). </a:t>
            </a:r>
            <a:r>
              <a:rPr lang="de-DE" dirty="0" err="1"/>
              <a:t>Ref</a:t>
            </a:r>
            <a:r>
              <a:rPr lang="de-DE" dirty="0"/>
              <a:t> Oil </a:t>
            </a:r>
            <a:r>
              <a:rPr lang="de-DE" dirty="0" err="1"/>
              <a:t>export</a:t>
            </a:r>
            <a:r>
              <a:rPr lang="de-DE" dirty="0"/>
              <a:t> and </a:t>
            </a:r>
            <a:r>
              <a:rPr lang="de-DE" dirty="0" err="1"/>
              <a:t>import</a:t>
            </a:r>
            <a:r>
              <a:rPr lang="de-DE" dirty="0"/>
              <a:t>, p.212-213, pp. 212–228.</a:t>
            </a:r>
          </a:p>
          <a:p>
            <a:pPr marL="171450" indent="-171450">
              <a:buFontTx/>
              <a:buChar char="-"/>
            </a:pPr>
            <a:r>
              <a:rPr lang="de-DE" dirty="0"/>
              <a:t>[BGW00] Nicolas PB Bollen, Stephen F Gray, and Robert E </a:t>
            </a:r>
            <a:r>
              <a:rPr lang="de-DE" dirty="0" err="1"/>
              <a:t>Whaley</a:t>
            </a:r>
            <a:r>
              <a:rPr lang="de-DE" dirty="0"/>
              <a:t>. “Regime </a:t>
            </a:r>
            <a:r>
              <a:rPr lang="de-DE" dirty="0" err="1"/>
              <a:t>switching</a:t>
            </a:r>
            <a:r>
              <a:rPr lang="de-DE" dirty="0"/>
              <a:t> in </a:t>
            </a:r>
            <a:r>
              <a:rPr lang="de-DE" dirty="0" err="1"/>
              <a:t>foreign</a:t>
            </a:r>
            <a:r>
              <a:rPr lang="de-DE" dirty="0"/>
              <a:t> </a:t>
            </a:r>
            <a:r>
              <a:rPr lang="de-DE" dirty="0" err="1"/>
              <a:t>exchange</a:t>
            </a:r>
            <a:r>
              <a:rPr lang="de-DE" dirty="0"/>
              <a:t> </a:t>
            </a:r>
            <a:r>
              <a:rPr lang="de-DE" dirty="0" err="1"/>
              <a:t>rates</a:t>
            </a:r>
            <a:r>
              <a:rPr lang="de-DE" dirty="0"/>
              <a:t>:: </a:t>
            </a:r>
            <a:r>
              <a:rPr lang="de-DE" dirty="0" err="1"/>
              <a:t>Evidence</a:t>
            </a:r>
            <a:r>
              <a:rPr lang="de-DE" dirty="0"/>
              <a:t>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currency</a:t>
            </a:r>
            <a:r>
              <a:rPr lang="de-DE" dirty="0"/>
              <a:t> </a:t>
            </a:r>
            <a:r>
              <a:rPr lang="de-DE" dirty="0" err="1"/>
              <a:t>option</a:t>
            </a:r>
            <a:r>
              <a:rPr lang="de-DE" dirty="0"/>
              <a:t> </a:t>
            </a:r>
            <a:r>
              <a:rPr lang="de-DE" dirty="0" err="1"/>
              <a:t>prices</a:t>
            </a:r>
            <a:r>
              <a:rPr lang="de-DE" dirty="0"/>
              <a:t>”. In: Journal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Econometrics</a:t>
            </a:r>
            <a:r>
              <a:rPr lang="de-DE" dirty="0"/>
              <a:t> 94.1-2 (2000). </a:t>
            </a:r>
            <a:r>
              <a:rPr lang="de-DE" dirty="0" err="1"/>
              <a:t>Ref</a:t>
            </a:r>
            <a:r>
              <a:rPr lang="de-DE" dirty="0"/>
              <a:t> Central Bank Policy, p.240, pp. 239–276.</a:t>
            </a:r>
          </a:p>
          <a:p>
            <a:pPr marL="171450" indent="-171450">
              <a:buFontTx/>
              <a:buChar char="-"/>
            </a:pPr>
            <a:r>
              <a:rPr lang="de-DE" dirty="0"/>
              <a:t>[BHS16a] Syed Abul </a:t>
            </a:r>
            <a:r>
              <a:rPr lang="de-DE" dirty="0" err="1"/>
              <a:t>Basher</a:t>
            </a:r>
            <a:r>
              <a:rPr lang="de-DE" dirty="0"/>
              <a:t>, Alfred A Haug, and Perry </a:t>
            </a:r>
            <a:r>
              <a:rPr lang="de-DE" dirty="0" err="1"/>
              <a:t>Sadorsky</a:t>
            </a:r>
            <a:r>
              <a:rPr lang="de-DE" dirty="0"/>
              <a:t>. “The </a:t>
            </a:r>
            <a:r>
              <a:rPr lang="de-DE" dirty="0" err="1"/>
              <a:t>impact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oil</a:t>
            </a:r>
            <a:r>
              <a:rPr lang="de-DE" dirty="0"/>
              <a:t> </a:t>
            </a:r>
            <a:r>
              <a:rPr lang="de-DE" dirty="0" err="1"/>
              <a:t>shocks</a:t>
            </a:r>
            <a:r>
              <a:rPr lang="de-DE" dirty="0"/>
              <a:t> on </a:t>
            </a:r>
            <a:r>
              <a:rPr lang="de-DE" dirty="0" err="1"/>
              <a:t>exchange</a:t>
            </a:r>
            <a:r>
              <a:rPr lang="de-DE" dirty="0"/>
              <a:t> </a:t>
            </a:r>
            <a:r>
              <a:rPr lang="de-DE" dirty="0" err="1"/>
              <a:t>rates</a:t>
            </a:r>
            <a:r>
              <a:rPr lang="de-DE" dirty="0"/>
              <a:t>: A Markov-</a:t>
            </a:r>
            <a:r>
              <a:rPr lang="de-DE" dirty="0" err="1"/>
              <a:t>switching</a:t>
            </a:r>
            <a:r>
              <a:rPr lang="de-DE" dirty="0"/>
              <a:t> </a:t>
            </a:r>
            <a:r>
              <a:rPr lang="de-DE" dirty="0" err="1"/>
              <a:t>approach</a:t>
            </a:r>
            <a:r>
              <a:rPr lang="de-DE" dirty="0"/>
              <a:t>”. In: Energy Economics 54 (2016). </a:t>
            </a:r>
            <a:r>
              <a:rPr lang="de-DE" dirty="0" err="1"/>
              <a:t>Ref</a:t>
            </a:r>
            <a:r>
              <a:rPr lang="de-DE" dirty="0"/>
              <a:t> (US) Terms </a:t>
            </a:r>
            <a:r>
              <a:rPr lang="de-DE" dirty="0" err="1"/>
              <a:t>of</a:t>
            </a:r>
            <a:r>
              <a:rPr lang="de-DE" dirty="0"/>
              <a:t> Trade </a:t>
            </a:r>
            <a:r>
              <a:rPr lang="de-DE" dirty="0" err="1"/>
              <a:t>Effect</a:t>
            </a:r>
            <a:r>
              <a:rPr lang="de-DE" dirty="0"/>
              <a:t>, p.11, pp. 11–23.</a:t>
            </a:r>
          </a:p>
          <a:p>
            <a:pPr marL="171450" indent="-171450">
              <a:buFontTx/>
              <a:buChar char="-"/>
            </a:pPr>
            <a:r>
              <a:rPr lang="de-DE" dirty="0"/>
              <a:t>[CDK12] Am ´</a:t>
            </a:r>
            <a:r>
              <a:rPr lang="de-DE" dirty="0" err="1"/>
              <a:t>elie</a:t>
            </a:r>
            <a:r>
              <a:rPr lang="de-DE" dirty="0"/>
              <a:t> Charles, Olivier </a:t>
            </a:r>
            <a:r>
              <a:rPr lang="de-DE" dirty="0" err="1"/>
              <a:t>Darn</a:t>
            </a:r>
            <a:r>
              <a:rPr lang="de-DE" dirty="0"/>
              <a:t> ´</a:t>
            </a:r>
            <a:r>
              <a:rPr lang="de-DE" dirty="0" err="1"/>
              <a:t>e</a:t>
            </a:r>
            <a:r>
              <a:rPr lang="de-DE" dirty="0"/>
              <a:t>, and Jae H Kim. “Exchange-rate </a:t>
            </a:r>
            <a:r>
              <a:rPr lang="de-DE" dirty="0" err="1"/>
              <a:t>return</a:t>
            </a:r>
            <a:r>
              <a:rPr lang="de-DE" dirty="0"/>
              <a:t> </a:t>
            </a:r>
            <a:r>
              <a:rPr lang="de-DE" dirty="0" err="1"/>
              <a:t>predictability</a:t>
            </a:r>
            <a:r>
              <a:rPr lang="de-DE" dirty="0"/>
              <a:t> and </a:t>
            </a:r>
            <a:r>
              <a:rPr lang="de-DE" dirty="0" err="1"/>
              <a:t>the</a:t>
            </a:r>
            <a:r>
              <a:rPr lang="de-DE" dirty="0"/>
              <a:t> adaptive </a:t>
            </a:r>
            <a:r>
              <a:rPr lang="de-DE" dirty="0" err="1"/>
              <a:t>markets</a:t>
            </a:r>
            <a:r>
              <a:rPr lang="de-DE" dirty="0"/>
              <a:t> </a:t>
            </a:r>
            <a:r>
              <a:rPr lang="de-DE" dirty="0" err="1"/>
              <a:t>hypothesis</a:t>
            </a:r>
            <a:r>
              <a:rPr lang="de-DE" dirty="0"/>
              <a:t>: </a:t>
            </a:r>
            <a:r>
              <a:rPr lang="de-DE" dirty="0" err="1"/>
              <a:t>Evidence</a:t>
            </a:r>
            <a:r>
              <a:rPr lang="de-DE" dirty="0"/>
              <a:t>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major</a:t>
            </a:r>
            <a:r>
              <a:rPr lang="de-DE" dirty="0"/>
              <a:t> </a:t>
            </a:r>
            <a:r>
              <a:rPr lang="de-DE" dirty="0" err="1"/>
              <a:t>foreign</a:t>
            </a:r>
            <a:r>
              <a:rPr lang="de-DE" dirty="0"/>
              <a:t> </a:t>
            </a:r>
            <a:r>
              <a:rPr lang="de-DE" dirty="0" err="1"/>
              <a:t>exchange</a:t>
            </a:r>
            <a:r>
              <a:rPr lang="de-DE" dirty="0"/>
              <a:t> </a:t>
            </a:r>
            <a:r>
              <a:rPr lang="de-DE" dirty="0" err="1"/>
              <a:t>rates</a:t>
            </a:r>
            <a:r>
              <a:rPr lang="de-DE" dirty="0"/>
              <a:t>”. In: Journal </a:t>
            </a:r>
            <a:r>
              <a:rPr lang="de-DE" dirty="0" err="1"/>
              <a:t>of</a:t>
            </a:r>
            <a:r>
              <a:rPr lang="de-DE" dirty="0"/>
              <a:t> International Money and Finance 31.6 (2012). </a:t>
            </a:r>
            <a:r>
              <a:rPr lang="de-DE" dirty="0" err="1"/>
              <a:t>Ref</a:t>
            </a:r>
            <a:r>
              <a:rPr lang="de-DE" dirty="0"/>
              <a:t> Adaptive Market Hypothesis , p.1607; </a:t>
            </a:r>
            <a:r>
              <a:rPr lang="de-DE" dirty="0" err="1"/>
              <a:t>Ref</a:t>
            </a:r>
            <a:r>
              <a:rPr lang="de-DE" dirty="0"/>
              <a:t> Fundamental Shock, p.1607, pp. 1607–1626.</a:t>
            </a:r>
          </a:p>
          <a:p>
            <a:pPr marL="171450" indent="-171450">
              <a:buFontTx/>
              <a:buChar char="-"/>
            </a:pPr>
            <a:r>
              <a:rPr lang="de-DE" dirty="0"/>
              <a:t>[Evg18] Anastasios </a:t>
            </a:r>
            <a:r>
              <a:rPr lang="de-DE" dirty="0" err="1"/>
              <a:t>Evgenidis</a:t>
            </a:r>
            <a:r>
              <a:rPr lang="de-DE" dirty="0"/>
              <a:t>. “Do all </a:t>
            </a:r>
            <a:r>
              <a:rPr lang="de-DE" dirty="0" err="1"/>
              <a:t>oil</a:t>
            </a:r>
            <a:r>
              <a:rPr lang="de-DE" dirty="0"/>
              <a:t> </a:t>
            </a:r>
            <a:r>
              <a:rPr lang="de-DE" dirty="0" err="1"/>
              <a:t>price</a:t>
            </a:r>
            <a:r>
              <a:rPr lang="de-DE" dirty="0"/>
              <a:t> </a:t>
            </a:r>
            <a:r>
              <a:rPr lang="de-DE" dirty="0" err="1"/>
              <a:t>shocks</a:t>
            </a:r>
            <a:r>
              <a:rPr lang="de-DE" dirty="0"/>
              <a:t> </a:t>
            </a:r>
            <a:r>
              <a:rPr lang="de-DE" dirty="0" err="1"/>
              <a:t>have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same </a:t>
            </a:r>
            <a:r>
              <a:rPr lang="de-DE" dirty="0" err="1"/>
              <a:t>impact</a:t>
            </a:r>
            <a:r>
              <a:rPr lang="de-DE" dirty="0"/>
              <a:t>? </a:t>
            </a:r>
            <a:r>
              <a:rPr lang="de-DE" dirty="0" err="1"/>
              <a:t>Evidence</a:t>
            </a:r>
            <a:r>
              <a:rPr lang="de-DE" dirty="0"/>
              <a:t>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euro</a:t>
            </a:r>
            <a:r>
              <a:rPr lang="de-DE" dirty="0"/>
              <a:t> </a:t>
            </a:r>
            <a:r>
              <a:rPr lang="de-DE" dirty="0" err="1"/>
              <a:t>area</a:t>
            </a:r>
            <a:r>
              <a:rPr lang="de-DE" dirty="0"/>
              <a:t>”. In: Finance Research Letters 26 (2018). </a:t>
            </a:r>
            <a:r>
              <a:rPr lang="de-DE" dirty="0" err="1"/>
              <a:t>Ref</a:t>
            </a:r>
            <a:r>
              <a:rPr lang="de-DE" dirty="0"/>
              <a:t> Business Cycle and </a:t>
            </a:r>
            <a:r>
              <a:rPr lang="de-DE" dirty="0" err="1"/>
              <a:t>Uncertainty</a:t>
            </a:r>
            <a:r>
              <a:rPr lang="de-DE" dirty="0"/>
              <a:t>, p.151, pp. 150–155.</a:t>
            </a:r>
          </a:p>
          <a:p>
            <a:pPr marL="171450" indent="-171450">
              <a:buFontTx/>
              <a:buChar char="-"/>
            </a:pPr>
            <a:r>
              <a:rPr lang="de-DE" dirty="0"/>
              <a:t>[FF16] Eugene F Fama and Kenneth R French. “</a:t>
            </a:r>
            <a:r>
              <a:rPr lang="de-DE" dirty="0" err="1"/>
              <a:t>Commodity</a:t>
            </a:r>
            <a:r>
              <a:rPr lang="de-DE" dirty="0"/>
              <a:t> </a:t>
            </a:r>
            <a:r>
              <a:rPr lang="de-DE" dirty="0" err="1"/>
              <a:t>futures</a:t>
            </a:r>
            <a:r>
              <a:rPr lang="de-DE" dirty="0"/>
              <a:t> </a:t>
            </a:r>
            <a:r>
              <a:rPr lang="de-DE" dirty="0" err="1"/>
              <a:t>prices</a:t>
            </a:r>
            <a:r>
              <a:rPr lang="de-DE" dirty="0"/>
              <a:t>: </a:t>
            </a:r>
            <a:r>
              <a:rPr lang="de-DE" dirty="0" err="1"/>
              <a:t>Some</a:t>
            </a:r>
            <a:r>
              <a:rPr lang="de-DE" dirty="0"/>
              <a:t> </a:t>
            </a:r>
            <a:r>
              <a:rPr lang="de-DE" dirty="0" err="1"/>
              <a:t>evidence</a:t>
            </a:r>
            <a:r>
              <a:rPr lang="de-DE" dirty="0"/>
              <a:t> on </a:t>
            </a:r>
            <a:r>
              <a:rPr lang="de-DE" dirty="0" err="1"/>
              <a:t>forecast</a:t>
            </a:r>
            <a:r>
              <a:rPr lang="de-DE" dirty="0"/>
              <a:t> power, </a:t>
            </a:r>
            <a:r>
              <a:rPr lang="de-DE" dirty="0" err="1"/>
              <a:t>premiums</a:t>
            </a:r>
            <a:r>
              <a:rPr lang="de-DE" dirty="0"/>
              <a:t>, and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theory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storage</a:t>
            </a:r>
            <a:r>
              <a:rPr lang="de-DE" dirty="0"/>
              <a:t>”. In: The World </a:t>
            </a:r>
            <a:r>
              <a:rPr lang="de-DE" dirty="0" err="1"/>
              <a:t>Scientiﬁc</a:t>
            </a:r>
            <a:r>
              <a:rPr lang="de-DE" dirty="0"/>
              <a:t> Handbook </a:t>
            </a:r>
            <a:r>
              <a:rPr lang="de-DE" dirty="0" err="1"/>
              <a:t>of</a:t>
            </a:r>
            <a:r>
              <a:rPr lang="de-DE" dirty="0"/>
              <a:t> Futures </a:t>
            </a:r>
            <a:r>
              <a:rPr lang="de-DE" dirty="0" err="1"/>
              <a:t>Markets</a:t>
            </a:r>
            <a:r>
              <a:rPr lang="de-DE" dirty="0"/>
              <a:t>. </a:t>
            </a:r>
            <a:r>
              <a:rPr lang="de-DE" dirty="0" err="1"/>
              <a:t>Ref</a:t>
            </a:r>
            <a:r>
              <a:rPr lang="de-DE" dirty="0"/>
              <a:t> Theory </a:t>
            </a:r>
            <a:r>
              <a:rPr lang="de-DE" dirty="0" err="1"/>
              <a:t>of</a:t>
            </a:r>
            <a:r>
              <a:rPr lang="de-DE" dirty="0"/>
              <a:t> Storage, p.1; </a:t>
            </a:r>
            <a:r>
              <a:rPr lang="de-DE" dirty="0" err="1"/>
              <a:t>Ref</a:t>
            </a:r>
            <a:r>
              <a:rPr lang="de-DE" dirty="0"/>
              <a:t> </a:t>
            </a:r>
            <a:r>
              <a:rPr lang="de-DE" dirty="0" err="1"/>
              <a:t>Expected</a:t>
            </a:r>
            <a:r>
              <a:rPr lang="de-DE" dirty="0"/>
              <a:t> Risk Premium, p.1; </a:t>
            </a:r>
            <a:r>
              <a:rPr lang="de-DE" dirty="0" err="1"/>
              <a:t>Ref</a:t>
            </a:r>
            <a:r>
              <a:rPr lang="de-DE" dirty="0"/>
              <a:t> Spot – Future </a:t>
            </a:r>
            <a:r>
              <a:rPr lang="de-DE" dirty="0" err="1"/>
              <a:t>Divergence</a:t>
            </a:r>
            <a:r>
              <a:rPr lang="de-DE" dirty="0"/>
              <a:t>, p. 1. World </a:t>
            </a:r>
            <a:r>
              <a:rPr lang="de-DE" dirty="0" err="1"/>
              <a:t>Scientiﬁc</a:t>
            </a:r>
            <a:r>
              <a:rPr lang="de-DE" dirty="0"/>
              <a:t>, 2016, pp. 79–10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D16613-3B1F-DD4D-99CB-38F4196ACFC3}" type="slidenum">
              <a:rPr lang="de-DE" smtClean="0"/>
              <a:t>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1374153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Figure: Main </a:t>
            </a:r>
            <a:r>
              <a:rPr lang="de-DE" dirty="0" err="1"/>
              <a:t>theoretical</a:t>
            </a:r>
            <a:r>
              <a:rPr lang="de-DE" dirty="0"/>
              <a:t> </a:t>
            </a:r>
            <a:r>
              <a:rPr lang="de-DE" dirty="0" err="1"/>
              <a:t>framework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seminar</a:t>
            </a:r>
            <a:r>
              <a:rPr lang="de-DE" dirty="0"/>
              <a:t> </a:t>
            </a:r>
            <a:r>
              <a:rPr lang="de-DE" dirty="0" err="1"/>
              <a:t>project</a:t>
            </a:r>
            <a:r>
              <a:rPr lang="de-DE" dirty="0"/>
              <a:t> </a:t>
            </a:r>
            <a:r>
              <a:rPr lang="de-DE" dirty="0" err="1"/>
              <a:t>analysis</a:t>
            </a:r>
            <a:r>
              <a:rPr lang="de-DE" dirty="0"/>
              <a:t>, </a:t>
            </a:r>
            <a:r>
              <a:rPr lang="de-DE" dirty="0" err="1"/>
              <a:t>inﬂation</a:t>
            </a:r>
            <a:r>
              <a:rPr lang="de-DE" dirty="0"/>
              <a:t> pass-</a:t>
            </a:r>
            <a:r>
              <a:rPr lang="de-DE" dirty="0" err="1"/>
              <a:t>through</a:t>
            </a:r>
            <a:r>
              <a:rPr lang="de-DE" dirty="0"/>
              <a:t> </a:t>
            </a:r>
            <a:r>
              <a:rPr lang="de-DE" dirty="0" err="1"/>
              <a:t>effect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energy</a:t>
            </a:r>
            <a:r>
              <a:rPr lang="de-DE" dirty="0"/>
              <a:t> </a:t>
            </a:r>
            <a:r>
              <a:rPr lang="de-DE" dirty="0" err="1"/>
              <a:t>commodity</a:t>
            </a:r>
            <a:r>
              <a:rPr lang="de-DE" dirty="0"/>
              <a:t> </a:t>
            </a:r>
            <a:r>
              <a:rPr lang="de-DE" dirty="0" err="1"/>
              <a:t>prices</a:t>
            </a:r>
            <a:r>
              <a:rPr lang="de-DE" dirty="0"/>
              <a:t>.</a:t>
            </a:r>
          </a:p>
          <a:p>
            <a:r>
              <a:rPr lang="de-DE" dirty="0"/>
              <a:t>Sources:</a:t>
            </a:r>
          </a:p>
          <a:p>
            <a:pPr marL="171450" indent="-171450">
              <a:buFontTx/>
              <a:buChar char="-"/>
            </a:pPr>
            <a:r>
              <a:rPr lang="de-DE" dirty="0"/>
              <a:t>Own Illustration </a:t>
            </a:r>
            <a:r>
              <a:rPr lang="de-DE" dirty="0" err="1"/>
              <a:t>based</a:t>
            </a:r>
            <a:r>
              <a:rPr lang="de-DE" dirty="0"/>
              <a:t> on [OUS20], Figure 3, </a:t>
            </a:r>
            <a:r>
              <a:rPr lang="de-DE" dirty="0" err="1"/>
              <a:t>page</a:t>
            </a:r>
            <a:r>
              <a:rPr lang="de-DE" dirty="0"/>
              <a:t> 3.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D16613-3B1F-DD4D-99CB-38F4196ACFC3}" type="slidenum">
              <a:rPr lang="de-DE" smtClean="0"/>
              <a:t>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6635148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Figure: Main </a:t>
            </a:r>
            <a:r>
              <a:rPr lang="de-DE" dirty="0" err="1"/>
              <a:t>theoretical</a:t>
            </a:r>
            <a:r>
              <a:rPr lang="de-DE" dirty="0"/>
              <a:t> </a:t>
            </a:r>
            <a:r>
              <a:rPr lang="de-DE" dirty="0" err="1"/>
              <a:t>framework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seminar</a:t>
            </a:r>
            <a:r>
              <a:rPr lang="de-DE" dirty="0"/>
              <a:t> </a:t>
            </a:r>
            <a:r>
              <a:rPr lang="de-DE" dirty="0" err="1"/>
              <a:t>project</a:t>
            </a:r>
            <a:r>
              <a:rPr lang="de-DE" dirty="0"/>
              <a:t> </a:t>
            </a:r>
            <a:r>
              <a:rPr lang="de-DE" dirty="0" err="1"/>
              <a:t>analysis</a:t>
            </a:r>
            <a:r>
              <a:rPr lang="de-DE" dirty="0"/>
              <a:t>, </a:t>
            </a:r>
            <a:r>
              <a:rPr lang="de-DE" dirty="0" err="1"/>
              <a:t>main</a:t>
            </a:r>
            <a:r>
              <a:rPr lang="de-DE" dirty="0"/>
              <a:t> variables and benchmark </a:t>
            </a:r>
            <a:r>
              <a:rPr lang="de-DE" dirty="0" err="1"/>
              <a:t>models</a:t>
            </a:r>
            <a:r>
              <a:rPr lang="de-DE" dirty="0"/>
              <a:t> </a:t>
            </a:r>
            <a:r>
              <a:rPr lang="de-DE" dirty="0" err="1"/>
              <a:t>used</a:t>
            </a:r>
            <a:r>
              <a:rPr lang="de-DE" dirty="0"/>
              <a:t>.</a:t>
            </a:r>
          </a:p>
          <a:p>
            <a:r>
              <a:rPr lang="de-DE" dirty="0"/>
              <a:t>Sources:</a:t>
            </a:r>
          </a:p>
          <a:p>
            <a:pPr marL="171450" indent="-171450">
              <a:buFontTx/>
              <a:buChar char="-"/>
            </a:pPr>
            <a:r>
              <a:rPr lang="de-DE" dirty="0"/>
              <a:t>Own Illustration.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D16613-3B1F-DD4D-99CB-38F4196ACFC3}" type="slidenum">
              <a:rPr lang="de-DE" smtClean="0"/>
              <a:t>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3048145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43121C-764B-E312-EBD8-A2191B4AC0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89542189-76E0-D5EF-4A03-0AD11B88D2F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D774E7F6-EE03-7CB9-BBE4-6E1AEC33A3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Figure: Main </a:t>
            </a:r>
            <a:r>
              <a:rPr lang="de-DE" dirty="0" err="1"/>
              <a:t>theoretical</a:t>
            </a:r>
            <a:r>
              <a:rPr lang="de-DE" dirty="0"/>
              <a:t> </a:t>
            </a:r>
            <a:r>
              <a:rPr lang="de-DE" dirty="0" err="1"/>
              <a:t>framework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seminar</a:t>
            </a:r>
            <a:r>
              <a:rPr lang="de-DE" dirty="0"/>
              <a:t> </a:t>
            </a:r>
            <a:r>
              <a:rPr lang="de-DE" dirty="0" err="1"/>
              <a:t>project</a:t>
            </a:r>
            <a:r>
              <a:rPr lang="de-DE" dirty="0"/>
              <a:t> </a:t>
            </a:r>
            <a:r>
              <a:rPr lang="de-DE" dirty="0" err="1"/>
              <a:t>analysis</a:t>
            </a:r>
            <a:r>
              <a:rPr lang="de-DE" dirty="0"/>
              <a:t>, </a:t>
            </a:r>
            <a:r>
              <a:rPr lang="de-DE" dirty="0" err="1"/>
              <a:t>main</a:t>
            </a:r>
            <a:r>
              <a:rPr lang="de-DE" dirty="0"/>
              <a:t> </a:t>
            </a:r>
            <a:r>
              <a:rPr lang="de-DE" dirty="0" err="1"/>
              <a:t>algorithms</a:t>
            </a:r>
            <a:r>
              <a:rPr lang="de-DE" dirty="0"/>
              <a:t> </a:t>
            </a:r>
            <a:r>
              <a:rPr lang="de-DE" dirty="0" err="1"/>
              <a:t>used</a:t>
            </a:r>
            <a:r>
              <a:rPr lang="de-DE" dirty="0"/>
              <a:t>.</a:t>
            </a:r>
          </a:p>
          <a:p>
            <a:r>
              <a:rPr lang="de-DE" dirty="0"/>
              <a:t>Sources:</a:t>
            </a:r>
          </a:p>
          <a:p>
            <a:pPr marL="171450" indent="-171450">
              <a:buFontTx/>
              <a:buChar char="-"/>
            </a:pPr>
            <a:r>
              <a:rPr lang="de-DE" dirty="0"/>
              <a:t>Own Illustration </a:t>
            </a:r>
            <a:r>
              <a:rPr lang="de-DE" dirty="0" err="1"/>
              <a:t>based</a:t>
            </a:r>
            <a:r>
              <a:rPr lang="de-DE" dirty="0"/>
              <a:t> on </a:t>
            </a:r>
            <a:r>
              <a:rPr lang="de-DE" dirty="0" err="1"/>
              <a:t>formulas</a:t>
            </a:r>
            <a:r>
              <a:rPr lang="de-DE" dirty="0"/>
              <a:t> </a:t>
            </a:r>
            <a:r>
              <a:rPr lang="de-DE" dirty="0" err="1"/>
              <a:t>taken</a:t>
            </a:r>
            <a:r>
              <a:rPr lang="de-DE" dirty="0"/>
              <a:t> </a:t>
            </a:r>
            <a:r>
              <a:rPr lang="de-DE" dirty="0" err="1"/>
              <a:t>from</a:t>
            </a:r>
            <a:r>
              <a:rPr lang="de-DE" dirty="0"/>
              <a:t> [Rei25], </a:t>
            </a:r>
            <a:r>
              <a:rPr lang="de-DE" dirty="0" err="1"/>
              <a:t>section</a:t>
            </a:r>
            <a:r>
              <a:rPr lang="de-DE" dirty="0"/>
              <a:t> ”Modeling </a:t>
            </a:r>
            <a:r>
              <a:rPr lang="de-DE" dirty="0" err="1"/>
              <a:t>Nonlinearities</a:t>
            </a:r>
            <a:r>
              <a:rPr lang="de-DE" dirty="0"/>
              <a:t> I: Markov-</a:t>
            </a:r>
            <a:r>
              <a:rPr lang="de-DE" dirty="0" err="1"/>
              <a:t>Switching</a:t>
            </a:r>
            <a:r>
              <a:rPr lang="de-DE" dirty="0"/>
              <a:t>”, </a:t>
            </a:r>
            <a:r>
              <a:rPr lang="de-DE" dirty="0" err="1"/>
              <a:t>page</a:t>
            </a:r>
            <a:r>
              <a:rPr lang="de-DE" dirty="0"/>
              <a:t> 7-15 and </a:t>
            </a:r>
            <a:r>
              <a:rPr lang="de-DE" dirty="0" err="1"/>
              <a:t>algorithms</a:t>
            </a:r>
            <a:r>
              <a:rPr lang="de-DE" dirty="0"/>
              <a:t> </a:t>
            </a:r>
            <a:r>
              <a:rPr lang="de-DE" dirty="0" err="1"/>
              <a:t>from</a:t>
            </a:r>
            <a:r>
              <a:rPr lang="de-DE" dirty="0"/>
              <a:t> [dev24a] and </a:t>
            </a:r>
            <a:r>
              <a:rPr lang="de-DE" dirty="0" err="1"/>
              <a:t>implemented</a:t>
            </a:r>
            <a:r>
              <a:rPr lang="de-DE" dirty="0"/>
              <a:t> in [Fou24].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D985E8C-65CB-7A58-A867-E7196A226D4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D16613-3B1F-DD4D-99CB-38F4196ACFC3}" type="slidenum">
              <a:rPr lang="de-DE" smtClean="0"/>
              <a:t>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920777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2140E9-D8DA-0F5C-912F-D5812481A2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135CDB25-7B55-9AF2-55AA-7F7151E009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3A12073E-AF34-9C8E-03E0-34DF810801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Figure: Main </a:t>
            </a:r>
            <a:r>
              <a:rPr lang="de-DE" dirty="0" err="1"/>
              <a:t>theoretical</a:t>
            </a:r>
            <a:r>
              <a:rPr lang="de-DE" dirty="0"/>
              <a:t> </a:t>
            </a:r>
            <a:r>
              <a:rPr lang="de-DE" dirty="0" err="1"/>
              <a:t>framework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seminar</a:t>
            </a:r>
            <a:r>
              <a:rPr lang="de-DE" dirty="0"/>
              <a:t> </a:t>
            </a:r>
            <a:r>
              <a:rPr lang="de-DE" dirty="0" err="1"/>
              <a:t>project</a:t>
            </a:r>
            <a:r>
              <a:rPr lang="de-DE" dirty="0"/>
              <a:t> </a:t>
            </a:r>
            <a:r>
              <a:rPr lang="de-DE" dirty="0" err="1"/>
              <a:t>analysis</a:t>
            </a:r>
            <a:r>
              <a:rPr lang="de-DE" dirty="0"/>
              <a:t>, </a:t>
            </a:r>
            <a:r>
              <a:rPr lang="de-DE" dirty="0" err="1"/>
              <a:t>main</a:t>
            </a:r>
            <a:r>
              <a:rPr lang="de-DE" dirty="0"/>
              <a:t> </a:t>
            </a:r>
            <a:r>
              <a:rPr lang="de-DE" dirty="0" err="1"/>
              <a:t>evaluation</a:t>
            </a:r>
            <a:r>
              <a:rPr lang="de-DE" dirty="0"/>
              <a:t> </a:t>
            </a:r>
            <a:r>
              <a:rPr lang="de-DE" dirty="0" err="1"/>
              <a:t>metrics</a:t>
            </a:r>
            <a:r>
              <a:rPr lang="de-DE" dirty="0"/>
              <a:t> and </a:t>
            </a:r>
            <a:r>
              <a:rPr lang="de-DE" dirty="0" err="1"/>
              <a:t>crisis</a:t>
            </a:r>
            <a:r>
              <a:rPr lang="de-DE" dirty="0"/>
              <a:t> </a:t>
            </a:r>
            <a:r>
              <a:rPr lang="de-DE" dirty="0" err="1"/>
              <a:t>periods</a:t>
            </a:r>
            <a:r>
              <a:rPr lang="de-DE" dirty="0"/>
              <a:t> </a:t>
            </a:r>
            <a:r>
              <a:rPr lang="de-DE" dirty="0" err="1"/>
              <a:t>used</a:t>
            </a:r>
            <a:r>
              <a:rPr lang="de-DE" dirty="0"/>
              <a:t>.</a:t>
            </a:r>
          </a:p>
          <a:p>
            <a:r>
              <a:rPr lang="de-DE" dirty="0"/>
              <a:t>Sources:</a:t>
            </a:r>
          </a:p>
          <a:p>
            <a:pPr marL="171450" indent="-171450">
              <a:buFontTx/>
              <a:buChar char="-"/>
            </a:pPr>
            <a:r>
              <a:rPr lang="de-DE" dirty="0"/>
              <a:t>Own Illustration </a:t>
            </a:r>
            <a:r>
              <a:rPr lang="de-DE" dirty="0" err="1"/>
              <a:t>based</a:t>
            </a:r>
            <a:r>
              <a:rPr lang="de-DE" dirty="0"/>
              <a:t> on </a:t>
            </a:r>
            <a:r>
              <a:rPr lang="de-DE" dirty="0" err="1"/>
              <a:t>data</a:t>
            </a:r>
            <a:r>
              <a:rPr lang="de-DE" dirty="0"/>
              <a:t> </a:t>
            </a:r>
            <a:r>
              <a:rPr lang="de-DE" dirty="0" err="1"/>
              <a:t>taken</a:t>
            </a:r>
            <a:r>
              <a:rPr lang="de-DE" dirty="0"/>
              <a:t> </a:t>
            </a:r>
            <a:r>
              <a:rPr lang="de-DE" dirty="0" err="1"/>
              <a:t>from</a:t>
            </a:r>
            <a:r>
              <a:rPr lang="de-DE" dirty="0"/>
              <a:t> [St 25a], last </a:t>
            </a:r>
            <a:r>
              <a:rPr lang="de-DE" dirty="0" err="1"/>
              <a:t>accessed</a:t>
            </a:r>
            <a:r>
              <a:rPr lang="de-DE" dirty="0"/>
              <a:t> 24.10.25.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B6525F2-FBF3-EF59-AEA5-ABDF1479F71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D16613-3B1F-DD4D-99CB-38F4196ACFC3}" type="slidenum">
              <a:rPr lang="de-DE" smtClean="0"/>
              <a:t>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31038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92AB5D-DEFE-84C3-4229-5FD48F5013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32FA9450-5843-4F07-1A49-D69A83DC94C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62BCFC3E-D679-9C12-A1D0-7505C317E3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Figure: Main </a:t>
            </a:r>
            <a:r>
              <a:rPr lang="de-DE" dirty="0" err="1"/>
              <a:t>theoretical</a:t>
            </a:r>
            <a:r>
              <a:rPr lang="de-DE" dirty="0"/>
              <a:t> </a:t>
            </a:r>
            <a:r>
              <a:rPr lang="de-DE" dirty="0" err="1"/>
              <a:t>framework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seminar</a:t>
            </a:r>
            <a:r>
              <a:rPr lang="de-DE" dirty="0"/>
              <a:t> </a:t>
            </a:r>
            <a:r>
              <a:rPr lang="de-DE" dirty="0" err="1"/>
              <a:t>project</a:t>
            </a:r>
            <a:r>
              <a:rPr lang="de-DE" dirty="0"/>
              <a:t> </a:t>
            </a:r>
            <a:r>
              <a:rPr lang="de-DE" dirty="0" err="1"/>
              <a:t>analysis</a:t>
            </a:r>
            <a:r>
              <a:rPr lang="de-DE" dirty="0"/>
              <a:t>, </a:t>
            </a:r>
            <a:r>
              <a:rPr lang="de-DE" dirty="0" err="1"/>
              <a:t>testing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regime</a:t>
            </a:r>
            <a:r>
              <a:rPr lang="de-DE" dirty="0"/>
              <a:t> </a:t>
            </a:r>
            <a:r>
              <a:rPr lang="de-DE" dirty="0" err="1"/>
              <a:t>dependent</a:t>
            </a:r>
            <a:r>
              <a:rPr lang="de-DE" dirty="0"/>
              <a:t> UIP-</a:t>
            </a:r>
            <a:r>
              <a:rPr lang="de-DE" dirty="0" err="1"/>
              <a:t>relationship</a:t>
            </a:r>
            <a:r>
              <a:rPr lang="de-DE" dirty="0"/>
              <a:t>.</a:t>
            </a:r>
          </a:p>
          <a:p>
            <a:r>
              <a:rPr lang="de-DE" dirty="0"/>
              <a:t>Sources:</a:t>
            </a:r>
          </a:p>
          <a:p>
            <a:pPr marL="171450" indent="-171450">
              <a:buFontTx/>
              <a:buChar char="-"/>
            </a:pPr>
            <a:r>
              <a:rPr lang="de-DE" dirty="0"/>
              <a:t>Own Illustration </a:t>
            </a:r>
            <a:r>
              <a:rPr lang="de-DE" dirty="0" err="1"/>
              <a:t>based</a:t>
            </a:r>
            <a:r>
              <a:rPr lang="de-DE" dirty="0"/>
              <a:t> on </a:t>
            </a:r>
            <a:r>
              <a:rPr lang="de-DE" dirty="0" err="1"/>
              <a:t>formulas</a:t>
            </a:r>
            <a:r>
              <a:rPr lang="de-DE" dirty="0"/>
              <a:t> </a:t>
            </a:r>
            <a:r>
              <a:rPr lang="de-DE" dirty="0" err="1"/>
              <a:t>taken</a:t>
            </a:r>
            <a:r>
              <a:rPr lang="de-DE" dirty="0"/>
              <a:t> </a:t>
            </a:r>
            <a:r>
              <a:rPr lang="de-DE" dirty="0" err="1"/>
              <a:t>from</a:t>
            </a:r>
            <a:r>
              <a:rPr lang="de-DE" dirty="0"/>
              <a:t> [Rei25], </a:t>
            </a:r>
            <a:r>
              <a:rPr lang="de-DE" dirty="0" err="1"/>
              <a:t>section</a:t>
            </a:r>
            <a:r>
              <a:rPr lang="de-DE" dirty="0"/>
              <a:t> ”Modeling </a:t>
            </a:r>
            <a:r>
              <a:rPr lang="de-DE" dirty="0" err="1"/>
              <a:t>Nonlinearities</a:t>
            </a:r>
            <a:r>
              <a:rPr lang="de-DE" dirty="0"/>
              <a:t> I: Markov-</a:t>
            </a:r>
            <a:r>
              <a:rPr lang="de-DE" dirty="0" err="1"/>
              <a:t>Switching</a:t>
            </a:r>
            <a:r>
              <a:rPr lang="de-DE" dirty="0"/>
              <a:t>”, </a:t>
            </a:r>
            <a:r>
              <a:rPr lang="de-DE" dirty="0" err="1"/>
              <a:t>page</a:t>
            </a:r>
            <a:r>
              <a:rPr lang="de-DE" dirty="0"/>
              <a:t> 7-15.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8D535E4-DEDF-2622-707D-A4F9B9681F1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D16613-3B1F-DD4D-99CB-38F4196ACFC3}" type="slidenum">
              <a:rPr lang="de-DE" smtClean="0"/>
              <a:t>10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3037750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5D08B5-DDDB-9CA0-6467-7FD8993A17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AE38B0E8-50D1-2899-FF4D-AC62BE9AFA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F8E9AEE5-9D1E-8B69-5FDC-623EA09E76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CA8E8DF-B6DE-D715-4E19-36A3DEF46B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D16613-3B1F-DD4D-99CB-38F4196ACFC3}" type="slidenum">
              <a:rPr lang="de-DE" smtClean="0"/>
              <a:t>12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4443989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AAA8D9-D78A-48F6-31FD-02214A78B0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B5C5781C-C53E-A4BB-3025-8671E6096E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79BD623D-6727-B88E-2958-DBA9F9D755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B5135A9-75A0-B09F-8787-57C311A6956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D16613-3B1F-DD4D-99CB-38F4196ACFC3}" type="slidenum">
              <a:rPr lang="de-DE" smtClean="0"/>
              <a:t>13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911917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78C327-288A-75B9-CF50-F76EB6B2EF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3382830B-6179-A1D4-294B-C392BBB4CB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DF7D4F88-A334-1E4D-585F-2F5F7A11AE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11EFFA4-3D92-DCEF-F434-4460968563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D16613-3B1F-DD4D-99CB-38F4196ACFC3}" type="slidenum">
              <a:rPr lang="de-DE" smtClean="0"/>
              <a:t>14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3723567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FB3852-12D5-2FC7-E674-2C7E942E0B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777C3447-4C92-B18C-F9EF-6E089598F4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24BF1A8C-9EDA-A656-67D8-B34F01435B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EB63697-1659-FA46-5E0F-408CC0EB670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D16613-3B1F-DD4D-99CB-38F4196ACFC3}" type="slidenum">
              <a:rPr lang="de-DE" smtClean="0"/>
              <a:t>15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615016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infache Folie 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924759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041" userDrawn="1">
          <p15:clr>
            <a:srgbClr val="FBAE40"/>
          </p15:clr>
        </p15:guide>
        <p15:guide id="2" pos="3628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inimal 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421413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041" userDrawn="1">
          <p15:clr>
            <a:srgbClr val="FBAE40"/>
          </p15:clr>
        </p15:guide>
        <p15:guide id="2" pos="3628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tif"/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ustomShape 8"/>
          <p:cNvSpPr/>
          <p:nvPr userDrawn="1"/>
        </p:nvSpPr>
        <p:spPr>
          <a:xfrm>
            <a:off x="11196720" y="5540400"/>
            <a:ext cx="357480" cy="109800"/>
          </a:xfrm>
          <a:prstGeom prst="rect">
            <a:avLst/>
          </a:prstGeom>
          <a:solidFill>
            <a:srgbClr val="00677C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de-DE"/>
          </a:p>
        </p:txBody>
      </p:sp>
      <p:pic>
        <p:nvPicPr>
          <p:cNvPr id="3" name="Grafik 2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72000"/>
            <a:ext cx="11520488" cy="10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2066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041" userDrawn="1">
          <p15:clr>
            <a:srgbClr val="F26B43"/>
          </p15:clr>
        </p15:guide>
        <p15:guide id="2" pos="3628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fik 1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6000" y="-72000"/>
            <a:ext cx="11592000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59850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3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041" userDrawn="1">
          <p15:clr>
            <a:srgbClr val="F26B43"/>
          </p15:clr>
        </p15:guide>
        <p15:guide id="2" pos="3628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emf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emf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13000"/>
            <a:lum bright="30000" contrast="45000"/>
          </a:blip>
          <a:srcRect/>
          <a:stretch>
            <a:fillRect l="50000" t="-28000" r="-35000" b="-135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AA6815A2-BE6E-C95F-CE44-FF975709C775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4" name="Abgerundetes Rechteck 3">
            <a:extLst>
              <a:ext uri="{FF2B5EF4-FFF2-40B4-BE49-F238E27FC236}">
                <a16:creationId xmlns:a16="http://schemas.microsoft.com/office/drawing/2014/main" id="{77082D84-2C49-30CC-4911-2F058C683FB8}"/>
              </a:ext>
            </a:extLst>
          </p:cNvPr>
          <p:cNvSpPr/>
          <p:nvPr/>
        </p:nvSpPr>
        <p:spPr>
          <a:xfrm>
            <a:off x="184944" y="831954"/>
            <a:ext cx="11150599" cy="2018250"/>
          </a:xfrm>
          <a:prstGeom prst="roundRect">
            <a:avLst/>
          </a:prstGeom>
          <a:solidFill>
            <a:srgbClr val="00677C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3000" b="1" dirty="0" err="1"/>
              <a:t>Identifying</a:t>
            </a:r>
            <a:r>
              <a:rPr lang="de-DE" sz="3000" b="1" dirty="0"/>
              <a:t> (</a:t>
            </a:r>
            <a:r>
              <a:rPr lang="de-DE" sz="3000" b="1" dirty="0" err="1"/>
              <a:t>volatility</a:t>
            </a:r>
            <a:r>
              <a:rPr lang="de-DE" sz="3000" b="1" dirty="0"/>
              <a:t>-)</a:t>
            </a:r>
            <a:r>
              <a:rPr lang="de-DE" sz="3000" b="1" dirty="0" err="1"/>
              <a:t>regimes</a:t>
            </a:r>
            <a:r>
              <a:rPr lang="de-DE" sz="3000" b="1" dirty="0"/>
              <a:t> in </a:t>
            </a:r>
            <a:r>
              <a:rPr lang="de-DE" sz="3000" b="1" dirty="0" err="1"/>
              <a:t>the</a:t>
            </a:r>
            <a:r>
              <a:rPr lang="de-DE" sz="3000" b="1" dirty="0"/>
              <a:t> </a:t>
            </a:r>
            <a:r>
              <a:rPr lang="de-DE" sz="3000" b="1" dirty="0" err="1"/>
              <a:t>the</a:t>
            </a:r>
            <a:r>
              <a:rPr lang="de-DE" sz="3000" b="1" dirty="0"/>
              <a:t> EUR/USD</a:t>
            </a:r>
          </a:p>
          <a:p>
            <a:pPr algn="ctr"/>
            <a:r>
              <a:rPr lang="de-DE" sz="3000" b="1" dirty="0" err="1"/>
              <a:t>spot</a:t>
            </a:r>
            <a:r>
              <a:rPr lang="de-DE" sz="3000" b="1" dirty="0"/>
              <a:t> </a:t>
            </a:r>
            <a:r>
              <a:rPr lang="de-DE" sz="3000" b="1" dirty="0" err="1"/>
              <a:t>exchange</a:t>
            </a:r>
            <a:r>
              <a:rPr lang="de-DE" sz="3000" b="1" dirty="0"/>
              <a:t> rate </a:t>
            </a:r>
            <a:r>
              <a:rPr lang="de-DE" sz="3000" b="1" dirty="0" err="1"/>
              <a:t>using</a:t>
            </a:r>
            <a:r>
              <a:rPr lang="de-DE" sz="3000" b="1" dirty="0"/>
              <a:t> </a:t>
            </a:r>
            <a:r>
              <a:rPr lang="de-DE" sz="3000" b="1" dirty="0" err="1"/>
              <a:t>clustering</a:t>
            </a:r>
            <a:r>
              <a:rPr lang="de-DE" sz="3000" b="1" dirty="0"/>
              <a:t> </a:t>
            </a:r>
            <a:r>
              <a:rPr lang="de-DE" sz="3000" b="1" dirty="0" err="1"/>
              <a:t>algorithms</a:t>
            </a:r>
            <a:r>
              <a:rPr lang="de-DE" sz="3000" b="1" dirty="0"/>
              <a:t>:</a:t>
            </a:r>
          </a:p>
          <a:p>
            <a:pPr algn="ctr"/>
            <a:r>
              <a:rPr lang="de-DE" sz="3000" b="1" dirty="0"/>
              <a:t>An Oil and Gas </a:t>
            </a:r>
            <a:r>
              <a:rPr lang="de-DE" sz="3000" b="1" dirty="0" err="1"/>
              <a:t>Perspective</a:t>
            </a:r>
            <a:r>
              <a:rPr lang="de-DE" sz="3000" b="1" dirty="0"/>
              <a:t> on Parity </a:t>
            </a:r>
            <a:r>
              <a:rPr lang="de-DE" sz="3000" b="1" dirty="0" err="1"/>
              <a:t>Conditions</a:t>
            </a:r>
            <a:r>
              <a:rPr lang="de-DE" sz="3000" b="1" dirty="0"/>
              <a:t>.</a:t>
            </a:r>
            <a:endParaRPr lang="de-DE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DE" sz="1400" dirty="0">
                <a:latin typeface="Arial" panose="020B0604020202020204" pitchFamily="34" charset="0"/>
                <a:cs typeface="Arial" panose="020B0604020202020204" pitchFamily="34" charset="0"/>
              </a:rPr>
              <a:t>Seminar in Applied Financial Economics </a:t>
            </a:r>
            <a:r>
              <a:rPr lang="de-DE" sz="1400" dirty="0" err="1">
                <a:latin typeface="Arial" panose="020B0604020202020204" pitchFamily="34" charset="0"/>
                <a:cs typeface="Arial" panose="020B0604020202020204" pitchFamily="34" charset="0"/>
              </a:rPr>
              <a:t>by</a:t>
            </a:r>
            <a:r>
              <a:rPr lang="de-DE" sz="1400" dirty="0">
                <a:latin typeface="Arial" panose="020B0604020202020204" pitchFamily="34" charset="0"/>
                <a:cs typeface="Arial" panose="020B0604020202020204" pitchFamily="34" charset="0"/>
              </a:rPr>
              <a:t> Professor Reitz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DF1E9C5B-2C8E-C3A1-C2CE-19D641FBBF70}"/>
              </a:ext>
            </a:extLst>
          </p:cNvPr>
          <p:cNvSpPr/>
          <p:nvPr/>
        </p:nvSpPr>
        <p:spPr>
          <a:xfrm>
            <a:off x="2382043" y="2908450"/>
            <a:ext cx="6756400" cy="286173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Josef Fella and Robert Hennings</a:t>
            </a:r>
          </a:p>
          <a:p>
            <a:pPr algn="ctr"/>
            <a:endParaRPr lang="de-DE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de-DE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Christian-Albrechts-University of Kiel</a:t>
            </a:r>
          </a:p>
          <a:p>
            <a:pPr algn="ctr"/>
            <a:r>
              <a:rPr lang="de-DE" sz="1600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josef.fella@stu.uni-kiel.de</a:t>
            </a:r>
            <a:r>
              <a:rPr lang="de-DE" sz="16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de-DE" sz="1600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robert.hennings@stu.uni-kiel.de</a:t>
            </a:r>
            <a:endParaRPr lang="de-DE" sz="1600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DE" sz="16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GitHub: https://</a:t>
            </a:r>
            <a:r>
              <a:rPr lang="de-DE" sz="1600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github.com</a:t>
            </a:r>
            <a:r>
              <a:rPr lang="de-DE" sz="16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de-DE" sz="1600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RobertHennings</a:t>
            </a:r>
            <a:endParaRPr lang="de-DE" sz="1600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de-DE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DE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Kiel - 14.11.2025</a:t>
            </a:r>
          </a:p>
        </p:txBody>
      </p:sp>
      <p:pic>
        <p:nvPicPr>
          <p:cNvPr id="7" name="Grafik 6" descr="Ein Bild, das Text, Schrift, Screenshot, Grafiken enthält.&#10;&#10;Automatisch generierte Beschreibung">
            <a:extLst>
              <a:ext uri="{FF2B5EF4-FFF2-40B4-BE49-F238E27FC236}">
                <a16:creationId xmlns:a16="http://schemas.microsoft.com/office/drawing/2014/main" id="{0BDF84F9-AB7F-07DD-90C2-3A137E12B48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64271" y="-67456"/>
            <a:ext cx="1771272" cy="8856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16680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13000"/>
            <a:lum bright="30000" contrast="45000"/>
          </a:blip>
          <a:srcRect/>
          <a:stretch>
            <a:fillRect l="50000" t="-28000" r="-35000" b="-13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F393D68-7A74-A7D1-B41E-C2468E9522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2CA5A519-9F13-4080-0A41-4FAC1A64482E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7" name="Grafik 6" descr="Ein Bild, das Text, Schrift, Screenshot, Grafiken enthält.&#10;&#10;Automatisch generierte Beschreibung">
            <a:extLst>
              <a:ext uri="{FF2B5EF4-FFF2-40B4-BE49-F238E27FC236}">
                <a16:creationId xmlns:a16="http://schemas.microsoft.com/office/drawing/2014/main" id="{1CF58EC5-18C5-0AB0-F99C-F1220AAA9B6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64271" y="-67456"/>
            <a:ext cx="1771272" cy="885636"/>
          </a:xfrm>
          <a:prstGeom prst="rect">
            <a:avLst/>
          </a:prstGeom>
        </p:spPr>
      </p:pic>
      <p:sp>
        <p:nvSpPr>
          <p:cNvPr id="3" name="Rechteck 2">
            <a:extLst>
              <a:ext uri="{FF2B5EF4-FFF2-40B4-BE49-F238E27FC236}">
                <a16:creationId xmlns:a16="http://schemas.microsoft.com/office/drawing/2014/main" id="{D0ECA64D-A318-4178-0765-4F055AD47E91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solidFill>
            <a:srgbClr val="00677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3600" dirty="0">
                <a:latin typeface="Arial" panose="020B0604020202020204" pitchFamily="34" charset="0"/>
                <a:cs typeface="Arial" panose="020B0604020202020204" pitchFamily="34" charset="0"/>
              </a:rPr>
              <a:t>Chapter 2)</a:t>
            </a:r>
          </a:p>
        </p:txBody>
      </p:sp>
      <p:sp>
        <p:nvSpPr>
          <p:cNvPr id="6" name="Abgerundetes Rechteck 5">
            <a:extLst>
              <a:ext uri="{FF2B5EF4-FFF2-40B4-BE49-F238E27FC236}">
                <a16:creationId xmlns:a16="http://schemas.microsoft.com/office/drawing/2014/main" id="{F207B5E7-3925-0207-0FF8-3F3386325116}"/>
              </a:ext>
            </a:extLst>
          </p:cNvPr>
          <p:cNvSpPr/>
          <p:nvPr/>
        </p:nvSpPr>
        <p:spPr>
          <a:xfrm>
            <a:off x="2982297" y="2996762"/>
            <a:ext cx="5570335" cy="486650"/>
          </a:xfrm>
          <a:prstGeom prst="roundRect">
            <a:avLst/>
          </a:prstGeom>
          <a:solidFill>
            <a:srgbClr val="00677C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b="1">
                <a:latin typeface="Arial" panose="020B0604020202020204" pitchFamily="34" charset="0"/>
                <a:cs typeface="Arial" panose="020B0604020202020204" pitchFamily="34" charset="0"/>
              </a:rPr>
              <a:t>Literature</a:t>
            </a:r>
            <a:r>
              <a:rPr lang="de-DE" sz="3200" b="1">
                <a:latin typeface="Arial" panose="020B0604020202020204" pitchFamily="34" charset="0"/>
                <a:cs typeface="Arial" panose="020B0604020202020204" pitchFamily="34" charset="0"/>
              </a:rPr>
              <a:t> Review</a:t>
            </a:r>
            <a:endParaRPr lang="de-DE" sz="14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023451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67F995-3419-CCB0-8698-134E2197CE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4" name="Gewinkelte Verbindung 73">
            <a:extLst>
              <a:ext uri="{FF2B5EF4-FFF2-40B4-BE49-F238E27FC236}">
                <a16:creationId xmlns:a16="http://schemas.microsoft.com/office/drawing/2014/main" id="{7251B7F4-2291-74BA-F3E7-349C8DFA29BC}"/>
              </a:ext>
            </a:extLst>
          </p:cNvPr>
          <p:cNvCxnSpPr>
            <a:cxnSpLocks/>
            <a:stCxn id="5" idx="3"/>
            <a:endCxn id="15" idx="1"/>
          </p:cNvCxnSpPr>
          <p:nvPr/>
        </p:nvCxnSpPr>
        <p:spPr>
          <a:xfrm flipV="1">
            <a:off x="4123594" y="2849865"/>
            <a:ext cx="636862" cy="1537992"/>
          </a:xfrm>
          <a:prstGeom prst="bentConnector3">
            <a:avLst>
              <a:gd name="adj1" fmla="val 7728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" name="CustomShape 3">
            <a:extLst>
              <a:ext uri="{FF2B5EF4-FFF2-40B4-BE49-F238E27FC236}">
                <a16:creationId xmlns:a16="http://schemas.microsoft.com/office/drawing/2014/main" id="{89979652-1CC6-B67E-EC59-613F4BB5EDA7}"/>
              </a:ext>
            </a:extLst>
          </p:cNvPr>
          <p:cNvSpPr/>
          <p:nvPr/>
        </p:nvSpPr>
        <p:spPr>
          <a:xfrm>
            <a:off x="540000" y="743529"/>
            <a:ext cx="10079640" cy="269117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/>
          <a:lstStyle/>
          <a:p>
            <a:pPr>
              <a:lnSpc>
                <a:spcPct val="100000"/>
              </a:lnSpc>
            </a:pPr>
            <a:r>
              <a:rPr lang="de-DE" sz="1400" b="1" spc="-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</a:t>
            </a:r>
            <a:r>
              <a:rPr lang="de-DE" sz="1400" b="1" spc="-1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relationship</a:t>
            </a:r>
            <a:r>
              <a:rPr lang="de-DE" sz="1400" b="1" spc="-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400" b="1" spc="-1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between</a:t>
            </a:r>
            <a:r>
              <a:rPr lang="de-DE" sz="1400" b="1" spc="-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Energy Commodity Prices and </a:t>
            </a:r>
            <a:r>
              <a:rPr lang="de-DE" sz="1400" b="1" spc="-1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exchange</a:t>
            </a:r>
            <a:r>
              <a:rPr lang="de-DE" sz="1400" b="1" spc="-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400" b="1" spc="-1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rates</a:t>
            </a:r>
            <a:r>
              <a:rPr lang="de-DE" sz="1400" b="1" spc="-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Transmission channels</a:t>
            </a:r>
            <a:r>
              <a:rPr lang="de-DE" sz="1400" b="1" spc="-1" baseline="300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endParaRPr lang="de-DE" sz="1400" b="0" strike="noStrike" spc="-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BD5AEEBE-1DF8-F771-131E-935D08025377}"/>
              </a:ext>
            </a:extLst>
          </p:cNvPr>
          <p:cNvSpPr/>
          <p:nvPr/>
        </p:nvSpPr>
        <p:spPr>
          <a:xfrm>
            <a:off x="1721603" y="4279857"/>
            <a:ext cx="2401991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Volatility and Risk Spillover Effects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55D90CBC-09A3-7803-2E9C-DFD72C73E45D}"/>
              </a:ext>
            </a:extLst>
          </p:cNvPr>
          <p:cNvSpPr/>
          <p:nvPr/>
        </p:nvSpPr>
        <p:spPr>
          <a:xfrm>
            <a:off x="8746536" y="4005332"/>
            <a:ext cx="1492776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Oil export and import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914B7565-F55E-DF40-D57D-2723965218E6}"/>
              </a:ext>
            </a:extLst>
          </p:cNvPr>
          <p:cNvSpPr/>
          <p:nvPr/>
        </p:nvSpPr>
        <p:spPr>
          <a:xfrm>
            <a:off x="1793695" y="2322789"/>
            <a:ext cx="2489092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Financial Transmission Channels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58E3BA33-3B95-D2A5-9B43-0E705A4C8D38}"/>
              </a:ext>
            </a:extLst>
          </p:cNvPr>
          <p:cNvSpPr/>
          <p:nvPr/>
        </p:nvSpPr>
        <p:spPr>
          <a:xfrm>
            <a:off x="8173122" y="2312621"/>
            <a:ext cx="2729150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Fundamental Transmission Channels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8AF11C45-59BA-4C14-05D4-87A6EA6C01B6}"/>
              </a:ext>
            </a:extLst>
          </p:cNvPr>
          <p:cNvSpPr/>
          <p:nvPr/>
        </p:nvSpPr>
        <p:spPr>
          <a:xfrm>
            <a:off x="4683001" y="2316511"/>
            <a:ext cx="2918077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Macroeconomic Transmission Channels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8A2E6972-3072-29F8-F919-3BDC31C70019}"/>
              </a:ext>
            </a:extLst>
          </p:cNvPr>
          <p:cNvSpPr/>
          <p:nvPr/>
        </p:nvSpPr>
        <p:spPr>
          <a:xfrm>
            <a:off x="8932020" y="2785471"/>
            <a:ext cx="1213829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Monetary Policy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0842BDEA-AD1B-8BB8-D81C-7BA0BB3BDF23}"/>
              </a:ext>
            </a:extLst>
          </p:cNvPr>
          <p:cNvSpPr/>
          <p:nvPr/>
        </p:nvSpPr>
        <p:spPr>
          <a:xfrm>
            <a:off x="5714201" y="3143949"/>
            <a:ext cx="763593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Inflation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CB8FA6D9-90C2-BFAF-C91A-D786F0D36A8C}"/>
              </a:ext>
            </a:extLst>
          </p:cNvPr>
          <p:cNvSpPr/>
          <p:nvPr/>
        </p:nvSpPr>
        <p:spPr>
          <a:xfrm>
            <a:off x="5572720" y="4559503"/>
            <a:ext cx="2232000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Denomination (Numeraire) Effect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EDF51B29-AF6D-7E13-44AF-D337D241DCB1}"/>
              </a:ext>
            </a:extLst>
          </p:cNvPr>
          <p:cNvSpPr/>
          <p:nvPr/>
        </p:nvSpPr>
        <p:spPr>
          <a:xfrm>
            <a:off x="2215226" y="2737784"/>
            <a:ext cx="1667844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Wealth Transfer Effect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8E2D4A6C-6185-B444-11A0-F5D8C242F78C}"/>
              </a:ext>
            </a:extLst>
          </p:cNvPr>
          <p:cNvSpPr/>
          <p:nvPr/>
        </p:nvSpPr>
        <p:spPr>
          <a:xfrm>
            <a:off x="4760456" y="2741865"/>
            <a:ext cx="2773157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(Risk Parity) Portfolio Rebalancing Effect</a:t>
            </a:r>
          </a:p>
        </p:txBody>
      </p: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57984F82-DCB0-CD0F-FEC0-450BD3B9EBBC}"/>
              </a:ext>
            </a:extLst>
          </p:cNvPr>
          <p:cNvCxnSpPr/>
          <p:nvPr/>
        </p:nvCxnSpPr>
        <p:spPr>
          <a:xfrm>
            <a:off x="778932" y="2260600"/>
            <a:ext cx="103039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Rechteck 17">
            <a:extLst>
              <a:ext uri="{FF2B5EF4-FFF2-40B4-BE49-F238E27FC236}">
                <a16:creationId xmlns:a16="http://schemas.microsoft.com/office/drawing/2014/main" id="{547BB34D-F2E7-62B8-D919-64BBAC3723E3}"/>
              </a:ext>
            </a:extLst>
          </p:cNvPr>
          <p:cNvSpPr/>
          <p:nvPr/>
        </p:nvSpPr>
        <p:spPr>
          <a:xfrm>
            <a:off x="411140" y="1782177"/>
            <a:ext cx="918576" cy="18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Timeframe</a:t>
            </a: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A3E63AF5-9F5E-95D5-6180-0988AF58E0D8}"/>
              </a:ext>
            </a:extLst>
          </p:cNvPr>
          <p:cNvSpPr/>
          <p:nvPr/>
        </p:nvSpPr>
        <p:spPr>
          <a:xfrm>
            <a:off x="2296467" y="1860414"/>
            <a:ext cx="1495049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Short Run Dynamics</a:t>
            </a: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A1A67F1B-E3AD-966A-74FA-C42FC64ABA33}"/>
              </a:ext>
            </a:extLst>
          </p:cNvPr>
          <p:cNvSpPr/>
          <p:nvPr/>
        </p:nvSpPr>
        <p:spPr>
          <a:xfrm>
            <a:off x="8712197" y="1921320"/>
            <a:ext cx="1651001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Long Run Relationship</a:t>
            </a: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2B5C44F8-FDB0-B5C3-7AB6-DAAE91C82D6D}"/>
              </a:ext>
            </a:extLst>
          </p:cNvPr>
          <p:cNvSpPr/>
          <p:nvPr/>
        </p:nvSpPr>
        <p:spPr>
          <a:xfrm>
            <a:off x="5376297" y="1861070"/>
            <a:ext cx="1487262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Mid-term fluctuations</a:t>
            </a:r>
          </a:p>
        </p:txBody>
      </p:sp>
      <p:cxnSp>
        <p:nvCxnSpPr>
          <p:cNvPr id="22" name="Gerade Verbindung mit Pfeil 21">
            <a:extLst>
              <a:ext uri="{FF2B5EF4-FFF2-40B4-BE49-F238E27FC236}">
                <a16:creationId xmlns:a16="http://schemas.microsoft.com/office/drawing/2014/main" id="{886F986F-1ECF-7BA6-5F28-CF166D13E579}"/>
              </a:ext>
            </a:extLst>
          </p:cNvPr>
          <p:cNvCxnSpPr>
            <a:cxnSpLocks/>
          </p:cNvCxnSpPr>
          <p:nvPr/>
        </p:nvCxnSpPr>
        <p:spPr>
          <a:xfrm>
            <a:off x="778932" y="2260600"/>
            <a:ext cx="0" cy="36576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5" name="Rechteck 24">
            <a:extLst>
              <a:ext uri="{FF2B5EF4-FFF2-40B4-BE49-F238E27FC236}">
                <a16:creationId xmlns:a16="http://schemas.microsoft.com/office/drawing/2014/main" id="{B47AC8FF-7365-56DF-F93C-A4ED76F9C2F5}"/>
              </a:ext>
            </a:extLst>
          </p:cNvPr>
          <p:cNvSpPr/>
          <p:nvPr/>
        </p:nvSpPr>
        <p:spPr>
          <a:xfrm>
            <a:off x="257773" y="2048495"/>
            <a:ext cx="1329718" cy="18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Relationship Type</a:t>
            </a: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54583658-2C22-32C2-5D95-15BE6A433D72}"/>
              </a:ext>
            </a:extLst>
          </p:cNvPr>
          <p:cNvSpPr/>
          <p:nvPr/>
        </p:nvSpPr>
        <p:spPr>
          <a:xfrm rot="16200000">
            <a:off x="45155" y="2812203"/>
            <a:ext cx="655716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Linear</a:t>
            </a: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DE3E1C60-1677-B084-B1C5-91C284BE2062}"/>
              </a:ext>
            </a:extLst>
          </p:cNvPr>
          <p:cNvSpPr/>
          <p:nvPr/>
        </p:nvSpPr>
        <p:spPr>
          <a:xfrm rot="16200000">
            <a:off x="-84698" y="4912223"/>
            <a:ext cx="915424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Non-Linear</a:t>
            </a: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8556F8FC-7512-A6C0-D0F2-1756DF3991F1}"/>
              </a:ext>
            </a:extLst>
          </p:cNvPr>
          <p:cNvSpPr/>
          <p:nvPr/>
        </p:nvSpPr>
        <p:spPr>
          <a:xfrm>
            <a:off x="4928625" y="5330252"/>
            <a:ext cx="2373309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(US) Terms of Trade Effect</a:t>
            </a: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8E1ABFDC-72F9-38AC-5192-9E813F24C3A5}"/>
              </a:ext>
            </a:extLst>
          </p:cNvPr>
          <p:cNvSpPr/>
          <p:nvPr/>
        </p:nvSpPr>
        <p:spPr>
          <a:xfrm>
            <a:off x="411140" y="1482055"/>
            <a:ext cx="1110289" cy="18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Datafrequency</a:t>
            </a:r>
          </a:p>
        </p:txBody>
      </p:sp>
      <p:cxnSp>
        <p:nvCxnSpPr>
          <p:cNvPr id="31" name="Gerade Verbindung mit Pfeil 30">
            <a:extLst>
              <a:ext uri="{FF2B5EF4-FFF2-40B4-BE49-F238E27FC236}">
                <a16:creationId xmlns:a16="http://schemas.microsoft.com/office/drawing/2014/main" id="{192C12B1-A82B-DA2B-1B42-93D8F5E91563}"/>
              </a:ext>
            </a:extLst>
          </p:cNvPr>
          <p:cNvCxnSpPr/>
          <p:nvPr/>
        </p:nvCxnSpPr>
        <p:spPr>
          <a:xfrm>
            <a:off x="778932" y="1765243"/>
            <a:ext cx="103039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2" name="Rechteck 31">
            <a:extLst>
              <a:ext uri="{FF2B5EF4-FFF2-40B4-BE49-F238E27FC236}">
                <a16:creationId xmlns:a16="http://schemas.microsoft.com/office/drawing/2014/main" id="{E1C0A855-8002-6E58-4CE7-1A3A4E3BAFC1}"/>
              </a:ext>
            </a:extLst>
          </p:cNvPr>
          <p:cNvSpPr/>
          <p:nvPr/>
        </p:nvSpPr>
        <p:spPr>
          <a:xfrm>
            <a:off x="2275981" y="1464107"/>
            <a:ext cx="1536022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Daily, Weely, Monthly</a:t>
            </a: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CEC91CC7-79C2-687B-D6FE-9B94C5931958}"/>
              </a:ext>
            </a:extLst>
          </p:cNvPr>
          <p:cNvSpPr/>
          <p:nvPr/>
        </p:nvSpPr>
        <p:spPr>
          <a:xfrm>
            <a:off x="5435044" y="1464107"/>
            <a:ext cx="1329719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Monthly, Quarterly</a:t>
            </a: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23AAD51E-89CC-0CDE-667F-1D52B0CC7937}"/>
              </a:ext>
            </a:extLst>
          </p:cNvPr>
          <p:cNvSpPr/>
          <p:nvPr/>
        </p:nvSpPr>
        <p:spPr>
          <a:xfrm>
            <a:off x="8828065" y="1464107"/>
            <a:ext cx="1329719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Annually</a:t>
            </a: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1A21882D-84E7-42C9-52E2-F7F8ECCE1776}"/>
              </a:ext>
            </a:extLst>
          </p:cNvPr>
          <p:cNvSpPr/>
          <p:nvPr/>
        </p:nvSpPr>
        <p:spPr>
          <a:xfrm>
            <a:off x="5253809" y="4270092"/>
            <a:ext cx="1435102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Expectation Effects</a:t>
            </a:r>
          </a:p>
        </p:txBody>
      </p:sp>
      <p:cxnSp>
        <p:nvCxnSpPr>
          <p:cNvPr id="37" name="Gewinkelte Verbindung 36">
            <a:extLst>
              <a:ext uri="{FF2B5EF4-FFF2-40B4-BE49-F238E27FC236}">
                <a16:creationId xmlns:a16="http://schemas.microsoft.com/office/drawing/2014/main" id="{772846A8-47BF-C5BD-23BD-90268CF4F83D}"/>
              </a:ext>
            </a:extLst>
          </p:cNvPr>
          <p:cNvCxnSpPr>
            <a:cxnSpLocks/>
            <a:endCxn id="13" idx="1"/>
          </p:cNvCxnSpPr>
          <p:nvPr/>
        </p:nvCxnSpPr>
        <p:spPr>
          <a:xfrm rot="16200000" flipH="1">
            <a:off x="5408456" y="4503239"/>
            <a:ext cx="174014" cy="15451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2" name="Gerade Verbindung 41">
            <a:extLst>
              <a:ext uri="{FF2B5EF4-FFF2-40B4-BE49-F238E27FC236}">
                <a16:creationId xmlns:a16="http://schemas.microsoft.com/office/drawing/2014/main" id="{1E45963D-D85B-6D20-9F28-0C285372AB9E}"/>
              </a:ext>
            </a:extLst>
          </p:cNvPr>
          <p:cNvCxnSpPr/>
          <p:nvPr/>
        </p:nvCxnSpPr>
        <p:spPr>
          <a:xfrm>
            <a:off x="4500492" y="1534937"/>
            <a:ext cx="0" cy="4287483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Gerade Verbindung 42">
            <a:extLst>
              <a:ext uri="{FF2B5EF4-FFF2-40B4-BE49-F238E27FC236}">
                <a16:creationId xmlns:a16="http://schemas.microsoft.com/office/drawing/2014/main" id="{ADE954ED-9BD3-5B5F-E4F3-05EEC35F98B1}"/>
              </a:ext>
            </a:extLst>
          </p:cNvPr>
          <p:cNvCxnSpPr/>
          <p:nvPr/>
        </p:nvCxnSpPr>
        <p:spPr>
          <a:xfrm>
            <a:off x="7853290" y="1529117"/>
            <a:ext cx="0" cy="4287483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4" name="Gerade Verbindung 43">
            <a:extLst>
              <a:ext uri="{FF2B5EF4-FFF2-40B4-BE49-F238E27FC236}">
                <a16:creationId xmlns:a16="http://schemas.microsoft.com/office/drawing/2014/main" id="{09F5D47B-6B09-7CFC-5444-D852D1F50422}"/>
              </a:ext>
            </a:extLst>
          </p:cNvPr>
          <p:cNvCxnSpPr>
            <a:cxnSpLocks/>
          </p:cNvCxnSpPr>
          <p:nvPr/>
        </p:nvCxnSpPr>
        <p:spPr>
          <a:xfrm>
            <a:off x="265012" y="3909431"/>
            <a:ext cx="10690855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1" name="Rechteck 50">
            <a:extLst>
              <a:ext uri="{FF2B5EF4-FFF2-40B4-BE49-F238E27FC236}">
                <a16:creationId xmlns:a16="http://schemas.microsoft.com/office/drawing/2014/main" id="{2B0B8714-4735-3D93-DEE2-39EEDF4D561B}"/>
              </a:ext>
            </a:extLst>
          </p:cNvPr>
          <p:cNvSpPr/>
          <p:nvPr/>
        </p:nvSpPr>
        <p:spPr>
          <a:xfrm>
            <a:off x="9046221" y="4303966"/>
            <a:ext cx="1605757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Commodity Currencies</a:t>
            </a:r>
          </a:p>
        </p:txBody>
      </p:sp>
      <p:cxnSp>
        <p:nvCxnSpPr>
          <p:cNvPr id="52" name="Gewinkelte Verbindung 51">
            <a:extLst>
              <a:ext uri="{FF2B5EF4-FFF2-40B4-BE49-F238E27FC236}">
                <a16:creationId xmlns:a16="http://schemas.microsoft.com/office/drawing/2014/main" id="{F71AE3F4-D833-EE71-8CFE-4CED6B06EF3D}"/>
              </a:ext>
            </a:extLst>
          </p:cNvPr>
          <p:cNvCxnSpPr>
            <a:cxnSpLocks/>
            <a:endCxn id="51" idx="1"/>
          </p:cNvCxnSpPr>
          <p:nvPr/>
        </p:nvCxnSpPr>
        <p:spPr>
          <a:xfrm rot="16200000" flipH="1">
            <a:off x="8881957" y="4247702"/>
            <a:ext cx="174014" cy="15451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Rechteck 1">
            <a:extLst>
              <a:ext uri="{FF2B5EF4-FFF2-40B4-BE49-F238E27FC236}">
                <a16:creationId xmlns:a16="http://schemas.microsoft.com/office/drawing/2014/main" id="{0499263F-B069-F131-A5DE-5772AE971F66}"/>
              </a:ext>
            </a:extLst>
          </p:cNvPr>
          <p:cNvSpPr/>
          <p:nvPr/>
        </p:nvSpPr>
        <p:spPr>
          <a:xfrm>
            <a:off x="5572720" y="4891295"/>
            <a:ext cx="1667844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Dominant Pricing Effect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4F559678-A189-0726-673D-DE1DA2DC70F1}"/>
              </a:ext>
            </a:extLst>
          </p:cNvPr>
          <p:cNvSpPr/>
          <p:nvPr/>
        </p:nvSpPr>
        <p:spPr>
          <a:xfrm>
            <a:off x="2174559" y="3094996"/>
            <a:ext cx="1728000" cy="24708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Present Value Approach</a:t>
            </a: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D6455752-85AB-249B-351F-AA1A075CC80E}"/>
              </a:ext>
            </a:extLst>
          </p:cNvPr>
          <p:cNvSpPr/>
          <p:nvPr/>
        </p:nvSpPr>
        <p:spPr>
          <a:xfrm>
            <a:off x="1735700" y="5330252"/>
            <a:ext cx="2401991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Financialization Effects</a:t>
            </a: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E6F90299-E4E6-4840-3DEA-02C2F4B47B65}"/>
              </a:ext>
            </a:extLst>
          </p:cNvPr>
          <p:cNvSpPr/>
          <p:nvPr/>
        </p:nvSpPr>
        <p:spPr>
          <a:xfrm>
            <a:off x="2803691" y="4725778"/>
            <a:ext cx="1332000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Theory of Storage</a:t>
            </a: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9476D061-20A1-950A-6E01-BA9074430BB2}"/>
              </a:ext>
            </a:extLst>
          </p:cNvPr>
          <p:cNvSpPr/>
          <p:nvPr/>
        </p:nvSpPr>
        <p:spPr>
          <a:xfrm>
            <a:off x="2445691" y="5028015"/>
            <a:ext cx="1692000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Expected Risk Premium</a:t>
            </a:r>
          </a:p>
        </p:txBody>
      </p:sp>
      <p:cxnSp>
        <p:nvCxnSpPr>
          <p:cNvPr id="38" name="Gewinkelte Verbindung 37">
            <a:extLst>
              <a:ext uri="{FF2B5EF4-FFF2-40B4-BE49-F238E27FC236}">
                <a16:creationId xmlns:a16="http://schemas.microsoft.com/office/drawing/2014/main" id="{2B698803-F44F-92D9-D744-F18E762AE8BD}"/>
              </a:ext>
            </a:extLst>
          </p:cNvPr>
          <p:cNvCxnSpPr>
            <a:cxnSpLocks/>
            <a:endCxn id="24" idx="1"/>
          </p:cNvCxnSpPr>
          <p:nvPr/>
        </p:nvCxnSpPr>
        <p:spPr>
          <a:xfrm>
            <a:off x="1867460" y="4504772"/>
            <a:ext cx="936231" cy="329006"/>
          </a:xfrm>
          <a:prstGeom prst="bentConnector3">
            <a:avLst>
              <a:gd name="adj1" fmla="val -757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1" name="Gewinkelte Verbindung 40">
            <a:extLst>
              <a:ext uri="{FF2B5EF4-FFF2-40B4-BE49-F238E27FC236}">
                <a16:creationId xmlns:a16="http://schemas.microsoft.com/office/drawing/2014/main" id="{F2E07749-C7C5-D03A-BAC6-282D39E61387}"/>
              </a:ext>
            </a:extLst>
          </p:cNvPr>
          <p:cNvCxnSpPr>
            <a:cxnSpLocks/>
            <a:endCxn id="36" idx="1"/>
          </p:cNvCxnSpPr>
          <p:nvPr/>
        </p:nvCxnSpPr>
        <p:spPr>
          <a:xfrm rot="16200000" flipH="1">
            <a:off x="1829635" y="4519958"/>
            <a:ext cx="645599" cy="58651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8" name="Rechteck 47">
            <a:extLst>
              <a:ext uri="{FF2B5EF4-FFF2-40B4-BE49-F238E27FC236}">
                <a16:creationId xmlns:a16="http://schemas.microsoft.com/office/drawing/2014/main" id="{06396FB7-F7AD-F734-8467-C7B76302F764}"/>
              </a:ext>
            </a:extLst>
          </p:cNvPr>
          <p:cNvSpPr/>
          <p:nvPr/>
        </p:nvSpPr>
        <p:spPr>
          <a:xfrm rot="16200000">
            <a:off x="195369" y="4852086"/>
            <a:ext cx="1800000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Spot – Future Divergence</a:t>
            </a:r>
          </a:p>
        </p:txBody>
      </p:sp>
      <p:sp>
        <p:nvSpPr>
          <p:cNvPr id="49" name="Geschweifte Klammer links 48">
            <a:extLst>
              <a:ext uri="{FF2B5EF4-FFF2-40B4-BE49-F238E27FC236}">
                <a16:creationId xmlns:a16="http://schemas.microsoft.com/office/drawing/2014/main" id="{147954C5-3C02-AC94-7CD9-4A825155F3B8}"/>
              </a:ext>
            </a:extLst>
          </p:cNvPr>
          <p:cNvSpPr/>
          <p:nvPr/>
        </p:nvSpPr>
        <p:spPr>
          <a:xfrm>
            <a:off x="1255042" y="4270090"/>
            <a:ext cx="419165" cy="1276161"/>
          </a:xfrm>
          <a:prstGeom prst="leftBrace">
            <a:avLst>
              <a:gd name="adj1" fmla="val 8333"/>
              <a:gd name="adj2" fmla="val 5150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3605E380-74E6-9316-4410-2F9D1B95C05F}"/>
              </a:ext>
            </a:extLst>
          </p:cNvPr>
          <p:cNvSpPr/>
          <p:nvPr/>
        </p:nvSpPr>
        <p:spPr>
          <a:xfrm>
            <a:off x="9076676" y="4615866"/>
            <a:ext cx="1605757" cy="344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Business Cycle</a:t>
            </a:r>
          </a:p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and Uncertainty</a:t>
            </a:r>
          </a:p>
        </p:txBody>
      </p:sp>
      <p:cxnSp>
        <p:nvCxnSpPr>
          <p:cNvPr id="53" name="Gewinkelte Verbindung 52">
            <a:extLst>
              <a:ext uri="{FF2B5EF4-FFF2-40B4-BE49-F238E27FC236}">
                <a16:creationId xmlns:a16="http://schemas.microsoft.com/office/drawing/2014/main" id="{34006D93-F4B6-B129-FE04-761CFA0687E2}"/>
              </a:ext>
            </a:extLst>
          </p:cNvPr>
          <p:cNvCxnSpPr>
            <a:cxnSpLocks/>
            <a:endCxn id="50" idx="1"/>
          </p:cNvCxnSpPr>
          <p:nvPr/>
        </p:nvCxnSpPr>
        <p:spPr>
          <a:xfrm rot="16200000" flipH="1">
            <a:off x="8709178" y="4420478"/>
            <a:ext cx="550026" cy="18497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6" name="Rechteck 55">
            <a:extLst>
              <a:ext uri="{FF2B5EF4-FFF2-40B4-BE49-F238E27FC236}">
                <a16:creationId xmlns:a16="http://schemas.microsoft.com/office/drawing/2014/main" id="{9E20CBD6-F4B1-0104-E919-F4240ABA3159}"/>
              </a:ext>
            </a:extLst>
          </p:cNvPr>
          <p:cNvSpPr/>
          <p:nvPr/>
        </p:nvSpPr>
        <p:spPr>
          <a:xfrm>
            <a:off x="9439387" y="3104994"/>
            <a:ext cx="1462885" cy="2196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Fundamental Shock</a:t>
            </a:r>
          </a:p>
        </p:txBody>
      </p:sp>
      <p:cxnSp>
        <p:nvCxnSpPr>
          <p:cNvPr id="57" name="Gewinkelte Verbindung 56">
            <a:extLst>
              <a:ext uri="{FF2B5EF4-FFF2-40B4-BE49-F238E27FC236}">
                <a16:creationId xmlns:a16="http://schemas.microsoft.com/office/drawing/2014/main" id="{485EF787-AA33-D2DA-E051-30ADFDE4B0EF}"/>
              </a:ext>
            </a:extLst>
          </p:cNvPr>
          <p:cNvCxnSpPr>
            <a:cxnSpLocks/>
            <a:endCxn id="56" idx="1"/>
          </p:cNvCxnSpPr>
          <p:nvPr/>
        </p:nvCxnSpPr>
        <p:spPr>
          <a:xfrm>
            <a:off x="9017670" y="3000571"/>
            <a:ext cx="421717" cy="214223"/>
          </a:xfrm>
          <a:prstGeom prst="bentConnector3">
            <a:avLst>
              <a:gd name="adj1" fmla="val 5404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0" name="Rechteck 59">
            <a:extLst>
              <a:ext uri="{FF2B5EF4-FFF2-40B4-BE49-F238E27FC236}">
                <a16:creationId xmlns:a16="http://schemas.microsoft.com/office/drawing/2014/main" id="{EFFD1A49-BDA2-BEC0-8F43-22EC830F6F55}"/>
              </a:ext>
            </a:extLst>
          </p:cNvPr>
          <p:cNvSpPr/>
          <p:nvPr/>
        </p:nvSpPr>
        <p:spPr>
          <a:xfrm rot="16200000">
            <a:off x="7682962" y="3075808"/>
            <a:ext cx="1199565" cy="3610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Adaptive Market Hypothesis</a:t>
            </a:r>
          </a:p>
        </p:txBody>
      </p:sp>
      <p:sp>
        <p:nvSpPr>
          <p:cNvPr id="61" name="Geschweifte Klammer links 60">
            <a:extLst>
              <a:ext uri="{FF2B5EF4-FFF2-40B4-BE49-F238E27FC236}">
                <a16:creationId xmlns:a16="http://schemas.microsoft.com/office/drawing/2014/main" id="{B0A9FC46-336A-35C6-E3AF-E92310A9D5AA}"/>
              </a:ext>
            </a:extLst>
          </p:cNvPr>
          <p:cNvSpPr/>
          <p:nvPr/>
        </p:nvSpPr>
        <p:spPr>
          <a:xfrm>
            <a:off x="8482015" y="2792410"/>
            <a:ext cx="419165" cy="858750"/>
          </a:xfrm>
          <a:prstGeom prst="leftBrace">
            <a:avLst>
              <a:gd name="adj1" fmla="val 8333"/>
              <a:gd name="adj2" fmla="val 50973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cxnSp>
        <p:nvCxnSpPr>
          <p:cNvPr id="62" name="Gewinkelte Verbindung 61">
            <a:extLst>
              <a:ext uri="{FF2B5EF4-FFF2-40B4-BE49-F238E27FC236}">
                <a16:creationId xmlns:a16="http://schemas.microsoft.com/office/drawing/2014/main" id="{1A9CA3B1-89DE-C524-1B4E-C75799883A8B}"/>
              </a:ext>
            </a:extLst>
          </p:cNvPr>
          <p:cNvCxnSpPr>
            <a:cxnSpLocks/>
            <a:stCxn id="66" idx="1"/>
            <a:endCxn id="6" idx="1"/>
          </p:cNvCxnSpPr>
          <p:nvPr/>
        </p:nvCxnSpPr>
        <p:spPr>
          <a:xfrm flipV="1">
            <a:off x="8164972" y="4113332"/>
            <a:ext cx="581564" cy="75826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6" name="Geschweifte Klammer links 65">
            <a:extLst>
              <a:ext uri="{FF2B5EF4-FFF2-40B4-BE49-F238E27FC236}">
                <a16:creationId xmlns:a16="http://schemas.microsoft.com/office/drawing/2014/main" id="{4217CD35-2855-C3CC-880E-22CB9DD435FC}"/>
              </a:ext>
            </a:extLst>
          </p:cNvPr>
          <p:cNvSpPr/>
          <p:nvPr/>
        </p:nvSpPr>
        <p:spPr>
          <a:xfrm rot="10800000">
            <a:off x="7936049" y="4270091"/>
            <a:ext cx="228923" cy="1276159"/>
          </a:xfrm>
          <a:prstGeom prst="leftBrace">
            <a:avLst>
              <a:gd name="adj1" fmla="val 8333"/>
              <a:gd name="adj2" fmla="val 52866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73" name="Rechteck 72">
            <a:extLst>
              <a:ext uri="{FF2B5EF4-FFF2-40B4-BE49-F238E27FC236}">
                <a16:creationId xmlns:a16="http://schemas.microsoft.com/office/drawing/2014/main" id="{EDA54FD2-EE6F-C979-CD6E-D8152BCD9185}"/>
              </a:ext>
            </a:extLst>
          </p:cNvPr>
          <p:cNvSpPr/>
          <p:nvPr/>
        </p:nvSpPr>
        <p:spPr>
          <a:xfrm>
            <a:off x="9435760" y="3431560"/>
            <a:ext cx="1462879" cy="2196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Central Bank Policy</a:t>
            </a:r>
          </a:p>
        </p:txBody>
      </p:sp>
      <p:cxnSp>
        <p:nvCxnSpPr>
          <p:cNvPr id="85" name="Gewinkelte Verbindung 84">
            <a:extLst>
              <a:ext uri="{FF2B5EF4-FFF2-40B4-BE49-F238E27FC236}">
                <a16:creationId xmlns:a16="http://schemas.microsoft.com/office/drawing/2014/main" id="{DA49C920-6FA4-94C4-83B4-BF1BCA9E7272}"/>
              </a:ext>
            </a:extLst>
          </p:cNvPr>
          <p:cNvCxnSpPr>
            <a:cxnSpLocks/>
            <a:stCxn id="5" idx="3"/>
            <a:endCxn id="11" idx="1"/>
          </p:cNvCxnSpPr>
          <p:nvPr/>
        </p:nvCxnSpPr>
        <p:spPr>
          <a:xfrm flipV="1">
            <a:off x="4123594" y="3251949"/>
            <a:ext cx="1590607" cy="113590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3" name="Gerade Verbindung mit Pfeil 102">
            <a:extLst>
              <a:ext uri="{FF2B5EF4-FFF2-40B4-BE49-F238E27FC236}">
                <a16:creationId xmlns:a16="http://schemas.microsoft.com/office/drawing/2014/main" id="{C2517137-D61D-2942-2436-5D8BCF58DB4E}"/>
              </a:ext>
            </a:extLst>
          </p:cNvPr>
          <p:cNvCxnSpPr>
            <a:stCxn id="11" idx="3"/>
            <a:endCxn id="60" idx="0"/>
          </p:cNvCxnSpPr>
          <p:nvPr/>
        </p:nvCxnSpPr>
        <p:spPr>
          <a:xfrm>
            <a:off x="6477794" y="3251949"/>
            <a:ext cx="1624408" cy="440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7" name="Gerade Verbindung mit Pfeil 106">
            <a:extLst>
              <a:ext uri="{FF2B5EF4-FFF2-40B4-BE49-F238E27FC236}">
                <a16:creationId xmlns:a16="http://schemas.microsoft.com/office/drawing/2014/main" id="{512ACE4B-D48F-906A-E3F8-4C90CC6A8713}"/>
              </a:ext>
            </a:extLst>
          </p:cNvPr>
          <p:cNvCxnSpPr>
            <a:cxnSpLocks/>
            <a:stCxn id="5" idx="3"/>
            <a:endCxn id="35" idx="1"/>
          </p:cNvCxnSpPr>
          <p:nvPr/>
        </p:nvCxnSpPr>
        <p:spPr>
          <a:xfrm flipV="1">
            <a:off x="4123594" y="4378092"/>
            <a:ext cx="1130215" cy="976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1" name="Gewinkelte Verbindung 110">
            <a:extLst>
              <a:ext uri="{FF2B5EF4-FFF2-40B4-BE49-F238E27FC236}">
                <a16:creationId xmlns:a16="http://schemas.microsoft.com/office/drawing/2014/main" id="{0C445089-6687-256E-1F93-325EC94782C5}"/>
              </a:ext>
            </a:extLst>
          </p:cNvPr>
          <p:cNvCxnSpPr>
            <a:cxnSpLocks/>
            <a:endCxn id="2" idx="1"/>
          </p:cNvCxnSpPr>
          <p:nvPr/>
        </p:nvCxnSpPr>
        <p:spPr>
          <a:xfrm rot="16200000" flipH="1">
            <a:off x="5242559" y="4669133"/>
            <a:ext cx="505807" cy="15451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2" name="Gewinkelte Verbindung 121">
            <a:extLst>
              <a:ext uri="{FF2B5EF4-FFF2-40B4-BE49-F238E27FC236}">
                <a16:creationId xmlns:a16="http://schemas.microsoft.com/office/drawing/2014/main" id="{894CE1E4-0E53-6E8A-4ACC-03CD0785B000}"/>
              </a:ext>
            </a:extLst>
          </p:cNvPr>
          <p:cNvCxnSpPr>
            <a:cxnSpLocks/>
            <a:endCxn id="73" idx="1"/>
          </p:cNvCxnSpPr>
          <p:nvPr/>
        </p:nvCxnSpPr>
        <p:spPr>
          <a:xfrm rot="16200000" flipH="1">
            <a:off x="8975556" y="3081155"/>
            <a:ext cx="524729" cy="39568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495497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13000"/>
            <a:lum bright="30000" contrast="45000"/>
          </a:blip>
          <a:srcRect/>
          <a:stretch>
            <a:fillRect l="50000" t="-28000" r="-35000" b="-13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0B86A40-CC4A-F893-4962-D869B85835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273A9A3D-A2C8-0573-AD47-55CA13D2DF59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7" name="Grafik 6" descr="Ein Bild, das Text, Schrift, Screenshot, Grafiken enthält.&#10;&#10;Automatisch generierte Beschreibung">
            <a:extLst>
              <a:ext uri="{FF2B5EF4-FFF2-40B4-BE49-F238E27FC236}">
                <a16:creationId xmlns:a16="http://schemas.microsoft.com/office/drawing/2014/main" id="{3D43F778-3670-5763-3D15-15520B8093D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64271" y="-67456"/>
            <a:ext cx="1771272" cy="885636"/>
          </a:xfrm>
          <a:prstGeom prst="rect">
            <a:avLst/>
          </a:prstGeom>
        </p:spPr>
      </p:pic>
      <p:sp>
        <p:nvSpPr>
          <p:cNvPr id="3" name="Rechteck 2">
            <a:extLst>
              <a:ext uri="{FF2B5EF4-FFF2-40B4-BE49-F238E27FC236}">
                <a16:creationId xmlns:a16="http://schemas.microsoft.com/office/drawing/2014/main" id="{25EC4B36-7CB4-55D3-844F-E9E04B22A35B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solidFill>
            <a:srgbClr val="00677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3600" dirty="0">
                <a:latin typeface="Arial" panose="020B0604020202020204" pitchFamily="34" charset="0"/>
                <a:cs typeface="Arial" panose="020B0604020202020204" pitchFamily="34" charset="0"/>
              </a:rPr>
              <a:t>Chapter 3)</a:t>
            </a:r>
          </a:p>
        </p:txBody>
      </p:sp>
      <p:sp>
        <p:nvSpPr>
          <p:cNvPr id="6" name="Abgerundetes Rechteck 5">
            <a:extLst>
              <a:ext uri="{FF2B5EF4-FFF2-40B4-BE49-F238E27FC236}">
                <a16:creationId xmlns:a16="http://schemas.microsoft.com/office/drawing/2014/main" id="{0B7DE48D-0905-4FF6-EE4B-25F2631EDCAC}"/>
              </a:ext>
            </a:extLst>
          </p:cNvPr>
          <p:cNvSpPr/>
          <p:nvPr/>
        </p:nvSpPr>
        <p:spPr>
          <a:xfrm>
            <a:off x="2821153" y="2996762"/>
            <a:ext cx="5892623" cy="486650"/>
          </a:xfrm>
          <a:prstGeom prst="roundRect">
            <a:avLst/>
          </a:prstGeom>
          <a:solidFill>
            <a:srgbClr val="00677C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3200" b="1">
                <a:latin typeface="Arial" panose="020B0604020202020204" pitchFamily="34" charset="0"/>
                <a:cs typeface="Arial" panose="020B0604020202020204" pitchFamily="34" charset="0"/>
              </a:rPr>
              <a:t>Theoretical Framework</a:t>
            </a:r>
            <a:endParaRPr lang="de-DE" sz="14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550805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38559F-668E-4622-25B4-5E8DF49067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8" name="Gerade Verbindung 37">
            <a:extLst>
              <a:ext uri="{FF2B5EF4-FFF2-40B4-BE49-F238E27FC236}">
                <a16:creationId xmlns:a16="http://schemas.microsoft.com/office/drawing/2014/main" id="{E7C7C535-5ABA-C8D3-4DBE-69841A10BAC8}"/>
              </a:ext>
            </a:extLst>
          </p:cNvPr>
          <p:cNvCxnSpPr>
            <a:cxnSpLocks/>
          </p:cNvCxnSpPr>
          <p:nvPr/>
        </p:nvCxnSpPr>
        <p:spPr>
          <a:xfrm>
            <a:off x="222029" y="4688326"/>
            <a:ext cx="9756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Rechteck 5">
            <a:extLst>
              <a:ext uri="{FF2B5EF4-FFF2-40B4-BE49-F238E27FC236}">
                <a16:creationId xmlns:a16="http://schemas.microsoft.com/office/drawing/2014/main" id="{73EBEBD3-61E4-A52F-5E12-0CD69AEB0132}"/>
              </a:ext>
            </a:extLst>
          </p:cNvPr>
          <p:cNvSpPr/>
          <p:nvPr/>
        </p:nvSpPr>
        <p:spPr>
          <a:xfrm>
            <a:off x="4010060" y="4778337"/>
            <a:ext cx="2102424" cy="45052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Real Energy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commodity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prices</a:t>
            </a:r>
            <a:endParaRPr lang="de-DE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F289FE3B-8FB7-30AB-738E-22FF5C48A507}"/>
              </a:ext>
            </a:extLst>
          </p:cNvPr>
          <p:cNvSpPr/>
          <p:nvPr/>
        </p:nvSpPr>
        <p:spPr>
          <a:xfrm>
            <a:off x="7761879" y="3732141"/>
            <a:ext cx="1922827" cy="39166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Real exchange rates in </a:t>
            </a:r>
            <a:r>
              <a:rPr lang="de-DE" sz="11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external </a:t>
            </a:r>
            <a:r>
              <a:rPr lang="de-DE" sz="1100" b="1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terms</a:t>
            </a:r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CPI/PPI</a:t>
            </a:r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01F86257-349A-21C4-CD28-34331020D005}"/>
              </a:ext>
            </a:extLst>
          </p:cNvPr>
          <p:cNvCxnSpPr>
            <a:cxnSpLocks/>
            <a:stCxn id="75" idx="3"/>
            <a:endCxn id="8" idx="1"/>
          </p:cNvCxnSpPr>
          <p:nvPr/>
        </p:nvCxnSpPr>
        <p:spPr>
          <a:xfrm flipV="1">
            <a:off x="7502548" y="3927972"/>
            <a:ext cx="259331" cy="21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Rechteck 11">
            <a:extLst>
              <a:ext uri="{FF2B5EF4-FFF2-40B4-BE49-F238E27FC236}">
                <a16:creationId xmlns:a16="http://schemas.microsoft.com/office/drawing/2014/main" id="{85B157F5-10D5-DAAD-F75D-4C2F2CDC03D3}"/>
              </a:ext>
            </a:extLst>
          </p:cNvPr>
          <p:cNvSpPr/>
          <p:nvPr/>
        </p:nvSpPr>
        <p:spPr>
          <a:xfrm>
            <a:off x="7756589" y="4215974"/>
            <a:ext cx="1922827" cy="78355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Real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exchange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rates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in </a:t>
            </a:r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internal </a:t>
            </a:r>
            <a:r>
              <a:rPr lang="de-DE" sz="11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terms</a:t>
            </a:r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de-DE" sz="11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terms</a:t>
            </a:r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of trade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Ratio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tradable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and non-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tradable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goods</a:t>
            </a:r>
            <a:endParaRPr lang="de-DE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ACD32FAD-24E8-23D4-09CE-3013A5264E7E}"/>
              </a:ext>
            </a:extLst>
          </p:cNvPr>
          <p:cNvSpPr/>
          <p:nvPr/>
        </p:nvSpPr>
        <p:spPr>
          <a:xfrm>
            <a:off x="683171" y="5432471"/>
            <a:ext cx="2332121" cy="45052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Spot </a:t>
            </a:r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or</a:t>
            </a:r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Futures Markets (prices)</a:t>
            </a:r>
          </a:p>
        </p:txBody>
      </p: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9476DFE7-E92B-C4CD-4498-D54F8FEF5A84}"/>
              </a:ext>
            </a:extLst>
          </p:cNvPr>
          <p:cNvCxnSpPr>
            <a:cxnSpLocks/>
            <a:stCxn id="30" idx="2"/>
            <a:endCxn id="13" idx="0"/>
          </p:cNvCxnSpPr>
          <p:nvPr/>
        </p:nvCxnSpPr>
        <p:spPr>
          <a:xfrm flipH="1">
            <a:off x="1849232" y="5226083"/>
            <a:ext cx="1" cy="2063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Rechteck 28">
                <a:extLst>
                  <a:ext uri="{FF2B5EF4-FFF2-40B4-BE49-F238E27FC236}">
                    <a16:creationId xmlns:a16="http://schemas.microsoft.com/office/drawing/2014/main" id="{7A3A3E26-C1D3-A476-7FC0-CB985ABFB14C}"/>
                  </a:ext>
                </a:extLst>
              </p:cNvPr>
              <p:cNvSpPr/>
              <p:nvPr/>
            </p:nvSpPr>
            <p:spPr>
              <a:xfrm>
                <a:off x="681477" y="3209671"/>
                <a:ext cx="2330959" cy="87034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10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Nominal Exchange Rates </a:t>
                </a:r>
                <a:r>
                  <a:rPr lang="de-DE" sz="1100" b="1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(NER)</a:t>
                </a:r>
              </a:p>
              <a:p>
                <a:pPr algn="ctr"/>
                <a:endParaRPr lang="de-DE" sz="1100" b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𝑵𝑬𝑹</m:t>
                          </m:r>
                        </m:e>
                        <m:sub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𝒄𝒐𝒖𝒏𝒕𝒓𝒚</m:t>
                          </m:r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 </m:t>
                          </m:r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𝒊</m:t>
                          </m:r>
                        </m:sub>
                      </m:sSub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= </m:t>
                      </m:r>
                      <m:f>
                        <m:fPr>
                          <m:ctrlPr>
                            <a:rPr lang="de-DE" sz="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sz="8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𝑃𝑟𝑖𝑐𝑒</m:t>
                              </m:r>
                            </m:e>
                            <m:sub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𝑐𝑜𝑢𝑛𝑡𝑟𝑦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 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𝑖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de-DE" sz="8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de-DE" sz="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𝑃𝑟𝑖𝑐𝑒</m:t>
                              </m:r>
                            </m:e>
                            <m:sub>
                              <m:r>
                                <a:rPr lang="de-DE" sz="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𝑐𝑜𝑢𝑛𝑡𝑟𝑦</m:t>
                              </m:r>
                              <m:r>
                                <a:rPr lang="de-DE" sz="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 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𝑗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de-DE" sz="8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29" name="Rechteck 28">
                <a:extLst>
                  <a:ext uri="{FF2B5EF4-FFF2-40B4-BE49-F238E27FC236}">
                    <a16:creationId xmlns:a16="http://schemas.microsoft.com/office/drawing/2014/main" id="{7A3A3E26-C1D3-A476-7FC0-CB985ABFB14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1477" y="3209671"/>
                <a:ext cx="2330959" cy="87034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Rechteck 29">
            <a:extLst>
              <a:ext uri="{FF2B5EF4-FFF2-40B4-BE49-F238E27FC236}">
                <a16:creationId xmlns:a16="http://schemas.microsoft.com/office/drawing/2014/main" id="{37A69D8F-5662-E8F0-40A0-6AF2855D9D8D}"/>
              </a:ext>
            </a:extLst>
          </p:cNvPr>
          <p:cNvSpPr/>
          <p:nvPr/>
        </p:nvSpPr>
        <p:spPr>
          <a:xfrm>
            <a:off x="683172" y="4775560"/>
            <a:ext cx="2332121" cy="45052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Nominal Energy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commodity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prices</a:t>
            </a:r>
            <a:endParaRPr lang="de-DE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4" name="Gerade Verbindung mit Pfeil 33">
            <a:extLst>
              <a:ext uri="{FF2B5EF4-FFF2-40B4-BE49-F238E27FC236}">
                <a16:creationId xmlns:a16="http://schemas.microsoft.com/office/drawing/2014/main" id="{50CD1860-0A48-293B-D7AB-C8BFB826EE74}"/>
              </a:ext>
            </a:extLst>
          </p:cNvPr>
          <p:cNvCxnSpPr>
            <a:cxnSpLocks/>
            <a:stCxn id="29" idx="3"/>
          </p:cNvCxnSpPr>
          <p:nvPr/>
        </p:nvCxnSpPr>
        <p:spPr>
          <a:xfrm>
            <a:off x="3012436" y="3644844"/>
            <a:ext cx="504000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2" name="Gerade Verbindung mit Pfeil 41">
            <a:extLst>
              <a:ext uri="{FF2B5EF4-FFF2-40B4-BE49-F238E27FC236}">
                <a16:creationId xmlns:a16="http://schemas.microsoft.com/office/drawing/2014/main" id="{EBA84D3F-E99E-C91A-2ED1-359A23F5FD92}"/>
              </a:ext>
            </a:extLst>
          </p:cNvPr>
          <p:cNvCxnSpPr>
            <a:cxnSpLocks/>
          </p:cNvCxnSpPr>
          <p:nvPr/>
        </p:nvCxnSpPr>
        <p:spPr>
          <a:xfrm flipV="1">
            <a:off x="3015293" y="5022042"/>
            <a:ext cx="532607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Gerade Verbindung mit Pfeil 42">
            <a:extLst>
              <a:ext uri="{FF2B5EF4-FFF2-40B4-BE49-F238E27FC236}">
                <a16:creationId xmlns:a16="http://schemas.microsoft.com/office/drawing/2014/main" id="{50EB06B2-8C6F-BA12-1431-DBFA136F6098}"/>
              </a:ext>
            </a:extLst>
          </p:cNvPr>
          <p:cNvCxnSpPr>
            <a:cxnSpLocks/>
            <a:endCxn id="5" idx="1"/>
          </p:cNvCxnSpPr>
          <p:nvPr/>
        </p:nvCxnSpPr>
        <p:spPr>
          <a:xfrm>
            <a:off x="3766845" y="3648479"/>
            <a:ext cx="24321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4" name="Gerade Verbindung mit Pfeil 43">
            <a:extLst>
              <a:ext uri="{FF2B5EF4-FFF2-40B4-BE49-F238E27FC236}">
                <a16:creationId xmlns:a16="http://schemas.microsoft.com/office/drawing/2014/main" id="{42C41811-6436-6937-DB44-58904A364F53}"/>
              </a:ext>
            </a:extLst>
          </p:cNvPr>
          <p:cNvCxnSpPr>
            <a:cxnSpLocks/>
            <a:endCxn id="6" idx="1"/>
          </p:cNvCxnSpPr>
          <p:nvPr/>
        </p:nvCxnSpPr>
        <p:spPr>
          <a:xfrm>
            <a:off x="3763901" y="5003599"/>
            <a:ext cx="24615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6" name="Rechteck 45">
                <a:extLst>
                  <a:ext uri="{FF2B5EF4-FFF2-40B4-BE49-F238E27FC236}">
                    <a16:creationId xmlns:a16="http://schemas.microsoft.com/office/drawing/2014/main" id="{78EDB320-7B77-2427-52B9-89AC9203D682}"/>
                  </a:ext>
                </a:extLst>
              </p:cNvPr>
              <p:cNvSpPr/>
              <p:nvPr/>
            </p:nvSpPr>
            <p:spPr>
              <a:xfrm>
                <a:off x="4259717" y="1661181"/>
                <a:ext cx="2695846" cy="922464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10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Real </a:t>
                </a:r>
                <a:r>
                  <a:rPr lang="de-DE" sz="1100" err="1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Effective</a:t>
                </a:r>
                <a:r>
                  <a:rPr lang="de-DE" sz="110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Exchange Rates </a:t>
                </a:r>
                <a:r>
                  <a:rPr lang="de-DE" sz="1100" b="1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(REER)</a:t>
                </a:r>
              </a:p>
              <a:p>
                <a:pPr algn="ctr"/>
                <a:endParaRPr lang="de-DE" sz="11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𝑹𝑬𝑬𝑹</m:t>
                          </m:r>
                        </m:e>
                        <m:sub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𝒄𝒐𝒖𝒏𝒕𝒓𝒚</m:t>
                          </m:r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 </m:t>
                          </m:r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𝒊</m:t>
                          </m:r>
                        </m:sub>
                      </m:sSub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=</m:t>
                      </m:r>
                    </m:oMath>
                  </m:oMathPara>
                </a14:m>
                <a:endParaRPr lang="de-DE" sz="800" i="1">
                  <a:solidFill>
                    <a:schemeClr val="tx1"/>
                  </a:solidFill>
                  <a:latin typeface="Cambria Math" panose="02040503050406030204" pitchFamily="18" charset="0"/>
                  <a:cs typeface="Arial" panose="020B0604020202020204" pitchFamily="34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de-DE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de-DE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𝑗</m:t>
                          </m:r>
                          <m:r>
                            <a:rPr lang="de-DE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=1</m:t>
                          </m:r>
                        </m:sub>
                        <m:sup>
                          <m:r>
                            <a:rPr lang="de-DE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𝑁</m:t>
                          </m:r>
                        </m:sup>
                        <m:e>
                          <m:sSub>
                            <m:sSubPr>
                              <m:ctrlP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𝑡𝑟𝑎𝑑𝑒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 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𝑤𝑒𝑖𝑔h𝑡</m:t>
                              </m:r>
                            </m:e>
                            <m:sub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𝑐𝑜𝑢𝑛𝑡𝑟𝑦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 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de-DE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 </m:t>
                          </m:r>
                          <m:r>
                            <a:rPr lang="de-DE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 panose="020B0604020202020204" pitchFamily="34" charset="0"/>
                            </a:rPr>
                            <m:t>∙ </m:t>
                          </m:r>
                          <m:sSub>
                            <m:sSubPr>
                              <m:ctrlP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𝑟𝑒𝑎𝑙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 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𝑒𝑥𝑐h𝑎𝑛𝑔𝑒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 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𝑟𝑎𝑡𝑒</m:t>
                              </m:r>
                            </m:e>
                            <m:sub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𝑐𝑜𝑢𝑛𝑡𝑟𝑦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 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𝑗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de-DE" sz="8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46" name="Rechteck 45">
                <a:extLst>
                  <a:ext uri="{FF2B5EF4-FFF2-40B4-BE49-F238E27FC236}">
                    <a16:creationId xmlns:a16="http://schemas.microsoft.com/office/drawing/2014/main" id="{78EDB320-7B77-2427-52B9-89AC9203D68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59717" y="1661181"/>
                <a:ext cx="2695846" cy="922464"/>
              </a:xfrm>
              <a:prstGeom prst="rect">
                <a:avLst/>
              </a:prstGeom>
              <a:blipFill>
                <a:blip r:embed="rId4"/>
                <a:stretch>
                  <a:fillRect l="-9813" b="-5600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9" name="Rechteck 48">
            <a:extLst>
              <a:ext uri="{FF2B5EF4-FFF2-40B4-BE49-F238E27FC236}">
                <a16:creationId xmlns:a16="http://schemas.microsoft.com/office/drawing/2014/main" id="{25A08158-FA53-A0B1-F15D-78175F0085A4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2400" err="1">
                <a:latin typeface="Arial" panose="020B0604020202020204" pitchFamily="34" charset="0"/>
                <a:cs typeface="Arial" panose="020B0604020202020204" pitchFamily="34" charset="0"/>
              </a:rPr>
              <a:t>Definitions</a:t>
            </a:r>
            <a:r>
              <a:rPr lang="de-DE" sz="2400">
                <a:latin typeface="Arial" panose="020B0604020202020204" pitchFamily="34" charset="0"/>
                <a:cs typeface="Arial" panose="020B0604020202020204" pitchFamily="34" charset="0"/>
              </a:rPr>
              <a:t> – </a:t>
            </a:r>
            <a:r>
              <a:rPr lang="de-DE" sz="2400" err="1">
                <a:latin typeface="Arial" panose="020B0604020202020204" pitchFamily="34" charset="0"/>
                <a:cs typeface="Arial" panose="020B0604020202020204" pitchFamily="34" charset="0"/>
              </a:rPr>
              <a:t>What</a:t>
            </a:r>
            <a:r>
              <a:rPr lang="de-DE" sz="240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2400" err="1">
                <a:latin typeface="Arial" panose="020B0604020202020204" pitchFamily="34" charset="0"/>
                <a:cs typeface="Arial" panose="020B0604020202020204" pitchFamily="34" charset="0"/>
              </a:rPr>
              <a:t>are</a:t>
            </a:r>
            <a:r>
              <a:rPr lang="de-DE" sz="2400">
                <a:latin typeface="Arial" panose="020B0604020202020204" pitchFamily="34" charset="0"/>
                <a:cs typeface="Arial" panose="020B0604020202020204" pitchFamily="34" charset="0"/>
              </a:rPr>
              <a:t> prices and </a:t>
            </a:r>
            <a:r>
              <a:rPr lang="de-DE" sz="2400" err="1">
                <a:latin typeface="Arial" panose="020B0604020202020204" pitchFamily="34" charset="0"/>
                <a:cs typeface="Arial" panose="020B0604020202020204" pitchFamily="34" charset="0"/>
              </a:rPr>
              <a:t>how</a:t>
            </a:r>
            <a:r>
              <a:rPr lang="de-DE" sz="240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2400" err="1">
                <a:latin typeface="Arial" panose="020B0604020202020204" pitchFamily="34" charset="0"/>
                <a:cs typeface="Arial" panose="020B0604020202020204" pitchFamily="34" charset="0"/>
              </a:rPr>
              <a:t>are</a:t>
            </a:r>
            <a:r>
              <a:rPr lang="de-DE" sz="240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2400" err="1">
                <a:latin typeface="Arial" panose="020B0604020202020204" pitchFamily="34" charset="0"/>
                <a:cs typeface="Arial" panose="020B0604020202020204" pitchFamily="34" charset="0"/>
              </a:rPr>
              <a:t>they</a:t>
            </a:r>
            <a:r>
              <a:rPr lang="de-DE" sz="240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2400" err="1">
                <a:latin typeface="Arial" panose="020B0604020202020204" pitchFamily="34" charset="0"/>
                <a:cs typeface="Arial" panose="020B0604020202020204" pitchFamily="34" charset="0"/>
              </a:rPr>
              <a:t>measured</a:t>
            </a:r>
            <a:r>
              <a:rPr lang="de-DE" sz="2400">
                <a:latin typeface="Arial" panose="020B0604020202020204" pitchFamily="34" charset="0"/>
                <a:cs typeface="Arial" panose="020B0604020202020204" pitchFamily="34" charset="0"/>
              </a:rPr>
              <a:t>?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DE4BBC49-B846-94F8-A7D3-B443853B5DEF}"/>
              </a:ext>
            </a:extLst>
          </p:cNvPr>
          <p:cNvSpPr/>
          <p:nvPr/>
        </p:nvSpPr>
        <p:spPr>
          <a:xfrm rot="16200000">
            <a:off x="-512864" y="1950096"/>
            <a:ext cx="1536022" cy="39111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Multilateral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basket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of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currencies</a:t>
            </a:r>
            <a:endParaRPr lang="de-DE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55EB0C0D-1507-F02A-6129-37D3964916FC}"/>
              </a:ext>
            </a:extLst>
          </p:cNvPr>
          <p:cNvSpPr/>
          <p:nvPr/>
        </p:nvSpPr>
        <p:spPr>
          <a:xfrm rot="16200000">
            <a:off x="-510422" y="3751195"/>
            <a:ext cx="1536022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Bilaterail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currencies</a:t>
            </a:r>
            <a:endParaRPr lang="de-DE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AC703C1D-45F9-A7F9-9246-0E6AFB22B640}"/>
              </a:ext>
            </a:extLst>
          </p:cNvPr>
          <p:cNvCxnSpPr>
            <a:cxnSpLocks/>
          </p:cNvCxnSpPr>
          <p:nvPr/>
        </p:nvCxnSpPr>
        <p:spPr>
          <a:xfrm flipV="1">
            <a:off x="3768748" y="2135745"/>
            <a:ext cx="468000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Gerade Verbindung 23">
            <a:extLst>
              <a:ext uri="{FF2B5EF4-FFF2-40B4-BE49-F238E27FC236}">
                <a16:creationId xmlns:a16="http://schemas.microsoft.com/office/drawing/2014/main" id="{C6A7EBC0-2B86-32D4-2AD3-80F1D3A6F53D}"/>
              </a:ext>
            </a:extLst>
          </p:cNvPr>
          <p:cNvCxnSpPr>
            <a:cxnSpLocks/>
          </p:cNvCxnSpPr>
          <p:nvPr/>
        </p:nvCxnSpPr>
        <p:spPr>
          <a:xfrm>
            <a:off x="118533" y="3014115"/>
            <a:ext cx="9828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Rechteck 27">
            <a:extLst>
              <a:ext uri="{FF2B5EF4-FFF2-40B4-BE49-F238E27FC236}">
                <a16:creationId xmlns:a16="http://schemas.microsoft.com/office/drawing/2014/main" id="{2C7F210E-44C2-3C66-C47F-64D444F54765}"/>
              </a:ext>
            </a:extLst>
          </p:cNvPr>
          <p:cNvSpPr/>
          <p:nvPr/>
        </p:nvSpPr>
        <p:spPr>
          <a:xfrm rot="16200000">
            <a:off x="1726727" y="3188909"/>
            <a:ext cx="3858348" cy="216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Inflation/Relative Consumer Prices</a:t>
            </a: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BDE87C37-1AF2-CA03-4404-B86BDC1AA136}"/>
              </a:ext>
            </a:extLst>
          </p:cNvPr>
          <p:cNvSpPr/>
          <p:nvPr/>
        </p:nvSpPr>
        <p:spPr>
          <a:xfrm>
            <a:off x="10329215" y="2376852"/>
            <a:ext cx="678753" cy="45052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Broad Index</a:t>
            </a: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028B6CF6-69BF-785B-75DC-3901836C8F31}"/>
              </a:ext>
            </a:extLst>
          </p:cNvPr>
          <p:cNvSpPr/>
          <p:nvPr/>
        </p:nvSpPr>
        <p:spPr>
          <a:xfrm>
            <a:off x="10329215" y="3162640"/>
            <a:ext cx="678753" cy="45052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Narrow Index</a:t>
            </a:r>
          </a:p>
        </p:txBody>
      </p:sp>
      <p:cxnSp>
        <p:nvCxnSpPr>
          <p:cNvPr id="41" name="Gerade Verbindung mit Pfeil 40">
            <a:extLst>
              <a:ext uri="{FF2B5EF4-FFF2-40B4-BE49-F238E27FC236}">
                <a16:creationId xmlns:a16="http://schemas.microsoft.com/office/drawing/2014/main" id="{8FC6C353-D5DB-31EA-1ABD-11B376E66F5C}"/>
              </a:ext>
            </a:extLst>
          </p:cNvPr>
          <p:cNvCxnSpPr>
            <a:cxnSpLocks/>
            <a:stCxn id="57" idx="1"/>
            <a:endCxn id="39" idx="1"/>
          </p:cNvCxnSpPr>
          <p:nvPr/>
        </p:nvCxnSpPr>
        <p:spPr>
          <a:xfrm flipV="1">
            <a:off x="10229680" y="2602114"/>
            <a:ext cx="99535" cy="42591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8" name="Gerade Verbindung mit Pfeil 47">
            <a:extLst>
              <a:ext uri="{FF2B5EF4-FFF2-40B4-BE49-F238E27FC236}">
                <a16:creationId xmlns:a16="http://schemas.microsoft.com/office/drawing/2014/main" id="{0DE0F81B-9E95-B0F4-984D-4CB78B66B8A6}"/>
              </a:ext>
            </a:extLst>
          </p:cNvPr>
          <p:cNvCxnSpPr>
            <a:cxnSpLocks/>
            <a:stCxn id="57" idx="1"/>
            <a:endCxn id="40" idx="1"/>
          </p:cNvCxnSpPr>
          <p:nvPr/>
        </p:nvCxnSpPr>
        <p:spPr>
          <a:xfrm>
            <a:off x="10229680" y="3028026"/>
            <a:ext cx="99535" cy="3598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7" name="Geschweifte Klammer links 56">
            <a:extLst>
              <a:ext uri="{FF2B5EF4-FFF2-40B4-BE49-F238E27FC236}">
                <a16:creationId xmlns:a16="http://schemas.microsoft.com/office/drawing/2014/main" id="{58DDF9A1-2BD4-6DAF-F9C3-655C565256B0}"/>
              </a:ext>
            </a:extLst>
          </p:cNvPr>
          <p:cNvSpPr/>
          <p:nvPr/>
        </p:nvSpPr>
        <p:spPr>
          <a:xfrm rot="10800000">
            <a:off x="9810515" y="1367734"/>
            <a:ext cx="419165" cy="3320584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0" name="Rechteck 69">
            <a:extLst>
              <a:ext uri="{FF2B5EF4-FFF2-40B4-BE49-F238E27FC236}">
                <a16:creationId xmlns:a16="http://schemas.microsoft.com/office/drawing/2014/main" id="{693F2CF6-BF9C-ABAA-8E14-DE62E3722178}"/>
              </a:ext>
            </a:extLst>
          </p:cNvPr>
          <p:cNvSpPr/>
          <p:nvPr/>
        </p:nvSpPr>
        <p:spPr>
          <a:xfrm>
            <a:off x="683171" y="4214764"/>
            <a:ext cx="2332121" cy="45052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Spot </a:t>
            </a:r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or</a:t>
            </a:r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Futures Markets (prices)</a:t>
            </a:r>
          </a:p>
        </p:txBody>
      </p:sp>
      <p:cxnSp>
        <p:nvCxnSpPr>
          <p:cNvPr id="71" name="Gerade Verbindung mit Pfeil 70">
            <a:extLst>
              <a:ext uri="{FF2B5EF4-FFF2-40B4-BE49-F238E27FC236}">
                <a16:creationId xmlns:a16="http://schemas.microsoft.com/office/drawing/2014/main" id="{119E95B4-1BF6-C452-1E1F-2BE496B4BD32}"/>
              </a:ext>
            </a:extLst>
          </p:cNvPr>
          <p:cNvCxnSpPr>
            <a:cxnSpLocks/>
            <a:stCxn id="29" idx="2"/>
            <a:endCxn id="70" idx="0"/>
          </p:cNvCxnSpPr>
          <p:nvPr/>
        </p:nvCxnSpPr>
        <p:spPr>
          <a:xfrm>
            <a:off x="1846957" y="4080016"/>
            <a:ext cx="2275" cy="13474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4" name="Rechteck 73">
            <a:extLst>
              <a:ext uri="{FF2B5EF4-FFF2-40B4-BE49-F238E27FC236}">
                <a16:creationId xmlns:a16="http://schemas.microsoft.com/office/drawing/2014/main" id="{E4478911-13F8-4643-BE07-6BE510CE413D}"/>
              </a:ext>
            </a:extLst>
          </p:cNvPr>
          <p:cNvSpPr/>
          <p:nvPr/>
        </p:nvSpPr>
        <p:spPr>
          <a:xfrm>
            <a:off x="6032683" y="3092033"/>
            <a:ext cx="1469865" cy="55404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100" u="sng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Price variables:</a:t>
            </a:r>
          </a:p>
          <a:p>
            <a:pPr marL="171450" indent="-171450" algn="ctr">
              <a:buFontTx/>
              <a:buChar char="-"/>
            </a:pPr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GDP </a:t>
            </a:r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deflator</a:t>
            </a:r>
            <a:endParaRPr lang="de-DE" sz="11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1450" indent="-171450" algn="ctr">
              <a:buFontTx/>
              <a:buChar char="-"/>
            </a:pPr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Unit </a:t>
            </a:r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labor</a:t>
            </a:r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costs</a:t>
            </a:r>
            <a:endParaRPr lang="de-DE" sz="11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5" name="Rechteck 74">
            <a:extLst>
              <a:ext uri="{FF2B5EF4-FFF2-40B4-BE49-F238E27FC236}">
                <a16:creationId xmlns:a16="http://schemas.microsoft.com/office/drawing/2014/main" id="{776E1D30-F052-1481-DEF9-9ADB84C06DE1}"/>
              </a:ext>
            </a:extLst>
          </p:cNvPr>
          <p:cNvSpPr/>
          <p:nvPr/>
        </p:nvSpPr>
        <p:spPr>
          <a:xfrm>
            <a:off x="6032685" y="3734298"/>
            <a:ext cx="1469863" cy="39166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 algn="ctr">
              <a:buFontTx/>
              <a:buChar char="-"/>
            </a:pPr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Consumer prices</a:t>
            </a:r>
          </a:p>
          <a:p>
            <a:pPr marL="171450" indent="-171450" algn="ctr">
              <a:buFontTx/>
              <a:buChar char="-"/>
            </a:pPr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Producer prices</a:t>
            </a:r>
          </a:p>
        </p:txBody>
      </p:sp>
      <p:sp>
        <p:nvSpPr>
          <p:cNvPr id="78" name="Rechteck 77">
            <a:extLst>
              <a:ext uri="{FF2B5EF4-FFF2-40B4-BE49-F238E27FC236}">
                <a16:creationId xmlns:a16="http://schemas.microsoft.com/office/drawing/2014/main" id="{63777F85-A0C5-0394-7180-6549405BE783}"/>
              </a:ext>
            </a:extLst>
          </p:cNvPr>
          <p:cNvSpPr/>
          <p:nvPr/>
        </p:nvSpPr>
        <p:spPr>
          <a:xfrm>
            <a:off x="6028161" y="4224600"/>
            <a:ext cx="1477333" cy="39985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 algn="ctr">
              <a:buFontTx/>
              <a:buChar char="-"/>
            </a:pP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Export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prices</a:t>
            </a:r>
            <a:endParaRPr lang="de-DE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90" name="Gewinkelte Verbindung 89">
            <a:extLst>
              <a:ext uri="{FF2B5EF4-FFF2-40B4-BE49-F238E27FC236}">
                <a16:creationId xmlns:a16="http://schemas.microsoft.com/office/drawing/2014/main" id="{CA409A5D-55EB-43B5-FB41-887ECED819F0}"/>
              </a:ext>
            </a:extLst>
          </p:cNvPr>
          <p:cNvCxnSpPr>
            <a:cxnSpLocks/>
            <a:stCxn id="5" idx="0"/>
            <a:endCxn id="74" idx="1"/>
          </p:cNvCxnSpPr>
          <p:nvPr/>
        </p:nvCxnSpPr>
        <p:spPr>
          <a:xfrm rot="16200000" flipH="1">
            <a:off x="5352811" y="2689185"/>
            <a:ext cx="218766" cy="1140977"/>
          </a:xfrm>
          <a:prstGeom prst="bentConnector4">
            <a:avLst>
              <a:gd name="adj1" fmla="val -37796"/>
              <a:gd name="adj2" fmla="val 88636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1" name="Rechteck 90">
            <a:extLst>
              <a:ext uri="{FF2B5EF4-FFF2-40B4-BE49-F238E27FC236}">
                <a16:creationId xmlns:a16="http://schemas.microsoft.com/office/drawing/2014/main" id="{07892A80-F4C2-70FF-9EA6-C52FCC6D7005}"/>
              </a:ext>
            </a:extLst>
          </p:cNvPr>
          <p:cNvSpPr/>
          <p:nvPr/>
        </p:nvSpPr>
        <p:spPr>
          <a:xfrm>
            <a:off x="6035629" y="3067690"/>
            <a:ext cx="1469865" cy="153241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1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92" name="Gerade Verbindung mit Pfeil 91">
            <a:extLst>
              <a:ext uri="{FF2B5EF4-FFF2-40B4-BE49-F238E27FC236}">
                <a16:creationId xmlns:a16="http://schemas.microsoft.com/office/drawing/2014/main" id="{D155609F-7F3F-46F3-3787-00D0B2997A8F}"/>
              </a:ext>
            </a:extLst>
          </p:cNvPr>
          <p:cNvCxnSpPr>
            <a:cxnSpLocks/>
            <a:stCxn id="5" idx="0"/>
          </p:cNvCxnSpPr>
          <p:nvPr/>
        </p:nvCxnSpPr>
        <p:spPr>
          <a:xfrm flipH="1" flipV="1">
            <a:off x="4891705" y="2602114"/>
            <a:ext cx="1" cy="5481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0" name="Rechteck 99">
            <a:extLst>
              <a:ext uri="{FF2B5EF4-FFF2-40B4-BE49-F238E27FC236}">
                <a16:creationId xmlns:a16="http://schemas.microsoft.com/office/drawing/2014/main" id="{FAFEEB4E-36E3-F716-444A-A9114AF806CA}"/>
              </a:ext>
            </a:extLst>
          </p:cNvPr>
          <p:cNvSpPr/>
          <p:nvPr/>
        </p:nvSpPr>
        <p:spPr>
          <a:xfrm>
            <a:off x="10119787" y="1693556"/>
            <a:ext cx="1107516" cy="45052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64 economies, </a:t>
            </a:r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since</a:t>
            </a:r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1994</a:t>
            </a:r>
          </a:p>
        </p:txBody>
      </p:sp>
      <p:cxnSp>
        <p:nvCxnSpPr>
          <p:cNvPr id="101" name="Gerade Verbindung mit Pfeil 100">
            <a:extLst>
              <a:ext uri="{FF2B5EF4-FFF2-40B4-BE49-F238E27FC236}">
                <a16:creationId xmlns:a16="http://schemas.microsoft.com/office/drawing/2014/main" id="{9B3B376E-7655-571E-364F-9741AB117740}"/>
              </a:ext>
            </a:extLst>
          </p:cNvPr>
          <p:cNvCxnSpPr>
            <a:cxnSpLocks/>
            <a:stCxn id="39" idx="0"/>
            <a:endCxn id="100" idx="2"/>
          </p:cNvCxnSpPr>
          <p:nvPr/>
        </p:nvCxnSpPr>
        <p:spPr>
          <a:xfrm flipV="1">
            <a:off x="10668592" y="2144079"/>
            <a:ext cx="4953" cy="23277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4" name="Rechteck 103">
            <a:extLst>
              <a:ext uri="{FF2B5EF4-FFF2-40B4-BE49-F238E27FC236}">
                <a16:creationId xmlns:a16="http://schemas.microsoft.com/office/drawing/2014/main" id="{62B8B1EA-A050-56BE-2C9B-1D1638B45A49}"/>
              </a:ext>
            </a:extLst>
          </p:cNvPr>
          <p:cNvSpPr/>
          <p:nvPr/>
        </p:nvSpPr>
        <p:spPr>
          <a:xfrm>
            <a:off x="10222285" y="3870095"/>
            <a:ext cx="892068" cy="45052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26/27 economies</a:t>
            </a:r>
          </a:p>
        </p:txBody>
      </p:sp>
      <p:cxnSp>
        <p:nvCxnSpPr>
          <p:cNvPr id="105" name="Gerade Verbindung mit Pfeil 104">
            <a:extLst>
              <a:ext uri="{FF2B5EF4-FFF2-40B4-BE49-F238E27FC236}">
                <a16:creationId xmlns:a16="http://schemas.microsoft.com/office/drawing/2014/main" id="{DE121733-0DA9-6D69-117B-692C696959AB}"/>
              </a:ext>
            </a:extLst>
          </p:cNvPr>
          <p:cNvCxnSpPr>
            <a:cxnSpLocks/>
            <a:stCxn id="40" idx="2"/>
            <a:endCxn id="104" idx="0"/>
          </p:cNvCxnSpPr>
          <p:nvPr/>
        </p:nvCxnSpPr>
        <p:spPr>
          <a:xfrm flipH="1">
            <a:off x="10668319" y="3613163"/>
            <a:ext cx="273" cy="2569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2" name="Rechteck 121">
                <a:extLst>
                  <a:ext uri="{FF2B5EF4-FFF2-40B4-BE49-F238E27FC236}">
                    <a16:creationId xmlns:a16="http://schemas.microsoft.com/office/drawing/2014/main" id="{330159BD-A4C7-1118-673E-E6F98994C65C}"/>
                  </a:ext>
                </a:extLst>
              </p:cNvPr>
              <p:cNvSpPr/>
              <p:nvPr/>
            </p:nvSpPr>
            <p:spPr>
              <a:xfrm>
                <a:off x="7149681" y="1822174"/>
                <a:ext cx="2578985" cy="591021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𝒕𝒓𝒂𝒅𝒆</m:t>
                          </m:r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 </m:t>
                          </m:r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𝒘𝒆𝒊𝒈𝒉𝒕</m:t>
                          </m:r>
                        </m:e>
                        <m:sub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𝒄𝒐𝒖𝒏𝒕𝒓𝒚</m:t>
                          </m:r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 </m:t>
                          </m:r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𝒋</m:t>
                          </m:r>
                        </m:sub>
                      </m:sSub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=</m:t>
                      </m:r>
                    </m:oMath>
                  </m:oMathPara>
                </a14:m>
                <a:endParaRPr lang="de-DE" sz="800" i="1">
                  <a:solidFill>
                    <a:schemeClr val="tx1"/>
                  </a:solidFill>
                  <a:latin typeface="Cambria Math" panose="02040503050406030204" pitchFamily="18" charset="0"/>
                  <a:cs typeface="Arial" panose="020B0604020202020204" pitchFamily="34" charset="0"/>
                </a:endParaRPr>
              </a:p>
              <a:p>
                <a:pPr algn="ctr"/>
                <a:endParaRPr lang="de-DE" sz="800" i="1">
                  <a:solidFill>
                    <a:schemeClr val="tx1"/>
                  </a:solidFill>
                  <a:latin typeface="Cambria Math" panose="02040503050406030204" pitchFamily="18" charset="0"/>
                  <a:cs typeface="Arial" panose="020B0604020202020204" pitchFamily="34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𝑚𝑎𝑛𝑢𝑓𝑎𝑐𝑡𝑢𝑟𝑖𝑛𝑔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𝑡𝑟𝑎𝑑𝑒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𝑓𝑙𝑜𝑤𝑠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𝑜𝑟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𝑡𝑖𝑚𝑒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−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𝑣𝑎𝑟𝑦𝑖𝑛𝑔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𝑤𝑒𝑖𝑔h𝑡𝑖𝑛𝑔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𝑝𝑎𝑡𝑡𝑒𝑟𝑛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(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𝑡h𝑟𝑒𝑒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−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𝑦𝑒𝑎𝑟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𝑏𝑎𝑠𝑖𝑠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)</m:t>
                      </m:r>
                    </m:oMath>
                  </m:oMathPara>
                </a14:m>
                <a:endParaRPr lang="de-DE" sz="8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122" name="Rechteck 121">
                <a:extLst>
                  <a:ext uri="{FF2B5EF4-FFF2-40B4-BE49-F238E27FC236}">
                    <a16:creationId xmlns:a16="http://schemas.microsoft.com/office/drawing/2014/main" id="{330159BD-A4C7-1118-673E-E6F98994C65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49681" y="1822174"/>
                <a:ext cx="2578985" cy="59102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hteck 3">
                <a:extLst>
                  <a:ext uri="{FF2B5EF4-FFF2-40B4-BE49-F238E27FC236}">
                    <a16:creationId xmlns:a16="http://schemas.microsoft.com/office/drawing/2014/main" id="{A05DC4F2-D7F3-2FFF-B75D-A55322E5FD0B}"/>
                  </a:ext>
                </a:extLst>
              </p:cNvPr>
              <p:cNvSpPr/>
              <p:nvPr/>
            </p:nvSpPr>
            <p:spPr>
              <a:xfrm>
                <a:off x="507850" y="1675021"/>
                <a:ext cx="2940515" cy="885328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10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Nominal </a:t>
                </a:r>
                <a:r>
                  <a:rPr lang="de-DE" sz="1100" err="1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Effective</a:t>
                </a:r>
                <a:r>
                  <a:rPr lang="de-DE" sz="110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Exchange Rates </a:t>
                </a:r>
                <a:r>
                  <a:rPr lang="de-DE" sz="1100" b="1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(NEER)</a:t>
                </a:r>
              </a:p>
              <a:p>
                <a:pPr algn="ctr"/>
                <a:endParaRPr lang="de-DE" sz="800" b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de-DE" sz="8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𝑵𝑬𝑬𝑹</m:t>
                          </m:r>
                        </m:e>
                        <m:sub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𝒄𝒐𝒖𝒏𝒕𝒓𝒚</m:t>
                          </m:r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 </m:t>
                          </m:r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𝒊</m:t>
                          </m:r>
                        </m:sub>
                      </m:sSub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=</m:t>
                      </m:r>
                    </m:oMath>
                  </m:oMathPara>
                </a14:m>
                <a:endParaRPr lang="de-DE" sz="800" i="1">
                  <a:solidFill>
                    <a:schemeClr val="tx1"/>
                  </a:solidFill>
                  <a:latin typeface="Cambria Math" panose="02040503050406030204" pitchFamily="18" charset="0"/>
                  <a:cs typeface="Arial" panose="020B0604020202020204" pitchFamily="34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nary>
                        <m:naryPr>
                          <m:chr m:val="∑"/>
                          <m:ctrlPr>
                            <a:rPr lang="de-DE" sz="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de-DE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𝑗</m:t>
                          </m:r>
                          <m:r>
                            <a:rPr lang="de-DE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=1</m:t>
                          </m:r>
                        </m:sub>
                        <m:sup>
                          <m:r>
                            <a:rPr lang="de-DE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𝑁</m:t>
                          </m:r>
                        </m:sup>
                        <m:e>
                          <m:sSub>
                            <m:sSubPr>
                              <m:ctrlPr>
                                <a:rPr lang="de-DE" sz="8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de-DE" sz="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𝑡𝑟𝑎𝑑𝑒</m:t>
                              </m:r>
                              <m:r>
                                <a:rPr lang="de-DE" sz="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 </m:t>
                              </m:r>
                              <m:r>
                                <a:rPr lang="de-DE" sz="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𝑤𝑒𝑖𝑔h𝑡</m:t>
                              </m:r>
                            </m:e>
                            <m:sub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𝑐𝑜𝑢𝑛𝑡𝑟𝑦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 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de-DE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 </m:t>
                          </m:r>
                          <m:r>
                            <a:rPr lang="de-DE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 panose="020B0604020202020204" pitchFamily="34" charset="0"/>
                            </a:rPr>
                            <m:t>∙</m:t>
                          </m:r>
                          <m:sSub>
                            <m:sSubPr>
                              <m:ctrlPr>
                                <a:rPr lang="de-DE" sz="8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de-DE" sz="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𝑏𝑖𝑙𝑎𝑡𝑒𝑟𝑎𝑙</m:t>
                              </m:r>
                              <m:r>
                                <a:rPr lang="de-DE" sz="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 </m:t>
                              </m:r>
                              <m:r>
                                <a:rPr lang="de-DE" sz="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𝑒𝑥𝑐h𝑎𝑛𝑔𝑒</m:t>
                              </m:r>
                              <m:r>
                                <a:rPr lang="de-DE" sz="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 </m:t>
                              </m:r>
                              <m:r>
                                <a:rPr lang="de-DE" sz="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𝑟𝑎𝑡𝑒</m:t>
                              </m:r>
                            </m:e>
                            <m:sub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𝑐𝑜𝑢𝑛𝑡𝑟𝑦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 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𝑗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de-DE" sz="8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4" name="Rechteck 3">
                <a:extLst>
                  <a:ext uri="{FF2B5EF4-FFF2-40B4-BE49-F238E27FC236}">
                    <a16:creationId xmlns:a16="http://schemas.microsoft.com/office/drawing/2014/main" id="{A05DC4F2-D7F3-2FFF-B75D-A55322E5FD0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7850" y="1675021"/>
                <a:ext cx="2940515" cy="885328"/>
              </a:xfrm>
              <a:prstGeom prst="rect">
                <a:avLst/>
              </a:prstGeom>
              <a:blipFill>
                <a:blip r:embed="rId6"/>
                <a:stretch>
                  <a:fillRect l="-7692" b="-58333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hteck 4">
                <a:extLst>
                  <a:ext uri="{FF2B5EF4-FFF2-40B4-BE49-F238E27FC236}">
                    <a16:creationId xmlns:a16="http://schemas.microsoft.com/office/drawing/2014/main" id="{0131962E-FE57-E17D-3EAA-2DC10F23C951}"/>
                  </a:ext>
                </a:extLst>
              </p:cNvPr>
              <p:cNvSpPr/>
              <p:nvPr/>
            </p:nvSpPr>
            <p:spPr>
              <a:xfrm>
                <a:off x="4010060" y="3150290"/>
                <a:ext cx="1763292" cy="996378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10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Real Exchange Rates</a:t>
                </a:r>
              </a:p>
              <a:p>
                <a:pPr algn="ctr"/>
                <a:r>
                  <a:rPr lang="de-DE" sz="1100" b="1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(RER)</a:t>
                </a:r>
              </a:p>
              <a:p>
                <a:pPr algn="ctr"/>
                <a:endParaRPr lang="de-DE" sz="1100" b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𝑹𝑬𝑹</m:t>
                          </m:r>
                        </m:e>
                        <m:sub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𝒄𝒐𝒖𝒏𝒕𝒓𝒚</m:t>
                          </m:r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 </m:t>
                          </m:r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𝒊</m:t>
                          </m:r>
                        </m:sub>
                      </m:sSub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=</m:t>
                      </m:r>
                    </m:oMath>
                  </m:oMathPara>
                </a14:m>
                <a:endParaRPr lang="de-DE" sz="800" i="1">
                  <a:solidFill>
                    <a:schemeClr val="tx1"/>
                  </a:solidFill>
                  <a:latin typeface="Cambria Math" panose="02040503050406030204" pitchFamily="18" charset="0"/>
                  <a:cs typeface="Arial" panose="020B0604020202020204" pitchFamily="34" charset="0"/>
                </a:endParaRPr>
              </a:p>
              <a:p>
                <a:pPr algn="ctr"/>
                <a:endParaRPr lang="de-DE" sz="800" i="1">
                  <a:solidFill>
                    <a:schemeClr val="tx1"/>
                  </a:solidFill>
                  <a:latin typeface="Cambria Math" panose="02040503050406030204" pitchFamily="18" charset="0"/>
                  <a:cs typeface="Arial" panose="020B0604020202020204" pitchFamily="34" charset="0"/>
                </a:endParaRPr>
              </a:p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de-DE" sz="8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de-DE" sz="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𝑁𝐸𝑅</m:t>
                        </m:r>
                      </m:e>
                      <m:sub>
                        <m:r>
                          <a:rPr lang="de-DE" sz="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𝑐𝑜𝑢𝑛𝑡𝑟𝑦</m:t>
                        </m:r>
                        <m:r>
                          <a:rPr lang="de-DE" sz="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 </m:t>
                        </m:r>
                        <m:r>
                          <a:rPr lang="de-DE" sz="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𝑖</m:t>
                        </m:r>
                      </m:sub>
                    </m:sSub>
                    <m:r>
                      <a:rPr lang="de-DE" sz="8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 </m:t>
                    </m:r>
                    <m:r>
                      <a:rPr lang="de-DE" sz="8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∙ </m:t>
                    </m:r>
                    <m:f>
                      <m:fPr>
                        <m:ctrlPr>
                          <a:rPr lang="de-DE" sz="8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8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sSubPr>
                          <m:e>
                            <m:r>
                              <a:rPr lang="de-DE" sz="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Arial" panose="020B0604020202020204" pitchFamily="34" charset="0"/>
                              </a:rPr>
                              <m:t>𝑃𝑟𝑖𝑐𝑒</m:t>
                            </m:r>
                          </m:e>
                          <m:sub>
                            <m:r>
                              <a:rPr lang="de-DE" sz="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Arial" panose="020B0604020202020204" pitchFamily="34" charset="0"/>
                              </a:rPr>
                              <m:t>𝑐𝑜𝑢𝑛𝑡𝑟𝑦</m:t>
                            </m:r>
                            <m:r>
                              <a:rPr lang="de-DE" sz="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Arial" panose="020B0604020202020204" pitchFamily="34" charset="0"/>
                              </a:rPr>
                              <m:t> </m:t>
                            </m:r>
                            <m:r>
                              <a:rPr lang="de-DE" sz="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Arial" panose="020B0604020202020204" pitchFamily="34" charset="0"/>
                              </a:rPr>
                              <m:t>𝑗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sz="8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sSubPr>
                          <m:e>
                            <m:r>
                              <a:rPr lang="de-DE" sz="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Arial" panose="020B0604020202020204" pitchFamily="34" charset="0"/>
                              </a:rPr>
                              <m:t>𝑃𝑟𝑖𝑐𝑒</m:t>
                            </m:r>
                          </m:e>
                          <m:sub>
                            <m:r>
                              <a:rPr lang="de-DE" sz="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Arial" panose="020B0604020202020204" pitchFamily="34" charset="0"/>
                              </a:rPr>
                              <m:t>𝑐𝑜𝑢𝑛𝑡𝑟𝑦</m:t>
                            </m:r>
                            <m:r>
                              <a:rPr lang="de-DE" sz="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Arial" panose="020B0604020202020204" pitchFamily="34" charset="0"/>
                              </a:rPr>
                              <m:t> </m:t>
                            </m:r>
                            <m:r>
                              <a:rPr lang="de-DE" sz="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Arial" panose="020B0604020202020204" pitchFamily="34" charset="0"/>
                              </a:rPr>
                              <m:t>𝑖</m:t>
                            </m:r>
                          </m:sub>
                        </m:sSub>
                      </m:den>
                    </m:f>
                  </m:oMath>
                </a14:m>
                <a:r>
                  <a:rPr lang="de-DE" sz="110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</a:p>
            </p:txBody>
          </p:sp>
        </mc:Choice>
        <mc:Fallback xmlns="">
          <p:sp>
            <p:nvSpPr>
              <p:cNvPr id="5" name="Rechteck 4">
                <a:extLst>
                  <a:ext uri="{FF2B5EF4-FFF2-40B4-BE49-F238E27FC236}">
                    <a16:creationId xmlns:a16="http://schemas.microsoft.com/office/drawing/2014/main" id="{0131962E-FE57-E17D-3EAA-2DC10F23C95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10060" y="3150290"/>
                <a:ext cx="1763292" cy="996378"/>
              </a:xfrm>
              <a:prstGeom prst="rect">
                <a:avLst/>
              </a:prstGeom>
              <a:blipFill>
                <a:blip r:embed="rId7"/>
                <a:stretch>
                  <a:fillRect t="-2500" b="-250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1" name="Gerade Verbindung mit Pfeil 80">
            <a:extLst>
              <a:ext uri="{FF2B5EF4-FFF2-40B4-BE49-F238E27FC236}">
                <a16:creationId xmlns:a16="http://schemas.microsoft.com/office/drawing/2014/main" id="{65DD9C2D-A4F2-D8FA-BEB7-A058236406E1}"/>
              </a:ext>
            </a:extLst>
          </p:cNvPr>
          <p:cNvCxnSpPr>
            <a:cxnSpLocks/>
          </p:cNvCxnSpPr>
          <p:nvPr/>
        </p:nvCxnSpPr>
        <p:spPr>
          <a:xfrm>
            <a:off x="3448365" y="2133808"/>
            <a:ext cx="72000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6" name="Gerade Verbindung mit Pfeil 95">
            <a:extLst>
              <a:ext uri="{FF2B5EF4-FFF2-40B4-BE49-F238E27FC236}">
                <a16:creationId xmlns:a16="http://schemas.microsoft.com/office/drawing/2014/main" id="{99CEACD8-00B4-9DDF-2EC9-6EB90A0637EE}"/>
              </a:ext>
            </a:extLst>
          </p:cNvPr>
          <p:cNvCxnSpPr>
            <a:cxnSpLocks/>
            <a:stCxn id="46" idx="3"/>
            <a:endCxn id="122" idx="1"/>
          </p:cNvCxnSpPr>
          <p:nvPr/>
        </p:nvCxnSpPr>
        <p:spPr>
          <a:xfrm flipV="1">
            <a:off x="6955563" y="2117685"/>
            <a:ext cx="194118" cy="47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6" name="Rechteck 105">
            <a:extLst>
              <a:ext uri="{FF2B5EF4-FFF2-40B4-BE49-F238E27FC236}">
                <a16:creationId xmlns:a16="http://schemas.microsoft.com/office/drawing/2014/main" id="{F355F518-263D-D7FB-3A2D-63E27218F735}"/>
              </a:ext>
            </a:extLst>
          </p:cNvPr>
          <p:cNvSpPr/>
          <p:nvPr/>
        </p:nvSpPr>
        <p:spPr>
          <a:xfrm>
            <a:off x="48933" y="850711"/>
            <a:ext cx="3498967" cy="21165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Nominal terms</a:t>
            </a:r>
          </a:p>
        </p:txBody>
      </p:sp>
      <p:sp>
        <p:nvSpPr>
          <p:cNvPr id="107" name="Rechteck 106">
            <a:extLst>
              <a:ext uri="{FF2B5EF4-FFF2-40B4-BE49-F238E27FC236}">
                <a16:creationId xmlns:a16="http://schemas.microsoft.com/office/drawing/2014/main" id="{152C3B32-94E7-EF18-64BB-E383F284E014}"/>
              </a:ext>
            </a:extLst>
          </p:cNvPr>
          <p:cNvSpPr/>
          <p:nvPr/>
        </p:nvSpPr>
        <p:spPr>
          <a:xfrm>
            <a:off x="3763900" y="845559"/>
            <a:ext cx="6182633" cy="21680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Real terms</a:t>
            </a:r>
          </a:p>
        </p:txBody>
      </p:sp>
      <p:cxnSp>
        <p:nvCxnSpPr>
          <p:cNvPr id="108" name="Gerade Verbindung 107">
            <a:extLst>
              <a:ext uri="{FF2B5EF4-FFF2-40B4-BE49-F238E27FC236}">
                <a16:creationId xmlns:a16="http://schemas.microsoft.com/office/drawing/2014/main" id="{3D78F894-3C2F-6134-B3EC-BADC65CB03E3}"/>
              </a:ext>
            </a:extLst>
          </p:cNvPr>
          <p:cNvCxnSpPr>
            <a:cxnSpLocks/>
          </p:cNvCxnSpPr>
          <p:nvPr/>
        </p:nvCxnSpPr>
        <p:spPr>
          <a:xfrm>
            <a:off x="118533" y="1230710"/>
            <a:ext cx="9828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9" name="Gewinkelte Verbindung 108">
            <a:extLst>
              <a:ext uri="{FF2B5EF4-FFF2-40B4-BE49-F238E27FC236}">
                <a16:creationId xmlns:a16="http://schemas.microsoft.com/office/drawing/2014/main" id="{EB493B03-5273-8FCE-0725-35CDDF48311C}"/>
              </a:ext>
            </a:extLst>
          </p:cNvPr>
          <p:cNvCxnSpPr>
            <a:cxnSpLocks/>
            <a:stCxn id="78" idx="3"/>
            <a:endCxn id="12" idx="1"/>
          </p:cNvCxnSpPr>
          <p:nvPr/>
        </p:nvCxnSpPr>
        <p:spPr>
          <a:xfrm>
            <a:off x="7505494" y="4424527"/>
            <a:ext cx="251095" cy="18322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163476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85C400-169C-12D0-20F6-2EA61B93E9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1" name="Gewinkelte Verbindung 20">
            <a:extLst>
              <a:ext uri="{FF2B5EF4-FFF2-40B4-BE49-F238E27FC236}">
                <a16:creationId xmlns:a16="http://schemas.microsoft.com/office/drawing/2014/main" id="{F32D6AC2-1170-FF45-7100-1F8E19D29D96}"/>
              </a:ext>
            </a:extLst>
          </p:cNvPr>
          <p:cNvCxnSpPr>
            <a:cxnSpLocks/>
            <a:stCxn id="6" idx="2"/>
            <a:endCxn id="19" idx="0"/>
          </p:cNvCxnSpPr>
          <p:nvPr/>
        </p:nvCxnSpPr>
        <p:spPr>
          <a:xfrm rot="16200000" flipH="1">
            <a:off x="5988317" y="1244054"/>
            <a:ext cx="1116897" cy="3189911"/>
          </a:xfrm>
          <a:prstGeom prst="bentConnector3">
            <a:avLst>
              <a:gd name="adj1" fmla="val 43968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9" name="Rechteck 48">
            <a:extLst>
              <a:ext uri="{FF2B5EF4-FFF2-40B4-BE49-F238E27FC236}">
                <a16:creationId xmlns:a16="http://schemas.microsoft.com/office/drawing/2014/main" id="{3920F220-B949-2339-A8C2-BB237B1DB1D4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2400" dirty="0">
                <a:latin typeface="Arial" panose="020B0604020202020204" pitchFamily="34" charset="0"/>
                <a:cs typeface="Arial" panose="020B0604020202020204" pitchFamily="34" charset="0"/>
              </a:rPr>
              <a:t>A simple </a:t>
            </a:r>
            <a:r>
              <a:rPr lang="de-DE" sz="2400" dirty="0" err="1">
                <a:latin typeface="Arial" panose="020B0604020202020204" pitchFamily="34" charset="0"/>
                <a:cs typeface="Arial" panose="020B0604020202020204" pitchFamily="34" charset="0"/>
              </a:rPr>
              <a:t>model</a:t>
            </a:r>
            <a:r>
              <a:rPr lang="de-DE" sz="2400" dirty="0">
                <a:latin typeface="Arial" panose="020B0604020202020204" pitchFamily="34" charset="0"/>
                <a:cs typeface="Arial" panose="020B0604020202020204" pitchFamily="34" charset="0"/>
              </a:rPr>
              <a:t> of </a:t>
            </a:r>
            <a:r>
              <a:rPr lang="de-DE" sz="2400" dirty="0" err="1">
                <a:latin typeface="Arial" panose="020B0604020202020204" pitchFamily="34" charset="0"/>
                <a:cs typeface="Arial" panose="020B0604020202020204" pitchFamily="34" charset="0"/>
              </a:rPr>
              <a:t>exchange</a:t>
            </a:r>
            <a:r>
              <a:rPr lang="de-DE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2400" dirty="0" err="1">
                <a:latin typeface="Arial" panose="020B0604020202020204" pitchFamily="34" charset="0"/>
                <a:cs typeface="Arial" panose="020B0604020202020204" pitchFamily="34" charset="0"/>
              </a:rPr>
              <a:t>rates</a:t>
            </a:r>
            <a:r>
              <a:rPr lang="de-DE" sz="2400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de-DE" sz="2400" dirty="0" err="1">
                <a:latin typeface="Arial" panose="020B0604020202020204" pitchFamily="34" charset="0"/>
                <a:cs typeface="Arial" panose="020B0604020202020204" pitchFamily="34" charset="0"/>
              </a:rPr>
              <a:t>energy</a:t>
            </a:r>
            <a:r>
              <a:rPr lang="de-DE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2400" dirty="0" err="1">
                <a:latin typeface="Arial" panose="020B0604020202020204" pitchFamily="34" charset="0"/>
                <a:cs typeface="Arial" panose="020B0604020202020204" pitchFamily="34" charset="0"/>
              </a:rPr>
              <a:t>commodity</a:t>
            </a:r>
            <a:r>
              <a:rPr lang="de-DE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2400" dirty="0" err="1">
                <a:latin typeface="Arial" panose="020B0604020202020204" pitchFamily="34" charset="0"/>
                <a:cs typeface="Arial" panose="020B0604020202020204" pitchFamily="34" charset="0"/>
              </a:rPr>
              <a:t>prices</a:t>
            </a:r>
            <a:endParaRPr lang="de-DE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45DB3D19-FB0D-EF49-B5C4-F4FD1FF6DE8D}"/>
              </a:ext>
            </a:extLst>
          </p:cNvPr>
          <p:cNvSpPr/>
          <p:nvPr/>
        </p:nvSpPr>
        <p:spPr>
          <a:xfrm>
            <a:off x="248266" y="1729947"/>
            <a:ext cx="1013015" cy="55061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Fundamental</a:t>
            </a:r>
          </a:p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shock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6E3B20DB-4112-8910-13D9-7A86DEC9A7C4}"/>
              </a:ext>
            </a:extLst>
          </p:cNvPr>
          <p:cNvSpPr/>
          <p:nvPr/>
        </p:nvSpPr>
        <p:spPr>
          <a:xfrm>
            <a:off x="1440374" y="1731970"/>
            <a:ext cx="1667844" cy="55061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Adjusted future expectations for demand-supply levels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3D1EE2EB-33FB-6EDA-10DF-6A28DBAE199A}"/>
              </a:ext>
            </a:extLst>
          </p:cNvPr>
          <p:cNvSpPr/>
          <p:nvPr/>
        </p:nvSpPr>
        <p:spPr>
          <a:xfrm>
            <a:off x="3325347" y="1729950"/>
            <a:ext cx="1013015" cy="55061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(Spot) Price adjustments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13B07525-A5A1-F1B4-8FEE-C3582CE113E6}"/>
              </a:ext>
            </a:extLst>
          </p:cNvPr>
          <p:cNvSpPr/>
          <p:nvPr/>
        </p:nvSpPr>
        <p:spPr>
          <a:xfrm>
            <a:off x="4551106" y="1729945"/>
            <a:ext cx="801408" cy="55061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Increased</a:t>
            </a:r>
            <a:endParaRPr lang="de-DE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volatility</a:t>
            </a:r>
            <a:endParaRPr lang="de-DE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6F9704E9-C9FC-0392-9481-18E53C7E54AB}"/>
              </a:ext>
            </a:extLst>
          </p:cNvPr>
          <p:cNvSpPr/>
          <p:nvPr/>
        </p:nvSpPr>
        <p:spPr>
          <a:xfrm>
            <a:off x="5561975" y="1729947"/>
            <a:ext cx="1470274" cy="55061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Inflationary pressure driving up prices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4DC245E0-1CC8-DB0D-66F1-926593ED389A}"/>
              </a:ext>
            </a:extLst>
          </p:cNvPr>
          <p:cNvSpPr/>
          <p:nvPr/>
        </p:nvSpPr>
        <p:spPr>
          <a:xfrm>
            <a:off x="7241710" y="1731968"/>
            <a:ext cx="1250320" cy="55061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Monetary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policy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rate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hikes</a:t>
            </a:r>
            <a:endParaRPr lang="de-DE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97518F9D-DEDF-B6B2-0E24-08F10E38C0E0}"/>
              </a:ext>
            </a:extLst>
          </p:cNvPr>
          <p:cNvSpPr/>
          <p:nvPr/>
        </p:nvSpPr>
        <p:spPr>
          <a:xfrm>
            <a:off x="3499677" y="737582"/>
            <a:ext cx="4414650" cy="28340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Heavily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affect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energy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commodity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importing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exporting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economies</a:t>
            </a:r>
            <a:endParaRPr lang="de-DE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4" name="Gerade Verbindung mit Pfeil 3">
            <a:extLst>
              <a:ext uri="{FF2B5EF4-FFF2-40B4-BE49-F238E27FC236}">
                <a16:creationId xmlns:a16="http://schemas.microsoft.com/office/drawing/2014/main" id="{3C939E41-E3A2-C747-4064-B68050C474F3}"/>
              </a:ext>
            </a:extLst>
          </p:cNvPr>
          <p:cNvCxnSpPr>
            <a:cxnSpLocks/>
            <a:stCxn id="2" idx="3"/>
            <a:endCxn id="3" idx="1"/>
          </p:cNvCxnSpPr>
          <p:nvPr/>
        </p:nvCxnSpPr>
        <p:spPr>
          <a:xfrm>
            <a:off x="1261281" y="2005256"/>
            <a:ext cx="179093" cy="202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09FAAAE3-A7B8-1029-83FE-3B9AC849744F}"/>
              </a:ext>
            </a:extLst>
          </p:cNvPr>
          <p:cNvCxnSpPr>
            <a:cxnSpLocks/>
            <a:stCxn id="3" idx="3"/>
            <a:endCxn id="5" idx="1"/>
          </p:cNvCxnSpPr>
          <p:nvPr/>
        </p:nvCxnSpPr>
        <p:spPr>
          <a:xfrm flipV="1">
            <a:off x="3108218" y="2005259"/>
            <a:ext cx="217129" cy="202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D8F030C5-9C48-09E7-A29F-635530C8C3CB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 flipV="1">
            <a:off x="4338362" y="2005254"/>
            <a:ext cx="212744" cy="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Gerade Verbindung mit Pfeil 19">
            <a:extLst>
              <a:ext uri="{FF2B5EF4-FFF2-40B4-BE49-F238E27FC236}">
                <a16:creationId xmlns:a16="http://schemas.microsoft.com/office/drawing/2014/main" id="{664E26FE-27DB-68F7-2056-B905672248EE}"/>
              </a:ext>
            </a:extLst>
          </p:cNvPr>
          <p:cNvCxnSpPr>
            <a:cxnSpLocks/>
            <a:stCxn id="6" idx="3"/>
            <a:endCxn id="7" idx="1"/>
          </p:cNvCxnSpPr>
          <p:nvPr/>
        </p:nvCxnSpPr>
        <p:spPr>
          <a:xfrm>
            <a:off x="5352514" y="2005254"/>
            <a:ext cx="209461" cy="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Gerade Verbindung mit Pfeil 24">
            <a:extLst>
              <a:ext uri="{FF2B5EF4-FFF2-40B4-BE49-F238E27FC236}">
                <a16:creationId xmlns:a16="http://schemas.microsoft.com/office/drawing/2014/main" id="{105F554B-0FE6-6140-6491-7EA5FEB5711F}"/>
              </a:ext>
            </a:extLst>
          </p:cNvPr>
          <p:cNvCxnSpPr>
            <a:cxnSpLocks/>
            <a:stCxn id="7" idx="3"/>
            <a:endCxn id="8" idx="1"/>
          </p:cNvCxnSpPr>
          <p:nvPr/>
        </p:nvCxnSpPr>
        <p:spPr>
          <a:xfrm>
            <a:off x="7032249" y="2005256"/>
            <a:ext cx="209461" cy="20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Geschweifte Klammer links 27">
            <a:extLst>
              <a:ext uri="{FF2B5EF4-FFF2-40B4-BE49-F238E27FC236}">
                <a16:creationId xmlns:a16="http://schemas.microsoft.com/office/drawing/2014/main" id="{0BFEA76D-99AB-C7B1-3409-A2CA2B156445}"/>
              </a:ext>
            </a:extLst>
          </p:cNvPr>
          <p:cNvSpPr/>
          <p:nvPr/>
        </p:nvSpPr>
        <p:spPr>
          <a:xfrm rot="5400000">
            <a:off x="5578026" y="-4297533"/>
            <a:ext cx="257952" cy="10917479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E8E839D3-8E65-96AC-44BB-A8244DC0C808}"/>
              </a:ext>
            </a:extLst>
          </p:cNvPr>
          <p:cNvSpPr/>
          <p:nvPr/>
        </p:nvSpPr>
        <p:spPr>
          <a:xfrm>
            <a:off x="8701491" y="1729946"/>
            <a:ext cx="993976" cy="55061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Interest rate differentials</a:t>
            </a:r>
          </a:p>
        </p:txBody>
      </p:sp>
      <p:cxnSp>
        <p:nvCxnSpPr>
          <p:cNvPr id="31" name="Gerade Verbindung mit Pfeil 30">
            <a:extLst>
              <a:ext uri="{FF2B5EF4-FFF2-40B4-BE49-F238E27FC236}">
                <a16:creationId xmlns:a16="http://schemas.microsoft.com/office/drawing/2014/main" id="{3211AE1E-AE25-8A87-F56C-3147B731828B}"/>
              </a:ext>
            </a:extLst>
          </p:cNvPr>
          <p:cNvCxnSpPr>
            <a:cxnSpLocks/>
            <a:stCxn id="8" idx="3"/>
            <a:endCxn id="29" idx="1"/>
          </p:cNvCxnSpPr>
          <p:nvPr/>
        </p:nvCxnSpPr>
        <p:spPr>
          <a:xfrm flipV="1">
            <a:off x="8492030" y="2005255"/>
            <a:ext cx="209461" cy="202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8" name="Rechteck 67">
            <a:extLst>
              <a:ext uri="{FF2B5EF4-FFF2-40B4-BE49-F238E27FC236}">
                <a16:creationId xmlns:a16="http://schemas.microsoft.com/office/drawing/2014/main" id="{A3D75D58-23EF-B26E-E6B6-BD808793409E}"/>
              </a:ext>
            </a:extLst>
          </p:cNvPr>
          <p:cNvSpPr/>
          <p:nvPr/>
        </p:nvSpPr>
        <p:spPr>
          <a:xfrm>
            <a:off x="4705254" y="2438771"/>
            <a:ext cx="1764000" cy="23133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 u="sng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Derived proxy variables</a:t>
            </a:r>
          </a:p>
        </p:txBody>
      </p:sp>
      <p:cxnSp>
        <p:nvCxnSpPr>
          <p:cNvPr id="69" name="Gerade Verbindung 68">
            <a:extLst>
              <a:ext uri="{FF2B5EF4-FFF2-40B4-BE49-F238E27FC236}">
                <a16:creationId xmlns:a16="http://schemas.microsoft.com/office/drawing/2014/main" id="{FE987C23-781F-B2CF-C7AE-167A9F3DD8D1}"/>
              </a:ext>
            </a:extLst>
          </p:cNvPr>
          <p:cNvCxnSpPr>
            <a:cxnSpLocks/>
            <a:stCxn id="68" idx="3"/>
          </p:cNvCxnSpPr>
          <p:nvPr/>
        </p:nvCxnSpPr>
        <p:spPr>
          <a:xfrm>
            <a:off x="6469253" y="2554439"/>
            <a:ext cx="486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2" name="Gerade Verbindung 71">
            <a:extLst>
              <a:ext uri="{FF2B5EF4-FFF2-40B4-BE49-F238E27FC236}">
                <a16:creationId xmlns:a16="http://schemas.microsoft.com/office/drawing/2014/main" id="{19AD80B6-AA37-15C4-F4F1-1AB2FCC6B0F7}"/>
              </a:ext>
            </a:extLst>
          </p:cNvPr>
          <p:cNvCxnSpPr>
            <a:cxnSpLocks/>
            <a:endCxn id="68" idx="1"/>
          </p:cNvCxnSpPr>
          <p:nvPr/>
        </p:nvCxnSpPr>
        <p:spPr>
          <a:xfrm>
            <a:off x="80437" y="2554439"/>
            <a:ext cx="4624817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5" name="Rechteck 74">
            <a:extLst>
              <a:ext uri="{FF2B5EF4-FFF2-40B4-BE49-F238E27FC236}">
                <a16:creationId xmlns:a16="http://schemas.microsoft.com/office/drawing/2014/main" id="{E696DFB3-6C85-FB27-6A91-5EA8F7652298}"/>
              </a:ext>
            </a:extLst>
          </p:cNvPr>
          <p:cNvSpPr/>
          <p:nvPr/>
        </p:nvSpPr>
        <p:spPr>
          <a:xfrm>
            <a:off x="9898266" y="1736307"/>
            <a:ext cx="1267475" cy="55061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Parity conditions</a:t>
            </a:r>
          </a:p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(PPP/UIP/CIP)</a:t>
            </a:r>
          </a:p>
        </p:txBody>
      </p:sp>
      <p:cxnSp>
        <p:nvCxnSpPr>
          <p:cNvPr id="91" name="Gerade Verbindung mit Pfeil 90">
            <a:extLst>
              <a:ext uri="{FF2B5EF4-FFF2-40B4-BE49-F238E27FC236}">
                <a16:creationId xmlns:a16="http://schemas.microsoft.com/office/drawing/2014/main" id="{01F56126-26E4-9EEE-B156-7BAD009C4BFB}"/>
              </a:ext>
            </a:extLst>
          </p:cNvPr>
          <p:cNvCxnSpPr>
            <a:cxnSpLocks/>
            <a:stCxn id="29" idx="3"/>
            <a:endCxn id="75" idx="1"/>
          </p:cNvCxnSpPr>
          <p:nvPr/>
        </p:nvCxnSpPr>
        <p:spPr>
          <a:xfrm>
            <a:off x="9695467" y="2005255"/>
            <a:ext cx="202799" cy="636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4" name="Geschweifte Klammer links 93">
            <a:extLst>
              <a:ext uri="{FF2B5EF4-FFF2-40B4-BE49-F238E27FC236}">
                <a16:creationId xmlns:a16="http://schemas.microsoft.com/office/drawing/2014/main" id="{B27D7CBE-6F19-33C5-FAA5-62CCD66AEB24}"/>
              </a:ext>
            </a:extLst>
          </p:cNvPr>
          <p:cNvSpPr/>
          <p:nvPr/>
        </p:nvSpPr>
        <p:spPr>
          <a:xfrm rot="16200000">
            <a:off x="5497420" y="-1324924"/>
            <a:ext cx="419165" cy="10917479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5" name="Rechteck 94">
            <a:extLst>
              <a:ext uri="{FF2B5EF4-FFF2-40B4-BE49-F238E27FC236}">
                <a16:creationId xmlns:a16="http://schemas.microsoft.com/office/drawing/2014/main" id="{546DFDDA-2BBF-08A0-3697-A553591CD972}"/>
              </a:ext>
            </a:extLst>
          </p:cNvPr>
          <p:cNvSpPr/>
          <p:nvPr/>
        </p:nvSpPr>
        <p:spPr>
          <a:xfrm>
            <a:off x="3831854" y="4343398"/>
            <a:ext cx="3770729" cy="230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Transmission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depending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on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degree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of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financial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integration</a:t>
            </a:r>
            <a:endParaRPr lang="de-DE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6" name="Rechteck 95">
            <a:extLst>
              <a:ext uri="{FF2B5EF4-FFF2-40B4-BE49-F238E27FC236}">
                <a16:creationId xmlns:a16="http://schemas.microsoft.com/office/drawing/2014/main" id="{62278FA6-30BC-7A66-3EC6-1A3FF8DCCFC1}"/>
              </a:ext>
            </a:extLst>
          </p:cNvPr>
          <p:cNvSpPr/>
          <p:nvPr/>
        </p:nvSpPr>
        <p:spPr>
          <a:xfrm>
            <a:off x="5845629" y="4669899"/>
            <a:ext cx="2646401" cy="230400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Open interest in futures markets</a:t>
            </a:r>
          </a:p>
        </p:txBody>
      </p:sp>
      <p:sp>
        <p:nvSpPr>
          <p:cNvPr id="97" name="Rechteck 96">
            <a:extLst>
              <a:ext uri="{FF2B5EF4-FFF2-40B4-BE49-F238E27FC236}">
                <a16:creationId xmlns:a16="http://schemas.microsoft.com/office/drawing/2014/main" id="{EFB9C413-B00B-E725-ECB1-DF29291F41C1}"/>
              </a:ext>
            </a:extLst>
          </p:cNvPr>
          <p:cNvSpPr/>
          <p:nvPr/>
        </p:nvSpPr>
        <p:spPr>
          <a:xfrm>
            <a:off x="4077380" y="3517511"/>
            <a:ext cx="2851717" cy="230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Crude Oil WTI Front Month Future Price</a:t>
            </a:r>
          </a:p>
        </p:txBody>
      </p:sp>
      <p:sp>
        <p:nvSpPr>
          <p:cNvPr id="98" name="Rechteck 97">
            <a:extLst>
              <a:ext uri="{FF2B5EF4-FFF2-40B4-BE49-F238E27FC236}">
                <a16:creationId xmlns:a16="http://schemas.microsoft.com/office/drawing/2014/main" id="{7C4E366A-D035-6428-74DE-7B917A0E8EAE}"/>
              </a:ext>
            </a:extLst>
          </p:cNvPr>
          <p:cNvSpPr/>
          <p:nvPr/>
        </p:nvSpPr>
        <p:spPr>
          <a:xfrm>
            <a:off x="4077379" y="3834376"/>
            <a:ext cx="2851717" cy="230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Crude Oil WTI Spot Price</a:t>
            </a:r>
          </a:p>
        </p:txBody>
      </p:sp>
      <p:cxnSp>
        <p:nvCxnSpPr>
          <p:cNvPr id="99" name="Gewinkelte Verbindung 98">
            <a:extLst>
              <a:ext uri="{FF2B5EF4-FFF2-40B4-BE49-F238E27FC236}">
                <a16:creationId xmlns:a16="http://schemas.microsoft.com/office/drawing/2014/main" id="{1A9821BD-B305-851A-88A4-BBE9C6B02007}"/>
              </a:ext>
            </a:extLst>
          </p:cNvPr>
          <p:cNvCxnSpPr>
            <a:cxnSpLocks/>
            <a:stCxn id="5" idx="2"/>
            <a:endCxn id="97" idx="1"/>
          </p:cNvCxnSpPr>
          <p:nvPr/>
        </p:nvCxnSpPr>
        <p:spPr>
          <a:xfrm rot="16200000" flipH="1">
            <a:off x="3278545" y="2833876"/>
            <a:ext cx="1352144" cy="24552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3" name="Gewinkelte Verbindung 102">
            <a:extLst>
              <a:ext uri="{FF2B5EF4-FFF2-40B4-BE49-F238E27FC236}">
                <a16:creationId xmlns:a16="http://schemas.microsoft.com/office/drawing/2014/main" id="{7D31F963-270D-77EB-ED1F-9EB4B0119ED2}"/>
              </a:ext>
            </a:extLst>
          </p:cNvPr>
          <p:cNvCxnSpPr>
            <a:cxnSpLocks/>
            <a:stCxn id="5" idx="2"/>
            <a:endCxn id="98" idx="1"/>
          </p:cNvCxnSpPr>
          <p:nvPr/>
        </p:nvCxnSpPr>
        <p:spPr>
          <a:xfrm rot="16200000" flipH="1">
            <a:off x="3120113" y="2992309"/>
            <a:ext cx="1669009" cy="24552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6" name="Gewinkelte Verbindung 105">
            <a:extLst>
              <a:ext uri="{FF2B5EF4-FFF2-40B4-BE49-F238E27FC236}">
                <a16:creationId xmlns:a16="http://schemas.microsoft.com/office/drawing/2014/main" id="{4070ED22-2D8D-88E0-E030-E4339E1626CD}"/>
              </a:ext>
            </a:extLst>
          </p:cNvPr>
          <p:cNvCxnSpPr>
            <a:cxnSpLocks/>
            <a:stCxn id="95" idx="2"/>
            <a:endCxn id="96" idx="1"/>
          </p:cNvCxnSpPr>
          <p:nvPr/>
        </p:nvCxnSpPr>
        <p:spPr>
          <a:xfrm rot="16200000" flipH="1">
            <a:off x="5675774" y="4615243"/>
            <a:ext cx="211301" cy="12841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8" name="Gewinkelte Verbindung 117">
            <a:extLst>
              <a:ext uri="{FF2B5EF4-FFF2-40B4-BE49-F238E27FC236}">
                <a16:creationId xmlns:a16="http://schemas.microsoft.com/office/drawing/2014/main" id="{58828655-9B5C-D596-6B15-8E7757820871}"/>
              </a:ext>
            </a:extLst>
          </p:cNvPr>
          <p:cNvCxnSpPr>
            <a:cxnSpLocks/>
            <a:stCxn id="2" idx="2"/>
            <a:endCxn id="121" idx="1"/>
          </p:cNvCxnSpPr>
          <p:nvPr/>
        </p:nvCxnSpPr>
        <p:spPr>
          <a:xfrm rot="16200000" flipH="1">
            <a:off x="91296" y="2944042"/>
            <a:ext cx="1475731" cy="14877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1" name="Rechteck 120">
            <a:extLst>
              <a:ext uri="{FF2B5EF4-FFF2-40B4-BE49-F238E27FC236}">
                <a16:creationId xmlns:a16="http://schemas.microsoft.com/office/drawing/2014/main" id="{B0ADA5D6-3FD1-CBB1-749C-1A2DAC0215FD}"/>
              </a:ext>
            </a:extLst>
          </p:cNvPr>
          <p:cNvSpPr/>
          <p:nvPr/>
        </p:nvSpPr>
        <p:spPr>
          <a:xfrm>
            <a:off x="903548" y="3641095"/>
            <a:ext cx="1542696" cy="230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Defined crisis periods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911C4393-6314-BFD0-EDEF-6CF65E414970}"/>
              </a:ext>
            </a:extLst>
          </p:cNvPr>
          <p:cNvSpPr/>
          <p:nvPr/>
        </p:nvSpPr>
        <p:spPr>
          <a:xfrm>
            <a:off x="2501762" y="2849560"/>
            <a:ext cx="1248465" cy="230400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OPEC volumes</a:t>
            </a:r>
          </a:p>
        </p:txBody>
      </p:sp>
      <p:cxnSp>
        <p:nvCxnSpPr>
          <p:cNvPr id="13" name="Gewinkelte Verbindung 12">
            <a:extLst>
              <a:ext uri="{FF2B5EF4-FFF2-40B4-BE49-F238E27FC236}">
                <a16:creationId xmlns:a16="http://schemas.microsoft.com/office/drawing/2014/main" id="{2B4BDEEF-7E89-B3C5-3FD6-40F4876B0C60}"/>
              </a:ext>
            </a:extLst>
          </p:cNvPr>
          <p:cNvCxnSpPr>
            <a:cxnSpLocks/>
            <a:stCxn id="3" idx="2"/>
            <a:endCxn id="10" idx="1"/>
          </p:cNvCxnSpPr>
          <p:nvPr/>
        </p:nvCxnSpPr>
        <p:spPr>
          <a:xfrm rot="16200000" flipH="1">
            <a:off x="2046943" y="2509940"/>
            <a:ext cx="682173" cy="227466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Geschweifte Klammer links 17">
            <a:extLst>
              <a:ext uri="{FF2B5EF4-FFF2-40B4-BE49-F238E27FC236}">
                <a16:creationId xmlns:a16="http://schemas.microsoft.com/office/drawing/2014/main" id="{C5B44584-46E0-0BE5-3F1A-2FC7076572F3}"/>
              </a:ext>
            </a:extLst>
          </p:cNvPr>
          <p:cNvSpPr/>
          <p:nvPr/>
        </p:nvSpPr>
        <p:spPr>
          <a:xfrm rot="10800000">
            <a:off x="6994878" y="2862355"/>
            <a:ext cx="419165" cy="1226421"/>
          </a:xfrm>
          <a:prstGeom prst="leftBrace">
            <a:avLst>
              <a:gd name="adj1" fmla="val 8333"/>
              <a:gd name="adj2" fmla="val 4843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FE5CA635-4C49-2BB9-7D73-4A2A0CA141DE}"/>
              </a:ext>
            </a:extLst>
          </p:cNvPr>
          <p:cNvSpPr/>
          <p:nvPr/>
        </p:nvSpPr>
        <p:spPr>
          <a:xfrm>
            <a:off x="7454278" y="3397459"/>
            <a:ext cx="1374885" cy="230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0" i="0" u="none" strike="noStrike" dirty="0">
                <a:solidFill>
                  <a:srgbClr val="000000"/>
                </a:solidFill>
                <a:effectLst/>
                <a:latin typeface="Roboto" panose="02000000000000000000" pitchFamily="2" charset="0"/>
              </a:rPr>
              <a:t>(Rolling) Volatility</a:t>
            </a: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2C2A845E-3515-0FD7-1B97-5549F6F1C794}"/>
              </a:ext>
            </a:extLst>
          </p:cNvPr>
          <p:cNvSpPr/>
          <p:nvPr/>
        </p:nvSpPr>
        <p:spPr>
          <a:xfrm>
            <a:off x="4935654" y="5685068"/>
            <a:ext cx="1542696" cy="230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Regime dependent</a:t>
            </a:r>
          </a:p>
        </p:txBody>
      </p:sp>
      <p:sp>
        <p:nvSpPr>
          <p:cNvPr id="33" name="Geschweifte Klammer links 32">
            <a:extLst>
              <a:ext uri="{FF2B5EF4-FFF2-40B4-BE49-F238E27FC236}">
                <a16:creationId xmlns:a16="http://schemas.microsoft.com/office/drawing/2014/main" id="{A0F6E71F-FFE6-DF2D-BCBE-F758A9BAFC3E}"/>
              </a:ext>
            </a:extLst>
          </p:cNvPr>
          <p:cNvSpPr/>
          <p:nvPr/>
        </p:nvSpPr>
        <p:spPr>
          <a:xfrm rot="16200000">
            <a:off x="5507635" y="-5105"/>
            <a:ext cx="419165" cy="10917479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AD66E357-8389-AD61-8CAC-077D2B7C2E02}"/>
              </a:ext>
            </a:extLst>
          </p:cNvPr>
          <p:cNvSpPr/>
          <p:nvPr/>
        </p:nvSpPr>
        <p:spPr>
          <a:xfrm>
            <a:off x="9378818" y="3054360"/>
            <a:ext cx="1799342" cy="230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0" i="0" u="none" strike="noStrike">
                <a:solidFill>
                  <a:srgbClr val="000000"/>
                </a:solidFill>
                <a:effectLst/>
                <a:latin typeface="Roboto" panose="02000000000000000000" pitchFamily="2" charset="0"/>
              </a:rPr>
              <a:t>Central Bank Policy Rates</a:t>
            </a: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3832D77E-E5BB-792E-3AC5-268CBD4665D8}"/>
              </a:ext>
            </a:extLst>
          </p:cNvPr>
          <p:cNvSpPr/>
          <p:nvPr/>
        </p:nvSpPr>
        <p:spPr>
          <a:xfrm>
            <a:off x="9378818" y="3396185"/>
            <a:ext cx="1799342" cy="3745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0" i="0" u="none" strike="noStrike">
                <a:solidFill>
                  <a:srgbClr val="000000"/>
                </a:solidFill>
                <a:effectLst/>
                <a:latin typeface="Roboto" panose="02000000000000000000" pitchFamily="2" charset="0"/>
              </a:rPr>
              <a:t>3M Interbank lending rates</a:t>
            </a:r>
          </a:p>
        </p:txBody>
      </p:sp>
      <p:cxnSp>
        <p:nvCxnSpPr>
          <p:cNvPr id="36" name="Gewinkelte Verbindung 35">
            <a:extLst>
              <a:ext uri="{FF2B5EF4-FFF2-40B4-BE49-F238E27FC236}">
                <a16:creationId xmlns:a16="http://schemas.microsoft.com/office/drawing/2014/main" id="{5D58BF1E-0267-CD1B-A8D8-D5BA270B2403}"/>
              </a:ext>
            </a:extLst>
          </p:cNvPr>
          <p:cNvCxnSpPr>
            <a:cxnSpLocks/>
            <a:stCxn id="29" idx="2"/>
            <a:endCxn id="34" idx="1"/>
          </p:cNvCxnSpPr>
          <p:nvPr/>
        </p:nvCxnSpPr>
        <p:spPr>
          <a:xfrm rot="16200000" flipH="1">
            <a:off x="8844150" y="2634891"/>
            <a:ext cx="888997" cy="180339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Gewinkelte Verbindung 38">
            <a:extLst>
              <a:ext uri="{FF2B5EF4-FFF2-40B4-BE49-F238E27FC236}">
                <a16:creationId xmlns:a16="http://schemas.microsoft.com/office/drawing/2014/main" id="{AA9E123C-BD88-94BC-D3DD-67CEA79CD5A4}"/>
              </a:ext>
            </a:extLst>
          </p:cNvPr>
          <p:cNvCxnSpPr>
            <a:cxnSpLocks/>
            <a:stCxn id="29" idx="2"/>
            <a:endCxn id="35" idx="1"/>
          </p:cNvCxnSpPr>
          <p:nvPr/>
        </p:nvCxnSpPr>
        <p:spPr>
          <a:xfrm rot="16200000" flipH="1">
            <a:off x="8637196" y="2841845"/>
            <a:ext cx="1302905" cy="180339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4" name="Rechteck 43">
            <a:extLst>
              <a:ext uri="{FF2B5EF4-FFF2-40B4-BE49-F238E27FC236}">
                <a16:creationId xmlns:a16="http://schemas.microsoft.com/office/drawing/2014/main" id="{4143DB3E-7694-5D50-523F-9E580EE43186}"/>
              </a:ext>
            </a:extLst>
          </p:cNvPr>
          <p:cNvSpPr/>
          <p:nvPr/>
        </p:nvSpPr>
        <p:spPr>
          <a:xfrm>
            <a:off x="8305149" y="2593674"/>
            <a:ext cx="576461" cy="230400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0" i="0" u="none" strike="noStrike">
                <a:solidFill>
                  <a:srgbClr val="000000"/>
                </a:solidFill>
                <a:effectLst/>
                <a:latin typeface="Roboto" panose="02000000000000000000" pitchFamily="2" charset="0"/>
              </a:rPr>
              <a:t>CPI</a:t>
            </a:r>
          </a:p>
        </p:txBody>
      </p:sp>
      <p:sp>
        <p:nvSpPr>
          <p:cNvPr id="53" name="Geschweifte Klammer links 52">
            <a:extLst>
              <a:ext uri="{FF2B5EF4-FFF2-40B4-BE49-F238E27FC236}">
                <a16:creationId xmlns:a16="http://schemas.microsoft.com/office/drawing/2014/main" id="{75D83B1D-AFD6-D9E6-A4CA-3220113BEC7F}"/>
              </a:ext>
            </a:extLst>
          </p:cNvPr>
          <p:cNvSpPr/>
          <p:nvPr/>
        </p:nvSpPr>
        <p:spPr>
          <a:xfrm rot="16200000">
            <a:off x="6927899" y="919262"/>
            <a:ext cx="215917" cy="2912347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1" name="Geschweifte Klammer links 60">
            <a:extLst>
              <a:ext uri="{FF2B5EF4-FFF2-40B4-BE49-F238E27FC236}">
                <a16:creationId xmlns:a16="http://schemas.microsoft.com/office/drawing/2014/main" id="{A8E3832B-6883-6FD6-2DDE-86585AF6F486}"/>
              </a:ext>
            </a:extLst>
          </p:cNvPr>
          <p:cNvSpPr/>
          <p:nvPr/>
        </p:nvSpPr>
        <p:spPr>
          <a:xfrm rot="5400000">
            <a:off x="2233476" y="-431714"/>
            <a:ext cx="119671" cy="4090100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2" name="Rechteck 61">
            <a:extLst>
              <a:ext uri="{FF2B5EF4-FFF2-40B4-BE49-F238E27FC236}">
                <a16:creationId xmlns:a16="http://schemas.microsoft.com/office/drawing/2014/main" id="{5E383347-8861-E3BF-A928-13C2C0E16831}"/>
              </a:ext>
            </a:extLst>
          </p:cNvPr>
          <p:cNvSpPr/>
          <p:nvPr/>
        </p:nvSpPr>
        <p:spPr>
          <a:xfrm>
            <a:off x="977198" y="1306400"/>
            <a:ext cx="2632225" cy="230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Classical information efficiency theory</a:t>
            </a:r>
          </a:p>
        </p:txBody>
      </p:sp>
      <p:sp>
        <p:nvSpPr>
          <p:cNvPr id="63" name="Rechteck 62">
            <a:extLst>
              <a:ext uri="{FF2B5EF4-FFF2-40B4-BE49-F238E27FC236}">
                <a16:creationId xmlns:a16="http://schemas.microsoft.com/office/drawing/2014/main" id="{4B7D7EC2-4DA3-D574-E32E-60EB0C1F6A5C}"/>
              </a:ext>
            </a:extLst>
          </p:cNvPr>
          <p:cNvSpPr/>
          <p:nvPr/>
        </p:nvSpPr>
        <p:spPr>
          <a:xfrm>
            <a:off x="10689577" y="2607101"/>
            <a:ext cx="792000" cy="230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0" i="0" u="none" strike="noStrike">
                <a:solidFill>
                  <a:srgbClr val="000000"/>
                </a:solidFill>
                <a:effectLst/>
                <a:latin typeface="Roboto" panose="02000000000000000000" pitchFamily="2" charset="0"/>
              </a:rPr>
              <a:t>EUR/USD</a:t>
            </a:r>
          </a:p>
        </p:txBody>
      </p:sp>
      <p:cxnSp>
        <p:nvCxnSpPr>
          <p:cNvPr id="64" name="Gewinkelte Verbindung 63">
            <a:extLst>
              <a:ext uri="{FF2B5EF4-FFF2-40B4-BE49-F238E27FC236}">
                <a16:creationId xmlns:a16="http://schemas.microsoft.com/office/drawing/2014/main" id="{24B51B47-8D5E-7AF1-5416-AAE5A167318F}"/>
              </a:ext>
            </a:extLst>
          </p:cNvPr>
          <p:cNvCxnSpPr>
            <a:cxnSpLocks/>
            <a:stCxn id="75" idx="2"/>
            <a:endCxn id="63" idx="1"/>
          </p:cNvCxnSpPr>
          <p:nvPr/>
        </p:nvCxnSpPr>
        <p:spPr>
          <a:xfrm rot="16200000" flipH="1">
            <a:off x="10393102" y="2425825"/>
            <a:ext cx="435377" cy="15757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4" name="Gewinkelte Verbindung 73">
            <a:extLst>
              <a:ext uri="{FF2B5EF4-FFF2-40B4-BE49-F238E27FC236}">
                <a16:creationId xmlns:a16="http://schemas.microsoft.com/office/drawing/2014/main" id="{FBA6D73B-2EA4-72BF-8355-5763FCEF3193}"/>
              </a:ext>
            </a:extLst>
          </p:cNvPr>
          <p:cNvCxnSpPr>
            <a:cxnSpLocks/>
            <a:stCxn id="53" idx="1"/>
            <a:endCxn id="44" idx="1"/>
          </p:cNvCxnSpPr>
          <p:nvPr/>
        </p:nvCxnSpPr>
        <p:spPr>
          <a:xfrm rot="16200000" flipH="1">
            <a:off x="7557763" y="1961488"/>
            <a:ext cx="225480" cy="1269291"/>
          </a:xfrm>
          <a:prstGeom prst="bentConnector4">
            <a:avLst>
              <a:gd name="adj1" fmla="val 101384"/>
              <a:gd name="adj2" fmla="val 54253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Rechteck 13">
            <a:extLst>
              <a:ext uri="{FF2B5EF4-FFF2-40B4-BE49-F238E27FC236}">
                <a16:creationId xmlns:a16="http://schemas.microsoft.com/office/drawing/2014/main" id="{0899C555-34FE-A0FC-A6DA-A49D1F54EF81}"/>
              </a:ext>
            </a:extLst>
          </p:cNvPr>
          <p:cNvSpPr/>
          <p:nvPr/>
        </p:nvSpPr>
        <p:spPr>
          <a:xfrm>
            <a:off x="5845629" y="4965429"/>
            <a:ext cx="2646401" cy="230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Trading volume in futures markets</a:t>
            </a: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6E79E564-161E-55DB-D07C-F70FF4DCAEA8}"/>
              </a:ext>
            </a:extLst>
          </p:cNvPr>
          <p:cNvSpPr/>
          <p:nvPr/>
        </p:nvSpPr>
        <p:spPr>
          <a:xfrm>
            <a:off x="4077379" y="2841982"/>
            <a:ext cx="2851717" cy="230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Gas Front Month Future Price</a:t>
            </a: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8001AAF7-1BAC-77FC-6184-6D2824984C15}"/>
              </a:ext>
            </a:extLst>
          </p:cNvPr>
          <p:cNvSpPr/>
          <p:nvPr/>
        </p:nvSpPr>
        <p:spPr>
          <a:xfrm>
            <a:off x="4077379" y="3169560"/>
            <a:ext cx="2851717" cy="230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Gas Spot Price</a:t>
            </a:r>
          </a:p>
        </p:txBody>
      </p:sp>
      <p:cxnSp>
        <p:nvCxnSpPr>
          <p:cNvPr id="24" name="Gewinkelte Verbindung 23">
            <a:extLst>
              <a:ext uri="{FF2B5EF4-FFF2-40B4-BE49-F238E27FC236}">
                <a16:creationId xmlns:a16="http://schemas.microsoft.com/office/drawing/2014/main" id="{A2BFA96B-A1CF-1F21-E29C-BF3013031997}"/>
              </a:ext>
            </a:extLst>
          </p:cNvPr>
          <p:cNvCxnSpPr>
            <a:cxnSpLocks/>
            <a:stCxn id="5" idx="2"/>
            <a:endCxn id="17" idx="1"/>
          </p:cNvCxnSpPr>
          <p:nvPr/>
        </p:nvCxnSpPr>
        <p:spPr>
          <a:xfrm rot="16200000" flipH="1">
            <a:off x="3616310" y="2496112"/>
            <a:ext cx="676615" cy="24552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Gewinkelte Verbindung 29">
            <a:extLst>
              <a:ext uri="{FF2B5EF4-FFF2-40B4-BE49-F238E27FC236}">
                <a16:creationId xmlns:a16="http://schemas.microsoft.com/office/drawing/2014/main" id="{90764E94-68E6-4A03-F8BB-5577A60DBBAD}"/>
              </a:ext>
            </a:extLst>
          </p:cNvPr>
          <p:cNvCxnSpPr>
            <a:cxnSpLocks/>
            <a:stCxn id="5" idx="2"/>
            <a:endCxn id="22" idx="1"/>
          </p:cNvCxnSpPr>
          <p:nvPr/>
        </p:nvCxnSpPr>
        <p:spPr>
          <a:xfrm rot="16200000" flipH="1">
            <a:off x="3452521" y="2659901"/>
            <a:ext cx="1004193" cy="24552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Gewinkelte Verbindung 44">
            <a:extLst>
              <a:ext uri="{FF2B5EF4-FFF2-40B4-BE49-F238E27FC236}">
                <a16:creationId xmlns:a16="http://schemas.microsoft.com/office/drawing/2014/main" id="{E7C9E15D-2B56-31F7-42E4-DB58676C3B4E}"/>
              </a:ext>
            </a:extLst>
          </p:cNvPr>
          <p:cNvCxnSpPr>
            <a:cxnSpLocks/>
            <a:stCxn id="95" idx="2"/>
            <a:endCxn id="14" idx="1"/>
          </p:cNvCxnSpPr>
          <p:nvPr/>
        </p:nvCxnSpPr>
        <p:spPr>
          <a:xfrm rot="16200000" flipH="1">
            <a:off x="5528009" y="4763008"/>
            <a:ext cx="506831" cy="12841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8" name="Rechteck 47">
            <a:extLst>
              <a:ext uri="{FF2B5EF4-FFF2-40B4-BE49-F238E27FC236}">
                <a16:creationId xmlns:a16="http://schemas.microsoft.com/office/drawing/2014/main" id="{AE980178-4585-1AFF-5C0E-2A6A01308009}"/>
              </a:ext>
            </a:extLst>
          </p:cNvPr>
          <p:cNvSpPr/>
          <p:nvPr/>
        </p:nvSpPr>
        <p:spPr>
          <a:xfrm>
            <a:off x="9288648" y="5541453"/>
            <a:ext cx="324000" cy="230400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1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72ADB375-89BA-FD19-7379-27DD197F2932}"/>
              </a:ext>
            </a:extLst>
          </p:cNvPr>
          <p:cNvSpPr/>
          <p:nvPr/>
        </p:nvSpPr>
        <p:spPr>
          <a:xfrm>
            <a:off x="9532410" y="5533467"/>
            <a:ext cx="1374885" cy="230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>
                <a:solidFill>
                  <a:srgbClr val="000000"/>
                </a:solidFill>
                <a:latin typeface="Roboto" panose="02000000000000000000" pitchFamily="2" charset="0"/>
              </a:rPr>
              <a:t>: variable not considered</a:t>
            </a:r>
            <a:endParaRPr lang="de-DE" sz="800" b="0" i="0" u="none" strike="noStrike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</p:txBody>
      </p:sp>
      <p:sp>
        <p:nvSpPr>
          <p:cNvPr id="51" name="Rechteck 50">
            <a:extLst>
              <a:ext uri="{FF2B5EF4-FFF2-40B4-BE49-F238E27FC236}">
                <a16:creationId xmlns:a16="http://schemas.microsoft.com/office/drawing/2014/main" id="{1EEAF8B1-B3EB-EFC1-4422-D4D9B2AFD791}"/>
              </a:ext>
            </a:extLst>
          </p:cNvPr>
          <p:cNvSpPr/>
          <p:nvPr/>
        </p:nvSpPr>
        <p:spPr>
          <a:xfrm>
            <a:off x="9288648" y="5879852"/>
            <a:ext cx="324000" cy="230400"/>
          </a:xfrm>
          <a:prstGeom prst="rect">
            <a:avLst/>
          </a:prstGeom>
          <a:noFill/>
          <a:ln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1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2" name="Rechteck 51">
            <a:extLst>
              <a:ext uri="{FF2B5EF4-FFF2-40B4-BE49-F238E27FC236}">
                <a16:creationId xmlns:a16="http://schemas.microsoft.com/office/drawing/2014/main" id="{9B5C8209-522A-5A8C-17F5-4180D2874F17}"/>
              </a:ext>
            </a:extLst>
          </p:cNvPr>
          <p:cNvSpPr/>
          <p:nvPr/>
        </p:nvSpPr>
        <p:spPr>
          <a:xfrm>
            <a:off x="9407281" y="5871866"/>
            <a:ext cx="1374885" cy="230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>
                <a:solidFill>
                  <a:srgbClr val="000000"/>
                </a:solidFill>
                <a:latin typeface="Roboto" panose="02000000000000000000" pitchFamily="2" charset="0"/>
              </a:rPr>
              <a:t>: variable included</a:t>
            </a:r>
            <a:endParaRPr lang="de-DE" sz="800" b="0" i="0" u="none" strike="noStrike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553981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158F2C-61BE-2FD0-F7A7-D7C43EA5C3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Rechteck 48">
            <a:extLst>
              <a:ext uri="{FF2B5EF4-FFF2-40B4-BE49-F238E27FC236}">
                <a16:creationId xmlns:a16="http://schemas.microsoft.com/office/drawing/2014/main" id="{6047A77A-195C-5F25-75C4-D98FE53FDCC5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2400">
                <a:latin typeface="Arial" panose="020B0604020202020204" pitchFamily="34" charset="0"/>
                <a:cs typeface="Arial" panose="020B0604020202020204" pitchFamily="34" charset="0"/>
              </a:rPr>
              <a:t>Theoretical Framework (I)</a:t>
            </a: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CA2EC787-A499-C95C-2B1F-49527EB77C34}"/>
              </a:ext>
            </a:extLst>
          </p:cNvPr>
          <p:cNvSpPr/>
          <p:nvPr/>
        </p:nvSpPr>
        <p:spPr>
          <a:xfrm>
            <a:off x="376323" y="728896"/>
            <a:ext cx="547600" cy="144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1)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6DE29A15-DF4F-765C-A5B2-90347370B95F}"/>
              </a:ext>
            </a:extLst>
          </p:cNvPr>
          <p:cNvSpPr/>
          <p:nvPr/>
        </p:nvSpPr>
        <p:spPr>
          <a:xfrm>
            <a:off x="1112921" y="728896"/>
            <a:ext cx="2850535" cy="144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Identify relevant regimes in the data</a:t>
            </a:r>
          </a:p>
        </p:txBody>
      </p:sp>
      <p:graphicFrame>
        <p:nvGraphicFramePr>
          <p:cNvPr id="16" name="Tabelle 15">
            <a:extLst>
              <a:ext uri="{FF2B5EF4-FFF2-40B4-BE49-F238E27FC236}">
                <a16:creationId xmlns:a16="http://schemas.microsoft.com/office/drawing/2014/main" id="{7CD823E6-BA5A-5095-3D68-134CDB2F79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33007301"/>
              </p:ext>
            </p:extLst>
          </p:nvPr>
        </p:nvGraphicFramePr>
        <p:xfrm>
          <a:off x="1112919" y="1807520"/>
          <a:ext cx="4516837" cy="416596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992944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1335893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</a:tblGrid>
              <a:tr h="263672"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Thematic area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Category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4375"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EUR/USD spot exchange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FX theory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spot exchange rate (NER)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  <a:tr h="234375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log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first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diff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of EUR/USD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spot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FX theory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spot exchange rate log return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5578983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rolling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volatilty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of log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first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diff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of EUR/USD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spot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FX theory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spot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exchange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rate log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return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volatility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6497854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Central Bank Policy rates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DE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FX theory</a:t>
                      </a: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interest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55077558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Central Bank Policy rates differentials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DE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FX theory</a:t>
                      </a: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interest rate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Differential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7185513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3M Interbank lending rates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DE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FX theory</a:t>
                      </a: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interest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58406197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3M Interbank lending rates differentials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DE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FX theory</a:t>
                      </a: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interest rate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Differential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43982446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WTI Oil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Energy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commodity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spot price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83791469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Gas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DE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Energy </a:t>
                      </a:r>
                      <a:r>
                        <a:rPr kumimoji="0" lang="de-DE" sz="9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commodity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spot price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82612393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rolling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volatilty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of log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first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diff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of WTI Oil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DE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Energy </a:t>
                      </a:r>
                      <a:r>
                        <a:rPr kumimoji="0" lang="de-DE" sz="9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commodity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b="0" dirty="0" err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rolling</a:t>
                      </a:r>
                      <a:r>
                        <a:rPr lang="de-DE" sz="9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log </a:t>
                      </a:r>
                      <a:r>
                        <a:rPr lang="de-DE" sz="900" b="0" dirty="0" err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return</a:t>
                      </a:r>
                      <a:r>
                        <a:rPr lang="de-DE" sz="9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b="0" dirty="0" err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volatility</a:t>
                      </a:r>
                      <a:endParaRPr lang="de-DE" sz="900" b="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84772991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rolling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volatilty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of log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first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diff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of Gas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DE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Energy </a:t>
                      </a:r>
                      <a:r>
                        <a:rPr kumimoji="0" lang="de-DE" sz="9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commodity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b="0" dirty="0" err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rolling</a:t>
                      </a:r>
                      <a:r>
                        <a:rPr lang="de-DE" sz="9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log </a:t>
                      </a:r>
                      <a:r>
                        <a:rPr lang="de-DE" sz="900" b="0" dirty="0" err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return</a:t>
                      </a:r>
                      <a:r>
                        <a:rPr lang="de-DE" sz="9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b="0" dirty="0" err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volatility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26606027"/>
                  </a:ext>
                </a:extLst>
              </a:tr>
              <a:tr h="23437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Futures Trading Volume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Degree of Financial Integration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Trading Volume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64646873"/>
                  </a:ext>
                </a:extLst>
              </a:tr>
            </a:tbl>
          </a:graphicData>
        </a:graphic>
      </p:graphicFrame>
      <p:sp>
        <p:nvSpPr>
          <p:cNvPr id="21" name="Rechteck 20">
            <a:extLst>
              <a:ext uri="{FF2B5EF4-FFF2-40B4-BE49-F238E27FC236}">
                <a16:creationId xmlns:a16="http://schemas.microsoft.com/office/drawing/2014/main" id="{D6B181A9-7423-F64F-C454-DCA25B2E528C}"/>
              </a:ext>
            </a:extLst>
          </p:cNvPr>
          <p:cNvSpPr/>
          <p:nvPr/>
        </p:nvSpPr>
        <p:spPr>
          <a:xfrm>
            <a:off x="4330396" y="759170"/>
            <a:ext cx="2988000" cy="161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= 2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regimes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(high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volatility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vs.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low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volatility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D1C1C51E-5D8B-6F7C-2C37-61818542AA66}"/>
              </a:ext>
            </a:extLst>
          </p:cNvPr>
          <p:cNvSpPr/>
          <p:nvPr/>
        </p:nvSpPr>
        <p:spPr>
          <a:xfrm>
            <a:off x="7547874" y="993009"/>
            <a:ext cx="2969970" cy="37252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Classical approaches: Univariate econometric modelling (benchmarks)</a:t>
            </a: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AF91DC8B-8431-C436-8693-CADE51C6335D}"/>
              </a:ext>
            </a:extLst>
          </p:cNvPr>
          <p:cNvSpPr/>
          <p:nvPr/>
        </p:nvSpPr>
        <p:spPr>
          <a:xfrm>
            <a:off x="1112919" y="993009"/>
            <a:ext cx="2969970" cy="37252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Alternative approaches: Multivariate Clustering using additional variables</a:t>
            </a:r>
          </a:p>
        </p:txBody>
      </p:sp>
      <p:cxnSp>
        <p:nvCxnSpPr>
          <p:cNvPr id="24" name="Gerade Verbindung mit Pfeil 23">
            <a:extLst>
              <a:ext uri="{FF2B5EF4-FFF2-40B4-BE49-F238E27FC236}">
                <a16:creationId xmlns:a16="http://schemas.microsoft.com/office/drawing/2014/main" id="{200B6B33-D0B3-FB61-99FB-DE2B260A16AB}"/>
              </a:ext>
            </a:extLst>
          </p:cNvPr>
          <p:cNvCxnSpPr>
            <a:cxnSpLocks/>
            <a:stCxn id="21" idx="2"/>
            <a:endCxn id="23" idx="3"/>
          </p:cNvCxnSpPr>
          <p:nvPr/>
        </p:nvCxnSpPr>
        <p:spPr>
          <a:xfrm flipH="1">
            <a:off x="4082889" y="920391"/>
            <a:ext cx="1741507" cy="2588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FD3D80A1-0057-9041-1EC7-7367B7B25969}"/>
              </a:ext>
            </a:extLst>
          </p:cNvPr>
          <p:cNvCxnSpPr>
            <a:cxnSpLocks/>
            <a:stCxn id="21" idx="2"/>
            <a:endCxn id="22" idx="1"/>
          </p:cNvCxnSpPr>
          <p:nvPr/>
        </p:nvCxnSpPr>
        <p:spPr>
          <a:xfrm>
            <a:off x="5824396" y="920391"/>
            <a:ext cx="1723478" cy="2588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Rechteck 36">
            <a:extLst>
              <a:ext uri="{FF2B5EF4-FFF2-40B4-BE49-F238E27FC236}">
                <a16:creationId xmlns:a16="http://schemas.microsoft.com/office/drawing/2014/main" id="{EE43A6DD-BA77-C312-7356-31C55CC89726}"/>
              </a:ext>
            </a:extLst>
          </p:cNvPr>
          <p:cNvSpPr/>
          <p:nvPr/>
        </p:nvSpPr>
        <p:spPr>
          <a:xfrm>
            <a:off x="7547874" y="1498708"/>
            <a:ext cx="2850535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Markov Regression/Switching</a:t>
            </a:r>
          </a:p>
        </p:txBody>
      </p:sp>
      <p:graphicFrame>
        <p:nvGraphicFramePr>
          <p:cNvPr id="3" name="Tabelle 2">
            <a:extLst>
              <a:ext uri="{FF2B5EF4-FFF2-40B4-BE49-F238E27FC236}">
                <a16:creationId xmlns:a16="http://schemas.microsoft.com/office/drawing/2014/main" id="{F7DCFDD3-AEE7-F981-C91B-82C94939F4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23109881"/>
              </p:ext>
            </p:extLst>
          </p:nvPr>
        </p:nvGraphicFramePr>
        <p:xfrm>
          <a:off x="6640775" y="1807521"/>
          <a:ext cx="4516837" cy="995192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992944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1335893">
                  <a:extLst>
                    <a:ext uri="{9D8B030D-6E8A-4147-A177-3AD203B41FA5}">
                      <a16:colId xmlns:a16="http://schemas.microsoft.com/office/drawing/2014/main" val="717331518"/>
                    </a:ext>
                  </a:extLst>
                </a:gridCol>
              </a:tblGrid>
              <a:tr h="263672"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Thematic area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Category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4375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log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first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diff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of EUR/USD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spot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FX theory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spot exchange rate log return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5578983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Central Bank Policy rates differentials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FX theory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interest rate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differential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6497854"/>
                  </a:ext>
                </a:extLst>
              </a:tr>
            </a:tbl>
          </a:graphicData>
        </a:graphic>
      </p:graphicFrame>
      <p:graphicFrame>
        <p:nvGraphicFramePr>
          <p:cNvPr id="5" name="Tabelle 4">
            <a:extLst>
              <a:ext uri="{FF2B5EF4-FFF2-40B4-BE49-F238E27FC236}">
                <a16:creationId xmlns:a16="http://schemas.microsoft.com/office/drawing/2014/main" id="{FCCECF7D-C21A-080D-16C3-E991942BA5E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60059003"/>
              </p:ext>
            </p:extLst>
          </p:nvPr>
        </p:nvGraphicFramePr>
        <p:xfrm>
          <a:off x="6640775" y="2979002"/>
          <a:ext cx="4516837" cy="975572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992944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1335893">
                  <a:extLst>
                    <a:ext uri="{9D8B030D-6E8A-4147-A177-3AD203B41FA5}">
                      <a16:colId xmlns:a16="http://schemas.microsoft.com/office/drawing/2014/main" val="203178193"/>
                    </a:ext>
                  </a:extLst>
                </a:gridCol>
              </a:tblGrid>
              <a:tr h="234375">
                <a:tc>
                  <a:txBody>
                    <a:bodyPr/>
                    <a:lstStyle/>
                    <a:p>
                      <a:pPr algn="ctr"/>
                      <a:r>
                        <a:rPr lang="de-DE" sz="900" b="0" kern="1200" dirty="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rolling</a:t>
                      </a:r>
                      <a:r>
                        <a:rPr lang="de-DE" sz="900" b="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b="0" kern="1200" dirty="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volatilty</a:t>
                      </a:r>
                      <a:r>
                        <a:rPr lang="de-DE" sz="900" b="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of log </a:t>
                      </a:r>
                      <a:r>
                        <a:rPr lang="de-DE" sz="900" b="0" kern="1200" dirty="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first</a:t>
                      </a:r>
                      <a:r>
                        <a:rPr lang="de-DE" sz="900" b="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b="0" kern="1200" dirty="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diff</a:t>
                      </a:r>
                      <a:r>
                        <a:rPr lang="de-DE" sz="900" b="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of WTI Oil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DE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Energy </a:t>
                      </a:r>
                      <a:r>
                        <a:rPr kumimoji="0" lang="de-DE" sz="9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commodity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b="0" dirty="0" err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rolling</a:t>
                      </a:r>
                      <a:r>
                        <a:rPr lang="de-DE" sz="9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log </a:t>
                      </a:r>
                      <a:r>
                        <a:rPr lang="de-DE" sz="900" b="0" dirty="0" err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return</a:t>
                      </a:r>
                      <a:r>
                        <a:rPr lang="de-DE" sz="9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b="0" dirty="0" err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volatility</a:t>
                      </a:r>
                      <a:endParaRPr lang="de-DE" sz="900" b="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5578983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rolling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volatilty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of log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first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diff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of Natural Gas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DE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Energy </a:t>
                      </a:r>
                      <a:r>
                        <a:rPr kumimoji="0" lang="de-DE" sz="9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commodity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b="0" dirty="0" err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rolling</a:t>
                      </a:r>
                      <a:r>
                        <a:rPr lang="de-DE" sz="9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log </a:t>
                      </a:r>
                      <a:r>
                        <a:rPr lang="de-DE" sz="900" b="0" dirty="0" err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return</a:t>
                      </a:r>
                      <a:r>
                        <a:rPr lang="de-DE" sz="9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b="0" dirty="0" err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volatility</a:t>
                      </a:r>
                      <a:endParaRPr lang="de-DE" sz="900" b="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6497854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Trading Volume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b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Market integration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Trading Volume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3889717"/>
                  </a:ext>
                </a:extLst>
              </a:tr>
            </a:tbl>
          </a:graphicData>
        </a:graphic>
      </p:graphicFrame>
      <p:graphicFrame>
        <p:nvGraphicFramePr>
          <p:cNvPr id="6" name="Tabelle 5">
            <a:extLst>
              <a:ext uri="{FF2B5EF4-FFF2-40B4-BE49-F238E27FC236}">
                <a16:creationId xmlns:a16="http://schemas.microsoft.com/office/drawing/2014/main" id="{4453D957-4CD6-677D-3418-388D641D039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90251013"/>
              </p:ext>
            </p:extLst>
          </p:nvPr>
        </p:nvGraphicFramePr>
        <p:xfrm>
          <a:off x="6640775" y="4150558"/>
          <a:ext cx="4516837" cy="995192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992944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1335893">
                  <a:extLst>
                    <a:ext uri="{9D8B030D-6E8A-4147-A177-3AD203B41FA5}">
                      <a16:colId xmlns:a16="http://schemas.microsoft.com/office/drawing/2014/main" val="717331518"/>
                    </a:ext>
                  </a:extLst>
                </a:gridCol>
              </a:tblGrid>
              <a:tr h="263672"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Thematic area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Category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4375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log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first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diff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of EUR/USD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spot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FX theory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spot exchange rate log return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5578983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3M Interbank lending rates differentials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FX theory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interest rate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differential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6497854"/>
                  </a:ext>
                </a:extLst>
              </a:tr>
            </a:tbl>
          </a:graphicData>
        </a:graphic>
      </p:graphicFrame>
      <p:graphicFrame>
        <p:nvGraphicFramePr>
          <p:cNvPr id="7" name="Tabelle 6">
            <a:extLst>
              <a:ext uri="{FF2B5EF4-FFF2-40B4-BE49-F238E27FC236}">
                <a16:creationId xmlns:a16="http://schemas.microsoft.com/office/drawing/2014/main" id="{A398DA32-6A27-A2AC-E754-01DDC2223A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54755468"/>
              </p:ext>
            </p:extLst>
          </p:nvPr>
        </p:nvGraphicFramePr>
        <p:xfrm>
          <a:off x="6640775" y="5322039"/>
          <a:ext cx="4516837" cy="975572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992944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1335893">
                  <a:extLst>
                    <a:ext uri="{9D8B030D-6E8A-4147-A177-3AD203B41FA5}">
                      <a16:colId xmlns:a16="http://schemas.microsoft.com/office/drawing/2014/main" val="203178193"/>
                    </a:ext>
                  </a:extLst>
                </a:gridCol>
              </a:tblGrid>
              <a:tr h="234375">
                <a:tc>
                  <a:txBody>
                    <a:bodyPr/>
                    <a:lstStyle/>
                    <a:p>
                      <a:pPr algn="ctr"/>
                      <a:r>
                        <a:rPr lang="de-DE" sz="900" b="0" kern="1200" dirty="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rolling</a:t>
                      </a:r>
                      <a:r>
                        <a:rPr lang="de-DE" sz="900" b="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b="0" kern="1200" dirty="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volatilty</a:t>
                      </a:r>
                      <a:r>
                        <a:rPr lang="de-DE" sz="900" b="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of log </a:t>
                      </a:r>
                      <a:r>
                        <a:rPr lang="de-DE" sz="900" b="0" kern="1200" dirty="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first</a:t>
                      </a:r>
                      <a:r>
                        <a:rPr lang="de-DE" sz="900" b="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b="0" kern="1200" dirty="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diff</a:t>
                      </a:r>
                      <a:r>
                        <a:rPr lang="de-DE" sz="900" b="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of WTI Oil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DE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Energy </a:t>
                      </a:r>
                      <a:r>
                        <a:rPr kumimoji="0" lang="de-DE" sz="9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commodity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b="0" dirty="0" err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rolling</a:t>
                      </a:r>
                      <a:r>
                        <a:rPr lang="de-DE" sz="9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log </a:t>
                      </a:r>
                      <a:r>
                        <a:rPr lang="de-DE" sz="900" b="0" dirty="0" err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return</a:t>
                      </a:r>
                      <a:r>
                        <a:rPr lang="de-DE" sz="9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b="0" dirty="0" err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volatility</a:t>
                      </a:r>
                      <a:endParaRPr lang="de-DE" sz="900" b="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5578983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rolling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volatilty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of log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first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diff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of Natural Gas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DE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Energy </a:t>
                      </a:r>
                      <a:r>
                        <a:rPr kumimoji="0" lang="de-DE" sz="9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commodity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b="0" dirty="0" err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rolling</a:t>
                      </a:r>
                      <a:r>
                        <a:rPr lang="de-DE" sz="9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log </a:t>
                      </a:r>
                      <a:r>
                        <a:rPr lang="de-DE" sz="900" b="0" dirty="0" err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return</a:t>
                      </a:r>
                      <a:r>
                        <a:rPr lang="de-DE" sz="9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b="0" dirty="0" err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volatility</a:t>
                      </a:r>
                      <a:endParaRPr lang="de-DE" sz="900" b="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6497854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Trading Volume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b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Market integration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Trading Volume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46968691"/>
                  </a:ext>
                </a:extLst>
              </a:tr>
            </a:tbl>
          </a:graphicData>
        </a:graphic>
      </p:graphicFrame>
      <p:cxnSp>
        <p:nvCxnSpPr>
          <p:cNvPr id="8" name="Gerade Verbindung 7">
            <a:extLst>
              <a:ext uri="{FF2B5EF4-FFF2-40B4-BE49-F238E27FC236}">
                <a16:creationId xmlns:a16="http://schemas.microsoft.com/office/drawing/2014/main" id="{25035102-A03E-642D-0890-B1829DF8E519}"/>
              </a:ext>
            </a:extLst>
          </p:cNvPr>
          <p:cNvCxnSpPr>
            <a:cxnSpLocks/>
          </p:cNvCxnSpPr>
          <p:nvPr/>
        </p:nvCxnSpPr>
        <p:spPr>
          <a:xfrm>
            <a:off x="6095699" y="4034949"/>
            <a:ext cx="5220000" cy="0"/>
          </a:xfrm>
          <a:prstGeom prst="line">
            <a:avLst/>
          </a:prstGeom>
          <a:ln w="19050"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Geschweifte Klammer links 10">
            <a:extLst>
              <a:ext uri="{FF2B5EF4-FFF2-40B4-BE49-F238E27FC236}">
                <a16:creationId xmlns:a16="http://schemas.microsoft.com/office/drawing/2014/main" id="{C949EB2E-B95E-ED0E-A4F9-9EF24BF6DB08}"/>
              </a:ext>
            </a:extLst>
          </p:cNvPr>
          <p:cNvSpPr/>
          <p:nvPr/>
        </p:nvSpPr>
        <p:spPr>
          <a:xfrm>
            <a:off x="6313112" y="1807520"/>
            <a:ext cx="268558" cy="2147054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" name="Geschweifte Klammer links 12">
            <a:extLst>
              <a:ext uri="{FF2B5EF4-FFF2-40B4-BE49-F238E27FC236}">
                <a16:creationId xmlns:a16="http://schemas.microsoft.com/office/drawing/2014/main" id="{A28345E5-C39D-5E21-4FAC-07BD5B89DDAF}"/>
              </a:ext>
            </a:extLst>
          </p:cNvPr>
          <p:cNvSpPr/>
          <p:nvPr/>
        </p:nvSpPr>
        <p:spPr>
          <a:xfrm>
            <a:off x="6303063" y="4181818"/>
            <a:ext cx="268558" cy="2115790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26791B51-395C-E8E8-EBCC-7318D0259CC0}"/>
              </a:ext>
            </a:extLst>
          </p:cNvPr>
          <p:cNvSpPr/>
          <p:nvPr/>
        </p:nvSpPr>
        <p:spPr>
          <a:xfrm>
            <a:off x="5923485" y="2629580"/>
            <a:ext cx="413377" cy="2588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B1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582DED74-477A-CA33-8906-5C027DE1CA52}"/>
              </a:ext>
            </a:extLst>
          </p:cNvPr>
          <p:cNvSpPr/>
          <p:nvPr/>
        </p:nvSpPr>
        <p:spPr>
          <a:xfrm>
            <a:off x="5923571" y="4995117"/>
            <a:ext cx="413377" cy="2588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B2</a:t>
            </a:r>
          </a:p>
        </p:txBody>
      </p:sp>
      <p:sp>
        <p:nvSpPr>
          <p:cNvPr id="4" name="Geschweifte Klammer links 3">
            <a:extLst>
              <a:ext uri="{FF2B5EF4-FFF2-40B4-BE49-F238E27FC236}">
                <a16:creationId xmlns:a16="http://schemas.microsoft.com/office/drawing/2014/main" id="{BE1EC463-ED28-F20A-CCF7-8EC6BD6CEB13}"/>
              </a:ext>
            </a:extLst>
          </p:cNvPr>
          <p:cNvSpPr/>
          <p:nvPr/>
        </p:nvSpPr>
        <p:spPr>
          <a:xfrm>
            <a:off x="6144820" y="2979002"/>
            <a:ext cx="268558" cy="975572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49C4D93F-B324-14DF-1ED3-76800033C3CD}"/>
              </a:ext>
            </a:extLst>
          </p:cNvPr>
          <p:cNvSpPr/>
          <p:nvPr/>
        </p:nvSpPr>
        <p:spPr>
          <a:xfrm>
            <a:off x="5695414" y="3324288"/>
            <a:ext cx="504000" cy="2588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B1.1</a:t>
            </a:r>
          </a:p>
        </p:txBody>
      </p:sp>
      <p:sp>
        <p:nvSpPr>
          <p:cNvPr id="12" name="Geschweifte Klammer links 11">
            <a:extLst>
              <a:ext uri="{FF2B5EF4-FFF2-40B4-BE49-F238E27FC236}">
                <a16:creationId xmlns:a16="http://schemas.microsoft.com/office/drawing/2014/main" id="{FBFE769F-D17B-FEE3-3CB8-D69F69550B0F}"/>
              </a:ext>
            </a:extLst>
          </p:cNvPr>
          <p:cNvSpPr/>
          <p:nvPr/>
        </p:nvSpPr>
        <p:spPr>
          <a:xfrm>
            <a:off x="6144820" y="5322039"/>
            <a:ext cx="268558" cy="975569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F359A86C-CD94-06E0-9AF9-7C2B42963CE7}"/>
              </a:ext>
            </a:extLst>
          </p:cNvPr>
          <p:cNvSpPr/>
          <p:nvPr/>
        </p:nvSpPr>
        <p:spPr>
          <a:xfrm>
            <a:off x="5695414" y="5690448"/>
            <a:ext cx="504000" cy="2588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B2.1</a:t>
            </a:r>
          </a:p>
        </p:txBody>
      </p:sp>
    </p:spTree>
    <p:extLst>
      <p:ext uri="{BB962C8B-B14F-4D97-AF65-F5344CB8AC3E}">
        <p14:creationId xmlns:p14="http://schemas.microsoft.com/office/powerpoint/2010/main" val="107230695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A1E120-6908-AEF2-32CE-B08554CB51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Rechteck 48">
            <a:extLst>
              <a:ext uri="{FF2B5EF4-FFF2-40B4-BE49-F238E27FC236}">
                <a16:creationId xmlns:a16="http://schemas.microsoft.com/office/drawing/2014/main" id="{486A14B4-485E-E5DE-47EA-6A7DC30AF5CC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2400">
                <a:latin typeface="Arial" panose="020B0604020202020204" pitchFamily="34" charset="0"/>
                <a:cs typeface="Arial" panose="020B0604020202020204" pitchFamily="34" charset="0"/>
              </a:rPr>
              <a:t>Theoretical Framework (II)</a:t>
            </a: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C0965EB1-FCF8-8CEF-2F80-2B6ECAD8BAE4}"/>
              </a:ext>
            </a:extLst>
          </p:cNvPr>
          <p:cNvSpPr/>
          <p:nvPr/>
        </p:nvSpPr>
        <p:spPr>
          <a:xfrm>
            <a:off x="376323" y="728896"/>
            <a:ext cx="547600" cy="144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1)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2730DB4C-2BFB-A9F7-19E6-03AB89BE61C9}"/>
              </a:ext>
            </a:extLst>
          </p:cNvPr>
          <p:cNvSpPr/>
          <p:nvPr/>
        </p:nvSpPr>
        <p:spPr>
          <a:xfrm>
            <a:off x="1112921" y="728896"/>
            <a:ext cx="2850535" cy="144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Identify relevant regimes in the data</a:t>
            </a: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6639F194-6AFB-AAE3-6531-6B44F69E4ECD}"/>
              </a:ext>
            </a:extLst>
          </p:cNvPr>
          <p:cNvSpPr/>
          <p:nvPr/>
        </p:nvSpPr>
        <p:spPr>
          <a:xfrm>
            <a:off x="4330396" y="990170"/>
            <a:ext cx="2988000" cy="161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= 2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regimes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(high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volatility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vs.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low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volatility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BCE0BD48-6E41-7208-0692-E1E72FA27BA1}"/>
              </a:ext>
            </a:extLst>
          </p:cNvPr>
          <p:cNvSpPr/>
          <p:nvPr/>
        </p:nvSpPr>
        <p:spPr>
          <a:xfrm>
            <a:off x="7547874" y="1224009"/>
            <a:ext cx="2969970" cy="37252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Classical approaches: Univariate econometric modelling (benchmarks)</a:t>
            </a: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5CAB209E-3252-D7DB-0127-6303A85EC043}"/>
              </a:ext>
            </a:extLst>
          </p:cNvPr>
          <p:cNvSpPr/>
          <p:nvPr/>
        </p:nvSpPr>
        <p:spPr>
          <a:xfrm>
            <a:off x="1112919" y="1224009"/>
            <a:ext cx="2969970" cy="37252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Alternative approaches: Multivariate Clustering using additional variables</a:t>
            </a:r>
          </a:p>
        </p:txBody>
      </p:sp>
      <p:cxnSp>
        <p:nvCxnSpPr>
          <p:cNvPr id="24" name="Gerade Verbindung mit Pfeil 23">
            <a:extLst>
              <a:ext uri="{FF2B5EF4-FFF2-40B4-BE49-F238E27FC236}">
                <a16:creationId xmlns:a16="http://schemas.microsoft.com/office/drawing/2014/main" id="{DCB3143E-25CE-4BA2-EF6E-4A975B8643F6}"/>
              </a:ext>
            </a:extLst>
          </p:cNvPr>
          <p:cNvCxnSpPr>
            <a:cxnSpLocks/>
            <a:stCxn id="21" idx="2"/>
            <a:endCxn id="23" idx="3"/>
          </p:cNvCxnSpPr>
          <p:nvPr/>
        </p:nvCxnSpPr>
        <p:spPr>
          <a:xfrm flipH="1">
            <a:off x="4082889" y="1151391"/>
            <a:ext cx="1741507" cy="2588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D98D6D79-61CE-9212-877A-69D558C2A9D2}"/>
              </a:ext>
            </a:extLst>
          </p:cNvPr>
          <p:cNvCxnSpPr>
            <a:cxnSpLocks/>
            <a:stCxn id="21" idx="2"/>
            <a:endCxn id="22" idx="1"/>
          </p:cNvCxnSpPr>
          <p:nvPr/>
        </p:nvCxnSpPr>
        <p:spPr>
          <a:xfrm>
            <a:off x="5824396" y="1151391"/>
            <a:ext cx="1723478" cy="2588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Rechteck 36">
            <a:extLst>
              <a:ext uri="{FF2B5EF4-FFF2-40B4-BE49-F238E27FC236}">
                <a16:creationId xmlns:a16="http://schemas.microsoft.com/office/drawing/2014/main" id="{8DD25FF0-7B9D-D3F4-B308-E3DAFE68A3E0}"/>
              </a:ext>
            </a:extLst>
          </p:cNvPr>
          <p:cNvSpPr/>
          <p:nvPr/>
        </p:nvSpPr>
        <p:spPr>
          <a:xfrm>
            <a:off x="7547874" y="1729708"/>
            <a:ext cx="2850535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Markov Regression/Switching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21B35F85-5C60-A2B2-9AED-A39CA8450E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4362" y="3111943"/>
            <a:ext cx="1509225" cy="920686"/>
          </a:xfrm>
          <a:prstGeom prst="rect">
            <a:avLst/>
          </a:prstGeom>
        </p:spPr>
      </p:pic>
      <p:graphicFrame>
        <p:nvGraphicFramePr>
          <p:cNvPr id="25" name="Tabelle 24">
            <a:extLst>
              <a:ext uri="{FF2B5EF4-FFF2-40B4-BE49-F238E27FC236}">
                <a16:creationId xmlns:a16="http://schemas.microsoft.com/office/drawing/2014/main" id="{191E56BF-65D1-0604-83F1-D404606A697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38041432"/>
              </p:ext>
            </p:extLst>
          </p:nvPr>
        </p:nvGraphicFramePr>
        <p:xfrm>
          <a:off x="1102735" y="1670952"/>
          <a:ext cx="4460423" cy="2684838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459230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1921193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</a:tblGrid>
              <a:tr h="263672"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Algorithm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Source package (version)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Category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4375"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KMeans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scikit-learn (1.7.2)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Clustering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  <a:tr h="23437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kern="120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AgglomerativeClustering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scikit-learn (1.7.2)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Clustering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5578983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DBSCAN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scikit-learn (1.7.2)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Clustering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6497854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SpectralClustering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scikit-learn (1.7.2)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Clustering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55077558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MeanShift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scikit-learn (1.7.2)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Clustering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7185513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GaussianMixture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scikit-learn (1.7.2)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Clustering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58406197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Birch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scikit-learn (1.7.2)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Clustering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43982446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AffinityPropagation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scikit-learn (1.7.2)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Clustering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83791469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OPTICS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scikit-learn (1.7.2)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Clustering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82612393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MiniBatchKMeans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scikit-learn (1.7.2)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Clustering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84772991"/>
                  </a:ext>
                </a:extLst>
              </a:tr>
            </a:tbl>
          </a:graphicData>
        </a:graphic>
      </p:graphicFrame>
      <p:graphicFrame>
        <p:nvGraphicFramePr>
          <p:cNvPr id="26" name="Tabelle 25">
            <a:extLst>
              <a:ext uri="{FF2B5EF4-FFF2-40B4-BE49-F238E27FC236}">
                <a16:creationId xmlns:a16="http://schemas.microsoft.com/office/drawing/2014/main" id="{2CA932F0-FF5E-538B-F33F-F6EA7802857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70909615"/>
              </p:ext>
            </p:extLst>
          </p:nvPr>
        </p:nvGraphicFramePr>
        <p:xfrm>
          <a:off x="6948697" y="2069493"/>
          <a:ext cx="4168323" cy="766592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167130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1921193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</a:tblGrid>
              <a:tr h="263672"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Algorithm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Source package (version)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Category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437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MarkovRegression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statsmodels (0.14.5)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Regime Switching Regression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</a:tbl>
          </a:graphicData>
        </a:graphic>
      </p:graphicFrame>
      <p:sp>
        <p:nvSpPr>
          <p:cNvPr id="3" name="Geschweifte Klammer links 2">
            <a:extLst>
              <a:ext uri="{FF2B5EF4-FFF2-40B4-BE49-F238E27FC236}">
                <a16:creationId xmlns:a16="http://schemas.microsoft.com/office/drawing/2014/main" id="{3493DB9E-2C94-8084-D29D-13BDFE0720BD}"/>
              </a:ext>
            </a:extLst>
          </p:cNvPr>
          <p:cNvSpPr/>
          <p:nvPr/>
        </p:nvSpPr>
        <p:spPr>
          <a:xfrm rot="16200000">
            <a:off x="3198670" y="2334275"/>
            <a:ext cx="268558" cy="4460423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aphicFrame>
        <p:nvGraphicFramePr>
          <p:cNvPr id="5" name="Tabelle 4">
            <a:extLst>
              <a:ext uri="{FF2B5EF4-FFF2-40B4-BE49-F238E27FC236}">
                <a16:creationId xmlns:a16="http://schemas.microsoft.com/office/drawing/2014/main" id="{FBFCF98F-771C-0813-20F1-CE1317934EB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82963421"/>
              </p:ext>
            </p:extLst>
          </p:nvPr>
        </p:nvGraphicFramePr>
        <p:xfrm>
          <a:off x="1072396" y="5046446"/>
          <a:ext cx="4490762" cy="79248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615940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1801368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1073454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</a:tblGrid>
              <a:tr h="263672"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Technique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Source package (version)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Category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4375"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GridSearchCV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scikit-learn (1.7.2)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Parameter Optimization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</a:tbl>
          </a:graphicData>
        </a:graphic>
      </p:graphicFrame>
      <p:sp>
        <p:nvSpPr>
          <p:cNvPr id="6" name="Rechteck 5">
            <a:extLst>
              <a:ext uri="{FF2B5EF4-FFF2-40B4-BE49-F238E27FC236}">
                <a16:creationId xmlns:a16="http://schemas.microsoft.com/office/drawing/2014/main" id="{32FEE27F-95EE-DEED-7397-BB968F5C810B}"/>
              </a:ext>
            </a:extLst>
          </p:cNvPr>
          <p:cNvSpPr/>
          <p:nvPr/>
        </p:nvSpPr>
        <p:spPr>
          <a:xfrm>
            <a:off x="1907678" y="4751167"/>
            <a:ext cx="2850535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Hyperparameter Optimisation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8FBCD425-D912-7A64-E17D-940F90EC19AF}"/>
              </a:ext>
            </a:extLst>
          </p:cNvPr>
          <p:cNvSpPr/>
          <p:nvPr/>
        </p:nvSpPr>
        <p:spPr>
          <a:xfrm>
            <a:off x="1071562" y="6120513"/>
            <a:ext cx="1620000" cy="21620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TimeSeriesSplit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9FE57130-780F-1242-233E-7AF177D7AD84}"/>
              </a:ext>
            </a:extLst>
          </p:cNvPr>
          <p:cNvSpPr/>
          <p:nvPr/>
        </p:nvSpPr>
        <p:spPr>
          <a:xfrm>
            <a:off x="3835158" y="6120513"/>
            <a:ext cx="1728000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CombinatorialPurgedCV</a:t>
            </a:r>
          </a:p>
        </p:txBody>
      </p: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60393098-2965-2B68-EAE6-59833D554545}"/>
              </a:ext>
            </a:extLst>
          </p:cNvPr>
          <p:cNvCxnSpPr>
            <a:cxnSpLocks/>
            <a:stCxn id="5" idx="2"/>
            <a:endCxn id="8" idx="0"/>
          </p:cNvCxnSpPr>
          <p:nvPr/>
        </p:nvCxnSpPr>
        <p:spPr>
          <a:xfrm>
            <a:off x="3317777" y="5838926"/>
            <a:ext cx="1381381" cy="28158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1B800936-FFF5-9A06-3234-0B882F67A212}"/>
              </a:ext>
            </a:extLst>
          </p:cNvPr>
          <p:cNvCxnSpPr>
            <a:cxnSpLocks/>
            <a:stCxn id="5" idx="2"/>
            <a:endCxn id="7" idx="0"/>
          </p:cNvCxnSpPr>
          <p:nvPr/>
        </p:nvCxnSpPr>
        <p:spPr>
          <a:xfrm flipH="1">
            <a:off x="1881562" y="5838926"/>
            <a:ext cx="1436215" cy="28158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3" name="Grafik 12">
            <a:extLst>
              <a:ext uri="{FF2B5EF4-FFF2-40B4-BE49-F238E27FC236}">
                <a16:creationId xmlns:a16="http://schemas.microsoft.com/office/drawing/2014/main" id="{E5AFA0B1-6FF8-536E-CC3E-746B2D07AA8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48623" y="3085000"/>
            <a:ext cx="2682597" cy="989748"/>
          </a:xfrm>
          <a:prstGeom prst="rect">
            <a:avLst/>
          </a:prstGeom>
        </p:spPr>
      </p:pic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40224436-2523-8528-741C-F3342D1FAA0F}"/>
              </a:ext>
            </a:extLst>
          </p:cNvPr>
          <p:cNvCxnSpPr>
            <a:cxnSpLocks/>
            <a:stCxn id="4" idx="3"/>
            <a:endCxn id="13" idx="1"/>
          </p:cNvCxnSpPr>
          <p:nvPr/>
        </p:nvCxnSpPr>
        <p:spPr>
          <a:xfrm>
            <a:off x="7863587" y="3572286"/>
            <a:ext cx="485036" cy="75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9" name="Grafik 28">
            <a:extLst>
              <a:ext uri="{FF2B5EF4-FFF2-40B4-BE49-F238E27FC236}">
                <a16:creationId xmlns:a16="http://schemas.microsoft.com/office/drawing/2014/main" id="{482625FE-662A-ACA9-BAF2-D2CD56742E4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42872" y="4494857"/>
            <a:ext cx="2460115" cy="1042167"/>
          </a:xfrm>
          <a:prstGeom prst="rect">
            <a:avLst/>
          </a:prstGeom>
        </p:spPr>
      </p:pic>
      <p:cxnSp>
        <p:nvCxnSpPr>
          <p:cNvPr id="32" name="Gewinkelte Verbindung 31">
            <a:extLst>
              <a:ext uri="{FF2B5EF4-FFF2-40B4-BE49-F238E27FC236}">
                <a16:creationId xmlns:a16="http://schemas.microsoft.com/office/drawing/2014/main" id="{A35F3922-81FE-51E8-9C3D-4628179894C2}"/>
              </a:ext>
            </a:extLst>
          </p:cNvPr>
          <p:cNvCxnSpPr>
            <a:stCxn id="13" idx="2"/>
            <a:endCxn id="29" idx="0"/>
          </p:cNvCxnSpPr>
          <p:nvPr/>
        </p:nvCxnSpPr>
        <p:spPr>
          <a:xfrm rot="5400000">
            <a:off x="8421372" y="3226306"/>
            <a:ext cx="420109" cy="2116992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33" name="Grafik 32">
            <a:extLst>
              <a:ext uri="{FF2B5EF4-FFF2-40B4-BE49-F238E27FC236}">
                <a16:creationId xmlns:a16="http://schemas.microsoft.com/office/drawing/2014/main" id="{034F7BB8-3AF7-E150-B907-FF7B2F41B80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32858" y="4561666"/>
            <a:ext cx="2308808" cy="908547"/>
          </a:xfrm>
          <a:prstGeom prst="rect">
            <a:avLst/>
          </a:prstGeom>
        </p:spPr>
      </p:pic>
      <p:cxnSp>
        <p:nvCxnSpPr>
          <p:cNvPr id="34" name="Gerade Verbindung mit Pfeil 33">
            <a:extLst>
              <a:ext uri="{FF2B5EF4-FFF2-40B4-BE49-F238E27FC236}">
                <a16:creationId xmlns:a16="http://schemas.microsoft.com/office/drawing/2014/main" id="{563E377A-8EB7-EFB0-9C8D-F5764863C467}"/>
              </a:ext>
            </a:extLst>
          </p:cNvPr>
          <p:cNvCxnSpPr>
            <a:cxnSpLocks/>
            <a:stCxn id="29" idx="3"/>
            <a:endCxn id="33" idx="1"/>
          </p:cNvCxnSpPr>
          <p:nvPr/>
        </p:nvCxnSpPr>
        <p:spPr>
          <a:xfrm flipV="1">
            <a:off x="8802987" y="5015940"/>
            <a:ext cx="229871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39" name="Grafik 38">
            <a:extLst>
              <a:ext uri="{FF2B5EF4-FFF2-40B4-BE49-F238E27FC236}">
                <a16:creationId xmlns:a16="http://schemas.microsoft.com/office/drawing/2014/main" id="{7E3C7A32-69D9-4C82-42B5-819C3D6825D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57102" y="5714857"/>
            <a:ext cx="3441307" cy="618170"/>
          </a:xfrm>
          <a:prstGeom prst="rect">
            <a:avLst/>
          </a:prstGeom>
        </p:spPr>
      </p:pic>
      <p:cxnSp>
        <p:nvCxnSpPr>
          <p:cNvPr id="40" name="Gewinkelte Verbindung 39">
            <a:extLst>
              <a:ext uri="{FF2B5EF4-FFF2-40B4-BE49-F238E27FC236}">
                <a16:creationId xmlns:a16="http://schemas.microsoft.com/office/drawing/2014/main" id="{A3181C01-0942-A7D3-3598-D635C8DC5058}"/>
              </a:ext>
            </a:extLst>
          </p:cNvPr>
          <p:cNvCxnSpPr>
            <a:cxnSpLocks/>
            <a:stCxn id="33" idx="2"/>
            <a:endCxn id="39" idx="0"/>
          </p:cNvCxnSpPr>
          <p:nvPr/>
        </p:nvCxnSpPr>
        <p:spPr>
          <a:xfrm rot="5400000">
            <a:off x="9310187" y="4837782"/>
            <a:ext cx="244644" cy="150950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753439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4A7E9F-43F9-5DFC-0383-DDDDAC311E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Rechteck 48">
            <a:extLst>
              <a:ext uri="{FF2B5EF4-FFF2-40B4-BE49-F238E27FC236}">
                <a16:creationId xmlns:a16="http://schemas.microsoft.com/office/drawing/2014/main" id="{02B33C8D-42D8-7A2C-97A8-03E2E749BCC5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2400">
                <a:latin typeface="Arial" panose="020B0604020202020204" pitchFamily="34" charset="0"/>
                <a:cs typeface="Arial" panose="020B0604020202020204" pitchFamily="34" charset="0"/>
              </a:rPr>
              <a:t>Theoretical Framework (III)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8F54ADB2-B149-B409-C8E6-C7CD7113A746}"/>
              </a:ext>
            </a:extLst>
          </p:cNvPr>
          <p:cNvSpPr/>
          <p:nvPr/>
        </p:nvSpPr>
        <p:spPr>
          <a:xfrm>
            <a:off x="215456" y="766932"/>
            <a:ext cx="547600" cy="144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2)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82ED42DC-D506-3763-18CE-273E33265963}"/>
              </a:ext>
            </a:extLst>
          </p:cNvPr>
          <p:cNvSpPr/>
          <p:nvPr/>
        </p:nvSpPr>
        <p:spPr>
          <a:xfrm>
            <a:off x="952054" y="766932"/>
            <a:ext cx="2850535" cy="144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Analyze and compare the regimes</a:t>
            </a: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698ACBCE-853C-2E82-4FCA-204C598A7ABD}"/>
              </a:ext>
            </a:extLst>
          </p:cNvPr>
          <p:cNvSpPr/>
          <p:nvPr/>
        </p:nvSpPr>
        <p:spPr>
          <a:xfrm>
            <a:off x="952059" y="2511217"/>
            <a:ext cx="5004000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Theoretically affecting crisis periods - major global shocks and US recessions</a:t>
            </a: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1C205661-3FB5-27A8-FF0A-613BDC13C5BE}"/>
              </a:ext>
            </a:extLst>
          </p:cNvPr>
          <p:cNvSpPr/>
          <p:nvPr/>
        </p:nvSpPr>
        <p:spPr>
          <a:xfrm>
            <a:off x="952059" y="995344"/>
            <a:ext cx="3816000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Model evaluation and selection</a:t>
            </a:r>
          </a:p>
        </p:txBody>
      </p:sp>
      <p:graphicFrame>
        <p:nvGraphicFramePr>
          <p:cNvPr id="3" name="Tabelle 2">
            <a:extLst>
              <a:ext uri="{FF2B5EF4-FFF2-40B4-BE49-F238E27FC236}">
                <a16:creationId xmlns:a16="http://schemas.microsoft.com/office/drawing/2014/main" id="{AB5C5E8D-2779-73F6-B891-F5883B202C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47073623"/>
              </p:ext>
            </p:extLst>
          </p:nvPr>
        </p:nvGraphicFramePr>
        <p:xfrm>
          <a:off x="952055" y="1251370"/>
          <a:ext cx="9791910" cy="108576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510030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1921193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1116330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  <a:gridCol w="1013143">
                  <a:extLst>
                    <a:ext uri="{9D8B030D-6E8A-4147-A177-3AD203B41FA5}">
                      <a16:colId xmlns:a16="http://schemas.microsoft.com/office/drawing/2014/main" val="1498112505"/>
                    </a:ext>
                  </a:extLst>
                </a:gridCol>
                <a:gridCol w="4231214">
                  <a:extLst>
                    <a:ext uri="{9D8B030D-6E8A-4147-A177-3AD203B41FA5}">
                      <a16:colId xmlns:a16="http://schemas.microsoft.com/office/drawing/2014/main" val="1316433638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Evaluation metric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Source package (version)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Category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Value range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Interpretation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Silhouette Score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scikit-learn (1.7.2)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Clustering Scores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[-1, 1]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 being best, -1 being worst, values near 0 indicate overlapping clusters. 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kern="120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RCM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[AB98]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MSM-Score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[0, 100]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 (perfect regime classification),</a:t>
                      </a:r>
                    </a:p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100 (failure to detect any regime classification)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5578983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kern="120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Crisis overlap percentage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Own calculations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Combined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[0, 100]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Percentage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overlap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ranging from 0% - 100%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61324491"/>
                  </a:ext>
                </a:extLst>
              </a:tr>
            </a:tbl>
          </a:graphicData>
        </a:graphic>
      </p:graphicFrame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75E309DD-F646-F4A7-64AE-E808C3BCC6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90555408"/>
              </p:ext>
            </p:extLst>
          </p:nvPr>
        </p:nvGraphicFramePr>
        <p:xfrm>
          <a:off x="952054" y="2771122"/>
          <a:ext cx="9404922" cy="357100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73786">
                  <a:extLst>
                    <a:ext uri="{9D8B030D-6E8A-4147-A177-3AD203B41FA5}">
                      <a16:colId xmlns:a16="http://schemas.microsoft.com/office/drawing/2014/main" val="2975178182"/>
                    </a:ext>
                  </a:extLst>
                </a:gridCol>
                <a:gridCol w="1105345">
                  <a:extLst>
                    <a:ext uri="{9D8B030D-6E8A-4147-A177-3AD203B41FA5}">
                      <a16:colId xmlns:a16="http://schemas.microsoft.com/office/drawing/2014/main" val="2920841970"/>
                    </a:ext>
                  </a:extLst>
                </a:gridCol>
                <a:gridCol w="1090435">
                  <a:extLst>
                    <a:ext uri="{9D8B030D-6E8A-4147-A177-3AD203B41FA5}">
                      <a16:colId xmlns:a16="http://schemas.microsoft.com/office/drawing/2014/main" val="2491132898"/>
                    </a:ext>
                  </a:extLst>
                </a:gridCol>
                <a:gridCol w="1758923">
                  <a:extLst>
                    <a:ext uri="{9D8B030D-6E8A-4147-A177-3AD203B41FA5}">
                      <a16:colId xmlns:a16="http://schemas.microsoft.com/office/drawing/2014/main" val="3640099135"/>
                    </a:ext>
                  </a:extLst>
                </a:gridCol>
                <a:gridCol w="2432381">
                  <a:extLst>
                    <a:ext uri="{9D8B030D-6E8A-4147-A177-3AD203B41FA5}">
                      <a16:colId xmlns:a16="http://schemas.microsoft.com/office/drawing/2014/main" val="1431062659"/>
                    </a:ext>
                  </a:extLst>
                </a:gridCol>
                <a:gridCol w="2444052">
                  <a:extLst>
                    <a:ext uri="{9D8B030D-6E8A-4147-A177-3AD203B41FA5}">
                      <a16:colId xmlns:a16="http://schemas.microsoft.com/office/drawing/2014/main" val="2286573246"/>
                    </a:ext>
                  </a:extLst>
                </a:gridCol>
              </a:tblGrid>
              <a:tr h="171318">
                <a:tc>
                  <a:txBody>
                    <a:bodyPr/>
                    <a:lstStyle/>
                    <a:p>
                      <a:pPr algn="ctr" fontAlgn="b"/>
                      <a:r>
                        <a:rPr lang="de-DE" sz="1100" b="1" i="0" u="none" strike="noStrike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No.</a:t>
                      </a:r>
                    </a:p>
                  </a:txBody>
                  <a:tcPr marL="8566" marR="8566" marT="8566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1100" b="1" u="none" strike="noStrike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Start-date</a:t>
                      </a:r>
                      <a:endParaRPr lang="de-DE" sz="1100" b="1" i="0" u="none" strike="noStrike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1100" b="1" u="none" strike="noStrike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End-date</a:t>
                      </a:r>
                      <a:endParaRPr lang="de-DE" sz="1100" b="1" i="0" u="none" strike="noStrike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1100" b="1" u="none" strike="noStrike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Event-Type</a:t>
                      </a:r>
                      <a:endParaRPr lang="de-DE" sz="1100" b="1" i="0" u="none" strike="noStrike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1100" b="1" i="0" u="none" strike="noStrike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Event</a:t>
                      </a:r>
                    </a:p>
                  </a:txBody>
                  <a:tcPr marL="8566" marR="8566" marT="8566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1100" b="1" u="none" strike="noStrike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Source</a:t>
                      </a:r>
                      <a:endParaRPr lang="de-DE" sz="1100" b="1" i="0" u="none" strike="noStrike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99731443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1970-01-01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1970-12-01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US-Recession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 Recession 1970-1970</a:t>
                      </a:r>
                      <a:endParaRPr lang="de-DE" sz="9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[St 25b]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47748657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1971-08-15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1973-03-19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Bretton Woods Breakdown</a:t>
                      </a:r>
                      <a:endParaRPr lang="de-DE" sz="9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[Cor+25]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72465442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1971-08-15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1973-03-19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Nixon Shock</a:t>
                      </a:r>
                      <a:endParaRPr lang="de-DE" sz="9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[EF04]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00083656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1973-10-17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1974-03-01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Oil Crisis I</a:t>
                      </a:r>
                      <a:endParaRPr lang="de-DE" sz="9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[T T23]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99882049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5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1973-12-01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1975-04-01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US-Recession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 Recession 1973-1975</a:t>
                      </a:r>
                      <a:endParaRPr lang="de-DE" sz="9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[St 25b]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17132909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1979-01-01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1981-03-01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Oil Crisis II</a:t>
                      </a:r>
                      <a:endParaRPr lang="de-DE" sz="9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[T T23]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19787468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7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1980-02-01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1980-08-01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US-Recession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 Recession 1980-1980</a:t>
                      </a:r>
                      <a:endParaRPr lang="de-DE" sz="9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[St 25b]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89639066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8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1981-08-01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1982-12-01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US-Recession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 Recession 1981-1982</a:t>
                      </a:r>
                      <a:endParaRPr lang="de-DE" sz="9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[St 25b]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86477127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9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1987-10-19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1987-10-19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Black Monday Crash</a:t>
                      </a:r>
                      <a:endParaRPr lang="de-DE" sz="9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[EF04]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81646899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10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1990-08-01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1991-04-01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US-Recession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 Recession 1990-1991</a:t>
                      </a:r>
                      <a:endParaRPr lang="de-DE" sz="9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[St 25b]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88968524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11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1997-07-02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1998-12-31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Asian Financial Crisis</a:t>
                      </a:r>
                      <a:endParaRPr lang="de-DE" sz="9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[ML23]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24113705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12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1998-08-17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1998-09-01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Russian Crisis</a:t>
                      </a:r>
                      <a:endParaRPr lang="de-DE" sz="9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[ML23]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3536028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13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2000-03-01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2002-10-01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Dot-com Bubble</a:t>
                      </a:r>
                      <a:endParaRPr lang="de-DE" sz="9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[MNR25]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03398720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14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2001-04-01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2001-12-01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US-Recession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 Recession 2001-2001</a:t>
                      </a:r>
                      <a:endParaRPr lang="de-DE" sz="9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[St 25b]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8747341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15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2007-08-09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2009-03-09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Global Financial Crisis</a:t>
                      </a:r>
                      <a:endParaRPr lang="de-DE" sz="9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[MNR25]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97489982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16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2008-01-01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2009-07-01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US-Recession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 Recession 2008-2009</a:t>
                      </a:r>
                      <a:endParaRPr lang="de-DE" sz="9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[St 25b]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82380043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17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2008-11-25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2014-12-31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 QE</a:t>
                      </a:r>
                      <a:endParaRPr lang="de-DE" sz="9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kumimoji="0" lang="de-DE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[MNR25]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05467765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18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2009-10-01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2012-12-31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European Debt Crisis</a:t>
                      </a:r>
                      <a:endParaRPr lang="de-DE" sz="9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kumimoji="0" lang="de-DE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[MNR25]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4542053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2011-08-20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2011-08-05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 Debt Ceiling Crisis</a:t>
                      </a:r>
                      <a:endParaRPr lang="de-DE" sz="9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kumimoji="0" lang="de-DE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[MNR25]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13125058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2018-03-22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2020-01-15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US-China Trade War</a:t>
                      </a:r>
                      <a:endParaRPr lang="de-DE" sz="9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[HR25]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8018509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21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2020-02-20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2021-11-16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COVID-19 Pandemic</a:t>
                      </a:r>
                      <a:endParaRPr lang="de-DE" sz="9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[ML23]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15658122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22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2020-03-01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2020-05-01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US-Recession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 Recession 2020-2020</a:t>
                      </a:r>
                      <a:endParaRPr lang="de-DE" sz="9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[St 25b]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89815750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23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2022-02-24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2022-06-01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Russia-Ukraine War</a:t>
                      </a:r>
                      <a:endParaRPr lang="de-DE" sz="9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[Cha25]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92388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1911471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1A86FF-0FA1-FA96-F37A-21BE396C18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Rechteck 48">
            <a:extLst>
              <a:ext uri="{FF2B5EF4-FFF2-40B4-BE49-F238E27FC236}">
                <a16:creationId xmlns:a16="http://schemas.microsoft.com/office/drawing/2014/main" id="{2F1D4B39-6ECD-A011-3D89-D6208F0757AB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2400">
                <a:latin typeface="Arial" panose="020B0604020202020204" pitchFamily="34" charset="0"/>
                <a:cs typeface="Arial" panose="020B0604020202020204" pitchFamily="34" charset="0"/>
              </a:rPr>
              <a:t>Theoretical Framework (IV)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F026C892-2E94-1107-A258-C8124E337D86}"/>
              </a:ext>
            </a:extLst>
          </p:cNvPr>
          <p:cNvSpPr/>
          <p:nvPr/>
        </p:nvSpPr>
        <p:spPr>
          <a:xfrm>
            <a:off x="215456" y="813584"/>
            <a:ext cx="547600" cy="144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3)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B095F87D-A565-3E72-9DAA-8DD34D44EB8F}"/>
              </a:ext>
            </a:extLst>
          </p:cNvPr>
          <p:cNvSpPr/>
          <p:nvPr/>
        </p:nvSpPr>
        <p:spPr>
          <a:xfrm>
            <a:off x="952054" y="813584"/>
            <a:ext cx="2850535" cy="144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Test for UIP conditional on regimes</a:t>
            </a: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BEADD146-03B0-C365-61EA-2666941F6D64}"/>
              </a:ext>
            </a:extLst>
          </p:cNvPr>
          <p:cNvSpPr/>
          <p:nvPr/>
        </p:nvSpPr>
        <p:spPr>
          <a:xfrm>
            <a:off x="952059" y="1041996"/>
            <a:ext cx="3816000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Model comparison – UIP Testing</a:t>
            </a: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F7490227-F347-3BC9-1E4F-2037A9ECB8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44428" y="1468038"/>
            <a:ext cx="5021278" cy="19746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295575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1F7CBD-8332-74F7-363D-54DEF46BA8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550487F7-DEA4-8B5E-6491-7069043AED81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7" name="Grafik 6" descr="Ein Bild, das Text, Schrift, Screenshot, Grafiken enthält.&#10;&#10;Automatisch generierte Beschreibung">
            <a:extLst>
              <a:ext uri="{FF2B5EF4-FFF2-40B4-BE49-F238E27FC236}">
                <a16:creationId xmlns:a16="http://schemas.microsoft.com/office/drawing/2014/main" id="{60821FED-5F7F-1FE2-BBE8-E06CCD3120F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64271" y="-67456"/>
            <a:ext cx="1771272" cy="885636"/>
          </a:xfrm>
          <a:prstGeom prst="rect">
            <a:avLst/>
          </a:prstGeom>
        </p:spPr>
      </p:pic>
      <p:sp>
        <p:nvSpPr>
          <p:cNvPr id="3" name="Rechteck 2">
            <a:extLst>
              <a:ext uri="{FF2B5EF4-FFF2-40B4-BE49-F238E27FC236}">
                <a16:creationId xmlns:a16="http://schemas.microsoft.com/office/drawing/2014/main" id="{AD8CAB03-51FE-1B16-9670-5131825D91B3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solidFill>
            <a:srgbClr val="00677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3600" dirty="0">
                <a:latin typeface="Arial" panose="020B0604020202020204" pitchFamily="34" charset="0"/>
                <a:cs typeface="Arial" panose="020B0604020202020204" pitchFamily="34" charset="0"/>
              </a:rPr>
              <a:t>Chapter 4)</a:t>
            </a:r>
          </a:p>
        </p:txBody>
      </p:sp>
      <p:sp>
        <p:nvSpPr>
          <p:cNvPr id="6" name="Abgerundetes Rechteck 5">
            <a:extLst>
              <a:ext uri="{FF2B5EF4-FFF2-40B4-BE49-F238E27FC236}">
                <a16:creationId xmlns:a16="http://schemas.microsoft.com/office/drawing/2014/main" id="{587D3387-6A57-9B3C-BB30-E2DF1C88EF9B}"/>
              </a:ext>
            </a:extLst>
          </p:cNvPr>
          <p:cNvSpPr/>
          <p:nvPr/>
        </p:nvSpPr>
        <p:spPr>
          <a:xfrm>
            <a:off x="2821153" y="2996762"/>
            <a:ext cx="5892623" cy="486650"/>
          </a:xfrm>
          <a:prstGeom prst="roundRect">
            <a:avLst/>
          </a:prstGeom>
          <a:solidFill>
            <a:srgbClr val="00677C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3200" b="1">
                <a:latin typeface="Arial" panose="020B0604020202020204" pitchFamily="34" charset="0"/>
                <a:cs typeface="Arial" panose="020B0604020202020204" pitchFamily="34" charset="0"/>
              </a:rPr>
              <a:t>Model </a:t>
            </a:r>
            <a:r>
              <a:rPr lang="de-DE" sz="3200" b="1" err="1">
                <a:latin typeface="Arial" panose="020B0604020202020204" pitchFamily="34" charset="0"/>
                <a:cs typeface="Arial" panose="020B0604020202020204" pitchFamily="34" charset="0"/>
              </a:rPr>
              <a:t>Results</a:t>
            </a:r>
            <a:endParaRPr lang="de-DE" sz="14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025" name="Picture 1" descr="page42image37982480">
            <a:extLst>
              <a:ext uri="{FF2B5EF4-FFF2-40B4-BE49-F238E27FC236}">
                <a16:creationId xmlns:a16="http://schemas.microsoft.com/office/drawing/2014/main" id="{A696F850-3878-6B28-8B4C-A825E7CC2EA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2705100" cy="190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7578779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C727FD-4D4C-3A23-8D2F-0AA26D9CDD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Rechteck 48">
            <a:extLst>
              <a:ext uri="{FF2B5EF4-FFF2-40B4-BE49-F238E27FC236}">
                <a16:creationId xmlns:a16="http://schemas.microsoft.com/office/drawing/2014/main" id="{45DB04BC-99C3-D773-5405-558DA30BD454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2400">
                <a:latin typeface="Arial" panose="020B0604020202020204" pitchFamily="34" charset="0"/>
                <a:cs typeface="Arial" panose="020B0604020202020204" pitchFamily="34" charset="0"/>
              </a:rPr>
              <a:t>Model </a:t>
            </a:r>
            <a:r>
              <a:rPr lang="de-DE" sz="2400" err="1">
                <a:latin typeface="Arial" panose="020B0604020202020204" pitchFamily="34" charset="0"/>
                <a:cs typeface="Arial" panose="020B0604020202020204" pitchFamily="34" charset="0"/>
              </a:rPr>
              <a:t>results</a:t>
            </a:r>
            <a:r>
              <a:rPr lang="de-DE" sz="2400">
                <a:latin typeface="Arial" panose="020B0604020202020204" pitchFamily="34" charset="0"/>
                <a:cs typeface="Arial" panose="020B0604020202020204" pitchFamily="34" charset="0"/>
              </a:rPr>
              <a:t> - </a:t>
            </a:r>
            <a:r>
              <a:rPr lang="de-DE" sz="2400" err="1">
                <a:latin typeface="Arial" panose="020B0604020202020204" pitchFamily="34" charset="0"/>
                <a:cs typeface="Arial" panose="020B0604020202020204" pitchFamily="34" charset="0"/>
              </a:rPr>
              <a:t>explaining</a:t>
            </a:r>
            <a:r>
              <a:rPr lang="de-DE" sz="2400">
                <a:latin typeface="Arial" panose="020B0604020202020204" pitchFamily="34" charset="0"/>
                <a:cs typeface="Arial" panose="020B0604020202020204" pitchFamily="34" charset="0"/>
              </a:rPr>
              <a:t> UIP</a:t>
            </a:r>
          </a:p>
        </p:txBody>
      </p:sp>
      <p:graphicFrame>
        <p:nvGraphicFramePr>
          <p:cNvPr id="3" name="Tabelle 2">
            <a:extLst>
              <a:ext uri="{FF2B5EF4-FFF2-40B4-BE49-F238E27FC236}">
                <a16:creationId xmlns:a16="http://schemas.microsoft.com/office/drawing/2014/main" id="{0C0F6949-5D6B-651B-A994-4F1D7AB394B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22535045"/>
              </p:ext>
            </p:extLst>
          </p:nvPr>
        </p:nvGraphicFramePr>
        <p:xfrm>
          <a:off x="1044903" y="831954"/>
          <a:ext cx="10101465" cy="62496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458931">
                  <a:extLst>
                    <a:ext uri="{9D8B030D-6E8A-4147-A177-3AD203B41FA5}">
                      <a16:colId xmlns:a16="http://schemas.microsoft.com/office/drawing/2014/main" val="2463779370"/>
                    </a:ext>
                  </a:extLst>
                </a:gridCol>
                <a:gridCol w="1173769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896320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842463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  <a:gridCol w="689051">
                  <a:extLst>
                    <a:ext uri="{9D8B030D-6E8A-4147-A177-3AD203B41FA5}">
                      <a16:colId xmlns:a16="http://schemas.microsoft.com/office/drawing/2014/main" val="1498112505"/>
                    </a:ext>
                  </a:extLst>
                </a:gridCol>
                <a:gridCol w="2799080">
                  <a:extLst>
                    <a:ext uri="{9D8B030D-6E8A-4147-A177-3AD203B41FA5}">
                      <a16:colId xmlns:a16="http://schemas.microsoft.com/office/drawing/2014/main" val="1316433638"/>
                    </a:ext>
                  </a:extLst>
                </a:gridCol>
                <a:gridCol w="2043430">
                  <a:extLst>
                    <a:ext uri="{9D8B030D-6E8A-4147-A177-3AD203B41FA5}">
                      <a16:colId xmlns:a16="http://schemas.microsoft.com/office/drawing/2014/main" val="2435684961"/>
                    </a:ext>
                  </a:extLst>
                </a:gridCol>
                <a:gridCol w="514421">
                  <a:extLst>
                    <a:ext uri="{9D8B030D-6E8A-4147-A177-3AD203B41FA5}">
                      <a16:colId xmlns:a16="http://schemas.microsoft.com/office/drawing/2014/main" val="1526740981"/>
                    </a:ext>
                  </a:extLst>
                </a:gridCol>
                <a:gridCol w="684000">
                  <a:extLst>
                    <a:ext uri="{9D8B030D-6E8A-4147-A177-3AD203B41FA5}">
                      <a16:colId xmlns:a16="http://schemas.microsoft.com/office/drawing/2014/main" val="2450294761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Model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Start-date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End-date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 Obs.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Dep</a:t>
                      </a:r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Exp</a:t>
                      </a:r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Adj. R2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Linear Regression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1999-01-05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2025-10-21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6720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b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EUR/USD spot exchange rate (log first </a:t>
                      </a:r>
                      <a:r>
                        <a:rPr lang="de-DE" sz="900" b="1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differences</a:t>
                      </a:r>
                      <a:r>
                        <a:rPr lang="de-DE" sz="900" b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b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Central Bank Policy Rate differential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</a:tbl>
          </a:graphicData>
        </a:graphic>
      </p:graphicFrame>
      <p:graphicFrame>
        <p:nvGraphicFramePr>
          <p:cNvPr id="5" name="Tabelle 4">
            <a:extLst>
              <a:ext uri="{FF2B5EF4-FFF2-40B4-BE49-F238E27FC236}">
                <a16:creationId xmlns:a16="http://schemas.microsoft.com/office/drawing/2014/main" id="{75D85585-C098-EB86-CEAD-AC0003C8F9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01827094"/>
              </p:ext>
            </p:extLst>
          </p:nvPr>
        </p:nvGraphicFramePr>
        <p:xfrm>
          <a:off x="1044903" y="1609998"/>
          <a:ext cx="4661967" cy="7200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760730">
                  <a:extLst>
                    <a:ext uri="{9D8B030D-6E8A-4147-A177-3AD203B41FA5}">
                      <a16:colId xmlns:a16="http://schemas.microsoft.com/office/drawing/2014/main" val="2463779370"/>
                    </a:ext>
                  </a:extLst>
                </a:gridCol>
                <a:gridCol w="767080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665480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538480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  <a:gridCol w="521017">
                  <a:extLst>
                    <a:ext uri="{9D8B030D-6E8A-4147-A177-3AD203B41FA5}">
                      <a16:colId xmlns:a16="http://schemas.microsoft.com/office/drawing/2014/main" val="1498112505"/>
                    </a:ext>
                  </a:extLst>
                </a:gridCol>
                <a:gridCol w="703580">
                  <a:extLst>
                    <a:ext uri="{9D8B030D-6E8A-4147-A177-3AD203B41FA5}">
                      <a16:colId xmlns:a16="http://schemas.microsoft.com/office/drawing/2014/main" val="1316433638"/>
                    </a:ext>
                  </a:extLst>
                </a:gridCol>
                <a:gridCol w="705600">
                  <a:extLst>
                    <a:ext uri="{9D8B030D-6E8A-4147-A177-3AD203B41FA5}">
                      <a16:colId xmlns:a16="http://schemas.microsoft.com/office/drawing/2014/main" val="2435684961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/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coef</a:t>
                      </a:r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std</a:t>
                      </a:r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err</a:t>
                      </a:r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P&gt;|t|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[0.025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0.975]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r>
                        <a:rPr lang="de-DE" sz="9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const</a:t>
                      </a: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6.12e-06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7.38e-05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0.083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0.934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-0.000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r>
                        <a:rPr lang="de-DE" sz="9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i_diff_EUR</a:t>
                      </a: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-2.266e-05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5.4e-05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-0.419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0.675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-0.000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8.32e-05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5844176"/>
                  </a:ext>
                </a:extLst>
              </a:tr>
            </a:tbl>
          </a:graphicData>
        </a:graphic>
      </p:graphicFrame>
      <p:graphicFrame>
        <p:nvGraphicFramePr>
          <p:cNvPr id="2" name="Tabelle 1">
            <a:extLst>
              <a:ext uri="{FF2B5EF4-FFF2-40B4-BE49-F238E27FC236}">
                <a16:creationId xmlns:a16="http://schemas.microsoft.com/office/drawing/2014/main" id="{3DA40883-76BD-EE4B-DBA1-EBBC8770BC9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0524323"/>
              </p:ext>
            </p:extLst>
          </p:nvPr>
        </p:nvGraphicFramePr>
        <p:xfrm>
          <a:off x="1044903" y="2525555"/>
          <a:ext cx="10101465" cy="62496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458931">
                  <a:extLst>
                    <a:ext uri="{9D8B030D-6E8A-4147-A177-3AD203B41FA5}">
                      <a16:colId xmlns:a16="http://schemas.microsoft.com/office/drawing/2014/main" val="2463779370"/>
                    </a:ext>
                  </a:extLst>
                </a:gridCol>
                <a:gridCol w="1173769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896320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842463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  <a:gridCol w="689051">
                  <a:extLst>
                    <a:ext uri="{9D8B030D-6E8A-4147-A177-3AD203B41FA5}">
                      <a16:colId xmlns:a16="http://schemas.microsoft.com/office/drawing/2014/main" val="1498112505"/>
                    </a:ext>
                  </a:extLst>
                </a:gridCol>
                <a:gridCol w="2799080">
                  <a:extLst>
                    <a:ext uri="{9D8B030D-6E8A-4147-A177-3AD203B41FA5}">
                      <a16:colId xmlns:a16="http://schemas.microsoft.com/office/drawing/2014/main" val="1316433638"/>
                    </a:ext>
                  </a:extLst>
                </a:gridCol>
                <a:gridCol w="2043430">
                  <a:extLst>
                    <a:ext uri="{9D8B030D-6E8A-4147-A177-3AD203B41FA5}">
                      <a16:colId xmlns:a16="http://schemas.microsoft.com/office/drawing/2014/main" val="2435684961"/>
                    </a:ext>
                  </a:extLst>
                </a:gridCol>
                <a:gridCol w="514421">
                  <a:extLst>
                    <a:ext uri="{9D8B030D-6E8A-4147-A177-3AD203B41FA5}">
                      <a16:colId xmlns:a16="http://schemas.microsoft.com/office/drawing/2014/main" val="1526740981"/>
                    </a:ext>
                  </a:extLst>
                </a:gridCol>
                <a:gridCol w="684000">
                  <a:extLst>
                    <a:ext uri="{9D8B030D-6E8A-4147-A177-3AD203B41FA5}">
                      <a16:colId xmlns:a16="http://schemas.microsoft.com/office/drawing/2014/main" val="2450294761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Model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Start-date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End-date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 Obs.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Dep</a:t>
                      </a:r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Exp</a:t>
                      </a:r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Adj. R2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Linear Regression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1999-01-05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2018-12-31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5021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b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EUR/USD spot exchange rate (log first </a:t>
                      </a:r>
                      <a:r>
                        <a:rPr lang="de-DE" sz="900" b="1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differences</a:t>
                      </a:r>
                      <a:r>
                        <a:rPr lang="de-DE" sz="900" b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b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3M Interbank </a:t>
                      </a:r>
                      <a:r>
                        <a:rPr lang="de-DE" sz="900" b="1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lending</a:t>
                      </a:r>
                      <a:r>
                        <a:rPr lang="de-DE" sz="900" b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b="1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rates</a:t>
                      </a:r>
                      <a:r>
                        <a:rPr lang="de-DE" sz="900" b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b="1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differentials</a:t>
                      </a:r>
                      <a:endParaRPr lang="de-DE" sz="900" b="1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</a:tbl>
          </a:graphicData>
        </a:graphic>
      </p:graphicFrame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4FAB7142-E32E-4FA3-802C-4049663A24D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5745536"/>
              </p:ext>
            </p:extLst>
          </p:nvPr>
        </p:nvGraphicFramePr>
        <p:xfrm>
          <a:off x="1044903" y="3240087"/>
          <a:ext cx="4661967" cy="7200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760730">
                  <a:extLst>
                    <a:ext uri="{9D8B030D-6E8A-4147-A177-3AD203B41FA5}">
                      <a16:colId xmlns:a16="http://schemas.microsoft.com/office/drawing/2014/main" val="2463779370"/>
                    </a:ext>
                  </a:extLst>
                </a:gridCol>
                <a:gridCol w="767080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665480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538480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  <a:gridCol w="521017">
                  <a:extLst>
                    <a:ext uri="{9D8B030D-6E8A-4147-A177-3AD203B41FA5}">
                      <a16:colId xmlns:a16="http://schemas.microsoft.com/office/drawing/2014/main" val="1498112505"/>
                    </a:ext>
                  </a:extLst>
                </a:gridCol>
                <a:gridCol w="703580">
                  <a:extLst>
                    <a:ext uri="{9D8B030D-6E8A-4147-A177-3AD203B41FA5}">
                      <a16:colId xmlns:a16="http://schemas.microsoft.com/office/drawing/2014/main" val="1316433638"/>
                    </a:ext>
                  </a:extLst>
                </a:gridCol>
                <a:gridCol w="705600">
                  <a:extLst>
                    <a:ext uri="{9D8B030D-6E8A-4147-A177-3AD203B41FA5}">
                      <a16:colId xmlns:a16="http://schemas.microsoft.com/office/drawing/2014/main" val="2435684961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/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coef</a:t>
                      </a:r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std</a:t>
                      </a:r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err</a:t>
                      </a:r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P&gt;|t|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[0.025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0.975]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r>
                        <a:rPr lang="de-DE" sz="9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const</a:t>
                      </a: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1.768e-05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9.05e-05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0.195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0.845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-0.000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r>
                        <a:rPr lang="de-DE" sz="9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i_diff_EUR</a:t>
                      </a: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-0.0002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-0.971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0.332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-0.001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58441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4802122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579E11-DA63-4BE9-8194-23C84F2DBB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Rechteck 48">
            <a:extLst>
              <a:ext uri="{FF2B5EF4-FFF2-40B4-BE49-F238E27FC236}">
                <a16:creationId xmlns:a16="http://schemas.microsoft.com/office/drawing/2014/main" id="{8A63C09E-6A88-14B1-019B-52C7AFADCDC2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2400">
                <a:latin typeface="Arial" panose="020B0604020202020204" pitchFamily="34" charset="0"/>
                <a:cs typeface="Arial" panose="020B0604020202020204" pitchFamily="34" charset="0"/>
              </a:rPr>
              <a:t>Model </a:t>
            </a:r>
            <a:r>
              <a:rPr lang="de-DE" sz="2400" err="1">
                <a:latin typeface="Arial" panose="020B0604020202020204" pitchFamily="34" charset="0"/>
                <a:cs typeface="Arial" panose="020B0604020202020204" pitchFamily="34" charset="0"/>
              </a:rPr>
              <a:t>results</a:t>
            </a:r>
            <a:r>
              <a:rPr lang="de-DE" sz="2400">
                <a:latin typeface="Arial" panose="020B0604020202020204" pitchFamily="34" charset="0"/>
                <a:cs typeface="Arial" panose="020B0604020202020204" pitchFamily="34" charset="0"/>
              </a:rPr>
              <a:t> - </a:t>
            </a:r>
            <a:r>
              <a:rPr lang="de-DE" sz="2400" err="1">
                <a:latin typeface="Arial" panose="020B0604020202020204" pitchFamily="34" charset="0"/>
                <a:cs typeface="Arial" panose="020B0604020202020204" pitchFamily="34" charset="0"/>
              </a:rPr>
              <a:t>explaining</a:t>
            </a:r>
            <a:r>
              <a:rPr lang="de-DE" sz="2400">
                <a:latin typeface="Arial" panose="020B0604020202020204" pitchFamily="34" charset="0"/>
                <a:cs typeface="Arial" panose="020B0604020202020204" pitchFamily="34" charset="0"/>
              </a:rPr>
              <a:t> UIP</a:t>
            </a:r>
          </a:p>
        </p:txBody>
      </p:sp>
      <p:graphicFrame>
        <p:nvGraphicFramePr>
          <p:cNvPr id="7" name="Tabelle 6">
            <a:extLst>
              <a:ext uri="{FF2B5EF4-FFF2-40B4-BE49-F238E27FC236}">
                <a16:creationId xmlns:a16="http://schemas.microsoft.com/office/drawing/2014/main" id="{07633085-5638-DC50-10C4-7D2E9609E38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46738071"/>
              </p:ext>
            </p:extLst>
          </p:nvPr>
        </p:nvGraphicFramePr>
        <p:xfrm>
          <a:off x="948651" y="1191455"/>
          <a:ext cx="10142475" cy="4896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427971">
                  <a:extLst>
                    <a:ext uri="{9D8B030D-6E8A-4147-A177-3AD203B41FA5}">
                      <a16:colId xmlns:a16="http://schemas.microsoft.com/office/drawing/2014/main" val="2463779370"/>
                    </a:ext>
                  </a:extLst>
                </a:gridCol>
                <a:gridCol w="1795780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835854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785630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  <a:gridCol w="642567">
                  <a:extLst>
                    <a:ext uri="{9D8B030D-6E8A-4147-A177-3AD203B41FA5}">
                      <a16:colId xmlns:a16="http://schemas.microsoft.com/office/drawing/2014/main" val="1498112505"/>
                    </a:ext>
                  </a:extLst>
                </a:gridCol>
                <a:gridCol w="803593">
                  <a:extLst>
                    <a:ext uri="{9D8B030D-6E8A-4147-A177-3AD203B41FA5}">
                      <a16:colId xmlns:a16="http://schemas.microsoft.com/office/drawing/2014/main" val="2341012291"/>
                    </a:ext>
                  </a:extLst>
                </a:gridCol>
                <a:gridCol w="2799080">
                  <a:extLst>
                    <a:ext uri="{9D8B030D-6E8A-4147-A177-3AD203B41FA5}">
                      <a16:colId xmlns:a16="http://schemas.microsoft.com/office/drawing/2014/main" val="1316433638"/>
                    </a:ext>
                  </a:extLst>
                </a:gridCol>
                <a:gridCol w="2052000">
                  <a:extLst>
                    <a:ext uri="{9D8B030D-6E8A-4147-A177-3AD203B41FA5}">
                      <a16:colId xmlns:a16="http://schemas.microsoft.com/office/drawing/2014/main" val="2435684961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Model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Start-date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End-date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 Obs.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Regimes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Dep</a:t>
                      </a:r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Exp</a:t>
                      </a:r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Markov (Switching) Regression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1999-01-05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2025-10-14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6715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K=2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EUR/USD spot exchange rate (log first </a:t>
                      </a:r>
                      <a:r>
                        <a:rPr lang="de-DE" sz="9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differences</a:t>
                      </a: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Central Bank Policy Rate differential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</a:tbl>
          </a:graphicData>
        </a:graphic>
      </p:graphicFrame>
      <p:graphicFrame>
        <p:nvGraphicFramePr>
          <p:cNvPr id="8" name="Tabelle 7">
            <a:extLst>
              <a:ext uri="{FF2B5EF4-FFF2-40B4-BE49-F238E27FC236}">
                <a16:creationId xmlns:a16="http://schemas.microsoft.com/office/drawing/2014/main" id="{6C027B4F-682A-A684-6DFF-4439DDC73CB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52885574"/>
              </p:ext>
            </p:extLst>
          </p:nvPr>
        </p:nvGraphicFramePr>
        <p:xfrm>
          <a:off x="948650" y="1765332"/>
          <a:ext cx="4661967" cy="7200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760730">
                  <a:extLst>
                    <a:ext uri="{9D8B030D-6E8A-4147-A177-3AD203B41FA5}">
                      <a16:colId xmlns:a16="http://schemas.microsoft.com/office/drawing/2014/main" val="2463779370"/>
                    </a:ext>
                  </a:extLst>
                </a:gridCol>
                <a:gridCol w="767080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665480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538480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  <a:gridCol w="521017">
                  <a:extLst>
                    <a:ext uri="{9D8B030D-6E8A-4147-A177-3AD203B41FA5}">
                      <a16:colId xmlns:a16="http://schemas.microsoft.com/office/drawing/2014/main" val="1498112505"/>
                    </a:ext>
                  </a:extLst>
                </a:gridCol>
                <a:gridCol w="703580">
                  <a:extLst>
                    <a:ext uri="{9D8B030D-6E8A-4147-A177-3AD203B41FA5}">
                      <a16:colId xmlns:a16="http://schemas.microsoft.com/office/drawing/2014/main" val="1316433638"/>
                    </a:ext>
                  </a:extLst>
                </a:gridCol>
                <a:gridCol w="705600">
                  <a:extLst>
                    <a:ext uri="{9D8B030D-6E8A-4147-A177-3AD203B41FA5}">
                      <a16:colId xmlns:a16="http://schemas.microsoft.com/office/drawing/2014/main" val="2435684961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/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coef</a:t>
                      </a:r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std</a:t>
                      </a:r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err</a:t>
                      </a:r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P&gt;|t|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[0.025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0.975]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5844176"/>
                  </a:ext>
                </a:extLst>
              </a:tr>
            </a:tbl>
          </a:graphicData>
        </a:graphic>
      </p:graphicFrame>
      <p:graphicFrame>
        <p:nvGraphicFramePr>
          <p:cNvPr id="9" name="Tabelle 8">
            <a:extLst>
              <a:ext uri="{FF2B5EF4-FFF2-40B4-BE49-F238E27FC236}">
                <a16:creationId xmlns:a16="http://schemas.microsoft.com/office/drawing/2014/main" id="{AE436F30-2582-ACA4-5233-7082B95ABAA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3262130"/>
              </p:ext>
            </p:extLst>
          </p:nvPr>
        </p:nvGraphicFramePr>
        <p:xfrm>
          <a:off x="948651" y="2666210"/>
          <a:ext cx="10142475" cy="145152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427971">
                  <a:extLst>
                    <a:ext uri="{9D8B030D-6E8A-4147-A177-3AD203B41FA5}">
                      <a16:colId xmlns:a16="http://schemas.microsoft.com/office/drawing/2014/main" val="2463779370"/>
                    </a:ext>
                  </a:extLst>
                </a:gridCol>
                <a:gridCol w="1795780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835854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785630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  <a:gridCol w="642567">
                  <a:extLst>
                    <a:ext uri="{9D8B030D-6E8A-4147-A177-3AD203B41FA5}">
                      <a16:colId xmlns:a16="http://schemas.microsoft.com/office/drawing/2014/main" val="1498112505"/>
                    </a:ext>
                  </a:extLst>
                </a:gridCol>
                <a:gridCol w="803593">
                  <a:extLst>
                    <a:ext uri="{9D8B030D-6E8A-4147-A177-3AD203B41FA5}">
                      <a16:colId xmlns:a16="http://schemas.microsoft.com/office/drawing/2014/main" val="2341012291"/>
                    </a:ext>
                  </a:extLst>
                </a:gridCol>
                <a:gridCol w="2799080">
                  <a:extLst>
                    <a:ext uri="{9D8B030D-6E8A-4147-A177-3AD203B41FA5}">
                      <a16:colId xmlns:a16="http://schemas.microsoft.com/office/drawing/2014/main" val="1316433638"/>
                    </a:ext>
                  </a:extLst>
                </a:gridCol>
                <a:gridCol w="2052000">
                  <a:extLst>
                    <a:ext uri="{9D8B030D-6E8A-4147-A177-3AD203B41FA5}">
                      <a16:colId xmlns:a16="http://schemas.microsoft.com/office/drawing/2014/main" val="2435684961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Model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Start-date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End-date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 Obs.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Regimes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Dep</a:t>
                      </a:r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Exp</a:t>
                      </a:r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Markov (Switching) Regression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1999-01-05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2025-10-14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6715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K=2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EUR/USD spot exchange rate (log first </a:t>
                      </a:r>
                      <a:r>
                        <a:rPr lang="de-DE" sz="9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differences</a:t>
                      </a: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Central Bank Policy Rate differential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b="0" kern="1200" dirty="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rolling</a:t>
                      </a:r>
                      <a:r>
                        <a:rPr lang="de-DE" sz="900" b="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b="0" kern="1200" dirty="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volatilty</a:t>
                      </a:r>
                      <a:r>
                        <a:rPr lang="de-DE" sz="900" b="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of log </a:t>
                      </a:r>
                      <a:r>
                        <a:rPr lang="de-DE" sz="900" b="0" kern="1200" dirty="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first</a:t>
                      </a:r>
                      <a:r>
                        <a:rPr lang="de-DE" sz="900" b="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b="0" kern="1200" dirty="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diff</a:t>
                      </a:r>
                      <a:r>
                        <a:rPr lang="de-DE" sz="900" b="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of WTI Oil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0158125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rolling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volatilty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of log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first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diff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of Natural Gas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24482427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Trading Volume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40341786"/>
                  </a:ext>
                </a:extLst>
              </a:tr>
            </a:tbl>
          </a:graphicData>
        </a:graphic>
      </p:graphicFrame>
      <p:graphicFrame>
        <p:nvGraphicFramePr>
          <p:cNvPr id="10" name="Tabelle 9">
            <a:extLst>
              <a:ext uri="{FF2B5EF4-FFF2-40B4-BE49-F238E27FC236}">
                <a16:creationId xmlns:a16="http://schemas.microsoft.com/office/drawing/2014/main" id="{E9F7A718-BDA7-D432-6163-449AFD5C7C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84430065"/>
              </p:ext>
            </p:extLst>
          </p:nvPr>
        </p:nvGraphicFramePr>
        <p:xfrm>
          <a:off x="948649" y="3382628"/>
          <a:ext cx="4661967" cy="7200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760730">
                  <a:extLst>
                    <a:ext uri="{9D8B030D-6E8A-4147-A177-3AD203B41FA5}">
                      <a16:colId xmlns:a16="http://schemas.microsoft.com/office/drawing/2014/main" val="2463779370"/>
                    </a:ext>
                  </a:extLst>
                </a:gridCol>
                <a:gridCol w="767080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665480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538480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  <a:gridCol w="521017">
                  <a:extLst>
                    <a:ext uri="{9D8B030D-6E8A-4147-A177-3AD203B41FA5}">
                      <a16:colId xmlns:a16="http://schemas.microsoft.com/office/drawing/2014/main" val="1498112505"/>
                    </a:ext>
                  </a:extLst>
                </a:gridCol>
                <a:gridCol w="703580">
                  <a:extLst>
                    <a:ext uri="{9D8B030D-6E8A-4147-A177-3AD203B41FA5}">
                      <a16:colId xmlns:a16="http://schemas.microsoft.com/office/drawing/2014/main" val="1316433638"/>
                    </a:ext>
                  </a:extLst>
                </a:gridCol>
                <a:gridCol w="705600">
                  <a:extLst>
                    <a:ext uri="{9D8B030D-6E8A-4147-A177-3AD203B41FA5}">
                      <a16:colId xmlns:a16="http://schemas.microsoft.com/office/drawing/2014/main" val="2435684961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/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coef</a:t>
                      </a:r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std</a:t>
                      </a:r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err</a:t>
                      </a:r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P&gt;|t|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[0.025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0.975]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5844176"/>
                  </a:ext>
                </a:extLst>
              </a:tr>
            </a:tbl>
          </a:graphicData>
        </a:graphic>
      </p:graphicFrame>
      <p:sp>
        <p:nvSpPr>
          <p:cNvPr id="11" name="Geschweifte Klammer links 10">
            <a:extLst>
              <a:ext uri="{FF2B5EF4-FFF2-40B4-BE49-F238E27FC236}">
                <a16:creationId xmlns:a16="http://schemas.microsoft.com/office/drawing/2014/main" id="{09BA19BE-9954-F395-AF0D-04520E5D5B59}"/>
              </a:ext>
            </a:extLst>
          </p:cNvPr>
          <p:cNvSpPr/>
          <p:nvPr/>
        </p:nvSpPr>
        <p:spPr>
          <a:xfrm>
            <a:off x="560434" y="1191455"/>
            <a:ext cx="268558" cy="2926275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579C73C5-8148-DB6B-9DC5-2F0D66709768}"/>
              </a:ext>
            </a:extLst>
          </p:cNvPr>
          <p:cNvSpPr/>
          <p:nvPr/>
        </p:nvSpPr>
        <p:spPr>
          <a:xfrm>
            <a:off x="252461" y="2446328"/>
            <a:ext cx="413377" cy="2588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B1</a:t>
            </a:r>
          </a:p>
        </p:txBody>
      </p:sp>
    </p:spTree>
    <p:extLst>
      <p:ext uri="{BB962C8B-B14F-4D97-AF65-F5344CB8AC3E}">
        <p14:creationId xmlns:p14="http://schemas.microsoft.com/office/powerpoint/2010/main" val="247405730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D8F8CA-E295-16B0-5747-D3F32C8B1C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Rechteck 48">
            <a:extLst>
              <a:ext uri="{FF2B5EF4-FFF2-40B4-BE49-F238E27FC236}">
                <a16:creationId xmlns:a16="http://schemas.microsoft.com/office/drawing/2014/main" id="{93D53EE7-432E-1825-43FF-F209A8BB6D7A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2400">
                <a:latin typeface="Arial" panose="020B0604020202020204" pitchFamily="34" charset="0"/>
                <a:cs typeface="Arial" panose="020B0604020202020204" pitchFamily="34" charset="0"/>
              </a:rPr>
              <a:t>Model </a:t>
            </a:r>
            <a:r>
              <a:rPr lang="de-DE" sz="2400" err="1">
                <a:latin typeface="Arial" panose="020B0604020202020204" pitchFamily="34" charset="0"/>
                <a:cs typeface="Arial" panose="020B0604020202020204" pitchFamily="34" charset="0"/>
              </a:rPr>
              <a:t>results</a:t>
            </a:r>
            <a:r>
              <a:rPr lang="de-DE" sz="2400">
                <a:latin typeface="Arial" panose="020B0604020202020204" pitchFamily="34" charset="0"/>
                <a:cs typeface="Arial" panose="020B0604020202020204" pitchFamily="34" charset="0"/>
              </a:rPr>
              <a:t> - </a:t>
            </a:r>
            <a:r>
              <a:rPr lang="de-DE" sz="2400" err="1">
                <a:latin typeface="Arial" panose="020B0604020202020204" pitchFamily="34" charset="0"/>
                <a:cs typeface="Arial" panose="020B0604020202020204" pitchFamily="34" charset="0"/>
              </a:rPr>
              <a:t>explaining</a:t>
            </a:r>
            <a:r>
              <a:rPr lang="de-DE" sz="2400">
                <a:latin typeface="Arial" panose="020B0604020202020204" pitchFamily="34" charset="0"/>
                <a:cs typeface="Arial" panose="020B0604020202020204" pitchFamily="34" charset="0"/>
              </a:rPr>
              <a:t> UIP</a:t>
            </a:r>
          </a:p>
        </p:txBody>
      </p:sp>
      <p:graphicFrame>
        <p:nvGraphicFramePr>
          <p:cNvPr id="7" name="Tabelle 6">
            <a:extLst>
              <a:ext uri="{FF2B5EF4-FFF2-40B4-BE49-F238E27FC236}">
                <a16:creationId xmlns:a16="http://schemas.microsoft.com/office/drawing/2014/main" id="{2933D3D6-CC4A-96ED-21C9-AB2209A18B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95958464"/>
              </p:ext>
            </p:extLst>
          </p:nvPr>
        </p:nvGraphicFramePr>
        <p:xfrm>
          <a:off x="785021" y="1389275"/>
          <a:ext cx="10250475" cy="4896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427971">
                  <a:extLst>
                    <a:ext uri="{9D8B030D-6E8A-4147-A177-3AD203B41FA5}">
                      <a16:colId xmlns:a16="http://schemas.microsoft.com/office/drawing/2014/main" val="2463779370"/>
                    </a:ext>
                  </a:extLst>
                </a:gridCol>
                <a:gridCol w="1795780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835854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785630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  <a:gridCol w="642567">
                  <a:extLst>
                    <a:ext uri="{9D8B030D-6E8A-4147-A177-3AD203B41FA5}">
                      <a16:colId xmlns:a16="http://schemas.microsoft.com/office/drawing/2014/main" val="1498112505"/>
                    </a:ext>
                  </a:extLst>
                </a:gridCol>
                <a:gridCol w="803593">
                  <a:extLst>
                    <a:ext uri="{9D8B030D-6E8A-4147-A177-3AD203B41FA5}">
                      <a16:colId xmlns:a16="http://schemas.microsoft.com/office/drawing/2014/main" val="2341012291"/>
                    </a:ext>
                  </a:extLst>
                </a:gridCol>
                <a:gridCol w="2799080">
                  <a:extLst>
                    <a:ext uri="{9D8B030D-6E8A-4147-A177-3AD203B41FA5}">
                      <a16:colId xmlns:a16="http://schemas.microsoft.com/office/drawing/2014/main" val="1316433638"/>
                    </a:ext>
                  </a:extLst>
                </a:gridCol>
                <a:gridCol w="2160000">
                  <a:extLst>
                    <a:ext uri="{9D8B030D-6E8A-4147-A177-3AD203B41FA5}">
                      <a16:colId xmlns:a16="http://schemas.microsoft.com/office/drawing/2014/main" val="2435684961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Model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Start-date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End-date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 Obs.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Regimes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Dep</a:t>
                      </a:r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Exp</a:t>
                      </a:r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Markov (Switching) Regression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1999-01-05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2025-10-14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6715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K=2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EUR/USD spot exchange rate (log first </a:t>
                      </a:r>
                      <a:r>
                        <a:rPr lang="de-DE" sz="9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differences</a:t>
                      </a: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3M Interbank lending rates differentials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</a:tbl>
          </a:graphicData>
        </a:graphic>
      </p:graphicFrame>
      <p:graphicFrame>
        <p:nvGraphicFramePr>
          <p:cNvPr id="8" name="Tabelle 7">
            <a:extLst>
              <a:ext uri="{FF2B5EF4-FFF2-40B4-BE49-F238E27FC236}">
                <a16:creationId xmlns:a16="http://schemas.microsoft.com/office/drawing/2014/main" id="{BC344C31-F022-4FB8-93CE-14BA42E11D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40252349"/>
              </p:ext>
            </p:extLst>
          </p:nvPr>
        </p:nvGraphicFramePr>
        <p:xfrm>
          <a:off x="785020" y="1963152"/>
          <a:ext cx="4661967" cy="7200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760730">
                  <a:extLst>
                    <a:ext uri="{9D8B030D-6E8A-4147-A177-3AD203B41FA5}">
                      <a16:colId xmlns:a16="http://schemas.microsoft.com/office/drawing/2014/main" val="2463779370"/>
                    </a:ext>
                  </a:extLst>
                </a:gridCol>
                <a:gridCol w="767080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665480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538480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  <a:gridCol w="521017">
                  <a:extLst>
                    <a:ext uri="{9D8B030D-6E8A-4147-A177-3AD203B41FA5}">
                      <a16:colId xmlns:a16="http://schemas.microsoft.com/office/drawing/2014/main" val="1498112505"/>
                    </a:ext>
                  </a:extLst>
                </a:gridCol>
                <a:gridCol w="703580">
                  <a:extLst>
                    <a:ext uri="{9D8B030D-6E8A-4147-A177-3AD203B41FA5}">
                      <a16:colId xmlns:a16="http://schemas.microsoft.com/office/drawing/2014/main" val="1316433638"/>
                    </a:ext>
                  </a:extLst>
                </a:gridCol>
                <a:gridCol w="705600">
                  <a:extLst>
                    <a:ext uri="{9D8B030D-6E8A-4147-A177-3AD203B41FA5}">
                      <a16:colId xmlns:a16="http://schemas.microsoft.com/office/drawing/2014/main" val="2435684961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/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coef</a:t>
                      </a:r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std</a:t>
                      </a:r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err</a:t>
                      </a:r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P&gt;|t|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[0.025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0.975]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5844176"/>
                  </a:ext>
                </a:extLst>
              </a:tr>
            </a:tbl>
          </a:graphicData>
        </a:graphic>
      </p:graphicFrame>
      <p:graphicFrame>
        <p:nvGraphicFramePr>
          <p:cNvPr id="9" name="Tabelle 8">
            <a:extLst>
              <a:ext uri="{FF2B5EF4-FFF2-40B4-BE49-F238E27FC236}">
                <a16:creationId xmlns:a16="http://schemas.microsoft.com/office/drawing/2014/main" id="{29249722-BBAA-3941-69DC-DC74E4E5147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329368"/>
              </p:ext>
            </p:extLst>
          </p:nvPr>
        </p:nvGraphicFramePr>
        <p:xfrm>
          <a:off x="785021" y="2864030"/>
          <a:ext cx="10250475" cy="131616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427971">
                  <a:extLst>
                    <a:ext uri="{9D8B030D-6E8A-4147-A177-3AD203B41FA5}">
                      <a16:colId xmlns:a16="http://schemas.microsoft.com/office/drawing/2014/main" val="2463779370"/>
                    </a:ext>
                  </a:extLst>
                </a:gridCol>
                <a:gridCol w="1795780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835854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785630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  <a:gridCol w="642567">
                  <a:extLst>
                    <a:ext uri="{9D8B030D-6E8A-4147-A177-3AD203B41FA5}">
                      <a16:colId xmlns:a16="http://schemas.microsoft.com/office/drawing/2014/main" val="1498112505"/>
                    </a:ext>
                  </a:extLst>
                </a:gridCol>
                <a:gridCol w="803593">
                  <a:extLst>
                    <a:ext uri="{9D8B030D-6E8A-4147-A177-3AD203B41FA5}">
                      <a16:colId xmlns:a16="http://schemas.microsoft.com/office/drawing/2014/main" val="2341012291"/>
                    </a:ext>
                  </a:extLst>
                </a:gridCol>
                <a:gridCol w="2799080">
                  <a:extLst>
                    <a:ext uri="{9D8B030D-6E8A-4147-A177-3AD203B41FA5}">
                      <a16:colId xmlns:a16="http://schemas.microsoft.com/office/drawing/2014/main" val="1316433638"/>
                    </a:ext>
                  </a:extLst>
                </a:gridCol>
                <a:gridCol w="2160000">
                  <a:extLst>
                    <a:ext uri="{9D8B030D-6E8A-4147-A177-3AD203B41FA5}">
                      <a16:colId xmlns:a16="http://schemas.microsoft.com/office/drawing/2014/main" val="2435684961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Model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Start-date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End-date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 Obs.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Regimes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Dep</a:t>
                      </a:r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Exp</a:t>
                      </a:r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Markov (Switching) Regression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1999-01-05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2025-10-14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6715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K=2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EUR/USD spot exchange rate (log first </a:t>
                      </a:r>
                      <a:r>
                        <a:rPr lang="de-DE" sz="9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differences</a:t>
                      </a: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3M Interbank lending rates differentials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b="0" kern="1200" dirty="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rolling</a:t>
                      </a:r>
                      <a:r>
                        <a:rPr lang="de-DE" sz="900" b="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b="0" kern="1200" dirty="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volatilty</a:t>
                      </a:r>
                      <a:r>
                        <a:rPr lang="de-DE" sz="900" b="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of log </a:t>
                      </a:r>
                      <a:r>
                        <a:rPr lang="de-DE" sz="900" b="0" kern="1200" dirty="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first</a:t>
                      </a:r>
                      <a:r>
                        <a:rPr lang="de-DE" sz="900" b="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b="0" kern="1200" dirty="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diff</a:t>
                      </a:r>
                      <a:r>
                        <a:rPr lang="de-DE" sz="900" b="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of WTI Oil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60455384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rolling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volatilty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of log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first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diff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of Natural Gas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02517223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Trading Volume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67428345"/>
                  </a:ext>
                </a:extLst>
              </a:tr>
            </a:tbl>
          </a:graphicData>
        </a:graphic>
      </p:graphicFrame>
      <p:graphicFrame>
        <p:nvGraphicFramePr>
          <p:cNvPr id="10" name="Tabelle 9">
            <a:extLst>
              <a:ext uri="{FF2B5EF4-FFF2-40B4-BE49-F238E27FC236}">
                <a16:creationId xmlns:a16="http://schemas.microsoft.com/office/drawing/2014/main" id="{A4C027EE-57BE-86AB-4D60-3B56C686D9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90965531"/>
              </p:ext>
            </p:extLst>
          </p:nvPr>
        </p:nvGraphicFramePr>
        <p:xfrm>
          <a:off x="785019" y="3522110"/>
          <a:ext cx="4661967" cy="7200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760730">
                  <a:extLst>
                    <a:ext uri="{9D8B030D-6E8A-4147-A177-3AD203B41FA5}">
                      <a16:colId xmlns:a16="http://schemas.microsoft.com/office/drawing/2014/main" val="2463779370"/>
                    </a:ext>
                  </a:extLst>
                </a:gridCol>
                <a:gridCol w="767080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665480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538480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  <a:gridCol w="521017">
                  <a:extLst>
                    <a:ext uri="{9D8B030D-6E8A-4147-A177-3AD203B41FA5}">
                      <a16:colId xmlns:a16="http://schemas.microsoft.com/office/drawing/2014/main" val="1498112505"/>
                    </a:ext>
                  </a:extLst>
                </a:gridCol>
                <a:gridCol w="703580">
                  <a:extLst>
                    <a:ext uri="{9D8B030D-6E8A-4147-A177-3AD203B41FA5}">
                      <a16:colId xmlns:a16="http://schemas.microsoft.com/office/drawing/2014/main" val="1316433638"/>
                    </a:ext>
                  </a:extLst>
                </a:gridCol>
                <a:gridCol w="705600">
                  <a:extLst>
                    <a:ext uri="{9D8B030D-6E8A-4147-A177-3AD203B41FA5}">
                      <a16:colId xmlns:a16="http://schemas.microsoft.com/office/drawing/2014/main" val="2435684961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/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coef</a:t>
                      </a:r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std</a:t>
                      </a:r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err</a:t>
                      </a:r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P&gt;|t|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[0.025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0.975]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5844176"/>
                  </a:ext>
                </a:extLst>
              </a:tr>
            </a:tbl>
          </a:graphicData>
        </a:graphic>
      </p:graphicFrame>
      <p:sp>
        <p:nvSpPr>
          <p:cNvPr id="11" name="Geschweifte Klammer links 10">
            <a:extLst>
              <a:ext uri="{FF2B5EF4-FFF2-40B4-BE49-F238E27FC236}">
                <a16:creationId xmlns:a16="http://schemas.microsoft.com/office/drawing/2014/main" id="{FDC7C83E-AACC-2485-CB4C-5377FA10AE62}"/>
              </a:ext>
            </a:extLst>
          </p:cNvPr>
          <p:cNvSpPr/>
          <p:nvPr/>
        </p:nvSpPr>
        <p:spPr>
          <a:xfrm>
            <a:off x="396804" y="1389275"/>
            <a:ext cx="268558" cy="2768627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32A1ADA5-2D13-3A88-C581-1B13B4B0812D}"/>
              </a:ext>
            </a:extLst>
          </p:cNvPr>
          <p:cNvSpPr/>
          <p:nvPr/>
        </p:nvSpPr>
        <p:spPr>
          <a:xfrm>
            <a:off x="88831" y="2644148"/>
            <a:ext cx="413377" cy="2588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B2</a:t>
            </a:r>
          </a:p>
        </p:txBody>
      </p:sp>
    </p:spTree>
    <p:extLst>
      <p:ext uri="{BB962C8B-B14F-4D97-AF65-F5344CB8AC3E}">
        <p14:creationId xmlns:p14="http://schemas.microsoft.com/office/powerpoint/2010/main" val="346581954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5F3E87-9FB7-BCCC-E76E-84F6CEC96B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Rechteck 48">
            <a:extLst>
              <a:ext uri="{FF2B5EF4-FFF2-40B4-BE49-F238E27FC236}">
                <a16:creationId xmlns:a16="http://schemas.microsoft.com/office/drawing/2014/main" id="{5575104F-1E7F-62E6-1A3E-305BB9B1A6B7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2400">
                <a:latin typeface="Arial" panose="020B0604020202020204" pitchFamily="34" charset="0"/>
                <a:cs typeface="Arial" panose="020B0604020202020204" pitchFamily="34" charset="0"/>
              </a:rPr>
              <a:t>Model </a:t>
            </a:r>
            <a:r>
              <a:rPr lang="de-DE" sz="2400" err="1">
                <a:latin typeface="Arial" panose="020B0604020202020204" pitchFamily="34" charset="0"/>
                <a:cs typeface="Arial" panose="020B0604020202020204" pitchFamily="34" charset="0"/>
              </a:rPr>
              <a:t>results</a:t>
            </a:r>
            <a:r>
              <a:rPr lang="de-DE" sz="2400">
                <a:latin typeface="Arial" panose="020B0604020202020204" pitchFamily="34" charset="0"/>
                <a:cs typeface="Arial" panose="020B0604020202020204" pitchFamily="34" charset="0"/>
              </a:rPr>
              <a:t> - </a:t>
            </a:r>
            <a:r>
              <a:rPr lang="de-DE" sz="2400" err="1">
                <a:latin typeface="Arial" panose="020B0604020202020204" pitchFamily="34" charset="0"/>
                <a:cs typeface="Arial" panose="020B0604020202020204" pitchFamily="34" charset="0"/>
              </a:rPr>
              <a:t>explaining</a:t>
            </a:r>
            <a:r>
              <a:rPr lang="de-DE" sz="2400">
                <a:latin typeface="Arial" panose="020B0604020202020204" pitchFamily="34" charset="0"/>
                <a:cs typeface="Arial" panose="020B0604020202020204" pitchFamily="34" charset="0"/>
              </a:rPr>
              <a:t> UIP</a:t>
            </a:r>
          </a:p>
        </p:txBody>
      </p:sp>
      <p:graphicFrame>
        <p:nvGraphicFramePr>
          <p:cNvPr id="3" name="Tabelle 2">
            <a:extLst>
              <a:ext uri="{FF2B5EF4-FFF2-40B4-BE49-F238E27FC236}">
                <a16:creationId xmlns:a16="http://schemas.microsoft.com/office/drawing/2014/main" id="{BBB95CF9-0D05-0996-0C82-BA8CC807BD2A}"/>
              </a:ext>
            </a:extLst>
          </p:cNvPr>
          <p:cNvGraphicFramePr>
            <a:graphicFrameLocks noGrp="1"/>
          </p:cNvGraphicFramePr>
          <p:nvPr/>
        </p:nvGraphicFramePr>
        <p:xfrm>
          <a:off x="1044903" y="831954"/>
          <a:ext cx="10101465" cy="4896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458931">
                  <a:extLst>
                    <a:ext uri="{9D8B030D-6E8A-4147-A177-3AD203B41FA5}">
                      <a16:colId xmlns:a16="http://schemas.microsoft.com/office/drawing/2014/main" val="2463779370"/>
                    </a:ext>
                  </a:extLst>
                </a:gridCol>
                <a:gridCol w="1173769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896320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842463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  <a:gridCol w="689051">
                  <a:extLst>
                    <a:ext uri="{9D8B030D-6E8A-4147-A177-3AD203B41FA5}">
                      <a16:colId xmlns:a16="http://schemas.microsoft.com/office/drawing/2014/main" val="1498112505"/>
                    </a:ext>
                  </a:extLst>
                </a:gridCol>
                <a:gridCol w="2799080">
                  <a:extLst>
                    <a:ext uri="{9D8B030D-6E8A-4147-A177-3AD203B41FA5}">
                      <a16:colId xmlns:a16="http://schemas.microsoft.com/office/drawing/2014/main" val="1316433638"/>
                    </a:ext>
                  </a:extLst>
                </a:gridCol>
                <a:gridCol w="2043430">
                  <a:extLst>
                    <a:ext uri="{9D8B030D-6E8A-4147-A177-3AD203B41FA5}">
                      <a16:colId xmlns:a16="http://schemas.microsoft.com/office/drawing/2014/main" val="2435684961"/>
                    </a:ext>
                  </a:extLst>
                </a:gridCol>
                <a:gridCol w="514421">
                  <a:extLst>
                    <a:ext uri="{9D8B030D-6E8A-4147-A177-3AD203B41FA5}">
                      <a16:colId xmlns:a16="http://schemas.microsoft.com/office/drawing/2014/main" val="1526740981"/>
                    </a:ext>
                  </a:extLst>
                </a:gridCol>
                <a:gridCol w="684000">
                  <a:extLst>
                    <a:ext uri="{9D8B030D-6E8A-4147-A177-3AD203B41FA5}">
                      <a16:colId xmlns:a16="http://schemas.microsoft.com/office/drawing/2014/main" val="2450294761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Model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Start-date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End-date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 Obs.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Dep</a:t>
                      </a:r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Exp</a:t>
                      </a:r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Adj. R2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Linear Regression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1999-01-05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2025-10-14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6715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EUR/USD spot exchange rate (log first </a:t>
                      </a:r>
                      <a:r>
                        <a:rPr lang="de-DE" sz="9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differences</a:t>
                      </a: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Central Bank Policy Rate differential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</a:tbl>
          </a:graphicData>
        </a:graphic>
      </p:graphicFrame>
      <p:graphicFrame>
        <p:nvGraphicFramePr>
          <p:cNvPr id="5" name="Tabelle 4">
            <a:extLst>
              <a:ext uri="{FF2B5EF4-FFF2-40B4-BE49-F238E27FC236}">
                <a16:creationId xmlns:a16="http://schemas.microsoft.com/office/drawing/2014/main" id="{4EB66E07-F5D3-FA59-428E-FA5F9B5B944D}"/>
              </a:ext>
            </a:extLst>
          </p:cNvPr>
          <p:cNvGraphicFramePr>
            <a:graphicFrameLocks noGrp="1"/>
          </p:cNvGraphicFramePr>
          <p:nvPr/>
        </p:nvGraphicFramePr>
        <p:xfrm>
          <a:off x="1044903" y="1398242"/>
          <a:ext cx="4661967" cy="7200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760730">
                  <a:extLst>
                    <a:ext uri="{9D8B030D-6E8A-4147-A177-3AD203B41FA5}">
                      <a16:colId xmlns:a16="http://schemas.microsoft.com/office/drawing/2014/main" val="2463779370"/>
                    </a:ext>
                  </a:extLst>
                </a:gridCol>
                <a:gridCol w="767080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665480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538480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  <a:gridCol w="521017">
                  <a:extLst>
                    <a:ext uri="{9D8B030D-6E8A-4147-A177-3AD203B41FA5}">
                      <a16:colId xmlns:a16="http://schemas.microsoft.com/office/drawing/2014/main" val="1498112505"/>
                    </a:ext>
                  </a:extLst>
                </a:gridCol>
                <a:gridCol w="703580">
                  <a:extLst>
                    <a:ext uri="{9D8B030D-6E8A-4147-A177-3AD203B41FA5}">
                      <a16:colId xmlns:a16="http://schemas.microsoft.com/office/drawing/2014/main" val="1316433638"/>
                    </a:ext>
                  </a:extLst>
                </a:gridCol>
                <a:gridCol w="705600">
                  <a:extLst>
                    <a:ext uri="{9D8B030D-6E8A-4147-A177-3AD203B41FA5}">
                      <a16:colId xmlns:a16="http://schemas.microsoft.com/office/drawing/2014/main" val="2435684961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/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coef</a:t>
                      </a:r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std</a:t>
                      </a:r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err</a:t>
                      </a:r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P&gt;|t|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[0.025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0.975]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r>
                        <a:rPr lang="de-DE" sz="9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const</a:t>
                      </a: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-6.038e-06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7.38e-05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-0.082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0.935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-0.000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r>
                        <a:rPr lang="de-DE" sz="9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i_diff_EUR</a:t>
                      </a: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2.279e-05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5.41e-05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0.422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0.673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-8.32e-05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5844176"/>
                  </a:ext>
                </a:extLst>
              </a:tr>
            </a:tbl>
          </a:graphicData>
        </a:graphic>
      </p:graphicFrame>
      <p:cxnSp>
        <p:nvCxnSpPr>
          <p:cNvPr id="6" name="Gerade Verbindung 5">
            <a:extLst>
              <a:ext uri="{FF2B5EF4-FFF2-40B4-BE49-F238E27FC236}">
                <a16:creationId xmlns:a16="http://schemas.microsoft.com/office/drawing/2014/main" id="{4B84112F-74E5-B870-4975-F4747F9A2170}"/>
              </a:ext>
            </a:extLst>
          </p:cNvPr>
          <p:cNvCxnSpPr>
            <a:cxnSpLocks/>
          </p:cNvCxnSpPr>
          <p:nvPr/>
        </p:nvCxnSpPr>
        <p:spPr>
          <a:xfrm>
            <a:off x="925244" y="2215771"/>
            <a:ext cx="10512000" cy="0"/>
          </a:xfrm>
          <a:prstGeom prst="line">
            <a:avLst/>
          </a:prstGeom>
          <a:ln w="19050"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7" name="Tabelle 6">
            <a:extLst>
              <a:ext uri="{FF2B5EF4-FFF2-40B4-BE49-F238E27FC236}">
                <a16:creationId xmlns:a16="http://schemas.microsoft.com/office/drawing/2014/main" id="{8239FEC7-76D9-AA20-5031-B7554BA4C8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550935"/>
              </p:ext>
            </p:extLst>
          </p:nvPr>
        </p:nvGraphicFramePr>
        <p:xfrm>
          <a:off x="1044903" y="2313301"/>
          <a:ext cx="10250475" cy="4896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427971">
                  <a:extLst>
                    <a:ext uri="{9D8B030D-6E8A-4147-A177-3AD203B41FA5}">
                      <a16:colId xmlns:a16="http://schemas.microsoft.com/office/drawing/2014/main" val="2463779370"/>
                    </a:ext>
                  </a:extLst>
                </a:gridCol>
                <a:gridCol w="1795780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835854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785630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  <a:gridCol w="642567">
                  <a:extLst>
                    <a:ext uri="{9D8B030D-6E8A-4147-A177-3AD203B41FA5}">
                      <a16:colId xmlns:a16="http://schemas.microsoft.com/office/drawing/2014/main" val="1498112505"/>
                    </a:ext>
                  </a:extLst>
                </a:gridCol>
                <a:gridCol w="803593">
                  <a:extLst>
                    <a:ext uri="{9D8B030D-6E8A-4147-A177-3AD203B41FA5}">
                      <a16:colId xmlns:a16="http://schemas.microsoft.com/office/drawing/2014/main" val="2341012291"/>
                    </a:ext>
                  </a:extLst>
                </a:gridCol>
                <a:gridCol w="2799080">
                  <a:extLst>
                    <a:ext uri="{9D8B030D-6E8A-4147-A177-3AD203B41FA5}">
                      <a16:colId xmlns:a16="http://schemas.microsoft.com/office/drawing/2014/main" val="1316433638"/>
                    </a:ext>
                  </a:extLst>
                </a:gridCol>
                <a:gridCol w="2160000">
                  <a:extLst>
                    <a:ext uri="{9D8B030D-6E8A-4147-A177-3AD203B41FA5}">
                      <a16:colId xmlns:a16="http://schemas.microsoft.com/office/drawing/2014/main" val="2435684961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Model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Start-date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End-date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 Obs.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Regimes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Dep</a:t>
                      </a:r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Exp</a:t>
                      </a:r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K=2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</a:tbl>
          </a:graphicData>
        </a:graphic>
      </p:graphicFrame>
      <p:graphicFrame>
        <p:nvGraphicFramePr>
          <p:cNvPr id="8" name="Tabelle 7">
            <a:extLst>
              <a:ext uri="{FF2B5EF4-FFF2-40B4-BE49-F238E27FC236}">
                <a16:creationId xmlns:a16="http://schemas.microsoft.com/office/drawing/2014/main" id="{9A8E479D-FA60-1120-0320-2CAB2F007C70}"/>
              </a:ext>
            </a:extLst>
          </p:cNvPr>
          <p:cNvGraphicFramePr>
            <a:graphicFrameLocks noGrp="1"/>
          </p:cNvGraphicFramePr>
          <p:nvPr/>
        </p:nvGraphicFramePr>
        <p:xfrm>
          <a:off x="1044902" y="2887178"/>
          <a:ext cx="4661967" cy="7200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760730">
                  <a:extLst>
                    <a:ext uri="{9D8B030D-6E8A-4147-A177-3AD203B41FA5}">
                      <a16:colId xmlns:a16="http://schemas.microsoft.com/office/drawing/2014/main" val="2463779370"/>
                    </a:ext>
                  </a:extLst>
                </a:gridCol>
                <a:gridCol w="767080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665480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538480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  <a:gridCol w="521017">
                  <a:extLst>
                    <a:ext uri="{9D8B030D-6E8A-4147-A177-3AD203B41FA5}">
                      <a16:colId xmlns:a16="http://schemas.microsoft.com/office/drawing/2014/main" val="1498112505"/>
                    </a:ext>
                  </a:extLst>
                </a:gridCol>
                <a:gridCol w="703580">
                  <a:extLst>
                    <a:ext uri="{9D8B030D-6E8A-4147-A177-3AD203B41FA5}">
                      <a16:colId xmlns:a16="http://schemas.microsoft.com/office/drawing/2014/main" val="1316433638"/>
                    </a:ext>
                  </a:extLst>
                </a:gridCol>
                <a:gridCol w="705600">
                  <a:extLst>
                    <a:ext uri="{9D8B030D-6E8A-4147-A177-3AD203B41FA5}">
                      <a16:colId xmlns:a16="http://schemas.microsoft.com/office/drawing/2014/main" val="2435684961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/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coef</a:t>
                      </a:r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std</a:t>
                      </a:r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err</a:t>
                      </a:r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P&gt;|t|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[0.025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0.975]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5844176"/>
                  </a:ext>
                </a:extLst>
              </a:tr>
            </a:tbl>
          </a:graphicData>
        </a:graphic>
      </p:graphicFrame>
      <p:graphicFrame>
        <p:nvGraphicFramePr>
          <p:cNvPr id="9" name="Tabelle 8">
            <a:extLst>
              <a:ext uri="{FF2B5EF4-FFF2-40B4-BE49-F238E27FC236}">
                <a16:creationId xmlns:a16="http://schemas.microsoft.com/office/drawing/2014/main" id="{C2A18132-1E9D-4C0B-9AAA-2200C042A22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20451536"/>
              </p:ext>
            </p:extLst>
          </p:nvPr>
        </p:nvGraphicFramePr>
        <p:xfrm>
          <a:off x="1044903" y="3788056"/>
          <a:ext cx="10250475" cy="4896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427971">
                  <a:extLst>
                    <a:ext uri="{9D8B030D-6E8A-4147-A177-3AD203B41FA5}">
                      <a16:colId xmlns:a16="http://schemas.microsoft.com/office/drawing/2014/main" val="2463779370"/>
                    </a:ext>
                  </a:extLst>
                </a:gridCol>
                <a:gridCol w="1795780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835854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785630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  <a:gridCol w="642567">
                  <a:extLst>
                    <a:ext uri="{9D8B030D-6E8A-4147-A177-3AD203B41FA5}">
                      <a16:colId xmlns:a16="http://schemas.microsoft.com/office/drawing/2014/main" val="1498112505"/>
                    </a:ext>
                  </a:extLst>
                </a:gridCol>
                <a:gridCol w="803593">
                  <a:extLst>
                    <a:ext uri="{9D8B030D-6E8A-4147-A177-3AD203B41FA5}">
                      <a16:colId xmlns:a16="http://schemas.microsoft.com/office/drawing/2014/main" val="2341012291"/>
                    </a:ext>
                  </a:extLst>
                </a:gridCol>
                <a:gridCol w="2799080">
                  <a:extLst>
                    <a:ext uri="{9D8B030D-6E8A-4147-A177-3AD203B41FA5}">
                      <a16:colId xmlns:a16="http://schemas.microsoft.com/office/drawing/2014/main" val="1316433638"/>
                    </a:ext>
                  </a:extLst>
                </a:gridCol>
                <a:gridCol w="2160000">
                  <a:extLst>
                    <a:ext uri="{9D8B030D-6E8A-4147-A177-3AD203B41FA5}">
                      <a16:colId xmlns:a16="http://schemas.microsoft.com/office/drawing/2014/main" val="2435684961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Model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Start-date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End-date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 Obs.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Regimes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Dep</a:t>
                      </a:r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Exp</a:t>
                      </a:r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K=2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</a:tbl>
          </a:graphicData>
        </a:graphic>
      </p:graphicFrame>
      <p:graphicFrame>
        <p:nvGraphicFramePr>
          <p:cNvPr id="10" name="Tabelle 9">
            <a:extLst>
              <a:ext uri="{FF2B5EF4-FFF2-40B4-BE49-F238E27FC236}">
                <a16:creationId xmlns:a16="http://schemas.microsoft.com/office/drawing/2014/main" id="{A63415FF-986F-3F60-EFDA-0B8C488868E5}"/>
              </a:ext>
            </a:extLst>
          </p:cNvPr>
          <p:cNvGraphicFramePr>
            <a:graphicFrameLocks noGrp="1"/>
          </p:cNvGraphicFramePr>
          <p:nvPr/>
        </p:nvGraphicFramePr>
        <p:xfrm>
          <a:off x="1044902" y="4361933"/>
          <a:ext cx="4661967" cy="7200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760730">
                  <a:extLst>
                    <a:ext uri="{9D8B030D-6E8A-4147-A177-3AD203B41FA5}">
                      <a16:colId xmlns:a16="http://schemas.microsoft.com/office/drawing/2014/main" val="2463779370"/>
                    </a:ext>
                  </a:extLst>
                </a:gridCol>
                <a:gridCol w="767080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665480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538480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  <a:gridCol w="521017">
                  <a:extLst>
                    <a:ext uri="{9D8B030D-6E8A-4147-A177-3AD203B41FA5}">
                      <a16:colId xmlns:a16="http://schemas.microsoft.com/office/drawing/2014/main" val="1498112505"/>
                    </a:ext>
                  </a:extLst>
                </a:gridCol>
                <a:gridCol w="703580">
                  <a:extLst>
                    <a:ext uri="{9D8B030D-6E8A-4147-A177-3AD203B41FA5}">
                      <a16:colId xmlns:a16="http://schemas.microsoft.com/office/drawing/2014/main" val="1316433638"/>
                    </a:ext>
                  </a:extLst>
                </a:gridCol>
                <a:gridCol w="705600">
                  <a:extLst>
                    <a:ext uri="{9D8B030D-6E8A-4147-A177-3AD203B41FA5}">
                      <a16:colId xmlns:a16="http://schemas.microsoft.com/office/drawing/2014/main" val="2435684961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/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coef</a:t>
                      </a:r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std</a:t>
                      </a:r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err</a:t>
                      </a:r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P&gt;|t|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[0.025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0.975]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58441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42639379"/>
      </p:ext>
    </p:extLst>
  </p:cSld>
  <p:clrMapOvr>
    <a:masterClrMapping/>
  </p:clrMapOvr>
</p:sld>
</file>

<file path=ppt/theme/theme1.xml><?xml version="1.0" encoding="utf-8"?>
<a:theme xmlns:a="http://schemas.openxmlformats.org/drawingml/2006/main" name="Einfache Foli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Minimale Foli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3262</Words>
  <Application>Microsoft Macintosh PowerPoint</Application>
  <PresentationFormat>Benutzerdefiniert</PresentationFormat>
  <Paragraphs>756</Paragraphs>
  <Slides>15</Slides>
  <Notes>11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20</vt:i4>
      </vt:variant>
      <vt:variant>
        <vt:lpstr>Design</vt:lpstr>
      </vt:variant>
      <vt:variant>
        <vt:i4>2</vt:i4>
      </vt:variant>
      <vt:variant>
        <vt:lpstr>Folientitel</vt:lpstr>
      </vt:variant>
      <vt:variant>
        <vt:i4>15</vt:i4>
      </vt:variant>
    </vt:vector>
  </HeadingPairs>
  <TitlesOfParts>
    <vt:vector size="37" baseType="lpstr">
      <vt:lpstr>AdvOT596495f2</vt:lpstr>
      <vt:lpstr>AdvOT863180fb</vt:lpstr>
      <vt:lpstr>AdvTT5235d5a9</vt:lpstr>
      <vt:lpstr>AdvTT5235d5a9+fb</vt:lpstr>
      <vt:lpstr>AdvTT5843c571</vt:lpstr>
      <vt:lpstr>AdvTT6120e2aa</vt:lpstr>
      <vt:lpstr>Aptos</vt:lpstr>
      <vt:lpstr>Arial</vt:lpstr>
      <vt:lpstr>Calibri</vt:lpstr>
      <vt:lpstr>Cambria Math</vt:lpstr>
      <vt:lpstr>CharisSIL</vt:lpstr>
      <vt:lpstr>Code2000</vt:lpstr>
      <vt:lpstr>MathPackOne</vt:lpstr>
      <vt:lpstr>NotoSansSemiCondensed</vt:lpstr>
      <vt:lpstr>Roboto</vt:lpstr>
      <vt:lpstr>Times</vt:lpstr>
      <vt:lpstr>Times New Roman,Bold</vt:lpstr>
      <vt:lpstr>TimesLTStd</vt:lpstr>
      <vt:lpstr>TimesNewRomanPSMT</vt:lpstr>
      <vt:lpstr>UniversLTStd</vt:lpstr>
      <vt:lpstr>Einfache Folie</vt:lpstr>
      <vt:lpstr>Minimale Folie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Muster</dc:title>
  <dc:subject/>
  <dc:creator>Universität Kiel  (CAU)</dc:creator>
  <dc:description/>
  <cp:lastModifiedBy>Robert Hennings</cp:lastModifiedBy>
  <cp:revision>380</cp:revision>
  <cp:lastPrinted>1601-01-01T00:00:00Z</cp:lastPrinted>
  <dcterms:created xsi:type="dcterms:W3CDTF">2010-06-02T10:39:48Z</dcterms:created>
  <dcterms:modified xsi:type="dcterms:W3CDTF">2025-11-05T12:45:08Z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ppVersion">
    <vt:lpwstr>16.0000</vt:lpwstr>
  </property>
  <property fmtid="{D5CDD505-2E9C-101B-9397-08002B2CF9AE}" pid="3" name="HiddenSlides">
    <vt:i4>0</vt:i4>
  </property>
  <property fmtid="{D5CDD505-2E9C-101B-9397-08002B2CF9AE}" pid="4" name="HyperlinksChanged">
    <vt:bool>false</vt:bool>
  </property>
  <property fmtid="{D5CDD505-2E9C-101B-9397-08002B2CF9AE}" pid="5" name="LinksUpToDate">
    <vt:bool>false</vt:bool>
  </property>
  <property fmtid="{D5CDD505-2E9C-101B-9397-08002B2CF9AE}" pid="6" name="MMClips">
    <vt:i4>0</vt:i4>
  </property>
  <property fmtid="{D5CDD505-2E9C-101B-9397-08002B2CF9AE}" pid="7" name="Notes">
    <vt:i4>0</vt:i4>
  </property>
  <property fmtid="{D5CDD505-2E9C-101B-9397-08002B2CF9AE}" pid="8" name="PresentationFormat">
    <vt:lpwstr>Benutzerdefiniert</vt:lpwstr>
  </property>
  <property fmtid="{D5CDD505-2E9C-101B-9397-08002B2CF9AE}" pid="9" name="ScaleCrop">
    <vt:bool>false</vt:bool>
  </property>
  <property fmtid="{D5CDD505-2E9C-101B-9397-08002B2CF9AE}" pid="10" name="ShareDoc">
    <vt:bool>false</vt:bool>
  </property>
  <property fmtid="{D5CDD505-2E9C-101B-9397-08002B2CF9AE}" pid="11" name="Slides">
    <vt:i4>1</vt:i4>
  </property>
</Properties>
</file>