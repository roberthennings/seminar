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23"/>
  </p:notesMasterIdLst>
  <p:sldIdLst>
    <p:sldId id="260" r:id="rId3"/>
    <p:sldId id="262" r:id="rId4"/>
    <p:sldId id="259" r:id="rId5"/>
    <p:sldId id="264" r:id="rId6"/>
    <p:sldId id="267" r:id="rId7"/>
    <p:sldId id="271" r:id="rId8"/>
    <p:sldId id="268" r:id="rId9"/>
    <p:sldId id="270" r:id="rId10"/>
    <p:sldId id="275" r:id="rId11"/>
    <p:sldId id="274" r:id="rId12"/>
    <p:sldId id="279" r:id="rId13"/>
    <p:sldId id="263" r:id="rId14"/>
    <p:sldId id="265" r:id="rId15"/>
    <p:sldId id="266" r:id="rId16"/>
    <p:sldId id="284" r:id="rId17"/>
    <p:sldId id="276" r:id="rId18"/>
    <p:sldId id="277" r:id="rId19"/>
    <p:sldId id="281" r:id="rId20"/>
    <p:sldId id="278" r:id="rId21"/>
    <p:sldId id="280" r:id="rId22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53"/>
    <p:restoredTop sz="73680"/>
  </p:normalViewPr>
  <p:slideViewPr>
    <p:cSldViewPr snapToGrid="0">
      <p:cViewPr varScale="1">
        <p:scale>
          <a:sx n="170" d="100"/>
          <a:sy n="170" d="100"/>
        </p:scale>
        <p:origin x="31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29.10.25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Schematic overview of main transmission channels derivend from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literature</a:t>
            </a:r>
            <a:r>
              <a:rPr lang="de-DE" dirty="0"/>
              <a:t>, 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800" dirty="0">
                <a:effectLst/>
                <a:latin typeface="AdvTT5235d5a9"/>
              </a:rPr>
              <a:t>The </a:t>
            </a:r>
            <a:r>
              <a:rPr lang="de-DE" sz="1800" dirty="0" err="1">
                <a:effectLst/>
                <a:latin typeface="AdvTT5235d5a9"/>
              </a:rPr>
              <a:t>relationship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between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prices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rates</a:t>
            </a:r>
            <a:r>
              <a:rPr lang="de-DE" sz="1800" dirty="0">
                <a:effectLst/>
                <a:latin typeface="AdvTT5235d5a9"/>
              </a:rPr>
              <a:t>: </a:t>
            </a:r>
            <a:r>
              <a:rPr lang="de-DE" sz="1800" dirty="0" err="1">
                <a:effectLst/>
                <a:latin typeface="AdvTT5235d5a9"/>
              </a:rPr>
              <a:t>Revisiting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theory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evidence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Sources: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b="1" dirty="0"/>
              <a:t>Theory of Storage</a:t>
            </a:r>
            <a:r>
              <a:rPr lang="de-DE" dirty="0"/>
              <a:t> 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800" dirty="0">
                <a:effectLst/>
                <a:latin typeface="Code2000"/>
              </a:rPr>
              <a:t>Commodity Futures Prices: </a:t>
            </a:r>
            <a:r>
              <a:rPr lang="de-DE" sz="1800" dirty="0" err="1">
                <a:effectLst/>
                <a:latin typeface="Code2000"/>
              </a:rPr>
              <a:t>Some</a:t>
            </a:r>
            <a:r>
              <a:rPr lang="de-DE" sz="1800" dirty="0">
                <a:effectLst/>
                <a:latin typeface="Code2000"/>
              </a:rPr>
              <a:t> </a:t>
            </a:r>
            <a:r>
              <a:rPr lang="de-DE" sz="1800" dirty="0" err="1">
                <a:effectLst/>
                <a:latin typeface="Code2000"/>
              </a:rPr>
              <a:t>Evidence</a:t>
            </a:r>
            <a:r>
              <a:rPr lang="de-DE" sz="1800" dirty="0">
                <a:effectLst/>
                <a:latin typeface="Code2000"/>
              </a:rPr>
              <a:t> on Forecast Power, </a:t>
            </a:r>
            <a:r>
              <a:rPr lang="de-DE" sz="1800" dirty="0" err="1">
                <a:effectLst/>
                <a:latin typeface="Code2000"/>
              </a:rPr>
              <a:t>Premiums</a:t>
            </a:r>
            <a:r>
              <a:rPr lang="de-DE" sz="1800" dirty="0">
                <a:effectLst/>
                <a:latin typeface="Code2000"/>
              </a:rPr>
              <a:t>, and </a:t>
            </a:r>
            <a:r>
              <a:rPr lang="de-DE" sz="1800" dirty="0" err="1">
                <a:effectLst/>
                <a:latin typeface="Code2000"/>
              </a:rPr>
              <a:t>the</a:t>
            </a:r>
            <a:r>
              <a:rPr lang="de-DE" sz="1800" dirty="0">
                <a:effectLst/>
                <a:latin typeface="Code2000"/>
              </a:rPr>
              <a:t> Theory of Storage</a:t>
            </a:r>
            <a:r>
              <a:rPr lang="de-DE" dirty="0"/>
              <a:t>, p.1)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b="1" dirty="0"/>
              <a:t>Expected Risk Premium</a:t>
            </a:r>
            <a:r>
              <a:rPr lang="de-DE" dirty="0"/>
              <a:t> 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200" dirty="0">
                <a:effectLst/>
                <a:latin typeface="Code2000"/>
              </a:rPr>
              <a:t>Commodity Futures Prices: </a:t>
            </a:r>
            <a:r>
              <a:rPr lang="de-DE" sz="1200" dirty="0" err="1">
                <a:effectLst/>
                <a:latin typeface="Code2000"/>
              </a:rPr>
              <a:t>Some</a:t>
            </a:r>
            <a:r>
              <a:rPr lang="de-DE" sz="1200" dirty="0">
                <a:effectLst/>
                <a:latin typeface="Code2000"/>
              </a:rPr>
              <a:t> </a:t>
            </a:r>
            <a:r>
              <a:rPr lang="de-DE" sz="1200" dirty="0" err="1">
                <a:effectLst/>
                <a:latin typeface="Code2000"/>
              </a:rPr>
              <a:t>Evidence</a:t>
            </a:r>
            <a:r>
              <a:rPr lang="de-DE" sz="1200" dirty="0">
                <a:effectLst/>
                <a:latin typeface="Code2000"/>
              </a:rPr>
              <a:t> on Forecast Power, </a:t>
            </a:r>
            <a:r>
              <a:rPr lang="de-DE" sz="1200" dirty="0" err="1">
                <a:effectLst/>
                <a:latin typeface="Code2000"/>
              </a:rPr>
              <a:t>Premiums</a:t>
            </a:r>
            <a:r>
              <a:rPr lang="de-DE" sz="1200" dirty="0">
                <a:effectLst/>
                <a:latin typeface="Code2000"/>
              </a:rPr>
              <a:t>, and </a:t>
            </a:r>
            <a:r>
              <a:rPr lang="de-DE" sz="1200" dirty="0" err="1">
                <a:effectLst/>
                <a:latin typeface="Code2000"/>
              </a:rPr>
              <a:t>the</a:t>
            </a:r>
            <a:r>
              <a:rPr lang="de-DE" sz="1200" dirty="0">
                <a:effectLst/>
                <a:latin typeface="Code2000"/>
              </a:rPr>
              <a:t> Theory of Storage</a:t>
            </a:r>
            <a:r>
              <a:rPr lang="de-DE" dirty="0"/>
              <a:t>, p.1)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– Future Divergence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/>
              <a:t>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200" dirty="0">
                <a:effectLst/>
                <a:latin typeface="Code2000"/>
              </a:rPr>
              <a:t>Commodity Futures Prices: </a:t>
            </a:r>
            <a:r>
              <a:rPr lang="de-DE" sz="1200" dirty="0" err="1">
                <a:effectLst/>
                <a:latin typeface="Code2000"/>
              </a:rPr>
              <a:t>Some</a:t>
            </a:r>
            <a:r>
              <a:rPr lang="de-DE" sz="1200" dirty="0">
                <a:effectLst/>
                <a:latin typeface="Code2000"/>
              </a:rPr>
              <a:t> </a:t>
            </a:r>
            <a:r>
              <a:rPr lang="de-DE" sz="1200" dirty="0" err="1">
                <a:effectLst/>
                <a:latin typeface="Code2000"/>
              </a:rPr>
              <a:t>Evidence</a:t>
            </a:r>
            <a:r>
              <a:rPr lang="de-DE" sz="1200" dirty="0">
                <a:effectLst/>
                <a:latin typeface="Code2000"/>
              </a:rPr>
              <a:t> on Forecast Power, </a:t>
            </a:r>
            <a:r>
              <a:rPr lang="de-DE" sz="1200" dirty="0" err="1">
                <a:effectLst/>
                <a:latin typeface="Code2000"/>
              </a:rPr>
              <a:t>Premiums</a:t>
            </a:r>
            <a:r>
              <a:rPr lang="de-DE" sz="1200" dirty="0">
                <a:effectLst/>
                <a:latin typeface="Code2000"/>
              </a:rPr>
              <a:t>, and </a:t>
            </a:r>
            <a:r>
              <a:rPr lang="de-DE" sz="1200" dirty="0" err="1">
                <a:effectLst/>
                <a:latin typeface="Code2000"/>
              </a:rPr>
              <a:t>the</a:t>
            </a:r>
            <a:r>
              <a:rPr lang="de-DE" sz="1200" dirty="0">
                <a:effectLst/>
                <a:latin typeface="Code2000"/>
              </a:rPr>
              <a:t> Theory of Storage</a:t>
            </a:r>
            <a:r>
              <a:rPr lang="de-DE" dirty="0"/>
              <a:t>, p.1 and </a:t>
            </a:r>
            <a:r>
              <a:rPr lang="de-DE" sz="1800" b="0" dirty="0">
                <a:effectLst/>
                <a:latin typeface="Calibri" panose="020F0502020204030204" pitchFamily="34" charset="0"/>
              </a:rPr>
              <a:t>Impact of U.S. </a:t>
            </a:r>
            <a:r>
              <a:rPr lang="de-DE" sz="1800" b="0" dirty="0" err="1">
                <a:effectLst/>
                <a:latin typeface="Calibri" panose="020F0502020204030204" pitchFamily="34" charset="0"/>
              </a:rPr>
              <a:t>Tight</a:t>
            </a:r>
            <a:r>
              <a:rPr lang="de-DE" sz="1800" b="0" dirty="0">
                <a:effectLst/>
                <a:latin typeface="Calibri" panose="020F0502020204030204" pitchFamily="34" charset="0"/>
              </a:rPr>
              <a:t> Oil on NYMEX WTI Futures</a:t>
            </a:r>
            <a:r>
              <a:rPr lang="de-DE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b="0" dirty="0" err="1">
                <a:effectLst/>
                <a:latin typeface="UniversLTStd"/>
              </a:rPr>
              <a:t>What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drives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commodity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price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variation</a:t>
            </a:r>
            <a:r>
              <a:rPr lang="de-DE" sz="1800" b="0" dirty="0">
                <a:effectLst/>
                <a:latin typeface="UniversLTStd"/>
              </a:rPr>
              <a:t>?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349)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TimesNewRomanPSMT"/>
              </a:rPr>
              <a:t>Commodity Price Effects on Currencies, p. 1 and </a:t>
            </a:r>
            <a:r>
              <a:rPr lang="de-DE" sz="1200" dirty="0">
                <a:effectLst/>
                <a:latin typeface="AdvTT5843c571"/>
              </a:rPr>
              <a:t>Commodity </a:t>
            </a:r>
            <a:r>
              <a:rPr lang="de-DE" sz="1200" dirty="0" err="1">
                <a:effectLst/>
                <a:latin typeface="AdvTT5843c571"/>
              </a:rPr>
              <a:t>currencies</a:t>
            </a:r>
            <a:r>
              <a:rPr lang="de-DE" sz="1200" dirty="0">
                <a:effectLst/>
                <a:latin typeface="AdvTT5843c571"/>
              </a:rPr>
              <a:t> and </a:t>
            </a:r>
            <a:r>
              <a:rPr lang="de-DE" sz="1200" dirty="0" err="1">
                <a:effectLst/>
                <a:latin typeface="AdvTT5843c571"/>
              </a:rPr>
              <a:t>the</a:t>
            </a:r>
            <a:r>
              <a:rPr lang="de-DE" sz="1200" dirty="0">
                <a:effectLst/>
                <a:latin typeface="AdvTT5843c571"/>
              </a:rPr>
              <a:t> real </a:t>
            </a:r>
            <a:r>
              <a:rPr lang="de-DE" sz="1200" dirty="0" err="1">
                <a:effectLst/>
                <a:latin typeface="AdvTT5843c571"/>
              </a:rPr>
              <a:t>exchange</a:t>
            </a:r>
            <a:r>
              <a:rPr lang="de-DE" sz="1200" dirty="0">
                <a:effectLst/>
                <a:latin typeface="AdvTT5843c571"/>
              </a:rPr>
              <a:t> rate, p. 239-240 and </a:t>
            </a:r>
            <a:r>
              <a:rPr lang="de-DE" sz="1200" dirty="0">
                <a:effectLst/>
                <a:latin typeface="Times" pitchFamily="2" charset="0"/>
              </a:rPr>
              <a:t>Commodity </a:t>
            </a:r>
            <a:r>
              <a:rPr lang="de-DE" sz="1200" dirty="0" err="1">
                <a:effectLst/>
                <a:latin typeface="Times" pitchFamily="2" charset="0"/>
              </a:rPr>
              <a:t>currencies</a:t>
            </a:r>
            <a:r>
              <a:rPr lang="de-DE" sz="1200" dirty="0">
                <a:effectLst/>
                <a:latin typeface="Times" pitchFamily="2" charset="0"/>
              </a:rPr>
              <a:t>, p. 133-134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Cycle and Uncertainty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OT596495f2"/>
              </a:rPr>
              <a:t>Do all </a:t>
            </a:r>
            <a:r>
              <a:rPr lang="de-DE" sz="1800" dirty="0" err="1">
                <a:effectLst/>
                <a:latin typeface="AdvOT596495f2"/>
              </a:rPr>
              <a:t>oil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price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shocks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have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the</a:t>
            </a:r>
            <a:r>
              <a:rPr lang="de-DE" sz="1800" dirty="0">
                <a:effectLst/>
                <a:latin typeface="AdvOT596495f2"/>
              </a:rPr>
              <a:t> same </a:t>
            </a:r>
            <a:r>
              <a:rPr lang="de-DE" sz="1800" dirty="0" err="1">
                <a:effectLst/>
                <a:latin typeface="AdvOT596495f2"/>
              </a:rPr>
              <a:t>impact</a:t>
            </a:r>
            <a:r>
              <a:rPr lang="de-DE" sz="1800" dirty="0">
                <a:effectLst/>
                <a:latin typeface="AdvOT596495f2"/>
              </a:rPr>
              <a:t>? </a:t>
            </a:r>
            <a:r>
              <a:rPr lang="de-DE" sz="1800" dirty="0" err="1">
                <a:effectLst/>
                <a:latin typeface="AdvOT596495f2"/>
              </a:rPr>
              <a:t>Evidence</a:t>
            </a:r>
            <a:r>
              <a:rPr lang="de-DE" sz="1800" dirty="0">
                <a:effectLst/>
                <a:latin typeface="AdvOT596495f2"/>
              </a:rPr>
              <a:t> from </a:t>
            </a:r>
            <a:r>
              <a:rPr lang="de-DE" sz="1800" dirty="0" err="1">
                <a:effectLst/>
                <a:latin typeface="AdvOT596495f2"/>
              </a:rPr>
              <a:t>the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euro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area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151)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Market Hypothesis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OT863180fb"/>
              </a:rPr>
              <a:t>Exchange-rate </a:t>
            </a:r>
            <a:r>
              <a:rPr lang="de-DE" sz="1800" dirty="0" err="1">
                <a:effectLst/>
                <a:latin typeface="AdvOT863180fb"/>
              </a:rPr>
              <a:t>return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predictability</a:t>
            </a:r>
            <a:r>
              <a:rPr lang="de-DE" sz="1800" dirty="0">
                <a:effectLst/>
                <a:latin typeface="AdvOT863180fb"/>
              </a:rPr>
              <a:t> and </a:t>
            </a:r>
            <a:r>
              <a:rPr lang="de-DE" sz="1800" dirty="0" err="1">
                <a:effectLst/>
                <a:latin typeface="AdvOT863180fb"/>
              </a:rPr>
              <a:t>the</a:t>
            </a:r>
            <a:r>
              <a:rPr lang="de-DE" sz="1800" dirty="0">
                <a:effectLst/>
                <a:latin typeface="AdvOT863180fb"/>
              </a:rPr>
              <a:t> adaptive </a:t>
            </a:r>
            <a:r>
              <a:rPr lang="de-DE" sz="1800" dirty="0" err="1">
                <a:effectLst/>
                <a:latin typeface="AdvOT863180fb"/>
              </a:rPr>
              <a:t>markets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hypothesis</a:t>
            </a:r>
            <a:r>
              <a:rPr lang="de-DE" sz="1800" dirty="0">
                <a:effectLst/>
                <a:latin typeface="AdvOT863180fb"/>
              </a:rPr>
              <a:t>: </a:t>
            </a:r>
            <a:r>
              <a:rPr lang="de-DE" sz="1800" dirty="0" err="1">
                <a:effectLst/>
                <a:latin typeface="AdvOT863180fb"/>
              </a:rPr>
              <a:t>Evidence</a:t>
            </a:r>
            <a:r>
              <a:rPr lang="de-DE" sz="1800" dirty="0">
                <a:effectLst/>
                <a:latin typeface="AdvOT863180fb"/>
              </a:rPr>
              <a:t> from </a:t>
            </a:r>
            <a:r>
              <a:rPr lang="de-DE" sz="1800" dirty="0" err="1">
                <a:effectLst/>
                <a:latin typeface="AdvOT863180fb"/>
              </a:rPr>
              <a:t>major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foreign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exchange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rates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p.1607 and </a:t>
            </a:r>
            <a:r>
              <a:rPr lang="de-DE" sz="1800" dirty="0">
                <a:effectLst/>
                <a:latin typeface="CharisSIL"/>
              </a:rPr>
              <a:t>Time </a:t>
            </a:r>
            <a:r>
              <a:rPr lang="de-DE" sz="1800" dirty="0" err="1">
                <a:effectLst/>
                <a:latin typeface="CharisSIL"/>
              </a:rPr>
              <a:t>varying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efficiency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Brent and WTI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, p.1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Shock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200" dirty="0">
                <a:effectLst/>
                <a:latin typeface="AdvOT863180fb"/>
              </a:rPr>
              <a:t>Exchange-rate </a:t>
            </a:r>
            <a:r>
              <a:rPr lang="de-DE" sz="1200" dirty="0" err="1">
                <a:effectLst/>
                <a:latin typeface="AdvOT863180fb"/>
              </a:rPr>
              <a:t>return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predictability</a:t>
            </a:r>
            <a:r>
              <a:rPr lang="de-DE" sz="1200" dirty="0">
                <a:effectLst/>
                <a:latin typeface="AdvOT863180fb"/>
              </a:rPr>
              <a:t> and </a:t>
            </a:r>
            <a:r>
              <a:rPr lang="de-DE" sz="1200" dirty="0" err="1">
                <a:effectLst/>
                <a:latin typeface="AdvOT863180fb"/>
              </a:rPr>
              <a:t>the</a:t>
            </a:r>
            <a:r>
              <a:rPr lang="de-DE" sz="1200" dirty="0">
                <a:effectLst/>
                <a:latin typeface="AdvOT863180fb"/>
              </a:rPr>
              <a:t> adaptive </a:t>
            </a:r>
            <a:r>
              <a:rPr lang="de-DE" sz="1200" dirty="0" err="1">
                <a:effectLst/>
                <a:latin typeface="AdvOT863180fb"/>
              </a:rPr>
              <a:t>markets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hypothesis</a:t>
            </a:r>
            <a:r>
              <a:rPr lang="de-DE" sz="1200" dirty="0">
                <a:effectLst/>
                <a:latin typeface="AdvOT863180fb"/>
              </a:rPr>
              <a:t>: </a:t>
            </a:r>
            <a:r>
              <a:rPr lang="de-DE" sz="1200" dirty="0" err="1">
                <a:effectLst/>
                <a:latin typeface="AdvOT863180fb"/>
              </a:rPr>
              <a:t>Evidence</a:t>
            </a:r>
            <a:r>
              <a:rPr lang="de-DE" sz="1200" dirty="0">
                <a:effectLst/>
                <a:latin typeface="AdvOT863180fb"/>
              </a:rPr>
              <a:t> from </a:t>
            </a:r>
            <a:r>
              <a:rPr lang="de-DE" sz="1200" dirty="0" err="1">
                <a:effectLst/>
                <a:latin typeface="AdvOT863180fb"/>
              </a:rPr>
              <a:t>major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foreign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exchange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rates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p.1607)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International </a:t>
            </a:r>
            <a:r>
              <a:rPr lang="de-DE" sz="1800" dirty="0" err="1">
                <a:effectLst/>
                <a:latin typeface="CharisSIL"/>
              </a:rPr>
              <a:t>energy</a:t>
            </a:r>
            <a:r>
              <a:rPr lang="de-DE" sz="1800" dirty="0">
                <a:effectLst/>
                <a:latin typeface="CharisSIL"/>
              </a:rPr>
              <a:t> trade and </a:t>
            </a:r>
            <a:r>
              <a:rPr lang="de-DE" sz="1800" dirty="0" err="1">
                <a:effectLst/>
                <a:latin typeface="CharisSIL"/>
              </a:rPr>
              <a:t>inflation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dynamics</a:t>
            </a:r>
            <a:r>
              <a:rPr lang="de-DE" sz="1800" dirty="0">
                <a:effectLst/>
                <a:latin typeface="CharisSIL"/>
              </a:rPr>
              <a:t>: The </a:t>
            </a:r>
            <a:r>
              <a:rPr lang="de-DE" sz="1800" dirty="0" err="1">
                <a:effectLst/>
                <a:latin typeface="CharisSIL"/>
              </a:rPr>
              <a:t>role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invoicing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currency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use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during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low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carbon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transition</a:t>
            </a:r>
            <a:r>
              <a:rPr lang="de-DE" sz="1800" dirty="0">
                <a:effectLst/>
                <a:latin typeface="CharisSIL"/>
              </a:rPr>
              <a:t>, p.1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Volatility </a:t>
            </a:r>
            <a:r>
              <a:rPr lang="de-DE" sz="1800" dirty="0" err="1">
                <a:effectLst/>
                <a:latin typeface="CharisSIL"/>
              </a:rPr>
              <a:t>spillover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between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prices</a:t>
            </a:r>
            <a:r>
              <a:rPr lang="de-DE" sz="1800" dirty="0">
                <a:effectLst/>
                <a:latin typeface="CharisSIL"/>
              </a:rPr>
              <a:t> and main </a:t>
            </a:r>
            <a:r>
              <a:rPr lang="de-DE" sz="1800" dirty="0" err="1">
                <a:effectLst/>
                <a:latin typeface="CharisSIL"/>
              </a:rPr>
              <a:t>exchange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rates</a:t>
            </a:r>
            <a:r>
              <a:rPr lang="de-DE" sz="1800" dirty="0">
                <a:effectLst/>
                <a:latin typeface="CharisSIL"/>
              </a:rPr>
              <a:t>: </a:t>
            </a:r>
            <a:r>
              <a:rPr lang="de-DE" sz="1800" dirty="0" err="1">
                <a:effectLst/>
                <a:latin typeface="CharisSIL"/>
              </a:rPr>
              <a:t>Evidence</a:t>
            </a:r>
            <a:r>
              <a:rPr lang="de-DE" sz="1800" dirty="0">
                <a:effectLst/>
                <a:latin typeface="CharisSIL"/>
              </a:rPr>
              <a:t> from a DCC-GARCH-</a:t>
            </a:r>
            <a:r>
              <a:rPr lang="de-DE" sz="1800" dirty="0" err="1">
                <a:effectLst/>
                <a:latin typeface="CharisSIL"/>
              </a:rPr>
              <a:t>connectedness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approach</a:t>
            </a:r>
            <a:r>
              <a:rPr lang="de-DE" sz="1800" dirty="0">
                <a:effectLst/>
                <a:latin typeface="CharisSIL"/>
              </a:rPr>
              <a:t>, p. 1 and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p. 1 and </a:t>
            </a:r>
            <a:r>
              <a:rPr lang="de-DE" sz="1800" dirty="0">
                <a:effectLst/>
                <a:latin typeface="AdvTT5235d5a9"/>
              </a:rPr>
              <a:t>Oil </a:t>
            </a:r>
            <a:r>
              <a:rPr lang="de-DE" sz="1800" dirty="0" err="1">
                <a:effectLst/>
                <a:latin typeface="AdvTT5235d5a9"/>
              </a:rPr>
              <a:t>price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shocks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rate </a:t>
            </a:r>
            <a:r>
              <a:rPr lang="de-DE" sz="1800" dirty="0" err="1">
                <a:effectLst/>
                <a:latin typeface="AdvTT5235d5a9"/>
              </a:rPr>
              <a:t>movements</a:t>
            </a:r>
            <a:r>
              <a:rPr lang="de-DE" sz="1800" dirty="0">
                <a:effectLst/>
                <a:latin typeface="AdvTT5235d5a9"/>
              </a:rPr>
              <a:t>, p. 18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Bank Policy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MathPackOne"/>
              </a:rPr>
              <a:t>Regime </a:t>
            </a:r>
            <a:r>
              <a:rPr lang="de-DE" sz="1800" dirty="0" err="1">
                <a:effectLst/>
                <a:latin typeface="MathPackOne"/>
              </a:rPr>
              <a:t>switching</a:t>
            </a:r>
            <a:r>
              <a:rPr lang="de-DE" sz="1800" dirty="0">
                <a:effectLst/>
                <a:latin typeface="MathPackOne"/>
              </a:rPr>
              <a:t> in </a:t>
            </a:r>
            <a:r>
              <a:rPr lang="de-DE" sz="1800" dirty="0" err="1">
                <a:effectLst/>
                <a:latin typeface="MathPackOne"/>
              </a:rPr>
              <a:t>foreign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exchange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rates</a:t>
            </a:r>
            <a:r>
              <a:rPr lang="de-DE" sz="1800" dirty="0">
                <a:effectLst/>
                <a:latin typeface="MathPackOne"/>
              </a:rPr>
              <a:t>: </a:t>
            </a:r>
            <a:r>
              <a:rPr lang="de-DE" sz="1800" dirty="0" err="1">
                <a:effectLst/>
                <a:latin typeface="MathPackOne"/>
              </a:rPr>
              <a:t>Evidence</a:t>
            </a:r>
            <a:r>
              <a:rPr lang="de-DE" sz="1800" dirty="0">
                <a:effectLst/>
                <a:latin typeface="MathPackOne"/>
              </a:rPr>
              <a:t> from </a:t>
            </a:r>
            <a:r>
              <a:rPr lang="de-DE" sz="1800" dirty="0" err="1">
                <a:effectLst/>
                <a:latin typeface="MathPackOne"/>
              </a:rPr>
              <a:t>currency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option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prices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240)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TT5235d5a9"/>
              </a:rPr>
              <a:t>The </a:t>
            </a:r>
            <a:r>
              <a:rPr lang="de-DE" sz="1800" dirty="0" err="1">
                <a:effectLst/>
                <a:latin typeface="AdvTT5235d5a9"/>
              </a:rPr>
              <a:t>impact</a:t>
            </a:r>
            <a:r>
              <a:rPr lang="de-DE" sz="1800" dirty="0">
                <a:effectLst/>
                <a:latin typeface="AdvTT5235d5a9"/>
              </a:rPr>
              <a:t> of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shocks</a:t>
            </a:r>
            <a:r>
              <a:rPr lang="de-DE" sz="1800" dirty="0">
                <a:effectLst/>
                <a:latin typeface="AdvTT5235d5a9"/>
              </a:rPr>
              <a:t> on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rates</a:t>
            </a:r>
            <a:r>
              <a:rPr lang="de-DE" sz="1800" dirty="0">
                <a:effectLst/>
                <a:latin typeface="AdvTT5235d5a9"/>
              </a:rPr>
              <a:t>: A Markov-</a:t>
            </a:r>
            <a:r>
              <a:rPr lang="de-DE" sz="1800" dirty="0" err="1">
                <a:effectLst/>
                <a:latin typeface="AdvTT5235d5a9"/>
              </a:rPr>
              <a:t>switching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approach</a:t>
            </a:r>
            <a:r>
              <a:rPr lang="de-DE" sz="1800" dirty="0">
                <a:effectLst/>
                <a:latin typeface="AdvTT5235d5a9"/>
              </a:rPr>
              <a:t>, p. 11 and </a:t>
            </a:r>
            <a:r>
              <a:rPr lang="de-DE" sz="1800" dirty="0">
                <a:effectLst/>
                <a:latin typeface="AdvTT6120e2aa"/>
              </a:rPr>
              <a:t>Oil </a:t>
            </a:r>
            <a:r>
              <a:rPr lang="de-DE" sz="1800" dirty="0" err="1">
                <a:effectLst/>
                <a:latin typeface="AdvTT6120e2aa"/>
              </a:rPr>
              <a:t>prices</a:t>
            </a:r>
            <a:r>
              <a:rPr lang="de-DE" sz="1800" dirty="0">
                <a:effectLst/>
                <a:latin typeface="AdvTT6120e2aa"/>
              </a:rPr>
              <a:t> and real </a:t>
            </a:r>
            <a:r>
              <a:rPr lang="de-DE" sz="1800" dirty="0" err="1">
                <a:effectLst/>
                <a:latin typeface="AdvTT6120e2aa"/>
              </a:rPr>
              <a:t>exchange</a:t>
            </a:r>
            <a:r>
              <a:rPr lang="de-DE" sz="1800" dirty="0">
                <a:effectLst/>
                <a:latin typeface="AdvTT6120e2aa"/>
              </a:rPr>
              <a:t> </a:t>
            </a:r>
            <a:r>
              <a:rPr lang="de-DE" sz="1800" dirty="0" err="1">
                <a:effectLst/>
                <a:latin typeface="AdvTT6120e2aa"/>
              </a:rPr>
              <a:t>rates</a:t>
            </a:r>
            <a:r>
              <a:rPr lang="de-DE" sz="1800" dirty="0">
                <a:effectLst/>
                <a:latin typeface="AdvTT6120e2aa"/>
              </a:rPr>
              <a:t>, p. 391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Non-linear </a:t>
            </a:r>
            <a:r>
              <a:rPr lang="de-DE" sz="1800" dirty="0" err="1">
                <a:effectLst/>
                <a:latin typeface="CharisSIL"/>
              </a:rPr>
              <a:t>relationship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between</a:t>
            </a:r>
            <a:r>
              <a:rPr lang="de-DE" sz="1800" dirty="0">
                <a:effectLst/>
                <a:latin typeface="CharisSIL"/>
              </a:rPr>
              <a:t> real </a:t>
            </a:r>
            <a:r>
              <a:rPr lang="de-DE" sz="1800" dirty="0" err="1">
                <a:effectLst/>
                <a:latin typeface="CharisSIL"/>
              </a:rPr>
              <a:t>commodity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price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volatility</a:t>
            </a:r>
            <a:r>
              <a:rPr lang="de-DE" sz="1800" dirty="0">
                <a:effectLst/>
                <a:latin typeface="CharisSIL"/>
              </a:rPr>
              <a:t> and real </a:t>
            </a:r>
            <a:r>
              <a:rPr lang="de-DE" sz="1800" dirty="0" err="1">
                <a:effectLst/>
                <a:latin typeface="CharisSIL"/>
              </a:rPr>
              <a:t>effective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exchange</a:t>
            </a:r>
            <a:r>
              <a:rPr lang="de-DE" sz="1800" dirty="0">
                <a:effectLst/>
                <a:latin typeface="CharisSIL"/>
              </a:rPr>
              <a:t> rate: The </a:t>
            </a:r>
            <a:r>
              <a:rPr lang="de-DE" sz="1800" dirty="0" err="1">
                <a:effectLst/>
                <a:latin typeface="CharisSIL"/>
              </a:rPr>
              <a:t>case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commodity-exporting</a:t>
            </a:r>
            <a:r>
              <a:rPr lang="de-DE" sz="1800" dirty="0">
                <a:effectLst/>
                <a:latin typeface="CharisSIL"/>
              </a:rPr>
              <a:t> countries, p. 212-213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NotoSansSemiCondensed"/>
              </a:rPr>
              <a:t>Oil </a:t>
            </a:r>
            <a:r>
              <a:rPr lang="de-DE" sz="1800" dirty="0" err="1">
                <a:effectLst/>
                <a:latin typeface="NotoSansSemiCondensed"/>
              </a:rPr>
              <a:t>prices</a:t>
            </a:r>
            <a:r>
              <a:rPr lang="de-DE" sz="1800" dirty="0">
                <a:effectLst/>
                <a:latin typeface="NotoSansSemiCondensed"/>
              </a:rPr>
              <a:t>, </a:t>
            </a:r>
            <a:r>
              <a:rPr lang="de-DE" sz="1800" dirty="0" err="1">
                <a:effectLst/>
                <a:latin typeface="NotoSansSemiCondensed"/>
              </a:rPr>
              <a:t>exchange</a:t>
            </a:r>
            <a:r>
              <a:rPr lang="de-DE" sz="1800" dirty="0">
                <a:effectLst/>
                <a:latin typeface="NotoSansSemiCondensed"/>
              </a:rPr>
              <a:t> </a:t>
            </a:r>
            <a:r>
              <a:rPr lang="de-DE" sz="1800" dirty="0" err="1">
                <a:effectLst/>
                <a:latin typeface="NotoSansSemiCondensed"/>
              </a:rPr>
              <a:t>rates</a:t>
            </a:r>
            <a:r>
              <a:rPr lang="de-DE" sz="1800" dirty="0">
                <a:effectLst/>
                <a:latin typeface="NotoSansSemiCondensed"/>
              </a:rPr>
              <a:t> and </a:t>
            </a:r>
            <a:r>
              <a:rPr lang="de-DE" sz="1800" dirty="0" err="1">
                <a:effectLst/>
                <a:latin typeface="NotoSansSemiCondensed"/>
              </a:rPr>
              <a:t>asset</a:t>
            </a:r>
            <a:r>
              <a:rPr lang="de-DE" sz="1800" dirty="0">
                <a:effectLst/>
                <a:latin typeface="NotoSansSemiCondensed"/>
              </a:rPr>
              <a:t> </a:t>
            </a:r>
            <a:r>
              <a:rPr lang="de-DE" sz="1800" dirty="0" err="1">
                <a:effectLst/>
                <a:latin typeface="NotoSansSemiCondensed"/>
              </a:rPr>
              <a:t>prices</a:t>
            </a:r>
            <a:r>
              <a:rPr lang="de-DE" sz="1800" dirty="0">
                <a:effectLst/>
                <a:latin typeface="NotoSansSemiCondensed"/>
              </a:rPr>
              <a:t>, p. 1-3 and </a:t>
            </a:r>
            <a:r>
              <a:rPr lang="de-DE" sz="1800" dirty="0">
                <a:effectLst/>
                <a:latin typeface="CharisSIL"/>
              </a:rPr>
              <a:t>The power </a:t>
            </a:r>
            <a:r>
              <a:rPr lang="de-DE" sz="1800" dirty="0" err="1">
                <a:effectLst/>
                <a:latin typeface="CharisSIL"/>
              </a:rPr>
              <a:t>play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natural</a:t>
            </a:r>
            <a:r>
              <a:rPr lang="de-DE" sz="1800" dirty="0">
                <a:effectLst/>
                <a:latin typeface="CharisSIL"/>
              </a:rPr>
              <a:t> gas and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move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towards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financialization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energy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, p. 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 err="1">
                <a:effectLst/>
                <a:latin typeface="AdvTT5235d5a9"/>
              </a:rPr>
              <a:t>Dependence</a:t>
            </a:r>
            <a:r>
              <a:rPr lang="de-DE" sz="1800" dirty="0">
                <a:effectLst/>
                <a:latin typeface="AdvTT5235d5a9"/>
              </a:rPr>
              <a:t> and extreme </a:t>
            </a:r>
            <a:r>
              <a:rPr lang="de-DE" sz="1800" dirty="0" err="1">
                <a:effectLst/>
                <a:latin typeface="AdvTT5235d5a9"/>
              </a:rPr>
              <a:t>dependence</a:t>
            </a:r>
            <a:r>
              <a:rPr lang="de-DE" sz="1800" dirty="0">
                <a:effectLst/>
                <a:latin typeface="AdvTT5235d5a9"/>
              </a:rPr>
              <a:t> of </a:t>
            </a:r>
            <a:r>
              <a:rPr lang="de-DE" sz="1800" dirty="0" err="1">
                <a:effectLst/>
                <a:latin typeface="AdvTT5235d5a9"/>
              </a:rPr>
              <a:t>crude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natural</a:t>
            </a:r>
            <a:r>
              <a:rPr lang="de-DE" sz="1800" dirty="0">
                <a:effectLst/>
                <a:latin typeface="AdvTT5235d5a9"/>
              </a:rPr>
              <a:t> gas </a:t>
            </a:r>
            <a:r>
              <a:rPr lang="de-DE" sz="1800" dirty="0" err="1">
                <a:effectLst/>
                <a:latin typeface="AdvTT5235d5a9"/>
              </a:rPr>
              <a:t>prices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with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applications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to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risk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management</a:t>
            </a:r>
            <a:r>
              <a:rPr lang="de-DE" sz="1800" dirty="0">
                <a:effectLst/>
                <a:latin typeface="AdvTT5235d5a9"/>
              </a:rPr>
              <a:t>, p. 332 and </a:t>
            </a:r>
            <a:r>
              <a:rPr lang="de-DE" sz="1800" dirty="0">
                <a:effectLst/>
                <a:latin typeface="CharisSIL"/>
              </a:rPr>
              <a:t>Dynamic </a:t>
            </a:r>
            <a:r>
              <a:rPr lang="de-DE" sz="1800" dirty="0" err="1">
                <a:effectLst/>
                <a:latin typeface="CharisSIL"/>
              </a:rPr>
              <a:t>frequency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relationships</a:t>
            </a:r>
            <a:r>
              <a:rPr lang="de-DE" sz="1800" dirty="0">
                <a:effectLst/>
                <a:latin typeface="CharisSIL"/>
              </a:rPr>
              <a:t> and </a:t>
            </a:r>
            <a:r>
              <a:rPr lang="de-DE" sz="1800" dirty="0" err="1">
                <a:effectLst/>
                <a:latin typeface="CharisSIL"/>
              </a:rPr>
              <a:t>volatility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spillovers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natural</a:t>
            </a:r>
            <a:r>
              <a:rPr lang="de-DE" sz="1800" dirty="0">
                <a:effectLst/>
                <a:latin typeface="CharisSIL"/>
              </a:rPr>
              <a:t> gas,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, gas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, </a:t>
            </a:r>
            <a:r>
              <a:rPr lang="de-DE" sz="1800" dirty="0" err="1">
                <a:effectLst/>
                <a:latin typeface="CharisSIL"/>
              </a:rPr>
              <a:t>gasoline</a:t>
            </a:r>
            <a:r>
              <a:rPr lang="de-DE" sz="1800" dirty="0">
                <a:effectLst/>
                <a:latin typeface="CharisSIL"/>
              </a:rPr>
              <a:t>, and </a:t>
            </a:r>
            <a:r>
              <a:rPr lang="de-DE" sz="1800" dirty="0" err="1">
                <a:effectLst/>
                <a:latin typeface="CharisSIL"/>
              </a:rPr>
              <a:t>heating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markets</a:t>
            </a:r>
            <a:r>
              <a:rPr lang="de-DE" sz="1800" dirty="0">
                <a:effectLst/>
                <a:latin typeface="CharisSIL"/>
              </a:rPr>
              <a:t>: </a:t>
            </a:r>
            <a:r>
              <a:rPr lang="de-DE" sz="1800" dirty="0" err="1">
                <a:effectLst/>
                <a:latin typeface="CharisSIL"/>
              </a:rPr>
              <a:t>Implications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for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portfolio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management</a:t>
            </a:r>
            <a:r>
              <a:rPr lang="de-DE" sz="1800" dirty="0">
                <a:effectLst/>
                <a:latin typeface="CharisSIL"/>
              </a:rPr>
              <a:t>, p. 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from: </a:t>
            </a:r>
            <a:r>
              <a:rPr lang="de-DE" sz="1800" dirty="0">
                <a:effectLst/>
                <a:latin typeface="TimesLTStd"/>
              </a:rPr>
              <a:t>Inflation, </a:t>
            </a:r>
            <a:r>
              <a:rPr lang="de-DE" sz="1800" dirty="0" err="1">
                <a:effectLst/>
                <a:latin typeface="TimesLTStd"/>
              </a:rPr>
              <a:t>oil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prices</a:t>
            </a:r>
            <a:r>
              <a:rPr lang="de-DE" sz="1800" dirty="0">
                <a:effectLst/>
                <a:latin typeface="TimesLTStd"/>
              </a:rPr>
              <a:t> and </a:t>
            </a:r>
            <a:r>
              <a:rPr lang="de-DE" sz="1800" dirty="0" err="1">
                <a:effectLst/>
                <a:latin typeface="TimesLTStd"/>
              </a:rPr>
              <a:t>exchange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rates</a:t>
            </a:r>
            <a:r>
              <a:rPr lang="de-DE" sz="1800" dirty="0">
                <a:effectLst/>
                <a:latin typeface="TimesLTStd"/>
              </a:rPr>
              <a:t>. The </a:t>
            </a:r>
            <a:r>
              <a:rPr lang="de-DE" sz="1800" dirty="0" err="1">
                <a:effectLst/>
                <a:latin typeface="TimesLTStd"/>
              </a:rPr>
              <a:t>Euro’s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dampening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effect</a:t>
            </a:r>
            <a:r>
              <a:rPr lang="de-DE" sz="1800" dirty="0">
                <a:effectLst/>
                <a:latin typeface="TimesLTStd"/>
              </a:rPr>
              <a:t>, p. 130 and </a:t>
            </a:r>
            <a:r>
              <a:rPr lang="de-DE" sz="1800" dirty="0">
                <a:effectLst/>
                <a:latin typeface="Times" pitchFamily="2" charset="0"/>
              </a:rPr>
              <a:t>Long-run </a:t>
            </a:r>
            <a:r>
              <a:rPr lang="de-DE" sz="1800" dirty="0" err="1">
                <a:effectLst/>
                <a:latin typeface="Times" pitchFamily="2" charset="0"/>
              </a:rPr>
              <a:t>equilibrium</a:t>
            </a:r>
            <a:r>
              <a:rPr lang="de-DE" sz="1800" dirty="0">
                <a:effectLst/>
                <a:latin typeface="Times" pitchFamily="2" charset="0"/>
              </a:rPr>
              <a:t> real </a:t>
            </a:r>
            <a:r>
              <a:rPr lang="de-DE" sz="1800" dirty="0" err="1">
                <a:effectLst/>
                <a:latin typeface="Times" pitchFamily="2" charset="0"/>
              </a:rPr>
              <a:t>exchange</a:t>
            </a:r>
            <a:r>
              <a:rPr lang="de-DE" sz="1800" dirty="0">
                <a:effectLst/>
                <a:latin typeface="Times" pitchFamily="2" charset="0"/>
              </a:rPr>
              <a:t> </a:t>
            </a:r>
            <a:r>
              <a:rPr lang="de-DE" sz="1800" dirty="0" err="1">
                <a:effectLst/>
                <a:latin typeface="Times" pitchFamily="2" charset="0"/>
              </a:rPr>
              <a:t>rates</a:t>
            </a:r>
            <a:r>
              <a:rPr lang="de-DE" sz="1800" dirty="0">
                <a:effectLst/>
                <a:latin typeface="Times" pitchFamily="2" charset="0"/>
              </a:rPr>
              <a:t> and </a:t>
            </a:r>
            <a:r>
              <a:rPr lang="de-DE" sz="1800" dirty="0" err="1">
                <a:effectLst/>
                <a:latin typeface="Times" pitchFamily="2" charset="0"/>
              </a:rPr>
              <a:t>oil</a:t>
            </a:r>
            <a:r>
              <a:rPr lang="de-DE" sz="1800" dirty="0">
                <a:effectLst/>
                <a:latin typeface="Times" pitchFamily="2" charset="0"/>
              </a:rPr>
              <a:t> </a:t>
            </a:r>
            <a:r>
              <a:rPr lang="de-DE" sz="1800" dirty="0" err="1">
                <a:effectLst/>
                <a:latin typeface="Times" pitchFamily="2" charset="0"/>
              </a:rPr>
              <a:t>prices</a:t>
            </a:r>
            <a:r>
              <a:rPr lang="de-DE" sz="1800" dirty="0">
                <a:effectLst/>
                <a:latin typeface="Times" pitchFamily="2" charset="0"/>
              </a:rPr>
              <a:t>, p. 231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Oil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price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+fb"/>
              </a:rPr>
              <a:t>fl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uctuations and U.S.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dollar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exchange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rates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, p. 399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DE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228600" indent="-228600">
              <a:buAutoNum type="arabicParenR"/>
            </a:pPr>
            <a:r>
              <a:rPr lang="de-DE"/>
              <a:t>https://</a:t>
            </a:r>
            <a:r>
              <a:rPr lang="de-DE" err="1"/>
              <a:t>www.bis.org</a:t>
            </a:r>
            <a:r>
              <a:rPr lang="de-DE"/>
              <a:t>/</a:t>
            </a:r>
            <a:r>
              <a:rPr lang="de-DE" err="1"/>
              <a:t>ifc</a:t>
            </a:r>
            <a:r>
              <a:rPr lang="de-DE"/>
              <a:t>/</a:t>
            </a:r>
            <a:r>
              <a:rPr lang="de-DE" err="1"/>
              <a:t>events</a:t>
            </a:r>
            <a:r>
              <a:rPr lang="de-DE"/>
              <a:t>/6ifcconf/</a:t>
            </a:r>
            <a:r>
              <a:rPr lang="de-DE" err="1"/>
              <a:t>takats_pres.pdf</a:t>
            </a:r>
            <a:endParaRPr lang="de-DE"/>
          </a:p>
          <a:p>
            <a:pPr marL="228600" indent="-228600">
              <a:buAutoNum type="arabicParenR"/>
            </a:pPr>
            <a:r>
              <a:rPr lang="de-DE"/>
              <a:t>https://</a:t>
            </a:r>
            <a:r>
              <a:rPr lang="de-DE" err="1"/>
              <a:t>data.bis.org</a:t>
            </a:r>
            <a:r>
              <a:rPr lang="de-DE"/>
              <a:t>/</a:t>
            </a:r>
            <a:r>
              <a:rPr lang="de-DE" err="1"/>
              <a:t>topics</a:t>
            </a:r>
            <a:r>
              <a:rPr lang="de-DE"/>
              <a:t>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228600" indent="-228600">
              <a:buAutoNum type="arabicParenR"/>
            </a:pPr>
            <a:r>
              <a:rPr lang="de-DE"/>
              <a:t>https://</a:t>
            </a:r>
            <a:r>
              <a:rPr lang="de-DE" err="1"/>
              <a:t>www.bis.org</a:t>
            </a:r>
            <a:r>
              <a:rPr lang="de-DE"/>
              <a:t>/</a:t>
            </a:r>
            <a:r>
              <a:rPr lang="de-DE" err="1"/>
              <a:t>ifc</a:t>
            </a:r>
            <a:r>
              <a:rPr lang="de-DE"/>
              <a:t>/</a:t>
            </a:r>
            <a:r>
              <a:rPr lang="de-DE" err="1"/>
              <a:t>events</a:t>
            </a:r>
            <a:r>
              <a:rPr lang="de-DE"/>
              <a:t>/6ifcconf/</a:t>
            </a:r>
            <a:r>
              <a:rPr lang="de-DE" err="1"/>
              <a:t>takats_pres.pdf</a:t>
            </a:r>
            <a:endParaRPr lang="de-DE"/>
          </a:p>
          <a:p>
            <a:pPr marL="228600" indent="-228600">
              <a:buAutoNum type="arabicParenR"/>
            </a:pPr>
            <a:r>
              <a:rPr lang="de-DE"/>
              <a:t>https://</a:t>
            </a:r>
            <a:r>
              <a:rPr lang="de-DE" err="1"/>
              <a:t>data.bis.org</a:t>
            </a:r>
            <a:r>
              <a:rPr lang="de-DE"/>
              <a:t>/</a:t>
            </a:r>
            <a:r>
              <a:rPr lang="de-DE" err="1"/>
              <a:t>topics</a:t>
            </a:r>
            <a:r>
              <a:rPr lang="de-DE"/>
              <a:t>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See Paper: Oil </a:t>
            </a:r>
            <a:r>
              <a:rPr lang="de-DE" dirty="0" err="1"/>
              <a:t>prices</a:t>
            </a:r>
            <a:r>
              <a:rPr lang="de-DE" dirty="0"/>
              <a:t>, </a:t>
            </a:r>
            <a:r>
              <a:rPr lang="de-DE" dirty="0" err="1"/>
              <a:t>exchange</a:t>
            </a:r>
            <a:r>
              <a:rPr lang="de-DE" dirty="0"/>
              <a:t> rate and </a:t>
            </a:r>
            <a:r>
              <a:rPr lang="de-DE" dirty="0" err="1"/>
              <a:t>asset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 („</a:t>
            </a:r>
            <a:r>
              <a:rPr lang="de-DE" sz="1800" dirty="0">
                <a:effectLst/>
                <a:latin typeface="Calibri" panose="020F0502020204030204" pitchFamily="34" charset="0"/>
              </a:rPr>
              <a:t>open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interest</a:t>
            </a:r>
            <a:r>
              <a:rPr lang="de-DE" sz="1800" dirty="0">
                <a:effectLst/>
                <a:latin typeface="Calibri" panose="020F0502020204030204" pitchFamily="34" charset="0"/>
              </a:rPr>
              <a:t> in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oil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futures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market</a:t>
            </a:r>
            <a:r>
              <a:rPr lang="de-DE" sz="1800" dirty="0">
                <a:effectLst/>
                <a:latin typeface="Calibri" panose="020F0502020204030204" pitchFamily="34" charset="0"/>
              </a:rPr>
              <a:t>, i.e.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number</a:t>
            </a:r>
            <a:r>
              <a:rPr lang="de-DE" sz="1800" dirty="0">
                <a:effectLst/>
                <a:latin typeface="Calibri" panose="020F0502020204030204" pitchFamily="34" charset="0"/>
              </a:rPr>
              <a:t> of open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futures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contracts</a:t>
            </a:r>
            <a:r>
              <a:rPr lang="de-DE" sz="1800" dirty="0">
                <a:effectLst/>
                <a:latin typeface="Calibri" panose="020F0502020204030204" pitchFamily="34" charset="0"/>
              </a:rPr>
              <a:t> (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as</a:t>
            </a:r>
            <a:r>
              <a:rPr lang="de-DE" sz="1800" dirty="0">
                <a:effectLst/>
                <a:latin typeface="Calibri" panose="020F0502020204030204" pitchFamily="34" charset="0"/>
              </a:rPr>
              <a:t> a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proxy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for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financialisation</a:t>
            </a:r>
            <a:r>
              <a:rPr lang="de-DE" sz="1800" dirty="0">
                <a:effectLst/>
                <a:latin typeface="Calibri" panose="020F0502020204030204" pitchFamily="34" charset="0"/>
              </a:rPr>
              <a:t> of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oil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market</a:t>
            </a:r>
            <a:r>
              <a:rPr lang="de-DE" sz="1800" dirty="0">
                <a:effectLst/>
                <a:latin typeface="Calibri" panose="020F0502020204030204" pitchFamily="34" charset="0"/>
              </a:rPr>
              <a:t>). </a:t>
            </a:r>
            <a:endParaRPr lang="de-DE" dirty="0"/>
          </a:p>
          <a:p>
            <a:r>
              <a:rPr lang="de-DE" dirty="0"/>
              <a:t>“), </a:t>
            </a:r>
            <a:r>
              <a:rPr lang="de-DE" dirty="0" err="1"/>
              <a:t>page</a:t>
            </a:r>
            <a:r>
              <a:rPr lang="de-DE" dirty="0"/>
              <a:t>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200" dirty="0">
                <a:effectLst/>
                <a:latin typeface="AdvTT5235d5a9"/>
              </a:rPr>
              <a:t>The </a:t>
            </a:r>
            <a:r>
              <a:rPr lang="de-DE" sz="1200" dirty="0" err="1">
                <a:effectLst/>
                <a:latin typeface="AdvTT5235d5a9"/>
              </a:rPr>
              <a:t>relationship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between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oil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prices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exchange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rates</a:t>
            </a:r>
            <a:r>
              <a:rPr lang="de-DE" sz="1200" dirty="0">
                <a:effectLst/>
                <a:latin typeface="AdvTT5235d5a9"/>
              </a:rPr>
              <a:t>: </a:t>
            </a:r>
            <a:r>
              <a:rPr lang="de-DE" sz="1200" dirty="0" err="1">
                <a:effectLst/>
                <a:latin typeface="AdvTT5235d5a9"/>
              </a:rPr>
              <a:t>Revisiting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theory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evidence</a:t>
            </a:r>
            <a:r>
              <a:rPr lang="de-DE" sz="1200" dirty="0">
                <a:effectLst/>
                <a:latin typeface="AdvTT5235d5a9"/>
              </a:rPr>
              <a:t>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3-4.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</a:t>
            </a:r>
            <a:r>
              <a:rPr lang="de-DE" dirty="0" err="1"/>
              <a:t>theoretically</a:t>
            </a:r>
            <a:r>
              <a:rPr lang="de-DE" dirty="0"/>
              <a:t> </a:t>
            </a:r>
            <a:r>
              <a:rPr lang="de-DE" dirty="0" err="1"/>
              <a:t>affecting</a:t>
            </a:r>
            <a:r>
              <a:rPr lang="de-DE" dirty="0"/>
              <a:t> </a:t>
            </a:r>
            <a:r>
              <a:rPr lang="de-DE" dirty="0" err="1"/>
              <a:t>crisis</a:t>
            </a:r>
            <a:r>
              <a:rPr lang="de-DE" dirty="0"/>
              <a:t> </a:t>
            </a:r>
            <a:r>
              <a:rPr lang="de-DE" dirty="0" err="1"/>
              <a:t>periods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from: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</a:t>
            </a:r>
            <a:r>
              <a:rPr lang="de-DE" sz="1800" dirty="0" err="1">
                <a:effectLst/>
                <a:latin typeface="Times New Roman,Bold" pitchFamily="2" charset="0"/>
              </a:rPr>
              <a:t>page</a:t>
            </a:r>
            <a:r>
              <a:rPr lang="de-DE" sz="1800" dirty="0">
                <a:effectLst/>
                <a:latin typeface="Times New Roman,Bold" pitchFamily="2" charset="0"/>
              </a:rPr>
              <a:t>: 2.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</a:t>
            </a:r>
            <a:r>
              <a:rPr lang="de-DE" dirty="0" err="1"/>
              <a:t>theoretically</a:t>
            </a:r>
            <a:r>
              <a:rPr lang="de-DE" dirty="0"/>
              <a:t> </a:t>
            </a:r>
            <a:r>
              <a:rPr lang="de-DE" dirty="0" err="1"/>
              <a:t>affecting</a:t>
            </a:r>
            <a:r>
              <a:rPr lang="de-DE" dirty="0"/>
              <a:t> </a:t>
            </a:r>
            <a:r>
              <a:rPr lang="de-DE" dirty="0" err="1"/>
              <a:t>crisis</a:t>
            </a:r>
            <a:r>
              <a:rPr lang="de-DE" dirty="0"/>
              <a:t> </a:t>
            </a:r>
            <a:r>
              <a:rPr lang="de-DE" dirty="0" err="1"/>
              <a:t>periods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from: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</a:t>
            </a:r>
            <a:r>
              <a:rPr lang="de-DE" sz="1800" dirty="0" err="1">
                <a:effectLst/>
                <a:latin typeface="Times New Roman,Bold" pitchFamily="2" charset="0"/>
              </a:rPr>
              <a:t>page</a:t>
            </a:r>
            <a:r>
              <a:rPr lang="de-DE" sz="1800" dirty="0">
                <a:effectLst/>
                <a:latin typeface="Times New Roman,Bold" pitchFamily="2" charset="0"/>
              </a:rPr>
              <a:t>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</a:t>
            </a:r>
            <a:r>
              <a:rPr lang="de-DE" dirty="0" err="1"/>
              <a:t>theoretically</a:t>
            </a:r>
            <a:r>
              <a:rPr lang="de-DE" dirty="0"/>
              <a:t> </a:t>
            </a:r>
            <a:r>
              <a:rPr lang="de-DE" dirty="0" err="1"/>
              <a:t>affecting</a:t>
            </a:r>
            <a:r>
              <a:rPr lang="de-DE" dirty="0"/>
              <a:t> </a:t>
            </a:r>
            <a:r>
              <a:rPr lang="de-DE" dirty="0" err="1"/>
              <a:t>crisis</a:t>
            </a:r>
            <a:r>
              <a:rPr lang="de-DE" dirty="0"/>
              <a:t> </a:t>
            </a:r>
            <a:r>
              <a:rPr lang="de-DE" dirty="0" err="1"/>
              <a:t>periods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from: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</a:t>
            </a:r>
            <a:r>
              <a:rPr lang="de-DE" sz="1800" dirty="0" err="1">
                <a:effectLst/>
                <a:latin typeface="Times New Roman,Bold" pitchFamily="2" charset="0"/>
              </a:rPr>
              <a:t>page</a:t>
            </a:r>
            <a:r>
              <a:rPr lang="de-DE" sz="1800" dirty="0">
                <a:effectLst/>
                <a:latin typeface="Times New Roman,Bold" pitchFamily="2" charset="0"/>
              </a:rPr>
              <a:t>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AB5D-DEFE-84C3-4229-5FD48F50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FA9450-5843-4F07-1A49-D69A83DC9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BCFC3E-D679-9C12-A1D0-7505C317E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</a:t>
            </a:r>
            <a:r>
              <a:rPr lang="de-DE" dirty="0" err="1"/>
              <a:t>theoretically</a:t>
            </a:r>
            <a:r>
              <a:rPr lang="de-DE" dirty="0"/>
              <a:t> </a:t>
            </a:r>
            <a:r>
              <a:rPr lang="de-DE" dirty="0" err="1"/>
              <a:t>affecting</a:t>
            </a:r>
            <a:r>
              <a:rPr lang="de-DE" dirty="0"/>
              <a:t> </a:t>
            </a:r>
            <a:r>
              <a:rPr lang="de-DE" dirty="0" err="1"/>
              <a:t>crisis</a:t>
            </a:r>
            <a:r>
              <a:rPr lang="de-DE" dirty="0"/>
              <a:t> </a:t>
            </a:r>
            <a:r>
              <a:rPr lang="de-DE" dirty="0" err="1"/>
              <a:t>periods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from: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</a:t>
            </a:r>
            <a:r>
              <a:rPr lang="de-DE" sz="1800" dirty="0" err="1">
                <a:effectLst/>
                <a:latin typeface="Times New Roman,Bold" pitchFamily="2" charset="0"/>
              </a:rPr>
              <a:t>page</a:t>
            </a:r>
            <a:r>
              <a:rPr lang="de-DE" sz="1800" dirty="0">
                <a:effectLst/>
                <a:latin typeface="Times New Roman,Bold" pitchFamily="2" charset="0"/>
              </a:rPr>
              <a:t>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535E4-DEDF-2622-707D-A4F9B968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0377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200" dirty="0">
                <a:effectLst/>
                <a:latin typeface="AdvTT5235d5a9"/>
              </a:rPr>
              <a:t>The </a:t>
            </a:r>
            <a:r>
              <a:rPr lang="de-DE" sz="1200" dirty="0" err="1">
                <a:effectLst/>
                <a:latin typeface="AdvTT5235d5a9"/>
              </a:rPr>
              <a:t>relationship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between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oil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prices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exchange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rates</a:t>
            </a:r>
            <a:r>
              <a:rPr lang="de-DE" sz="1200" dirty="0">
                <a:effectLst/>
                <a:latin typeface="AdvTT5235d5a9"/>
              </a:rPr>
              <a:t>: </a:t>
            </a:r>
            <a:r>
              <a:rPr lang="de-DE" sz="1200" dirty="0" err="1">
                <a:effectLst/>
                <a:latin typeface="AdvTT5235d5a9"/>
              </a:rPr>
              <a:t>Revisiting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theory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evidence</a:t>
            </a:r>
            <a:r>
              <a:rPr lang="de-DE" sz="1200" dirty="0">
                <a:effectLst/>
                <a:latin typeface="AdvTT5235d5a9"/>
              </a:rPr>
              <a:t>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200" dirty="0">
                <a:effectLst/>
                <a:latin typeface="AdvTT5235d5a9"/>
              </a:rPr>
              <a:t>The </a:t>
            </a:r>
            <a:r>
              <a:rPr lang="de-DE" sz="1200" dirty="0" err="1">
                <a:effectLst/>
                <a:latin typeface="AdvTT5235d5a9"/>
              </a:rPr>
              <a:t>relationship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between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oil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prices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exchange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rates</a:t>
            </a:r>
            <a:r>
              <a:rPr lang="de-DE" sz="1200" dirty="0">
                <a:effectLst/>
                <a:latin typeface="AdvTT5235d5a9"/>
              </a:rPr>
              <a:t>: </a:t>
            </a:r>
            <a:r>
              <a:rPr lang="de-DE" sz="1200" dirty="0" err="1">
                <a:effectLst/>
                <a:latin typeface="AdvTT5235d5a9"/>
              </a:rPr>
              <a:t>Revisiting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theory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evidence</a:t>
            </a:r>
            <a:r>
              <a:rPr lang="de-DE" sz="1200" dirty="0">
                <a:effectLst/>
                <a:latin typeface="AdvTT5235d5a9"/>
              </a:rPr>
              <a:t>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51018-FCB0-78AE-7FB2-CE06D5C80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0CF1BCA-68CB-348B-8B11-097CBA420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8AD8B46-1DAC-0F7D-44A0-A7D42EEA2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200" dirty="0">
                <a:effectLst/>
                <a:latin typeface="AdvTT5235d5a9"/>
              </a:rPr>
              <a:t>The </a:t>
            </a:r>
            <a:r>
              <a:rPr lang="de-DE" sz="1200" dirty="0" err="1">
                <a:effectLst/>
                <a:latin typeface="AdvTT5235d5a9"/>
              </a:rPr>
              <a:t>relationship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between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oil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prices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exchange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rates</a:t>
            </a:r>
            <a:r>
              <a:rPr lang="de-DE" sz="1200" dirty="0">
                <a:effectLst/>
                <a:latin typeface="AdvTT5235d5a9"/>
              </a:rPr>
              <a:t>: </a:t>
            </a:r>
            <a:r>
              <a:rPr lang="de-DE" sz="1200" dirty="0" err="1">
                <a:effectLst/>
                <a:latin typeface="AdvTT5235d5a9"/>
              </a:rPr>
              <a:t>Revisiting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theory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evidence</a:t>
            </a:r>
            <a:r>
              <a:rPr lang="de-DE" sz="1200" dirty="0">
                <a:effectLst/>
                <a:latin typeface="AdvTT5235d5a9"/>
              </a:rPr>
              <a:t>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928ACC-3FC1-909E-8FE9-BD09F5179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8249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08B5-DDDB-9CA0-6467-7FD8993A1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E38B0E8-50D1-2899-FF4D-AC62BE9AF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E9AEE5-9D1E-8B69-5FDC-623EA09E7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A8E8DF-B6DE-D715-4E19-36A3DEF4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44398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A8D9-D78A-48F6-31FD-02214A78B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5C5781C-C53E-A4BB-3025-8671E6096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9BD623D-6727-B88E-2958-DBA9F9D75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5135A9-75A0-B09F-8787-57C311A69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119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8C327-288A-75B9-CF50-F76EB6B2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82830B-6179-A1D4-294B-C392BBB4C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7D4F88-A334-1E4D-585F-2F5F7A11A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1EFFA4-3D92-DCEF-F434-44609685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72356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B3852-12D5-2FC7-E674-2C7E942E0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7C3447-4C92-B18C-F9EF-6E089598F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BF1A8C-9EDA-A656-67D8-B34F01435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B63697-1659-FA46-5E0F-408CC0EB6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150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/>
              <a:t>Non-linear </a:t>
            </a:r>
            <a:r>
              <a:rPr lang="de-DE" sz="3000" b="1" dirty="0" err="1"/>
              <a:t>effects</a:t>
            </a:r>
            <a:r>
              <a:rPr lang="de-DE" sz="3000" b="1" dirty="0"/>
              <a:t> of </a:t>
            </a:r>
            <a:r>
              <a:rPr lang="de-DE" sz="3000" b="1" dirty="0" err="1"/>
              <a:t>energy</a:t>
            </a:r>
            <a:r>
              <a:rPr lang="de-DE" sz="3000" b="1" dirty="0"/>
              <a:t> </a:t>
            </a:r>
            <a:r>
              <a:rPr lang="de-DE" sz="3000" b="1" dirty="0" err="1"/>
              <a:t>commodities</a:t>
            </a:r>
            <a:r>
              <a:rPr lang="de-DE" sz="3000" b="1" dirty="0"/>
              <a:t> on </a:t>
            </a:r>
            <a:r>
              <a:rPr lang="de-DE" sz="3000" b="1" dirty="0" err="1"/>
              <a:t>the</a:t>
            </a:r>
            <a:endParaRPr lang="de-DE" sz="3000" b="1" dirty="0"/>
          </a:p>
          <a:p>
            <a:pPr algn="ctr"/>
            <a:r>
              <a:rPr lang="de-DE" sz="3000" b="1" dirty="0"/>
              <a:t>EUR/USD </a:t>
            </a:r>
            <a:r>
              <a:rPr lang="de-DE" sz="3000" b="1" dirty="0" err="1"/>
              <a:t>spot</a:t>
            </a:r>
            <a:r>
              <a:rPr lang="de-DE" sz="3000" b="1" dirty="0"/>
              <a:t> </a:t>
            </a:r>
            <a:r>
              <a:rPr lang="de-DE" sz="3000" b="1" dirty="0" err="1"/>
              <a:t>exchange</a:t>
            </a:r>
            <a:r>
              <a:rPr lang="de-DE" sz="3000" b="1" dirty="0"/>
              <a:t> rate:</a:t>
            </a:r>
          </a:p>
          <a:p>
            <a:pPr algn="ctr"/>
            <a:r>
              <a:rPr lang="de-DE" sz="3000" b="1" dirty="0"/>
              <a:t>An Oil and Gas </a:t>
            </a:r>
            <a:r>
              <a:rPr lang="de-DE" sz="3000" b="1" dirty="0" err="1"/>
              <a:t>Perspective</a:t>
            </a:r>
            <a:r>
              <a:rPr lang="de-DE" sz="3000" b="1" dirty="0"/>
              <a:t> on Parity </a:t>
            </a:r>
            <a:r>
              <a:rPr lang="de-DE" sz="3000" b="1" dirty="0" err="1"/>
              <a:t>Conditions</a:t>
            </a:r>
            <a:r>
              <a:rPr lang="de-DE" sz="3000" b="1" dirty="0"/>
              <a:t>.</a:t>
            </a:r>
          </a:p>
          <a:p>
            <a:pPr algn="ctr"/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robert.hennings@stu.uni-kiel.de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RobertHennings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7251B7F4-2291-74BA-F3E7-349C8DFA29BC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 flipV="1">
            <a:off x="4123594" y="2849865"/>
            <a:ext cx="636862" cy="1537992"/>
          </a:xfrm>
          <a:prstGeom prst="bentConnector3">
            <a:avLst>
              <a:gd name="adj1" fmla="val 7728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Commodity Prices and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721603" y="4279857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2020" y="2785471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143949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572720" y="4559503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15226" y="273778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60456" y="27418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257773" y="2048495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4928625" y="5330252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253809" y="427009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408456" y="4503239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572720" y="4891295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174559" y="3094996"/>
            <a:ext cx="1728000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735700" y="5330252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6F90299-E4E6-4840-3DEA-02C2F4B47B65}"/>
              </a:ext>
            </a:extLst>
          </p:cNvPr>
          <p:cNvSpPr/>
          <p:nvPr/>
        </p:nvSpPr>
        <p:spPr>
          <a:xfrm>
            <a:off x="2803691" y="4725778"/>
            <a:ext cx="13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Theory of Storage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9476D061-20A1-950A-6E01-BA9074430BB2}"/>
              </a:ext>
            </a:extLst>
          </p:cNvPr>
          <p:cNvSpPr/>
          <p:nvPr/>
        </p:nvSpPr>
        <p:spPr>
          <a:xfrm>
            <a:off x="2445691" y="5028015"/>
            <a:ext cx="169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Expected Risk Premium</a:t>
            </a:r>
          </a:p>
        </p:txBody>
      </p:sp>
      <p:cxnSp>
        <p:nvCxnSpPr>
          <p:cNvPr id="38" name="Gewinkelte Verbindung 37">
            <a:extLst>
              <a:ext uri="{FF2B5EF4-FFF2-40B4-BE49-F238E27FC236}">
                <a16:creationId xmlns:a16="http://schemas.microsoft.com/office/drawing/2014/main" id="{2B698803-F44F-92D9-D744-F18E762AE8BD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1867460" y="4504772"/>
            <a:ext cx="936231" cy="329006"/>
          </a:xfrm>
          <a:prstGeom prst="bentConnector3">
            <a:avLst>
              <a:gd name="adj1" fmla="val -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Gewinkelte Verbindung 40">
            <a:extLst>
              <a:ext uri="{FF2B5EF4-FFF2-40B4-BE49-F238E27FC236}">
                <a16:creationId xmlns:a16="http://schemas.microsoft.com/office/drawing/2014/main" id="{F2E07749-C7C5-D03A-BAC6-282D39E61387}"/>
              </a:ext>
            </a:extLst>
          </p:cNvPr>
          <p:cNvCxnSpPr>
            <a:cxnSpLocks/>
            <a:endCxn id="36" idx="1"/>
          </p:cNvCxnSpPr>
          <p:nvPr/>
        </p:nvCxnSpPr>
        <p:spPr>
          <a:xfrm rot="16200000" flipH="1">
            <a:off x="1829635" y="4519958"/>
            <a:ext cx="645599" cy="586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06396FB7-F7AD-F734-8467-C7B76302F764}"/>
              </a:ext>
            </a:extLst>
          </p:cNvPr>
          <p:cNvSpPr/>
          <p:nvPr/>
        </p:nvSpPr>
        <p:spPr>
          <a:xfrm rot="16200000">
            <a:off x="195369" y="4852086"/>
            <a:ext cx="1800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– Future Divergence</a:t>
            </a:r>
          </a:p>
        </p:txBody>
      </p:sp>
      <p:sp>
        <p:nvSpPr>
          <p:cNvPr id="49" name="Geschweifte Klammer links 48">
            <a:extLst>
              <a:ext uri="{FF2B5EF4-FFF2-40B4-BE49-F238E27FC236}">
                <a16:creationId xmlns:a16="http://schemas.microsoft.com/office/drawing/2014/main" id="{147954C5-3C02-AC94-7CD9-4A825155F3B8}"/>
              </a:ext>
            </a:extLst>
          </p:cNvPr>
          <p:cNvSpPr/>
          <p:nvPr/>
        </p:nvSpPr>
        <p:spPr>
          <a:xfrm>
            <a:off x="1255042" y="4270090"/>
            <a:ext cx="419165" cy="1276161"/>
          </a:xfrm>
          <a:prstGeom prst="leftBrace">
            <a:avLst>
              <a:gd name="adj1" fmla="val 8333"/>
              <a:gd name="adj2" fmla="val 515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605E380-74E6-9316-4410-2F9D1B95C05F}"/>
              </a:ext>
            </a:extLst>
          </p:cNvPr>
          <p:cNvSpPr/>
          <p:nvPr/>
        </p:nvSpPr>
        <p:spPr>
          <a:xfrm>
            <a:off x="9076676" y="4615866"/>
            <a:ext cx="1605757" cy="344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Cycle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Uncertainty</a:t>
            </a:r>
          </a:p>
        </p:txBody>
      </p:sp>
      <p:cxnSp>
        <p:nvCxnSpPr>
          <p:cNvPr id="53" name="Gewinkelte Verbindung 52">
            <a:extLst>
              <a:ext uri="{FF2B5EF4-FFF2-40B4-BE49-F238E27FC236}">
                <a16:creationId xmlns:a16="http://schemas.microsoft.com/office/drawing/2014/main" id="{34006D93-F4B6-B129-FE04-761CFA0687E2}"/>
              </a:ext>
            </a:extLst>
          </p:cNvPr>
          <p:cNvCxnSpPr>
            <a:cxnSpLocks/>
            <a:endCxn id="50" idx="1"/>
          </p:cNvCxnSpPr>
          <p:nvPr/>
        </p:nvCxnSpPr>
        <p:spPr>
          <a:xfrm rot="16200000" flipH="1">
            <a:off x="8709178" y="4420478"/>
            <a:ext cx="550026" cy="1849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20CBD6-F4B1-0104-E919-F4240ABA3159}"/>
              </a:ext>
            </a:extLst>
          </p:cNvPr>
          <p:cNvSpPr/>
          <p:nvPr/>
        </p:nvSpPr>
        <p:spPr>
          <a:xfrm>
            <a:off x="9439387" y="3104994"/>
            <a:ext cx="1462885" cy="21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Shock</a:t>
            </a:r>
          </a:p>
        </p:txBody>
      </p:sp>
      <p:cxnSp>
        <p:nvCxnSpPr>
          <p:cNvPr id="57" name="Gewinkelte Verbindung 56">
            <a:extLst>
              <a:ext uri="{FF2B5EF4-FFF2-40B4-BE49-F238E27FC236}">
                <a16:creationId xmlns:a16="http://schemas.microsoft.com/office/drawing/2014/main" id="{485EF787-AA33-D2DA-E051-30ADFDE4B0EF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9017670" y="3000571"/>
            <a:ext cx="421717" cy="214223"/>
          </a:xfrm>
          <a:prstGeom prst="bentConnector3">
            <a:avLst>
              <a:gd name="adj1" fmla="val 540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EFFD1A49-BDA2-BEC0-8F43-22EC830F6F55}"/>
              </a:ext>
            </a:extLst>
          </p:cNvPr>
          <p:cNvSpPr/>
          <p:nvPr/>
        </p:nvSpPr>
        <p:spPr>
          <a:xfrm rot="16200000">
            <a:off x="7682962" y="3075808"/>
            <a:ext cx="1199565" cy="361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Market Hypothesis</a:t>
            </a:r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B0A9FC46-336A-35C6-E3AF-E92310A9D5AA}"/>
              </a:ext>
            </a:extLst>
          </p:cNvPr>
          <p:cNvSpPr/>
          <p:nvPr/>
        </p:nvSpPr>
        <p:spPr>
          <a:xfrm>
            <a:off x="8482015" y="2792410"/>
            <a:ext cx="419165" cy="858750"/>
          </a:xfrm>
          <a:prstGeom prst="leftBrace">
            <a:avLst>
              <a:gd name="adj1" fmla="val 8333"/>
              <a:gd name="adj2" fmla="val 50973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62" name="Gewinkelte Verbindung 61">
            <a:extLst>
              <a:ext uri="{FF2B5EF4-FFF2-40B4-BE49-F238E27FC236}">
                <a16:creationId xmlns:a16="http://schemas.microsoft.com/office/drawing/2014/main" id="{1A9CA3B1-89DE-C524-1B4E-C75799883A8B}"/>
              </a:ext>
            </a:extLst>
          </p:cNvPr>
          <p:cNvCxnSpPr>
            <a:cxnSpLocks/>
            <a:stCxn id="66" idx="1"/>
            <a:endCxn id="6" idx="1"/>
          </p:cNvCxnSpPr>
          <p:nvPr/>
        </p:nvCxnSpPr>
        <p:spPr>
          <a:xfrm flipV="1">
            <a:off x="8164972" y="4113332"/>
            <a:ext cx="581564" cy="7582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Geschweifte Klammer links 65">
            <a:extLst>
              <a:ext uri="{FF2B5EF4-FFF2-40B4-BE49-F238E27FC236}">
                <a16:creationId xmlns:a16="http://schemas.microsoft.com/office/drawing/2014/main" id="{4217CD35-2855-C3CC-880E-22CB9DD435FC}"/>
              </a:ext>
            </a:extLst>
          </p:cNvPr>
          <p:cNvSpPr/>
          <p:nvPr/>
        </p:nvSpPr>
        <p:spPr>
          <a:xfrm rot="10800000">
            <a:off x="7936049" y="4270091"/>
            <a:ext cx="228923" cy="1276159"/>
          </a:xfrm>
          <a:prstGeom prst="leftBrace">
            <a:avLst>
              <a:gd name="adj1" fmla="val 8333"/>
              <a:gd name="adj2" fmla="val 52866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EDA54FD2-EE6F-C979-CD6E-D8152BCD9185}"/>
              </a:ext>
            </a:extLst>
          </p:cNvPr>
          <p:cNvSpPr/>
          <p:nvPr/>
        </p:nvSpPr>
        <p:spPr>
          <a:xfrm>
            <a:off x="9435760" y="3431560"/>
            <a:ext cx="1462879" cy="21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Bank Policy</a:t>
            </a:r>
          </a:p>
        </p:txBody>
      </p:sp>
      <p:cxnSp>
        <p:nvCxnSpPr>
          <p:cNvPr id="85" name="Gewinkelte Verbindung 84">
            <a:extLst>
              <a:ext uri="{FF2B5EF4-FFF2-40B4-BE49-F238E27FC236}">
                <a16:creationId xmlns:a16="http://schemas.microsoft.com/office/drawing/2014/main" id="{DA49C920-6FA4-94C4-83B4-BF1BCA9E7272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 flipV="1">
            <a:off x="4123594" y="3251949"/>
            <a:ext cx="1590607" cy="11359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C2517137-D61D-2942-2436-5D8BCF58DB4E}"/>
              </a:ext>
            </a:extLst>
          </p:cNvPr>
          <p:cNvCxnSpPr>
            <a:stCxn id="11" idx="3"/>
            <a:endCxn id="60" idx="0"/>
          </p:cNvCxnSpPr>
          <p:nvPr/>
        </p:nvCxnSpPr>
        <p:spPr>
          <a:xfrm>
            <a:off x="6477794" y="3251949"/>
            <a:ext cx="1624408" cy="44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512ACE4B-D48F-906A-E3F8-4C90CC6A8713}"/>
              </a:ext>
            </a:extLst>
          </p:cNvPr>
          <p:cNvCxnSpPr>
            <a:cxnSpLocks/>
            <a:stCxn id="5" idx="3"/>
            <a:endCxn id="35" idx="1"/>
          </p:cNvCxnSpPr>
          <p:nvPr/>
        </p:nvCxnSpPr>
        <p:spPr>
          <a:xfrm flipV="1">
            <a:off x="4123594" y="4378092"/>
            <a:ext cx="1130215" cy="97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Gewinkelte Verbindung 110">
            <a:extLst>
              <a:ext uri="{FF2B5EF4-FFF2-40B4-BE49-F238E27FC236}">
                <a16:creationId xmlns:a16="http://schemas.microsoft.com/office/drawing/2014/main" id="{0C445089-6687-256E-1F93-325EC94782C5}"/>
              </a:ext>
            </a:extLst>
          </p:cNvPr>
          <p:cNvCxnSpPr>
            <a:cxnSpLocks/>
            <a:endCxn id="2" idx="1"/>
          </p:cNvCxnSpPr>
          <p:nvPr/>
        </p:nvCxnSpPr>
        <p:spPr>
          <a:xfrm rot="16200000" flipH="1">
            <a:off x="5242559" y="4669133"/>
            <a:ext cx="505807" cy="15451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Gewinkelte Verbindung 121">
            <a:extLst>
              <a:ext uri="{FF2B5EF4-FFF2-40B4-BE49-F238E27FC236}">
                <a16:creationId xmlns:a16="http://schemas.microsoft.com/office/drawing/2014/main" id="{894CE1E4-0E53-6E8A-4ACC-03CD0785B000}"/>
              </a:ext>
            </a:extLst>
          </p:cNvPr>
          <p:cNvCxnSpPr>
            <a:cxnSpLocks/>
            <a:endCxn id="73" idx="1"/>
          </p:cNvCxnSpPr>
          <p:nvPr/>
        </p:nvCxnSpPr>
        <p:spPr>
          <a:xfrm rot="16200000" flipH="1">
            <a:off x="8975556" y="3081155"/>
            <a:ext cx="524729" cy="3956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non-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goods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</a:t>
                </a:r>
                <a:r>
                  <a:rPr lang="de-DE" sz="110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Definitions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basket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deflator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since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</a:t>
                </a:r>
                <a:r>
                  <a:rPr lang="de-DE" sz="110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Definitions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988317" y="1244054"/>
            <a:ext cx="1116897" cy="3189911"/>
          </a:xfrm>
          <a:prstGeom prst="bentConnector3">
            <a:avLst>
              <a:gd name="adj1" fmla="val 4396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policy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hikes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705254" y="2438771"/>
            <a:ext cx="1764000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469253" y="2554439"/>
            <a:ext cx="486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80437" y="2554439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depending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66989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futures markets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517511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278545" y="2833876"/>
            <a:ext cx="1352144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675774" y="4615243"/>
            <a:ext cx="21130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8" y="2862355"/>
            <a:ext cx="419165" cy="1226421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397459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0899C555-34FE-A0FC-A6DA-A49D1F54EF81}"/>
              </a:ext>
            </a:extLst>
          </p:cNvPr>
          <p:cNvSpPr/>
          <p:nvPr/>
        </p:nvSpPr>
        <p:spPr>
          <a:xfrm>
            <a:off x="5845629" y="496542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Trading volume in futures markets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E79E564-161E-55DB-D07C-F70FF4DCAEA8}"/>
              </a:ext>
            </a:extLst>
          </p:cNvPr>
          <p:cNvSpPr/>
          <p:nvPr/>
        </p:nvSpPr>
        <p:spPr>
          <a:xfrm>
            <a:off x="4077379" y="2841982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Front Month Future Price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001AAF7-1BAC-77FC-6184-6D2824984C15}"/>
              </a:ext>
            </a:extLst>
          </p:cNvPr>
          <p:cNvSpPr/>
          <p:nvPr/>
        </p:nvSpPr>
        <p:spPr>
          <a:xfrm>
            <a:off x="4077379" y="3169560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Spot Price</a:t>
            </a:r>
          </a:p>
        </p:txBody>
      </p:sp>
      <p:cxnSp>
        <p:nvCxnSpPr>
          <p:cNvPr id="24" name="Gewinkelte Verbindung 23">
            <a:extLst>
              <a:ext uri="{FF2B5EF4-FFF2-40B4-BE49-F238E27FC236}">
                <a16:creationId xmlns:a16="http://schemas.microsoft.com/office/drawing/2014/main" id="{A2BFA96B-A1CF-1F21-E29C-BF3013031997}"/>
              </a:ext>
            </a:extLst>
          </p:cNvPr>
          <p:cNvCxnSpPr>
            <a:cxnSpLocks/>
            <a:stCxn id="5" idx="2"/>
            <a:endCxn id="17" idx="1"/>
          </p:cNvCxnSpPr>
          <p:nvPr/>
        </p:nvCxnSpPr>
        <p:spPr>
          <a:xfrm rot="16200000" flipH="1">
            <a:off x="3616310" y="2496112"/>
            <a:ext cx="676615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winkelte Verbindung 29">
            <a:extLst>
              <a:ext uri="{FF2B5EF4-FFF2-40B4-BE49-F238E27FC236}">
                <a16:creationId xmlns:a16="http://schemas.microsoft.com/office/drawing/2014/main" id="{90764E94-68E6-4A03-F8BB-5577A60DBBAD}"/>
              </a:ext>
            </a:extLst>
          </p:cNvPr>
          <p:cNvCxnSpPr>
            <a:cxnSpLocks/>
            <a:stCxn id="5" idx="2"/>
            <a:endCxn id="22" idx="1"/>
          </p:cNvCxnSpPr>
          <p:nvPr/>
        </p:nvCxnSpPr>
        <p:spPr>
          <a:xfrm rot="16200000" flipH="1">
            <a:off x="3452521" y="2659901"/>
            <a:ext cx="1004193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winkelte Verbindung 44">
            <a:extLst>
              <a:ext uri="{FF2B5EF4-FFF2-40B4-BE49-F238E27FC236}">
                <a16:creationId xmlns:a16="http://schemas.microsoft.com/office/drawing/2014/main" id="{E7C9E15D-2B56-31F7-42E4-DB58676C3B4E}"/>
              </a:ext>
            </a:extLst>
          </p:cNvPr>
          <p:cNvCxnSpPr>
            <a:cxnSpLocks/>
            <a:stCxn id="95" idx="2"/>
            <a:endCxn id="14" idx="1"/>
          </p:cNvCxnSpPr>
          <p:nvPr/>
        </p:nvCxnSpPr>
        <p:spPr>
          <a:xfrm rot="16200000" flipH="1">
            <a:off x="5528009" y="4763008"/>
            <a:ext cx="50683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AE980178-4585-1AFF-5C0E-2A6A01308009}"/>
              </a:ext>
            </a:extLst>
          </p:cNvPr>
          <p:cNvSpPr/>
          <p:nvPr/>
        </p:nvSpPr>
        <p:spPr>
          <a:xfrm>
            <a:off x="9288648" y="5541453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2ADB375-89BA-FD19-7379-27DD197F2932}"/>
              </a:ext>
            </a:extLst>
          </p:cNvPr>
          <p:cNvSpPr/>
          <p:nvPr/>
        </p:nvSpPr>
        <p:spPr>
          <a:xfrm>
            <a:off x="9532410" y="5533467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rgbClr val="000000"/>
                </a:solidFill>
                <a:latin typeface="Roboto" panose="02000000000000000000" pitchFamily="2" charset="0"/>
              </a:rPr>
              <a:t>: variable not considered</a:t>
            </a:r>
            <a:endParaRPr lang="de-DE" sz="800" b="0" i="0" u="none" strike="noStrike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EEAF8B1-B3EB-EFC1-4422-D4D9B2AFD791}"/>
              </a:ext>
            </a:extLst>
          </p:cNvPr>
          <p:cNvSpPr/>
          <p:nvPr/>
        </p:nvSpPr>
        <p:spPr>
          <a:xfrm>
            <a:off x="9288648" y="5879852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9B5C8209-522A-5A8C-17F5-4180D2874F17}"/>
              </a:ext>
            </a:extLst>
          </p:cNvPr>
          <p:cNvSpPr/>
          <p:nvPr/>
        </p:nvSpPr>
        <p:spPr>
          <a:xfrm>
            <a:off x="9407281" y="5871866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rgbClr val="000000"/>
                </a:solidFill>
                <a:latin typeface="Roboto" panose="02000000000000000000" pitchFamily="2" charset="0"/>
              </a:rPr>
              <a:t>: variable included</a:t>
            </a:r>
            <a:endParaRPr lang="de-DE" sz="800" b="0" i="0" u="none" strike="noStrike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007301"/>
              </p:ext>
            </p:extLst>
          </p:nvPr>
        </p:nvGraphicFramePr>
        <p:xfrm>
          <a:off x="1112919" y="1807520"/>
          <a:ext cx="4516837" cy="416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759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920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920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498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109881"/>
              </p:ext>
            </p:extLst>
          </p:nvPr>
        </p:nvGraphicFramePr>
        <p:xfrm>
          <a:off x="6640775" y="1807521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059003"/>
              </p:ext>
            </p:extLst>
          </p:nvPr>
        </p:nvGraphicFramePr>
        <p:xfrm>
          <a:off x="6640775" y="2979002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889717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251013"/>
              </p:ext>
            </p:extLst>
          </p:nvPr>
        </p:nvGraphicFramePr>
        <p:xfrm>
          <a:off x="6640775" y="4150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755468"/>
              </p:ext>
            </p:extLst>
          </p:nvPr>
        </p:nvGraphicFramePr>
        <p:xfrm>
          <a:off x="6640775" y="5322039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968691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034949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1807520"/>
            <a:ext cx="268558" cy="214705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181818"/>
            <a:ext cx="268558" cy="211579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629580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4995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BE1EC463-ED28-F20A-CCF7-8EC6BD6CEB13}"/>
              </a:ext>
            </a:extLst>
          </p:cNvPr>
          <p:cNvSpPr/>
          <p:nvPr/>
        </p:nvSpPr>
        <p:spPr>
          <a:xfrm>
            <a:off x="6144820" y="2979002"/>
            <a:ext cx="268558" cy="975572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9C4D93F-B324-14DF-1ED3-76800033C3CD}"/>
              </a:ext>
            </a:extLst>
          </p:cNvPr>
          <p:cNvSpPr/>
          <p:nvPr/>
        </p:nvSpPr>
        <p:spPr>
          <a:xfrm>
            <a:off x="5695414" y="332428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B1.1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FBFE769F-D17B-FEE3-3CB8-D69F69550B0F}"/>
              </a:ext>
            </a:extLst>
          </p:cNvPr>
          <p:cNvSpPr/>
          <p:nvPr/>
        </p:nvSpPr>
        <p:spPr>
          <a:xfrm>
            <a:off x="6144820" y="5322039"/>
            <a:ext cx="268558" cy="97556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359A86C-CD94-06E0-9AF9-7C2B42963CE7}"/>
              </a:ext>
            </a:extLst>
          </p:cNvPr>
          <p:cNvSpPr/>
          <p:nvPr/>
        </p:nvSpPr>
        <p:spPr>
          <a:xfrm>
            <a:off x="5695414" y="569044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B2.1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362" y="3111943"/>
            <a:ext cx="1509225" cy="920686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41432"/>
              </p:ext>
            </p:extLst>
          </p:nvPr>
        </p:nvGraphicFramePr>
        <p:xfrm>
          <a:off x="1102735" y="1670952"/>
          <a:ext cx="4460423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909615"/>
              </p:ext>
            </p:extLst>
          </p:nvPr>
        </p:nvGraphicFramePr>
        <p:xfrm>
          <a:off x="6948697" y="2069493"/>
          <a:ext cx="4168323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3" name="Geschweifte Klammer links 2">
            <a:extLst>
              <a:ext uri="{FF2B5EF4-FFF2-40B4-BE49-F238E27FC236}">
                <a16:creationId xmlns:a16="http://schemas.microsoft.com/office/drawing/2014/main" id="{3493DB9E-2C94-8084-D29D-13BDFE0720BD}"/>
              </a:ext>
            </a:extLst>
          </p:cNvPr>
          <p:cNvSpPr/>
          <p:nvPr/>
        </p:nvSpPr>
        <p:spPr>
          <a:xfrm rot="16200000">
            <a:off x="3198670" y="2334275"/>
            <a:ext cx="268558" cy="4460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BFCF98F-771C-0813-20F1-CE1317934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63421"/>
              </p:ext>
            </p:extLst>
          </p:nvPr>
        </p:nvGraphicFramePr>
        <p:xfrm>
          <a:off x="1072396" y="5046446"/>
          <a:ext cx="4490762" cy="792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594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73454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GridSearchCV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 Optimization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32FEE27F-95EE-DEED-7397-BB968F5C810B}"/>
              </a:ext>
            </a:extLst>
          </p:cNvPr>
          <p:cNvSpPr/>
          <p:nvPr/>
        </p:nvSpPr>
        <p:spPr>
          <a:xfrm>
            <a:off x="1907678" y="4751167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Hyperparameter Optimisation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FBCD425-D912-7A64-E17D-940F90EC19AF}"/>
              </a:ext>
            </a:extLst>
          </p:cNvPr>
          <p:cNvSpPr/>
          <p:nvPr/>
        </p:nvSpPr>
        <p:spPr>
          <a:xfrm>
            <a:off x="1071562" y="6120513"/>
            <a:ext cx="1620000" cy="2162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TimeSeriesSplit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FE57130-780F-1242-233E-7AF177D7AD84}"/>
              </a:ext>
            </a:extLst>
          </p:cNvPr>
          <p:cNvSpPr/>
          <p:nvPr/>
        </p:nvSpPr>
        <p:spPr>
          <a:xfrm>
            <a:off x="3835158" y="6120513"/>
            <a:ext cx="1728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CombinatorialPurgedCV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0393098-2965-2B68-EAE6-59833D55454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17777" y="5838926"/>
            <a:ext cx="1381381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B800936-FFF5-9A06-3234-0B882F67A21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1881562" y="5838926"/>
            <a:ext cx="1436215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3" name="Grafik 12">
            <a:extLst>
              <a:ext uri="{FF2B5EF4-FFF2-40B4-BE49-F238E27FC236}">
                <a16:creationId xmlns:a16="http://schemas.microsoft.com/office/drawing/2014/main" id="{E5AFA0B1-6FF8-536E-CC3E-746B2D07A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623" y="3085000"/>
            <a:ext cx="2682597" cy="989748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40224436-2523-8528-741C-F3342D1FAA0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7863587" y="3572286"/>
            <a:ext cx="485036" cy="7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9" name="Grafik 28">
            <a:extLst>
              <a:ext uri="{FF2B5EF4-FFF2-40B4-BE49-F238E27FC236}">
                <a16:creationId xmlns:a16="http://schemas.microsoft.com/office/drawing/2014/main" id="{482625FE-662A-ACA9-BAF2-D2CD56742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2872" y="4494857"/>
            <a:ext cx="2460115" cy="1042167"/>
          </a:xfrm>
          <a:prstGeom prst="rect">
            <a:avLst/>
          </a:prstGeom>
        </p:spPr>
      </p:pic>
      <p:cxnSp>
        <p:nvCxnSpPr>
          <p:cNvPr id="32" name="Gewinkelte Verbindung 31">
            <a:extLst>
              <a:ext uri="{FF2B5EF4-FFF2-40B4-BE49-F238E27FC236}">
                <a16:creationId xmlns:a16="http://schemas.microsoft.com/office/drawing/2014/main" id="{A35F3922-81FE-51E8-9C3D-4628179894C2}"/>
              </a:ext>
            </a:extLst>
          </p:cNvPr>
          <p:cNvCxnSpPr>
            <a:stCxn id="13" idx="2"/>
            <a:endCxn id="29" idx="0"/>
          </p:cNvCxnSpPr>
          <p:nvPr/>
        </p:nvCxnSpPr>
        <p:spPr>
          <a:xfrm rot="5400000">
            <a:off x="8421372" y="3226306"/>
            <a:ext cx="420109" cy="21169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3" name="Grafik 32">
            <a:extLst>
              <a:ext uri="{FF2B5EF4-FFF2-40B4-BE49-F238E27FC236}">
                <a16:creationId xmlns:a16="http://schemas.microsoft.com/office/drawing/2014/main" id="{034F7BB8-3AF7-E150-B907-FF7B2F41B8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2858" y="4561666"/>
            <a:ext cx="2308808" cy="908547"/>
          </a:xfrm>
          <a:prstGeom prst="rect">
            <a:avLst/>
          </a:prstGeom>
        </p:spPr>
      </p:pic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63E377A-8EB7-EFB0-9C8D-F5764863C467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 flipV="1">
            <a:off x="8802987" y="5015940"/>
            <a:ext cx="22987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Grafik 38">
            <a:extLst>
              <a:ext uri="{FF2B5EF4-FFF2-40B4-BE49-F238E27FC236}">
                <a16:creationId xmlns:a16="http://schemas.microsoft.com/office/drawing/2014/main" id="{7E3C7A32-69D9-4C82-42B5-819C3D6825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7102" y="5714857"/>
            <a:ext cx="3441307" cy="618170"/>
          </a:xfrm>
          <a:prstGeom prst="rect">
            <a:avLst/>
          </a:prstGeom>
        </p:spPr>
      </p:pic>
      <p:cxnSp>
        <p:nvCxnSpPr>
          <p:cNvPr id="40" name="Gewinkelte Verbindung 39">
            <a:extLst>
              <a:ext uri="{FF2B5EF4-FFF2-40B4-BE49-F238E27FC236}">
                <a16:creationId xmlns:a16="http://schemas.microsoft.com/office/drawing/2014/main" id="{A3181C01-0942-A7D3-3598-D635C8DC5058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 rot="5400000">
            <a:off x="9310187" y="4837782"/>
            <a:ext cx="244644" cy="15095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(III)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766932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766932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511217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95344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073623"/>
              </p:ext>
            </p:extLst>
          </p:nvPr>
        </p:nvGraphicFramePr>
        <p:xfrm>
          <a:off x="952055" y="1251370"/>
          <a:ext cx="9791910" cy="1085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[AB98]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(perfect regime classification),</a:t>
                      </a:r>
                    </a:p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 (failure to detect any regime classification)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calculations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Combined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overlap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ranging from 0% - 100%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845646"/>
              </p:ext>
            </p:extLst>
          </p:nvPr>
        </p:nvGraphicFramePr>
        <p:xfrm>
          <a:off x="952054" y="2771122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[Cor+25]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[Cha25]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86FF-0FA1-FA96-F37A-21BE396C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F1D4B39-6ECD-A011-3D89-D6208F0757A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(IV)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026C892-2E94-1107-A258-C8124E337D86}"/>
              </a:ext>
            </a:extLst>
          </p:cNvPr>
          <p:cNvSpPr/>
          <p:nvPr/>
        </p:nvSpPr>
        <p:spPr>
          <a:xfrm>
            <a:off x="215456" y="813584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95F87D-A565-3E72-9DAA-8DD34D44EB8F}"/>
              </a:ext>
            </a:extLst>
          </p:cNvPr>
          <p:cNvSpPr/>
          <p:nvPr/>
        </p:nvSpPr>
        <p:spPr>
          <a:xfrm>
            <a:off x="952054" y="813584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for UIP conditional on regimes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ADD146-03B0-C365-61EA-2666941F6D64}"/>
              </a:ext>
            </a:extLst>
          </p:cNvPr>
          <p:cNvSpPr/>
          <p:nvPr/>
        </p:nvSpPr>
        <p:spPr>
          <a:xfrm>
            <a:off x="952059" y="1041996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comparison – UIP Testing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7490227-F347-3BC9-1E4F-2037A9ECB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428" y="1468038"/>
            <a:ext cx="5021278" cy="197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55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err="1"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 Overview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Commodity Prices and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Transmission channels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GARCH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802" y="2678548"/>
            <a:ext cx="4117052" cy="3657600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8104DAD-C39B-9AB7-DA00-3DB6EA1FA784}"/>
              </a:ext>
            </a:extLst>
          </p:cNvPr>
          <p:cNvSpPr/>
          <p:nvPr/>
        </p:nvSpPr>
        <p:spPr>
          <a:xfrm>
            <a:off x="1990172" y="524729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TVAR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8445CAB-42DB-9A49-7B6F-BD6BA741F0E3}"/>
              </a:ext>
            </a:extLst>
          </p:cNvPr>
          <p:cNvSpPr/>
          <p:nvPr/>
        </p:nvSpPr>
        <p:spPr>
          <a:xfrm>
            <a:off x="495794" y="3984923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– GARCH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Commodity Prices and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Econometric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modelling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265195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Correlation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(rank) correlation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4191257" y="5087913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952124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12720" y="2149779"/>
            <a:ext cx="910486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Identification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5250752" y="412897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 flipH="1">
            <a:off x="5998277" y="4053475"/>
            <a:ext cx="844658" cy="754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Time-varying causality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38857" y="4452635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2053A14E-923B-472E-8D72-BFA7E933D4FE}"/>
              </a:ext>
            </a:extLst>
          </p:cNvPr>
          <p:cNvSpPr/>
          <p:nvPr/>
        </p:nvSpPr>
        <p:spPr>
          <a:xfrm>
            <a:off x="38857" y="3847568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Correlation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9880415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9711910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9417156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4174822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38857" y="204842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ECM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7419BE5C-8D7E-F0CC-CC59-6B68C821F058}"/>
              </a:ext>
            </a:extLst>
          </p:cNvPr>
          <p:cNvSpPr/>
          <p:nvPr/>
        </p:nvSpPr>
        <p:spPr>
          <a:xfrm>
            <a:off x="54297" y="5645930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8857" y="266787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6878128" y="412897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>
            <a:off x="6842935" y="4053475"/>
            <a:ext cx="782718" cy="754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1237518B-AB41-CE4E-5D3C-89D69C138D59}"/>
              </a:ext>
            </a:extLst>
          </p:cNvPr>
          <p:cNvSpPr/>
          <p:nvPr/>
        </p:nvSpPr>
        <p:spPr>
          <a:xfrm>
            <a:off x="38857" y="5075684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TVAR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4A07AD-8C8A-0791-7E72-2211456E8149}"/>
              </a:ext>
            </a:extLst>
          </p:cNvPr>
          <p:cNvSpPr/>
          <p:nvPr/>
        </p:nvSpPr>
        <p:spPr>
          <a:xfrm>
            <a:off x="5932351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Spearmans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Rho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435C9FA-FA5C-C8F0-7033-A4E01EA053A1}"/>
              </a:ext>
            </a:extLst>
          </p:cNvPr>
          <p:cNvCxnSpPr>
            <a:cxnSpLocks/>
            <a:stCxn id="38" idx="2"/>
            <a:endCxn id="6" idx="0"/>
          </p:cNvCxnSpPr>
          <p:nvPr/>
        </p:nvCxnSpPr>
        <p:spPr>
          <a:xfrm>
            <a:off x="5923206" y="2826607"/>
            <a:ext cx="75667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106C6DEE-029B-8A14-FC2B-31BAE72D4780}"/>
              </a:ext>
            </a:extLst>
          </p:cNvPr>
          <p:cNvSpPr/>
          <p:nvPr/>
        </p:nvSpPr>
        <p:spPr>
          <a:xfrm>
            <a:off x="7574166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Kendalls Tau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7A35EF2-819B-6946-8607-87DAD353D645}"/>
              </a:ext>
            </a:extLst>
          </p:cNvPr>
          <p:cNvCxnSpPr>
            <a:cxnSpLocks/>
            <a:stCxn id="38" idx="2"/>
            <a:endCxn id="12" idx="0"/>
          </p:cNvCxnSpPr>
          <p:nvPr/>
        </p:nvCxnSpPr>
        <p:spPr>
          <a:xfrm>
            <a:off x="5923206" y="2826607"/>
            <a:ext cx="2398485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074446F5-EB95-C217-F0B7-00FA5AFF0174}"/>
              </a:ext>
            </a:extLst>
          </p:cNvPr>
          <p:cNvCxnSpPr>
            <a:cxnSpLocks/>
            <a:stCxn id="38" idx="2"/>
            <a:endCxn id="77" idx="0"/>
          </p:cNvCxnSpPr>
          <p:nvPr/>
        </p:nvCxnSpPr>
        <p:spPr>
          <a:xfrm flipH="1">
            <a:off x="5012720" y="2826607"/>
            <a:ext cx="910486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24F38758-09E8-9B58-9B5A-814C6728F1BD}"/>
              </a:ext>
            </a:extLst>
          </p:cNvPr>
          <p:cNvSpPr/>
          <p:nvPr/>
        </p:nvSpPr>
        <p:spPr>
          <a:xfrm>
            <a:off x="5832671" y="5427063"/>
            <a:ext cx="1790275" cy="5649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DCC-GARCH/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6C281F6-FB7B-58B2-461E-3C6A938E54CD}"/>
              </a:ext>
            </a:extLst>
          </p:cNvPr>
          <p:cNvSpPr/>
          <p:nvPr/>
        </p:nvSpPr>
        <p:spPr>
          <a:xfrm>
            <a:off x="1812598" y="5241400"/>
            <a:ext cx="1622086" cy="3713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Copula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96A72D3-2E6D-87F2-CC44-8A3BF4613BC4}"/>
              </a:ext>
            </a:extLst>
          </p:cNvPr>
          <p:cNvSpPr/>
          <p:nvPr/>
        </p:nvSpPr>
        <p:spPr>
          <a:xfrm>
            <a:off x="1799627" y="5736646"/>
            <a:ext cx="1622086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Wavelet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894366F-C7BE-627A-F3F8-3A379D590C8D}"/>
              </a:ext>
            </a:extLst>
          </p:cNvPr>
          <p:cNvCxnSpPr>
            <a:cxnSpLocks/>
            <a:stCxn id="45" idx="2"/>
            <a:endCxn id="20" idx="0"/>
          </p:cNvCxnSpPr>
          <p:nvPr/>
        </p:nvCxnSpPr>
        <p:spPr>
          <a:xfrm>
            <a:off x="4938782" y="5303913"/>
            <a:ext cx="1789027" cy="123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ED2-DB6B-C5BB-E43A-9C269C890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25FCD6BB-9F1F-3434-6DC6-2705B4EDF50B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2EE9070B-CC35-1DAE-F9CD-1C084CBD8A0F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Commodity Prices and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Econometric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modelling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02055E3-7891-B11A-2975-55E7F21BA00E}"/>
              </a:ext>
            </a:extLst>
          </p:cNvPr>
          <p:cNvSpPr/>
          <p:nvPr/>
        </p:nvSpPr>
        <p:spPr>
          <a:xfrm>
            <a:off x="1323025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729AB2A-516A-888E-A14A-C888FA0D2B93}"/>
              </a:ext>
            </a:extLst>
          </p:cNvPr>
          <p:cNvSpPr/>
          <p:nvPr/>
        </p:nvSpPr>
        <p:spPr>
          <a:xfrm>
            <a:off x="4347860" y="1597402"/>
            <a:ext cx="1338433" cy="3593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(e.g.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475DC81-FAB1-655D-65BE-1DCDBAAD83C1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F5F7EA9-0755-8028-C13C-388935E08ECC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8326759-26F9-BFFB-858A-032A2F1B0E78}"/>
              </a:ext>
            </a:extLst>
          </p:cNvPr>
          <p:cNvSpPr/>
          <p:nvPr/>
        </p:nvSpPr>
        <p:spPr>
          <a:xfrm>
            <a:off x="3277717" y="2397025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0CACCEB8-46F0-26D8-62A7-9D5772576237}"/>
              </a:ext>
            </a:extLst>
          </p:cNvPr>
          <p:cNvSpPr/>
          <p:nvPr/>
        </p:nvSpPr>
        <p:spPr>
          <a:xfrm>
            <a:off x="2433192" y="463998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3ED2BB53-6D2A-940F-EA3C-DEAF83E288C2}"/>
              </a:ext>
            </a:extLst>
          </p:cNvPr>
          <p:cNvCxnSpPr>
            <a:cxnSpLocks/>
            <a:stCxn id="16" idx="2"/>
            <a:endCxn id="40" idx="0"/>
          </p:cNvCxnSpPr>
          <p:nvPr/>
        </p:nvCxnSpPr>
        <p:spPr>
          <a:xfrm flipH="1">
            <a:off x="4025242" y="1956773"/>
            <a:ext cx="991835" cy="440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1E91449A-1175-9027-026C-29EC4BFF116F}"/>
              </a:ext>
            </a:extLst>
          </p:cNvPr>
          <p:cNvSpPr/>
          <p:nvPr/>
        </p:nvSpPr>
        <p:spPr>
          <a:xfrm>
            <a:off x="4191244" y="3600627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69A83A85-1021-7859-167D-D876434F15BA}"/>
              </a:ext>
            </a:extLst>
          </p:cNvPr>
          <p:cNvSpPr/>
          <p:nvPr/>
        </p:nvSpPr>
        <p:spPr>
          <a:xfrm>
            <a:off x="5525327" y="3020611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05235860-99B3-CE69-587A-262F36F30E8E}"/>
              </a:ext>
            </a:extLst>
          </p:cNvPr>
          <p:cNvSpPr/>
          <p:nvPr/>
        </p:nvSpPr>
        <p:spPr>
          <a:xfrm>
            <a:off x="6416957" y="3723645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2E549598-D2D6-F095-E630-3262AEC37A09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272852" y="3422738"/>
            <a:ext cx="891630" cy="300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517306DE-F213-5C77-FA70-1100B3CC6710}"/>
              </a:ext>
            </a:extLst>
          </p:cNvPr>
          <p:cNvSpPr/>
          <p:nvPr/>
        </p:nvSpPr>
        <p:spPr>
          <a:xfrm>
            <a:off x="5525327" y="2263720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varying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endParaRPr lang="de-DE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E04775E1-46DB-08D6-49ED-A70E8AD29B26}"/>
              </a:ext>
            </a:extLst>
          </p:cNvPr>
          <p:cNvSpPr/>
          <p:nvPr/>
        </p:nvSpPr>
        <p:spPr>
          <a:xfrm>
            <a:off x="6664721" y="1453660"/>
            <a:ext cx="1980612" cy="3713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DCC-GARCH/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88589DDD-FBEE-FC4C-E179-701BB71975EA}"/>
              </a:ext>
            </a:extLst>
          </p:cNvPr>
          <p:cNvSpPr/>
          <p:nvPr/>
        </p:nvSpPr>
        <p:spPr>
          <a:xfrm>
            <a:off x="1782943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8C462B88-791A-78F5-C47D-ECA63E83F2BF}"/>
              </a:ext>
            </a:extLst>
          </p:cNvPr>
          <p:cNvSpPr/>
          <p:nvPr/>
        </p:nvSpPr>
        <p:spPr>
          <a:xfrm>
            <a:off x="235522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find a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certain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further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26525E80-B273-8419-5E24-A569F2532229}"/>
              </a:ext>
            </a:extLst>
          </p:cNvPr>
          <p:cNvSpPr/>
          <p:nvPr/>
        </p:nvSpPr>
        <p:spPr>
          <a:xfrm>
            <a:off x="3370570" y="506365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B4799EAB-5EB8-022C-3924-893E8ADC590C}"/>
              </a:ext>
            </a:extLst>
          </p:cNvPr>
          <p:cNvCxnSpPr>
            <a:cxnSpLocks/>
            <a:stCxn id="41" idx="2"/>
            <a:endCxn id="88" idx="0"/>
          </p:cNvCxnSpPr>
          <p:nvPr/>
        </p:nvCxnSpPr>
        <p:spPr>
          <a:xfrm>
            <a:off x="3180717" y="4855989"/>
            <a:ext cx="937378" cy="2076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8C956522-2675-3DB3-04B1-0AC3B5B37609}"/>
              </a:ext>
            </a:extLst>
          </p:cNvPr>
          <p:cNvSpPr/>
          <p:nvPr/>
        </p:nvSpPr>
        <p:spPr>
          <a:xfrm>
            <a:off x="3007921" y="4187210"/>
            <a:ext cx="1667844" cy="2986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(V)ECM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04C39EA-B3E7-994E-DF44-409CD8A1E438}"/>
              </a:ext>
            </a:extLst>
          </p:cNvPr>
          <p:cNvSpPr/>
          <p:nvPr/>
        </p:nvSpPr>
        <p:spPr>
          <a:xfrm>
            <a:off x="7808546" y="3004116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6F2BBB5A-C289-7B03-FB36-97B60A0E8D19}"/>
              </a:ext>
            </a:extLst>
          </p:cNvPr>
          <p:cNvCxnSpPr>
            <a:cxnSpLocks/>
          </p:cNvCxnSpPr>
          <p:nvPr/>
        </p:nvCxnSpPr>
        <p:spPr>
          <a:xfrm flipV="1">
            <a:off x="7020376" y="3188686"/>
            <a:ext cx="788170" cy="16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B778BA2-7747-F4FC-5719-42D2A4F9C654}"/>
              </a:ext>
            </a:extLst>
          </p:cNvPr>
          <p:cNvCxnSpPr>
            <a:cxnSpLocks/>
            <a:stCxn id="16" idx="2"/>
            <a:endCxn id="62" idx="0"/>
          </p:cNvCxnSpPr>
          <p:nvPr/>
        </p:nvCxnSpPr>
        <p:spPr>
          <a:xfrm>
            <a:off x="5017077" y="1956773"/>
            <a:ext cx="1255775" cy="3069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73E449E-932F-BC6A-D180-1E8922763CB1}"/>
              </a:ext>
            </a:extLst>
          </p:cNvPr>
          <p:cNvCxnSpPr>
            <a:cxnSpLocks/>
            <a:endCxn id="57" idx="0"/>
          </p:cNvCxnSpPr>
          <p:nvPr/>
        </p:nvCxnSpPr>
        <p:spPr>
          <a:xfrm>
            <a:off x="6222616" y="2640920"/>
            <a:ext cx="50236" cy="379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C843DD3-104C-974F-87DE-6A2B8DC3E727}"/>
              </a:ext>
            </a:extLst>
          </p:cNvPr>
          <p:cNvCxnSpPr>
            <a:cxnSpLocks/>
            <a:stCxn id="40" idx="2"/>
            <a:endCxn id="56" idx="0"/>
          </p:cNvCxnSpPr>
          <p:nvPr/>
        </p:nvCxnSpPr>
        <p:spPr>
          <a:xfrm>
            <a:off x="4025242" y="2613025"/>
            <a:ext cx="913527" cy="9876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212102E-4669-CC01-18BE-585AC0EC2FA6}"/>
              </a:ext>
            </a:extLst>
          </p:cNvPr>
          <p:cNvSpPr/>
          <p:nvPr/>
        </p:nvSpPr>
        <p:spPr>
          <a:xfrm>
            <a:off x="8501234" y="1702793"/>
            <a:ext cx="1622086" cy="3713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Copula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46C4E46-43C3-C4E9-4E58-F2BCF8CBA394}"/>
              </a:ext>
            </a:extLst>
          </p:cNvPr>
          <p:cNvSpPr/>
          <p:nvPr/>
        </p:nvSpPr>
        <p:spPr>
          <a:xfrm>
            <a:off x="7228485" y="1844441"/>
            <a:ext cx="1622086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Wavelet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D6457D54-FFE3-494A-2EF7-5EC37663B587}"/>
              </a:ext>
            </a:extLst>
          </p:cNvPr>
          <p:cNvCxnSpPr>
            <a:cxnSpLocks/>
            <a:stCxn id="58" idx="1"/>
            <a:endCxn id="56" idx="3"/>
          </p:cNvCxnSpPr>
          <p:nvPr/>
        </p:nvCxnSpPr>
        <p:spPr>
          <a:xfrm flipH="1" flipV="1">
            <a:off x="5686293" y="3864750"/>
            <a:ext cx="730664" cy="599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0268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F7CBD-8332-74F7-363D-54DEF46BA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0487F7-DEA4-8B5E-6491-7069043AED8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0821FED-5F7F-1FE2-BBE8-E06CCD3120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D8CAB03-51FE-1B16-9670-5131825D91B3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7)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87D3387-6A57-9B3C-BB30-E2DF1C88EF9B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5" name="Picture 1" descr="page42image37982480">
            <a:extLst>
              <a:ext uri="{FF2B5EF4-FFF2-40B4-BE49-F238E27FC236}">
                <a16:creationId xmlns:a16="http://schemas.microsoft.com/office/drawing/2014/main" id="{A696F850-3878-6B28-8B4C-A825E7CC2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705100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787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727FD-4D4C-3A23-8D2F-0AA26D9C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5DB04BC-99C3-D773-5405-558DA30BD45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C0F6949-5D6B-651B-A994-4F1D7AB39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35045"/>
              </p:ext>
            </p:extLst>
          </p:nvPr>
        </p:nvGraphicFramePr>
        <p:xfrm>
          <a:off x="1044903" y="831954"/>
          <a:ext cx="10101465" cy="624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75D85585-C098-EB86-CEAD-AC0003C8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827094"/>
              </p:ext>
            </p:extLst>
          </p:nvPr>
        </p:nvGraphicFramePr>
        <p:xfrm>
          <a:off x="1044903" y="160999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6.12e-06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-2.266e-05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-0.419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3DA40883-76BD-EE4B-DBA1-EBBC8770B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524323"/>
              </p:ext>
            </p:extLst>
          </p:nvPr>
        </p:nvGraphicFramePr>
        <p:xfrm>
          <a:off x="1044903" y="2525555"/>
          <a:ext cx="10101465" cy="624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2018-12-31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4FAB7142-E32E-4FA3-802C-4049663A2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745536"/>
              </p:ext>
            </p:extLst>
          </p:nvPr>
        </p:nvGraphicFramePr>
        <p:xfrm>
          <a:off x="1044903" y="3240087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1.768e-05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9.05e-05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-0.971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8021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9E11-DA63-4BE9-8194-23C84F2DB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8A63C09E-6A88-14B1-019B-52C7AFADCDC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07633085-5638-DC50-10C4-7D2E9609E3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738071"/>
              </p:ext>
            </p:extLst>
          </p:nvPr>
        </p:nvGraphicFramePr>
        <p:xfrm>
          <a:off x="948651" y="1191455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6C027B4F-682A-A684-6DFF-4439DDC73C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885574"/>
              </p:ext>
            </p:extLst>
          </p:nvPr>
        </p:nvGraphicFramePr>
        <p:xfrm>
          <a:off x="948650" y="176533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E436F30-2582-ACA4-5233-7082B95ABA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3262130"/>
              </p:ext>
            </p:extLst>
          </p:nvPr>
        </p:nvGraphicFramePr>
        <p:xfrm>
          <a:off x="948651" y="2666210"/>
          <a:ext cx="10142475" cy="145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15812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482427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0341786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E9F7A718-BDA7-D432-6163-449AFD5C7C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430065"/>
              </p:ext>
            </p:extLst>
          </p:nvPr>
        </p:nvGraphicFramePr>
        <p:xfrm>
          <a:off x="948649" y="338262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09BA19BE-9954-F395-AF0D-04520E5D5B59}"/>
              </a:ext>
            </a:extLst>
          </p:cNvPr>
          <p:cNvSpPr/>
          <p:nvPr/>
        </p:nvSpPr>
        <p:spPr>
          <a:xfrm>
            <a:off x="560434" y="1191455"/>
            <a:ext cx="268558" cy="2926275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79C73C5-8148-DB6B-9DC5-2F0D66709768}"/>
              </a:ext>
            </a:extLst>
          </p:cNvPr>
          <p:cNvSpPr/>
          <p:nvPr/>
        </p:nvSpPr>
        <p:spPr>
          <a:xfrm>
            <a:off x="252461" y="2446328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2474057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F8CA-E295-16B0-5747-D3F32C8B1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93D53EE7-432E-1825-43FF-F209A8BB6D7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933D3D6-CC4A-96ED-21C9-AB2209A18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958464"/>
              </p:ext>
            </p:extLst>
          </p:nvPr>
        </p:nvGraphicFramePr>
        <p:xfrm>
          <a:off x="785021" y="1389275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C344C31-F022-4FB8-93CE-14BA42E11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252349"/>
              </p:ext>
            </p:extLst>
          </p:nvPr>
        </p:nvGraphicFramePr>
        <p:xfrm>
          <a:off x="785020" y="196315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29249722-BBAA-3941-69DC-DC74E4E51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29368"/>
              </p:ext>
            </p:extLst>
          </p:nvPr>
        </p:nvGraphicFramePr>
        <p:xfrm>
          <a:off x="785021" y="2864030"/>
          <a:ext cx="10250475" cy="1316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455384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251722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428345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4C027EE-57BE-86AB-4D60-3B56C686D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965531"/>
              </p:ext>
            </p:extLst>
          </p:nvPr>
        </p:nvGraphicFramePr>
        <p:xfrm>
          <a:off x="785019" y="3522110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FDC7C83E-AACC-2485-CB4C-5377FA10AE62}"/>
              </a:ext>
            </a:extLst>
          </p:cNvPr>
          <p:cNvSpPr/>
          <p:nvPr/>
        </p:nvSpPr>
        <p:spPr>
          <a:xfrm>
            <a:off x="396804" y="1389275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A1ADA5-2D13-3A88-C581-1B13B4B0812D}"/>
              </a:ext>
            </a:extLst>
          </p:cNvPr>
          <p:cNvSpPr/>
          <p:nvPr/>
        </p:nvSpPr>
        <p:spPr>
          <a:xfrm>
            <a:off x="88831" y="2644148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3465819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F3E87-9FB7-BCCC-E76E-84F6CEC9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5575104F-1E7F-62E6-1A3E-305BB9B1A6B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BBB95CF9-0D05-0996-0C82-BA8CC807BD2A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4EB66E07-F5D3-FA59-428E-FA5F9B5B944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B84112F-74E5-B870-4975-F4747F9A2170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8239FEC7-76D9-AA20-5031-B7554BA4C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50935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A8E479D-FA60-1120-0320-2CAB2F007C70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C2A18132-1E9D-4C0B-9AAA-2200C042A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51536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63415FF-986F-3F60-EFDA-0B8C488868E5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639379"/>
      </p:ext>
    </p:extLst>
  </p:cSld>
  <p:clrMapOvr>
    <a:masterClrMapping/>
  </p:clrMapOvr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3557</Words>
  <Application>Microsoft Macintosh PowerPoint</Application>
  <PresentationFormat>Benutzerdefiniert</PresentationFormat>
  <Paragraphs>939</Paragraphs>
  <Slides>20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20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20</vt:i4>
      </vt:variant>
    </vt:vector>
  </HeadingPairs>
  <TitlesOfParts>
    <vt:vector size="42" baseType="lpstr">
      <vt:lpstr>AdvOT596495f2</vt:lpstr>
      <vt:lpstr>AdvOT863180fb</vt:lpstr>
      <vt:lpstr>AdvTT5235d5a9</vt:lpstr>
      <vt:lpstr>AdvTT5235d5a9+fb</vt:lpstr>
      <vt:lpstr>AdvTT5843c571</vt:lpstr>
      <vt:lpstr>AdvTT6120e2aa</vt:lpstr>
      <vt:lpstr>Aptos</vt:lpstr>
      <vt:lpstr>Arial</vt:lpstr>
      <vt:lpstr>Calibri</vt:lpstr>
      <vt:lpstr>Cambria Math</vt:lpstr>
      <vt:lpstr>CharisSIL</vt:lpstr>
      <vt:lpstr>Code2000</vt:lpstr>
      <vt:lpstr>MathPackOne</vt:lpstr>
      <vt:lpstr>NotoSansSemiCondensed</vt:lpstr>
      <vt:lpstr>Roboto</vt:lpstr>
      <vt:lpstr>Times</vt:lpstr>
      <vt:lpstr>Times New Roman,Bold</vt:lpstr>
      <vt:lpstr>TimesLTStd</vt:lpstr>
      <vt:lpstr>TimesNewRomanPSMT</vt:lpstr>
      <vt:lpstr>UniversLTStd</vt:lpstr>
      <vt:lpstr>Einfache Folie</vt:lpstr>
      <vt:lpstr>Minimale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366</cp:revision>
  <cp:lastPrinted>1601-01-01T00:00:00Z</cp:lastPrinted>
  <dcterms:created xsi:type="dcterms:W3CDTF">2010-06-02T10:39:48Z</dcterms:created>
  <dcterms:modified xsi:type="dcterms:W3CDTF">2025-10-29T21:17:15Z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