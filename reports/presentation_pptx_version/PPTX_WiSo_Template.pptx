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0A_AE6DAA06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3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5" r:id="rId13"/>
    <p:sldId id="274" r:id="rId14"/>
    <p:sldId id="279" r:id="rId15"/>
    <p:sldId id="263" r:id="rId16"/>
    <p:sldId id="265" r:id="rId17"/>
    <p:sldId id="266" r:id="rId18"/>
    <p:sldId id="276" r:id="rId19"/>
    <p:sldId id="277" r:id="rId20"/>
    <p:sldId id="278" r:id="rId21"/>
    <p:sldId id="280" r:id="rId22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48"/>
    <p:restoredTop sz="83959"/>
  </p:normalViewPr>
  <p:slideViewPr>
    <p:cSldViewPr snapToGrid="0">
      <p:cViewPr varScale="1">
        <p:scale>
          <a:sx n="132" d="100"/>
          <a:sy n="132" d="100"/>
        </p:scale>
        <p:origin x="13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24.10.25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 dirty="0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effects of energy commodities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Perspective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by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 and robert.hennings@stu.uni-kiel.de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https://github.com/RobertHennings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Beginning: Newspaper article about energy + recent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 dirty="0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3"/>
                </a:rPr>
                <a:t>Newspaper article on the price of gasoline and petrol going higher Stock Photo – Alamy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2054915" y="3365625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5252801" y="1184825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 dirty="0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 dirty="0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E2D010-67B4-6208-D9E6-8924D567A34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shock affecting exchange rate through two channels (see impact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867235" y="1365136"/>
            <a:ext cx="1359061" cy="3189911"/>
          </a:xfrm>
          <a:prstGeom prst="bentConnector3">
            <a:avLst>
              <a:gd name="adj1" fmla="val 70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704081" y="2528290"/>
            <a:ext cx="658712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model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447437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941338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oil futures markets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458698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7952" y="2804469"/>
            <a:ext cx="1293331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540054" y="4750963"/>
            <a:ext cx="482740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824074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Crude Oil ETF Volatility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9" y="3450810"/>
            <a:ext cx="419165" cy="63796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639623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02249"/>
              </p:ext>
            </p:extLst>
          </p:nvPr>
        </p:nvGraphicFramePr>
        <p:xfrm>
          <a:off x="1102735" y="1670952"/>
          <a:ext cx="4516837" cy="47660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CBOE </a:t>
                      </a:r>
                      <a:r>
                        <a:rPr lang="de-DE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Crude</a:t>
                      </a: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 Oil ETF </a:t>
                      </a:r>
                      <a:r>
                        <a:rPr lang="de-DE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Volatility</a:t>
                      </a: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Volatility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63226"/>
              </p:ext>
            </p:extLst>
          </p:nvPr>
        </p:nvGraphicFramePr>
        <p:xfrm>
          <a:off x="6640775" y="2144396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34002"/>
              </p:ext>
            </p:extLst>
          </p:nvPr>
        </p:nvGraphicFramePr>
        <p:xfrm>
          <a:off x="6640775" y="3315877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179345"/>
              </p:ext>
            </p:extLst>
          </p:nvPr>
        </p:nvGraphicFramePr>
        <p:xfrm>
          <a:off x="6640775" y="4381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765819"/>
              </p:ext>
            </p:extLst>
          </p:nvPr>
        </p:nvGraphicFramePr>
        <p:xfrm>
          <a:off x="6640775" y="5553039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217824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2144395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412818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966455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5226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3283561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53603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553470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805947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13" y="3469439"/>
            <a:ext cx="1240264" cy="75660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FE0D6D8-413C-B0B5-6FF1-5207E8412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62" y="4038858"/>
            <a:ext cx="1600200" cy="2667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D4DEC-1D2B-19A7-8B63-B85590BD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141" y="3399966"/>
            <a:ext cx="2437821" cy="9055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4D91347-74D8-4128-A021-014DA9906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64" y="4364294"/>
            <a:ext cx="2347226" cy="9897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9EBC807-DA31-5B87-258C-588C9B52FE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9498" y="4396789"/>
            <a:ext cx="1995464" cy="123955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C58E6A0-07CE-9181-EF27-C8A2F0276C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135" y="5338659"/>
            <a:ext cx="2373088" cy="90699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62AE5FB-E160-CC98-6E33-3AF3AFC70F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1057" y="5636341"/>
            <a:ext cx="1733905" cy="843834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Optimization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Optimisation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427238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996431"/>
              </p:ext>
            </p:extLst>
          </p:nvPr>
        </p:nvGraphicFramePr>
        <p:xfrm>
          <a:off x="952055" y="1167391"/>
          <a:ext cx="9791910" cy="95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computation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483884"/>
              </p:ext>
            </p:extLst>
          </p:nvPr>
        </p:nvGraphicFramePr>
        <p:xfrm>
          <a:off x="952054" y="2687143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comparison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64A2696-F1DF-14FD-2228-6A8E9EFF3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206" y="1206776"/>
            <a:ext cx="3890517" cy="184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303180"/>
              </p:ext>
            </p:extLst>
          </p:nvPr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673543"/>
              </p:ext>
            </p:extLst>
          </p:nvPr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A3C992C4-F47A-CFA5-71E6-34B5D15061D6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C28980-9118-818E-B856-0F1D8EE59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147540"/>
              </p:ext>
            </p:extLst>
          </p:nvPr>
        </p:nvGraphicFramePr>
        <p:xfrm>
          <a:off x="1044903" y="2313301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0298AFB-66DD-4DE1-8349-601980CFB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60695"/>
              </p:ext>
            </p:extLst>
          </p:nvPr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94D6D007-B024-3C98-C1BD-F49D30882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205574"/>
              </p:ext>
            </p:extLst>
          </p:nvPr>
        </p:nvGraphicFramePr>
        <p:xfrm>
          <a:off x="1044903" y="3788056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B4A58ED-6494-2AF4-289F-A850D7091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64862"/>
              </p:ext>
            </p:extLst>
          </p:nvPr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6D6EFB97-B742-EE6E-7CD1-36E67FAD87C3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B211AA-7DA5-3037-BABB-AAEA26D32635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94F580B-F8C1-0592-151C-A1D9A547DCD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6152FC1A-019B-D5DE-B30A-F1EEC670E763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C791D11-F34C-EE14-DEB4-EA86AC5F5C3E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591249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903985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2811</Words>
  <Application>Microsoft Macintosh PowerPoint</Application>
  <PresentationFormat>Benutzerdefiniert</PresentationFormat>
  <Paragraphs>880</Paragraphs>
  <Slides>20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20</vt:i4>
      </vt:variant>
    </vt:vector>
  </HeadingPairs>
  <TitlesOfParts>
    <vt:vector size="29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312</cp:revision>
  <cp:lastPrinted>1601-01-01T00:00:00Z</cp:lastPrinted>
  <dcterms:created xsi:type="dcterms:W3CDTF">2010-06-02T10:39:48Z</dcterms:created>
  <dcterms:modified xsi:type="dcterms:W3CDTF">2025-10-25T00:55:34Z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