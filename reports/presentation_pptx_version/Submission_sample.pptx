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6_BDD249D6.xml" ContentType="application/vnd.ms-powerpoint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60" r:id="rId2"/>
    <p:sldId id="257" r:id="rId3"/>
    <p:sldId id="262" r:id="rId4"/>
    <p:sldId id="261" r:id="rId5"/>
    <p:sldId id="264" r:id="rId6"/>
    <p:sldId id="272" r:id="rId7"/>
    <p:sldId id="266" r:id="rId8"/>
    <p:sldId id="267" r:id="rId9"/>
    <p:sldId id="268" r:id="rId10"/>
    <p:sldId id="263" r:id="rId11"/>
    <p:sldId id="273" r:id="rId12"/>
    <p:sldId id="271" r:id="rId13"/>
    <p:sldId id="270" r:id="rId14"/>
    <p:sldId id="282" r:id="rId15"/>
    <p:sldId id="284" r:id="rId16"/>
    <p:sldId id="274" r:id="rId17"/>
    <p:sldId id="276" r:id="rId18"/>
    <p:sldId id="275" r:id="rId19"/>
    <p:sldId id="277" r:id="rId20"/>
    <p:sldId id="278" r:id="rId21"/>
    <p:sldId id="279" r:id="rId22"/>
    <p:sldId id="281" r:id="rId23"/>
    <p:sldId id="280" r:id="rId24"/>
    <p:sldId id="283" r:id="rId25"/>
    <p:sldId id="285" r:id="rId2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40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7F1283B-9318-8C52-9AE9-CC0D21599D56}" name="Josef Fella" initials="JF" userId="S::Josef.Fella@bwedu.de::6858a7a8-cd9c-4faf-b2e1-eb32c4d5325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7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165" autoAdjust="0"/>
  </p:normalViewPr>
  <p:slideViewPr>
    <p:cSldViewPr snapToGrid="0" showGuides="1">
      <p:cViewPr varScale="1">
        <p:scale>
          <a:sx n="100" d="100"/>
          <a:sy n="100" d="100"/>
        </p:scale>
        <p:origin x="912" y="90"/>
      </p:cViewPr>
      <p:guideLst>
        <p:guide orient="horz" pos="2160"/>
        <p:guide pos="440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omments/modernComment_106_BDD249D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85B5E34-1A81-473F-9BEF-08F9D724DE55}" authorId="{E7F1283B-9318-8C52-9AE9-CC0D21599D56}" created="2025-10-22T20:21:28.50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184675286" sldId="262"/>
      <ac:picMk id="5" creationId="{E5E4A688-E4B2-DAD1-0065-32185D5D2205}"/>
    </ac:deMkLst>
    <p188:txBody>
      <a:bodyPr/>
      <a:lstStyle/>
      <a:p>
        <a:r>
          <a:rPr lang="de-DE"/>
          <a:t>Pending: Alles in grau außer EUR/USD in lila für besseren kontrast</a:t>
        </a:r>
      </a:p>
    </p188:txBody>
  </p188:cm>
  <p188:cm id="{532C795D-4ECE-4023-8744-F671E2C74773}" authorId="{E7F1283B-9318-8C52-9AE9-CC0D21599D56}" created="2025-10-22T20:59:53.00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184675286" sldId="262"/>
      <ac:spMk id="7" creationId="{98293484-A40B-5567-0301-887BF972C6A8}"/>
      <ac:txMk cp="0" len="65">
        <ac:context len="66" hash="2292830305"/>
      </ac:txMk>
    </ac:txMkLst>
    <p188:pos x="3447483" y="305110"/>
    <p188:txBody>
      <a:bodyPr/>
      <a:lstStyle/>
      <a:p>
        <a:r>
          <a:rPr lang="de-DE"/>
          <a:t>Generally reference to lecture slides from Reitz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F74424-F199-44C9-997A-85365E3869B4}" type="datetimeFigureOut">
              <a:rPr lang="de-DE" smtClean="0"/>
              <a:t>22.10.2025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25FD50-5915-4C5B-BF2B-657BD9FD5D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9715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´Mental </a:t>
            </a:r>
            <a:r>
              <a:rPr lang="de-DE" dirty="0" err="1"/>
              <a:t>recap</a:t>
            </a:r>
            <a:r>
              <a:rPr lang="de-DE" dirty="0"/>
              <a:t>: </a:t>
            </a:r>
          </a:p>
          <a:p>
            <a:pPr marL="171450" indent="-171450">
              <a:buFontTx/>
              <a:buChar char="-"/>
            </a:pPr>
            <a:r>
              <a:rPr lang="de-DE" dirty="0"/>
              <a:t>PPP = On </a:t>
            </a:r>
            <a:r>
              <a:rPr lang="de-DE" dirty="0" err="1"/>
              <a:t>the</a:t>
            </a:r>
            <a:r>
              <a:rPr lang="de-DE" dirty="0"/>
              <a:t> Long-term </a:t>
            </a:r>
            <a:r>
              <a:rPr lang="de-DE" dirty="0" err="1"/>
              <a:t>prices</a:t>
            </a:r>
            <a:r>
              <a:rPr lang="de-DE" dirty="0"/>
              <a:t> and </a:t>
            </a:r>
            <a:r>
              <a:rPr lang="de-DE" dirty="0" err="1"/>
              <a:t>exchange</a:t>
            </a:r>
            <a:r>
              <a:rPr lang="de-DE" dirty="0"/>
              <a:t> rate </a:t>
            </a:r>
            <a:r>
              <a:rPr lang="de-DE" dirty="0" err="1"/>
              <a:t>are</a:t>
            </a:r>
            <a:r>
              <a:rPr lang="de-DE" dirty="0"/>
              <a:t> in an </a:t>
            </a:r>
            <a:r>
              <a:rPr lang="de-DE" dirty="0" err="1"/>
              <a:t>equilibrium</a:t>
            </a:r>
            <a:r>
              <a:rPr lang="de-DE" dirty="0"/>
              <a:t> (high </a:t>
            </a:r>
            <a:r>
              <a:rPr lang="de-DE" dirty="0" err="1"/>
              <a:t>price</a:t>
            </a:r>
            <a:r>
              <a:rPr lang="de-DE" dirty="0"/>
              <a:t> </a:t>
            </a:r>
            <a:r>
              <a:rPr lang="de-DE" dirty="0" err="1"/>
              <a:t>increase</a:t>
            </a:r>
            <a:r>
              <a:rPr lang="de-DE" dirty="0"/>
              <a:t> in </a:t>
            </a:r>
            <a:r>
              <a:rPr lang="de-DE" dirty="0" err="1"/>
              <a:t>foreign</a:t>
            </a:r>
            <a:r>
              <a:rPr lang="de-DE" dirty="0"/>
              <a:t> </a:t>
            </a:r>
            <a:r>
              <a:rPr lang="de-DE" dirty="0" err="1"/>
              <a:t>country</a:t>
            </a:r>
            <a:r>
              <a:rPr lang="de-DE" dirty="0"/>
              <a:t> = </a:t>
            </a:r>
            <a:r>
              <a:rPr lang="de-DE" dirty="0" err="1"/>
              <a:t>deacrease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exchange</a:t>
            </a:r>
            <a:r>
              <a:rPr lang="de-DE" dirty="0"/>
              <a:t> rate) </a:t>
            </a:r>
            <a:r>
              <a:rPr lang="de-DE" dirty="0">
                <a:sym typeface="Wingdings" panose="05000000000000000000" pitchFamily="2" charset="2"/>
              </a:rPr>
              <a:t> </a:t>
            </a:r>
            <a:r>
              <a:rPr lang="de-DE" dirty="0" err="1">
                <a:sym typeface="Wingdings" panose="05000000000000000000" pitchFamily="2" charset="2"/>
              </a:rPr>
              <a:t>inflation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mechanism</a:t>
            </a:r>
            <a:r>
              <a:rPr lang="de-DE" dirty="0">
                <a:sym typeface="Wingdings" panose="05000000000000000000" pitchFamily="2" charset="2"/>
              </a:rPr>
              <a:t>; </a:t>
            </a:r>
            <a:r>
              <a:rPr lang="de-DE" b="1" dirty="0">
                <a:sym typeface="Wingdings" panose="05000000000000000000" pitchFamily="2" charset="2"/>
              </a:rPr>
              <a:t>BUT</a:t>
            </a:r>
            <a:r>
              <a:rPr lang="de-DE" b="0" dirty="0">
                <a:sym typeface="Wingdings" panose="05000000000000000000" pitchFamily="2" charset="2"/>
              </a:rPr>
              <a:t> </a:t>
            </a:r>
            <a:r>
              <a:rPr lang="de-DE" b="0" dirty="0" err="1">
                <a:sym typeface="Wingdings" panose="05000000000000000000" pitchFamily="2" charset="2"/>
              </a:rPr>
              <a:t>empiric</a:t>
            </a:r>
            <a:r>
              <a:rPr lang="de-DE" b="0" dirty="0">
                <a:sym typeface="Wingdings" panose="05000000000000000000" pitchFamily="2" charset="2"/>
              </a:rPr>
              <a:t> </a:t>
            </a:r>
            <a:r>
              <a:rPr lang="de-DE" b="0" dirty="0" err="1">
                <a:sym typeface="Wingdings" panose="05000000000000000000" pitchFamily="2" charset="2"/>
              </a:rPr>
              <a:t>shows</a:t>
            </a:r>
            <a:r>
              <a:rPr lang="de-DE" b="0" dirty="0">
                <a:sym typeface="Wingdings" panose="05000000000000000000" pitchFamily="2" charset="2"/>
              </a:rPr>
              <a:t> slow </a:t>
            </a:r>
            <a:r>
              <a:rPr lang="de-DE" b="0" dirty="0" err="1">
                <a:sym typeface="Wingdings" panose="05000000000000000000" pitchFamily="2" charset="2"/>
              </a:rPr>
              <a:t>very</a:t>
            </a:r>
            <a:r>
              <a:rPr lang="de-DE" b="0" dirty="0">
                <a:sym typeface="Wingdings" panose="05000000000000000000" pitchFamily="2" charset="2"/>
              </a:rPr>
              <a:t> </a:t>
            </a:r>
            <a:r>
              <a:rPr lang="de-DE" b="0" dirty="0" err="1">
                <a:sym typeface="Wingdings" panose="05000000000000000000" pitchFamily="2" charset="2"/>
              </a:rPr>
              <a:t>convergence</a:t>
            </a:r>
            <a:endParaRPr lang="de-DE" b="0" dirty="0">
              <a:sym typeface="Wingdings" panose="05000000000000000000" pitchFamily="2" charset="2"/>
            </a:endParaRPr>
          </a:p>
          <a:p>
            <a:pPr marL="171450" indent="-171450">
              <a:buFontTx/>
              <a:buChar char="-"/>
            </a:pPr>
            <a:r>
              <a:rPr lang="de-DE" dirty="0"/>
              <a:t>UIP = </a:t>
            </a:r>
            <a:r>
              <a:rPr lang="en-US" dirty="0"/>
              <a:t>A higher foreign interest rate implies an expected </a:t>
            </a:r>
            <a:r>
              <a:rPr lang="en-US" b="1" dirty="0"/>
              <a:t>depreciation of the foreign currency</a:t>
            </a:r>
            <a:r>
              <a:rPr lang="en-US" dirty="0"/>
              <a:t>.</a:t>
            </a:r>
            <a:br>
              <a:rPr lang="en-US" dirty="0"/>
            </a:br>
            <a:r>
              <a:rPr lang="en-US" b="1" dirty="0"/>
              <a:t>In reality:</a:t>
            </a:r>
            <a:r>
              <a:rPr lang="en-US" dirty="0"/>
              <a:t> UIP often fails due to </a:t>
            </a:r>
            <a:r>
              <a:rPr lang="en-US" b="1" dirty="0"/>
              <a:t>risk premia</a:t>
            </a:r>
            <a:r>
              <a:rPr lang="en-US" dirty="0"/>
              <a:t>, </a:t>
            </a:r>
            <a:r>
              <a:rPr lang="en-US" b="1" dirty="0"/>
              <a:t>expectation errors</a:t>
            </a:r>
            <a:r>
              <a:rPr lang="en-US" dirty="0"/>
              <a:t>, and the </a:t>
            </a:r>
            <a:r>
              <a:rPr lang="en-US" b="1" dirty="0"/>
              <a:t>slow PPP adjustment</a:t>
            </a:r>
            <a:r>
              <a:rPr lang="en-US" dirty="0"/>
              <a:t> → the </a:t>
            </a:r>
            <a:r>
              <a:rPr lang="en-US" b="1" dirty="0"/>
              <a:t>UIP puzzle</a:t>
            </a:r>
            <a:r>
              <a:rPr lang="en-US" dirty="0"/>
              <a:t>.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i = </a:t>
            </a:r>
            <a:r>
              <a:rPr lang="de-DE" dirty="0" err="1"/>
              <a:t>domestic</a:t>
            </a:r>
            <a:r>
              <a:rPr lang="de-DE" dirty="0"/>
              <a:t> rate, i* = </a:t>
            </a:r>
            <a:r>
              <a:rPr lang="de-DE" dirty="0" err="1"/>
              <a:t>foreign</a:t>
            </a:r>
            <a:r>
              <a:rPr lang="de-DE" dirty="0"/>
              <a:t> rate, </a:t>
            </a:r>
            <a:r>
              <a:rPr lang="de-DE" dirty="0" err="1"/>
              <a:t>st</a:t>
            </a:r>
            <a:r>
              <a:rPr lang="de-DE" dirty="0"/>
              <a:t> = </a:t>
            </a:r>
            <a:r>
              <a:rPr lang="de-DE" dirty="0" err="1"/>
              <a:t>spot</a:t>
            </a:r>
            <a:r>
              <a:rPr lang="de-DE" dirty="0"/>
              <a:t> </a:t>
            </a:r>
            <a:r>
              <a:rPr lang="de-DE" dirty="0" err="1"/>
              <a:t>exchange</a:t>
            </a:r>
            <a:r>
              <a:rPr lang="de-DE" dirty="0"/>
              <a:t> rate; </a:t>
            </a:r>
            <a:r>
              <a:rPr lang="de-DE" dirty="0" err="1"/>
              <a:t>kinda</a:t>
            </a:r>
            <a:r>
              <a:rPr lang="de-DE" dirty="0"/>
              <a:t> </a:t>
            </a:r>
            <a:r>
              <a:rPr lang="de-DE" dirty="0" err="1"/>
              <a:t>no</a:t>
            </a:r>
            <a:r>
              <a:rPr lang="de-DE" dirty="0"/>
              <a:t>-arbitrage </a:t>
            </a:r>
            <a:r>
              <a:rPr lang="de-DE" dirty="0" err="1"/>
              <a:t>here</a:t>
            </a:r>
            <a:endParaRPr lang="de-DE" dirty="0"/>
          </a:p>
          <a:p>
            <a:pPr marL="171450" indent="-171450">
              <a:buFontTx/>
              <a:buChar char="-"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25FD50-5915-4C5B-BF2B-657BD9FD5D1B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1285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Sources: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1) Own </a:t>
            </a:r>
            <a:r>
              <a:rPr lang="de-DE" dirty="0" err="1"/>
              <a:t>illustration</a:t>
            </a:r>
            <a:r>
              <a:rPr lang="de-DE" dirty="0"/>
              <a:t> </a:t>
            </a:r>
            <a:r>
              <a:rPr lang="de-DE" dirty="0" err="1"/>
              <a:t>based</a:t>
            </a:r>
            <a:r>
              <a:rPr lang="de-DE" dirty="0"/>
              <a:t> on </a:t>
            </a:r>
            <a:r>
              <a:rPr lang="de-DE" sz="1200" dirty="0">
                <a:effectLst/>
                <a:latin typeface="AdvTT5235d5a9"/>
              </a:rPr>
              <a:t>The </a:t>
            </a:r>
            <a:r>
              <a:rPr lang="de-DE" sz="1200" dirty="0" err="1">
                <a:effectLst/>
                <a:latin typeface="AdvTT5235d5a9"/>
              </a:rPr>
              <a:t>relationship</a:t>
            </a:r>
            <a:r>
              <a:rPr lang="de-DE" sz="1200" dirty="0">
                <a:effectLst/>
                <a:latin typeface="AdvTT5235d5a9"/>
              </a:rPr>
              <a:t> </a:t>
            </a:r>
            <a:r>
              <a:rPr lang="de-DE" sz="1200" dirty="0" err="1">
                <a:effectLst/>
                <a:latin typeface="AdvTT5235d5a9"/>
              </a:rPr>
              <a:t>between</a:t>
            </a:r>
            <a:r>
              <a:rPr lang="de-DE" sz="1200" dirty="0">
                <a:effectLst/>
                <a:latin typeface="AdvTT5235d5a9"/>
              </a:rPr>
              <a:t> </a:t>
            </a:r>
            <a:r>
              <a:rPr lang="de-DE" sz="1200" dirty="0" err="1">
                <a:effectLst/>
                <a:latin typeface="AdvTT5235d5a9"/>
              </a:rPr>
              <a:t>oil</a:t>
            </a:r>
            <a:r>
              <a:rPr lang="de-DE" sz="1200" dirty="0">
                <a:effectLst/>
                <a:latin typeface="AdvTT5235d5a9"/>
              </a:rPr>
              <a:t> </a:t>
            </a:r>
            <a:r>
              <a:rPr lang="de-DE" sz="1200" dirty="0" err="1">
                <a:effectLst/>
                <a:latin typeface="AdvTT5235d5a9"/>
              </a:rPr>
              <a:t>prices</a:t>
            </a:r>
            <a:r>
              <a:rPr lang="de-DE" sz="1200" dirty="0">
                <a:effectLst/>
                <a:latin typeface="AdvTT5235d5a9"/>
              </a:rPr>
              <a:t> and </a:t>
            </a:r>
            <a:r>
              <a:rPr lang="de-DE" sz="1200" dirty="0" err="1">
                <a:effectLst/>
                <a:latin typeface="AdvTT5235d5a9"/>
              </a:rPr>
              <a:t>exchange</a:t>
            </a:r>
            <a:r>
              <a:rPr lang="de-DE" sz="1200" dirty="0">
                <a:effectLst/>
                <a:latin typeface="AdvTT5235d5a9"/>
              </a:rPr>
              <a:t> </a:t>
            </a:r>
            <a:r>
              <a:rPr lang="de-DE" sz="1200" dirty="0" err="1">
                <a:effectLst/>
                <a:latin typeface="AdvTT5235d5a9"/>
              </a:rPr>
              <a:t>rates</a:t>
            </a:r>
            <a:r>
              <a:rPr lang="de-DE" sz="1200" dirty="0">
                <a:effectLst/>
                <a:latin typeface="AdvTT5235d5a9"/>
              </a:rPr>
              <a:t>: </a:t>
            </a:r>
            <a:r>
              <a:rPr lang="de-DE" sz="1200" dirty="0" err="1">
                <a:effectLst/>
                <a:latin typeface="AdvTT5235d5a9"/>
              </a:rPr>
              <a:t>Revisiting</a:t>
            </a:r>
            <a:r>
              <a:rPr lang="de-DE" sz="1200" dirty="0">
                <a:effectLst/>
                <a:latin typeface="AdvTT5235d5a9"/>
              </a:rPr>
              <a:t> </a:t>
            </a:r>
            <a:r>
              <a:rPr lang="de-DE" sz="1200" dirty="0" err="1">
                <a:effectLst/>
                <a:latin typeface="AdvTT5235d5a9"/>
              </a:rPr>
              <a:t>theory</a:t>
            </a:r>
            <a:r>
              <a:rPr lang="de-DE" sz="1200" dirty="0">
                <a:effectLst/>
                <a:latin typeface="AdvTT5235d5a9"/>
              </a:rPr>
              <a:t> and </a:t>
            </a:r>
            <a:r>
              <a:rPr lang="de-DE" sz="1200" dirty="0" err="1">
                <a:effectLst/>
                <a:latin typeface="AdvTT5235d5a9"/>
              </a:rPr>
              <a:t>evidence</a:t>
            </a:r>
            <a:r>
              <a:rPr lang="de-DE" sz="1200" dirty="0">
                <a:effectLst/>
                <a:latin typeface="AdvTT5235d5a9"/>
              </a:rPr>
              <a:t> </a:t>
            </a:r>
            <a:endParaRPr lang="de-D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(</a:t>
            </a:r>
            <a:r>
              <a:rPr lang="de-DE" sz="1200" dirty="0">
                <a:solidFill>
                  <a:srgbClr val="0000FF"/>
                </a:solidFill>
                <a:effectLst/>
                <a:latin typeface="AdvTT5235d5a9"/>
              </a:rPr>
              <a:t>Energy Economics 88 (2020) 104772</a:t>
            </a:r>
            <a:r>
              <a:rPr lang="de-DE" dirty="0"/>
              <a:t>), </a:t>
            </a:r>
            <a:r>
              <a:rPr lang="de-DE" dirty="0" err="1"/>
              <a:t>pages</a:t>
            </a:r>
            <a:r>
              <a:rPr lang="de-DE" dirty="0"/>
              <a:t> 3-8.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25FD50-5915-4C5B-BF2B-657BD9FD5D1B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93742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25FD50-5915-4C5B-BF2B-657BD9FD5D1B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43861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Sources:</a:t>
            </a:r>
          </a:p>
          <a:p>
            <a:pPr marL="228600" indent="-228600">
              <a:buAutoNum type="arabicParenR"/>
            </a:pPr>
            <a:r>
              <a:rPr lang="de-DE" dirty="0"/>
              <a:t>https://www.bis.org/ifc/events/6ifcconf/takats_pres.pdf</a:t>
            </a:r>
          </a:p>
          <a:p>
            <a:pPr marL="228600" indent="-228600">
              <a:buAutoNum type="arabicParenR"/>
            </a:pPr>
            <a:r>
              <a:rPr lang="de-DE" dirty="0"/>
              <a:t>https://data.bis.org/topics/EER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25FD50-5915-4C5B-BF2B-657BD9FD5D1B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30101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Sources: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Own </a:t>
            </a:r>
            <a:r>
              <a:rPr lang="de-DE" dirty="0" err="1"/>
              <a:t>illustration</a:t>
            </a:r>
            <a:r>
              <a:rPr lang="de-DE" dirty="0"/>
              <a:t> </a:t>
            </a:r>
            <a:r>
              <a:rPr lang="de-DE" dirty="0" err="1"/>
              <a:t>based</a:t>
            </a:r>
            <a:r>
              <a:rPr lang="de-DE" dirty="0"/>
              <a:t> on </a:t>
            </a:r>
            <a:r>
              <a:rPr lang="de-DE" sz="1200" dirty="0">
                <a:effectLst/>
                <a:latin typeface="AdvTT5235d5a9"/>
              </a:rPr>
              <a:t>The </a:t>
            </a:r>
            <a:r>
              <a:rPr lang="de-DE" sz="1200" dirty="0" err="1">
                <a:effectLst/>
                <a:latin typeface="AdvTT5235d5a9"/>
              </a:rPr>
              <a:t>relationship</a:t>
            </a:r>
            <a:r>
              <a:rPr lang="de-DE" sz="1200" dirty="0">
                <a:effectLst/>
                <a:latin typeface="AdvTT5235d5a9"/>
              </a:rPr>
              <a:t> </a:t>
            </a:r>
            <a:r>
              <a:rPr lang="de-DE" sz="1200" dirty="0" err="1">
                <a:effectLst/>
                <a:latin typeface="AdvTT5235d5a9"/>
              </a:rPr>
              <a:t>between</a:t>
            </a:r>
            <a:r>
              <a:rPr lang="de-DE" sz="1200" dirty="0">
                <a:effectLst/>
                <a:latin typeface="AdvTT5235d5a9"/>
              </a:rPr>
              <a:t> </a:t>
            </a:r>
            <a:r>
              <a:rPr lang="de-DE" sz="1200" dirty="0" err="1">
                <a:effectLst/>
                <a:latin typeface="AdvTT5235d5a9"/>
              </a:rPr>
              <a:t>oil</a:t>
            </a:r>
            <a:r>
              <a:rPr lang="de-DE" sz="1200" dirty="0">
                <a:effectLst/>
                <a:latin typeface="AdvTT5235d5a9"/>
              </a:rPr>
              <a:t> </a:t>
            </a:r>
            <a:r>
              <a:rPr lang="de-DE" sz="1200" dirty="0" err="1">
                <a:effectLst/>
                <a:latin typeface="AdvTT5235d5a9"/>
              </a:rPr>
              <a:t>prices</a:t>
            </a:r>
            <a:r>
              <a:rPr lang="de-DE" sz="1200" dirty="0">
                <a:effectLst/>
                <a:latin typeface="AdvTT5235d5a9"/>
              </a:rPr>
              <a:t> and </a:t>
            </a:r>
            <a:r>
              <a:rPr lang="de-DE" sz="1200" dirty="0" err="1">
                <a:effectLst/>
                <a:latin typeface="AdvTT5235d5a9"/>
              </a:rPr>
              <a:t>exchange</a:t>
            </a:r>
            <a:r>
              <a:rPr lang="de-DE" sz="1200" dirty="0">
                <a:effectLst/>
                <a:latin typeface="AdvTT5235d5a9"/>
              </a:rPr>
              <a:t> </a:t>
            </a:r>
            <a:r>
              <a:rPr lang="de-DE" sz="1200" dirty="0" err="1">
                <a:effectLst/>
                <a:latin typeface="AdvTT5235d5a9"/>
              </a:rPr>
              <a:t>rates</a:t>
            </a:r>
            <a:r>
              <a:rPr lang="de-DE" sz="1200" dirty="0">
                <a:effectLst/>
                <a:latin typeface="AdvTT5235d5a9"/>
              </a:rPr>
              <a:t>: </a:t>
            </a:r>
            <a:r>
              <a:rPr lang="de-DE" sz="1200" dirty="0" err="1">
                <a:effectLst/>
                <a:latin typeface="AdvTT5235d5a9"/>
              </a:rPr>
              <a:t>Revisiting</a:t>
            </a:r>
            <a:r>
              <a:rPr lang="de-DE" sz="1200" dirty="0">
                <a:effectLst/>
                <a:latin typeface="AdvTT5235d5a9"/>
              </a:rPr>
              <a:t> </a:t>
            </a:r>
            <a:r>
              <a:rPr lang="de-DE" sz="1200" dirty="0" err="1">
                <a:effectLst/>
                <a:latin typeface="AdvTT5235d5a9"/>
              </a:rPr>
              <a:t>theory</a:t>
            </a:r>
            <a:r>
              <a:rPr lang="de-DE" sz="1200" dirty="0">
                <a:effectLst/>
                <a:latin typeface="AdvTT5235d5a9"/>
              </a:rPr>
              <a:t> and </a:t>
            </a:r>
            <a:r>
              <a:rPr lang="de-DE" sz="1200" dirty="0" err="1">
                <a:effectLst/>
                <a:latin typeface="AdvTT5235d5a9"/>
              </a:rPr>
              <a:t>evidence</a:t>
            </a:r>
            <a:r>
              <a:rPr lang="de-DE" sz="1200" dirty="0">
                <a:effectLst/>
                <a:latin typeface="AdvTT5235d5a9"/>
              </a:rPr>
              <a:t> </a:t>
            </a:r>
            <a:endParaRPr lang="de-D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(</a:t>
            </a:r>
            <a:r>
              <a:rPr lang="de-DE" sz="1200" dirty="0">
                <a:solidFill>
                  <a:srgbClr val="0000FF"/>
                </a:solidFill>
                <a:effectLst/>
                <a:latin typeface="AdvTT5235d5a9"/>
              </a:rPr>
              <a:t>Energy Economics 88 (2020) 104772</a:t>
            </a:r>
            <a:r>
              <a:rPr lang="de-DE" dirty="0"/>
              <a:t>), </a:t>
            </a:r>
            <a:r>
              <a:rPr lang="de-DE" dirty="0" err="1"/>
              <a:t>pages</a:t>
            </a:r>
            <a:r>
              <a:rPr lang="de-DE" dirty="0"/>
              <a:t> 3-8.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25FD50-5915-4C5B-BF2B-657BD9FD5D1B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83727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Sources: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Own </a:t>
            </a:r>
            <a:r>
              <a:rPr lang="de-DE" dirty="0" err="1"/>
              <a:t>illustration</a:t>
            </a:r>
            <a:r>
              <a:rPr lang="de-DE" dirty="0"/>
              <a:t> </a:t>
            </a:r>
            <a:r>
              <a:rPr lang="de-DE" dirty="0" err="1"/>
              <a:t>based</a:t>
            </a:r>
            <a:r>
              <a:rPr lang="de-DE" dirty="0"/>
              <a:t> on </a:t>
            </a:r>
            <a:r>
              <a:rPr lang="de-DE" sz="1200" dirty="0">
                <a:effectLst/>
                <a:latin typeface="AdvTT5235d5a9"/>
              </a:rPr>
              <a:t>The </a:t>
            </a:r>
            <a:r>
              <a:rPr lang="de-DE" sz="1200" dirty="0" err="1">
                <a:effectLst/>
                <a:latin typeface="AdvTT5235d5a9"/>
              </a:rPr>
              <a:t>relationship</a:t>
            </a:r>
            <a:r>
              <a:rPr lang="de-DE" sz="1200" dirty="0">
                <a:effectLst/>
                <a:latin typeface="AdvTT5235d5a9"/>
              </a:rPr>
              <a:t> </a:t>
            </a:r>
            <a:r>
              <a:rPr lang="de-DE" sz="1200" dirty="0" err="1">
                <a:effectLst/>
                <a:latin typeface="AdvTT5235d5a9"/>
              </a:rPr>
              <a:t>between</a:t>
            </a:r>
            <a:r>
              <a:rPr lang="de-DE" sz="1200" dirty="0">
                <a:effectLst/>
                <a:latin typeface="AdvTT5235d5a9"/>
              </a:rPr>
              <a:t> </a:t>
            </a:r>
            <a:r>
              <a:rPr lang="de-DE" sz="1200" dirty="0" err="1">
                <a:effectLst/>
                <a:latin typeface="AdvTT5235d5a9"/>
              </a:rPr>
              <a:t>oil</a:t>
            </a:r>
            <a:r>
              <a:rPr lang="de-DE" sz="1200" dirty="0">
                <a:effectLst/>
                <a:latin typeface="AdvTT5235d5a9"/>
              </a:rPr>
              <a:t> </a:t>
            </a:r>
            <a:r>
              <a:rPr lang="de-DE" sz="1200" dirty="0" err="1">
                <a:effectLst/>
                <a:latin typeface="AdvTT5235d5a9"/>
              </a:rPr>
              <a:t>prices</a:t>
            </a:r>
            <a:r>
              <a:rPr lang="de-DE" sz="1200" dirty="0">
                <a:effectLst/>
                <a:latin typeface="AdvTT5235d5a9"/>
              </a:rPr>
              <a:t> and </a:t>
            </a:r>
            <a:r>
              <a:rPr lang="de-DE" sz="1200" dirty="0" err="1">
                <a:effectLst/>
                <a:latin typeface="AdvTT5235d5a9"/>
              </a:rPr>
              <a:t>exchange</a:t>
            </a:r>
            <a:r>
              <a:rPr lang="de-DE" sz="1200" dirty="0">
                <a:effectLst/>
                <a:latin typeface="AdvTT5235d5a9"/>
              </a:rPr>
              <a:t> </a:t>
            </a:r>
            <a:r>
              <a:rPr lang="de-DE" sz="1200" dirty="0" err="1">
                <a:effectLst/>
                <a:latin typeface="AdvTT5235d5a9"/>
              </a:rPr>
              <a:t>rates</a:t>
            </a:r>
            <a:r>
              <a:rPr lang="de-DE" sz="1200" dirty="0">
                <a:effectLst/>
                <a:latin typeface="AdvTT5235d5a9"/>
              </a:rPr>
              <a:t>: </a:t>
            </a:r>
            <a:r>
              <a:rPr lang="de-DE" sz="1200" dirty="0" err="1">
                <a:effectLst/>
                <a:latin typeface="AdvTT5235d5a9"/>
              </a:rPr>
              <a:t>Revisiting</a:t>
            </a:r>
            <a:r>
              <a:rPr lang="de-DE" sz="1200" dirty="0">
                <a:effectLst/>
                <a:latin typeface="AdvTT5235d5a9"/>
              </a:rPr>
              <a:t> </a:t>
            </a:r>
            <a:r>
              <a:rPr lang="de-DE" sz="1200" dirty="0" err="1">
                <a:effectLst/>
                <a:latin typeface="AdvTT5235d5a9"/>
              </a:rPr>
              <a:t>theory</a:t>
            </a:r>
            <a:r>
              <a:rPr lang="de-DE" sz="1200" dirty="0">
                <a:effectLst/>
                <a:latin typeface="AdvTT5235d5a9"/>
              </a:rPr>
              <a:t> and </a:t>
            </a:r>
            <a:r>
              <a:rPr lang="de-DE" sz="1200" dirty="0" err="1">
                <a:effectLst/>
                <a:latin typeface="AdvTT5235d5a9"/>
              </a:rPr>
              <a:t>evidence</a:t>
            </a:r>
            <a:r>
              <a:rPr lang="de-DE" sz="1200" dirty="0">
                <a:effectLst/>
                <a:latin typeface="AdvTT5235d5a9"/>
              </a:rPr>
              <a:t> </a:t>
            </a:r>
            <a:endParaRPr lang="de-D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(</a:t>
            </a:r>
            <a:r>
              <a:rPr lang="de-DE" sz="1200" dirty="0">
                <a:solidFill>
                  <a:srgbClr val="0000FF"/>
                </a:solidFill>
                <a:effectLst/>
                <a:latin typeface="AdvTT5235d5a9"/>
              </a:rPr>
              <a:t>Energy Economics 88 (2020) 104772</a:t>
            </a:r>
            <a:r>
              <a:rPr lang="de-DE" dirty="0"/>
              <a:t>), </a:t>
            </a:r>
            <a:r>
              <a:rPr lang="de-DE" dirty="0" err="1"/>
              <a:t>pages</a:t>
            </a:r>
            <a:r>
              <a:rPr lang="de-DE" dirty="0"/>
              <a:t> 3-8.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25FD50-5915-4C5B-BF2B-657BD9FD5D1B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5584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983780-FE67-1012-64FE-33E48F03C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C028293-D7FC-B251-7216-7C3BDE2F00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84B6402-B758-7A17-8986-92352E60D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E6C86-5984-4F66-9E08-9B6251D34A21}" type="datetimeFigureOut">
              <a:rPr lang="de-DE" smtClean="0"/>
              <a:t>22.10.2025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48D3DB-2A12-FAD1-2903-DDFF57ECA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A3B3E4-4B58-5F90-1CC8-F979585B2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CA768-332A-4B3E-9EF3-45B801CA7E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67710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BC4FF6-C5E8-EC1D-DA87-999CE450CF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"/>
            <a:ext cx="12192000" cy="768592"/>
          </a:xfrm>
          <a:solidFill>
            <a:srgbClr val="00677C"/>
          </a:solidFill>
        </p:spPr>
        <p:txBody>
          <a:bodyPr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 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D82C8F-4798-58EA-5507-CEB3EA8F2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315" y="914399"/>
            <a:ext cx="11541369" cy="529614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226C728-01D1-C8C0-614E-9C36E9EF9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E6C86-5984-4F66-9E08-9B6251D34A21}" type="datetimeFigureOut">
              <a:rPr lang="de-DE" smtClean="0"/>
              <a:t>22.10.2025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368AE55-4DF1-56BF-5EF3-49D8CE828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53B0D79-577F-B8A3-8208-56A088FF4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CA768-332A-4B3E-9EF3-45B801CA7E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85694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095D33-D0CF-B350-B67F-6D81D57FA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02697F2-FC1F-8A77-58C3-CB4FF7973A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C8814E-2315-DA39-9D6D-692EC4681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E6C86-5984-4F66-9E08-9B6251D34A21}" type="datetimeFigureOut">
              <a:rPr lang="de-DE" smtClean="0"/>
              <a:t>22.10.2025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3BC5B7-AE58-3FB3-F6EC-D10AFC26D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14EC22-7431-5C94-A93F-131137E5E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CA768-332A-4B3E-9EF3-45B801CA7E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53958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C60C45-F54D-1A90-4EA6-7441F7C04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6DD151-EB4A-2E2A-1E8B-C4331A3182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9E2272C-E944-7417-78B6-9393503CF9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E07B983-BF9C-B40E-E52B-39526E133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E6C86-5984-4F66-9E08-9B6251D34A21}" type="datetimeFigureOut">
              <a:rPr lang="de-DE" smtClean="0"/>
              <a:t>22.10.2025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6932B2F-BBA0-66C2-B2BE-A79707E05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F0AF498-81A1-AB32-0003-5BB0A15CA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CA768-332A-4B3E-9EF3-45B801CA7E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91618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84D4E6-34F7-69CE-72D6-598122A99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CF76CA0-20A0-90EB-9AF4-8BA0164B8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20D73D3-A30A-27E0-DE0C-943043664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F0B1F8F-52A9-BF15-7A15-1456CC627F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F2D71C7-7E03-86FA-F37B-803B129EA5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07693CD-0B0B-741D-892C-DC8E1A9DB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E6C86-5984-4F66-9E08-9B6251D34A21}" type="datetimeFigureOut">
              <a:rPr lang="de-DE" smtClean="0"/>
              <a:t>22.10.2025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60C81DB-C9D7-656A-3F52-DD7CB48A7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0FB459C-C580-7236-E53D-0774B229A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CA768-332A-4B3E-9EF3-45B801CA7E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0799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AAEE99-3A9C-2715-DA39-960703B25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D6C703F-9A5B-3B5D-0DAB-7523F9ABE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E6C86-5984-4F66-9E08-9B6251D34A21}" type="datetimeFigureOut">
              <a:rPr lang="de-DE" smtClean="0"/>
              <a:t>22.10.2025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D3C2C6F-8C0E-25A1-5C18-475E1A47A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24E0607-B20A-38D0-6F8B-CDB11FFB3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CA768-332A-4B3E-9EF3-45B801CA7E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6601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F2FA372-5BB3-728E-7E1C-7A66F3C0E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E6C86-5984-4F66-9E08-9B6251D34A21}" type="datetimeFigureOut">
              <a:rPr lang="de-DE" smtClean="0"/>
              <a:t>22.10.2025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1384C52-300C-27F9-D75F-2E7C3E7D2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0171B00-FAAB-A3E6-9778-40E234069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CA768-332A-4B3E-9EF3-45B801CA7E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4708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7391BE-7BB7-4263-E404-4120F55EA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5F7E698-5699-FFE2-8252-D3F747EB3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BB57EE1-C8FC-458D-9F06-1498703AD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27CB6B1-B86B-C842-C846-6625D62DC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E6C86-5984-4F66-9E08-9B6251D34A21}" type="datetimeFigureOut">
              <a:rPr lang="de-DE" smtClean="0"/>
              <a:t>22.10.2025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3BBE920-4AC4-C4D4-945D-D5E207DE4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44941EE-1C06-96D5-2B7D-8756DDFA4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CA768-332A-4B3E-9EF3-45B801CA7E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989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EB2F07-2D99-48F1-F945-C7F8F36C1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D855A97-CC8B-642B-BE1C-47F601C646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492D511-72A6-C885-BC90-692C14FE38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E6E0513-7060-F736-3FFA-6C5C3B626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E6C86-5984-4F66-9E08-9B6251D34A21}" type="datetimeFigureOut">
              <a:rPr lang="de-DE" smtClean="0"/>
              <a:t>22.10.2025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D9AF7EE-AA49-2E28-7F93-79C317F5B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67BA7CC-B021-192E-DF47-F6ACDA7E5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CA768-332A-4B3E-9EF3-45B801CA7E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0555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0C9666-4FE8-9DF8-B2A9-2EC390495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14F00B2-3CEC-97A6-7937-1EB2D33D37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6B2BFF6-559F-87EB-8B98-911196627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E6C86-5984-4F66-9E08-9B6251D34A21}" type="datetimeFigureOut">
              <a:rPr lang="de-DE" smtClean="0"/>
              <a:t>22.10.2025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B0881F6-B994-40CF-45DB-9EEBF0CEE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EB48F6-E5E1-82B3-313E-534B1BC8F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CA768-332A-4B3E-9EF3-45B801CA7E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2215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9DD0B2B-A1F6-6AF0-0254-76E626D300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B93E98F-8EAB-C720-32D3-EA74E090C6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410265-E11A-44D9-C9D3-5C2BB9476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E6C86-5984-4F66-9E08-9B6251D34A21}" type="datetimeFigureOut">
              <a:rPr lang="de-DE" smtClean="0"/>
              <a:t>22.10.2025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3D11FDD-F196-62CA-025E-84684208F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DB8EBE2-EB87-A44D-E161-F382DEF6F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CA768-332A-4B3E-9EF3-45B801CA7E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89721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inimal 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8799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41">
          <p15:clr>
            <a:srgbClr val="FBAE40"/>
          </p15:clr>
        </p15:guide>
        <p15:guide id="2" pos="362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184BB34-20EF-2F12-67BF-C0CCCB725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3ABD0F9-8FEF-0438-0C65-E69AFA967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442C77B-CD61-8CE6-0BD2-1B46A15A43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7E6C86-5984-4F66-9E08-9B6251D34A21}" type="datetimeFigureOut">
              <a:rPr lang="de-DE" smtClean="0"/>
              <a:t>22.10.2025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F8FEFB0-3EB0-88D6-E842-924C490FE3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31E6C68-CAB1-7E21-ECD1-BC915242D9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4CA768-332A-4B3E-9EF3-45B801CA7E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0380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18/10/relationships/comments" Target="../comments/modernComment_106_BDD249D6.xm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Universität Kiel Logo PNG vector in SVG, PDF, AI, CDR format">
            <a:extLst>
              <a:ext uri="{FF2B5EF4-FFF2-40B4-BE49-F238E27FC236}">
                <a16:creationId xmlns:a16="http://schemas.microsoft.com/office/drawing/2014/main" id="{457D998D-DF6A-13BD-1747-7037AF90C2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1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72" t="4343" r="20103" b="3488"/>
          <a:stretch>
            <a:fillRect/>
          </a:stretch>
        </p:blipFill>
        <p:spPr bwMode="auto">
          <a:xfrm>
            <a:off x="8077201" y="2832293"/>
            <a:ext cx="6106890" cy="7121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AA6815A2-BE6E-C95F-CE44-FF975709C775}"/>
              </a:ext>
            </a:extLst>
          </p:cNvPr>
          <p:cNvSpPr/>
          <p:nvPr/>
        </p:nvSpPr>
        <p:spPr>
          <a:xfrm>
            <a:off x="-63168" y="-85912"/>
            <a:ext cx="12255168" cy="9518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905" dirty="0"/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77082D84-2C49-30CC-4911-2F058C683FB8}"/>
              </a:ext>
            </a:extLst>
          </p:cNvPr>
          <p:cNvSpPr/>
          <p:nvPr/>
        </p:nvSpPr>
        <p:spPr>
          <a:xfrm>
            <a:off x="195725" y="880500"/>
            <a:ext cx="11800551" cy="2135891"/>
          </a:xfrm>
          <a:prstGeom prst="roundRect">
            <a:avLst/>
          </a:prstGeom>
          <a:solidFill>
            <a:srgbClr val="00677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Non-linear effects of energy commodities on the EUR/USD rate: An Oil and Gas Perspective on UIP.</a:t>
            </a:r>
            <a:endParaRPr lang="de-DE" sz="1482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DE" sz="1482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DE" sz="1482" dirty="0">
                <a:latin typeface="Arial" panose="020B0604020202020204" pitchFamily="34" charset="0"/>
                <a:cs typeface="Arial" panose="020B0604020202020204" pitchFamily="34" charset="0"/>
              </a:rPr>
              <a:t>Seminar in Applied Financial Economics </a:t>
            </a:r>
            <a:r>
              <a:rPr lang="de-DE" sz="1482" dirty="0" err="1"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de-DE" sz="1482" dirty="0">
                <a:latin typeface="Arial" panose="020B0604020202020204" pitchFamily="34" charset="0"/>
                <a:cs typeface="Arial" panose="020B0604020202020204" pitchFamily="34" charset="0"/>
              </a:rPr>
              <a:t> Professor Reitz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F1E9C5B-2C8E-C3A1-C2CE-19D641FBBF70}"/>
              </a:ext>
            </a:extLst>
          </p:cNvPr>
          <p:cNvSpPr/>
          <p:nvPr/>
        </p:nvSpPr>
        <p:spPr>
          <a:xfrm>
            <a:off x="2520888" y="3026655"/>
            <a:ext cx="7150221" cy="30285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Josef Fella and Robert Hennings</a:t>
            </a:r>
          </a:p>
          <a:p>
            <a:pPr algn="ctr"/>
            <a:endParaRPr lang="de-DE" sz="1905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DE" sz="1905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de-DE" sz="169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Christian-Albrechts-University </a:t>
            </a:r>
            <a:r>
              <a:rPr lang="de-DE" sz="1693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DE" sz="169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Kiel</a:t>
            </a:r>
          </a:p>
          <a:p>
            <a:pPr algn="ctr">
              <a:lnSpc>
                <a:spcPct val="150000"/>
              </a:lnSpc>
            </a:pPr>
            <a:r>
              <a:rPr lang="de-DE" sz="1693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josef.fella@stu.uni-kiel.de and robert.hennings@stu.uni-kiel.de</a:t>
            </a:r>
          </a:p>
          <a:p>
            <a:pPr algn="ctr">
              <a:lnSpc>
                <a:spcPct val="150000"/>
              </a:lnSpc>
            </a:pPr>
            <a:r>
              <a:rPr lang="de-DE" sz="1693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GitHub: https://github.com/RobertHennings</a:t>
            </a:r>
          </a:p>
          <a:p>
            <a:pPr algn="ctr"/>
            <a:endParaRPr lang="de-DE" sz="1905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DE" sz="1905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Kiel - 14.11.2025</a:t>
            </a:r>
          </a:p>
        </p:txBody>
      </p:sp>
      <p:pic>
        <p:nvPicPr>
          <p:cNvPr id="7" name="Grafik 6" descr="Ein Bild, das Text, Schrift, Screenshot, Grafiken enthält.&#10;&#10;Automatisch generierte Beschreibung">
            <a:extLst>
              <a:ext uri="{FF2B5EF4-FFF2-40B4-BE49-F238E27FC236}">
                <a16:creationId xmlns:a16="http://schemas.microsoft.com/office/drawing/2014/main" id="{0BDF84F9-AB7F-07DD-90C2-3A137E12B4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4" y="-85912"/>
            <a:ext cx="1532522" cy="766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66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4DAEA8-0EC2-6B54-79B3-3CCFC2C8BFB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677C"/>
          </a:solidFill>
        </p:spPr>
        <p:txBody>
          <a:bodyPr/>
          <a:lstStyle/>
          <a:p>
            <a:r>
              <a:rPr lang="de-DE" dirty="0"/>
              <a:t> Outline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7FCC41-D1C4-7299-C07B-E13A5F16B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de-DE" dirty="0"/>
              <a:t>Modern Energy </a:t>
            </a:r>
            <a:r>
              <a:rPr lang="de-DE" dirty="0" err="1"/>
              <a:t>Commodites</a:t>
            </a:r>
            <a:endParaRPr lang="de-DE" dirty="0"/>
          </a:p>
          <a:p>
            <a:pPr marL="514350" indent="-514350">
              <a:buAutoNum type="arabicPeriod"/>
            </a:pPr>
            <a:r>
              <a:rPr lang="de-DE" dirty="0"/>
              <a:t>Research Hypothesis</a:t>
            </a:r>
          </a:p>
          <a:p>
            <a:pPr marL="514350" indent="-514350">
              <a:buAutoNum type="arabicPeriod"/>
            </a:pPr>
            <a:r>
              <a:rPr lang="de-DE" dirty="0" err="1"/>
              <a:t>Literature</a:t>
            </a:r>
            <a:endParaRPr lang="de-DE" dirty="0"/>
          </a:p>
          <a:p>
            <a:pPr marL="514350" indent="-514350">
              <a:buAutoNum type="arabicPeriod"/>
            </a:pPr>
            <a:r>
              <a:rPr lang="de-DE" dirty="0" err="1"/>
              <a:t>Theoretical</a:t>
            </a:r>
            <a:r>
              <a:rPr lang="de-DE" dirty="0"/>
              <a:t> Framework</a:t>
            </a:r>
          </a:p>
          <a:p>
            <a:pPr marL="514350" indent="-514350">
              <a:buAutoNum type="arabicPeriod"/>
            </a:pPr>
            <a:r>
              <a:rPr lang="de-DE" dirty="0" err="1"/>
              <a:t>Methodology</a:t>
            </a:r>
            <a:r>
              <a:rPr lang="de-DE" dirty="0"/>
              <a:t> </a:t>
            </a:r>
            <a:r>
              <a:rPr lang="de-DE" dirty="0" err="1"/>
              <a:t>Overview</a:t>
            </a:r>
            <a:endParaRPr lang="de-DE" dirty="0"/>
          </a:p>
          <a:p>
            <a:pPr marL="514350" indent="-514350">
              <a:buAutoNum type="arabicPeriod"/>
            </a:pPr>
            <a:r>
              <a:rPr lang="de-DE" dirty="0"/>
              <a:t>Data</a:t>
            </a:r>
          </a:p>
          <a:p>
            <a:pPr marL="514350" indent="-514350">
              <a:buAutoNum type="arabicPeriod"/>
            </a:pPr>
            <a:r>
              <a:rPr lang="de-DE" dirty="0" err="1"/>
              <a:t>Results</a:t>
            </a:r>
            <a:endParaRPr lang="de-DE" dirty="0"/>
          </a:p>
          <a:p>
            <a:pPr marL="514350" indent="-514350">
              <a:buAutoNum type="arabicPeriod"/>
            </a:pPr>
            <a:r>
              <a:rPr lang="de-DE" dirty="0" err="1"/>
              <a:t>Conclusion</a:t>
            </a:r>
            <a:r>
              <a:rPr lang="de-DE" dirty="0"/>
              <a:t> and </a:t>
            </a:r>
            <a:r>
              <a:rPr lang="de-DE" dirty="0" err="1"/>
              <a:t>Discussion</a:t>
            </a:r>
            <a:r>
              <a:rPr lang="de-D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39521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F1A08CE3-8E7A-3D7B-A2C6-CBE2C3950651}"/>
              </a:ext>
            </a:extLst>
          </p:cNvPr>
          <p:cNvSpPr/>
          <p:nvPr/>
        </p:nvSpPr>
        <p:spPr>
          <a:xfrm>
            <a:off x="6890994" y="3451413"/>
            <a:ext cx="5062194" cy="25193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B701369-668F-E7DE-5135-7ED64AFAC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 </a:t>
            </a:r>
            <a:r>
              <a:rPr lang="de-DE" dirty="0" err="1"/>
              <a:t>Recap</a:t>
            </a:r>
            <a:r>
              <a:rPr lang="de-DE" dirty="0"/>
              <a:t>: The PPP puzzle, </a:t>
            </a:r>
            <a:r>
              <a:rPr lang="de-DE" dirty="0" err="1"/>
              <a:t>Uncovered</a:t>
            </a:r>
            <a:r>
              <a:rPr lang="de-DE" dirty="0"/>
              <a:t> Interest </a:t>
            </a:r>
            <a:r>
              <a:rPr lang="de-DE" dirty="0" err="1"/>
              <a:t>Partity</a:t>
            </a:r>
            <a:r>
              <a:rPr lang="de-DE" dirty="0"/>
              <a:t> &amp; Regime </a:t>
            </a:r>
            <a:r>
              <a:rPr lang="de-DE" dirty="0" err="1"/>
              <a:t>switching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5E4A688-E4B2-DAD1-0065-32185D5D22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70" y="1123123"/>
            <a:ext cx="6495525" cy="4847604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98293484-A40B-5567-0301-887BF972C6A8}"/>
              </a:ext>
            </a:extLst>
          </p:cNvPr>
          <p:cNvSpPr txBox="1"/>
          <p:nvPr/>
        </p:nvSpPr>
        <p:spPr>
          <a:xfrm>
            <a:off x="7767688" y="1534707"/>
            <a:ext cx="3497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Dynamic </a:t>
            </a:r>
            <a:r>
              <a:rPr lang="de-DE" dirty="0" err="1"/>
              <a:t>equilibrium</a:t>
            </a:r>
            <a:r>
              <a:rPr lang="de-DE" dirty="0"/>
              <a:t> </a:t>
            </a:r>
            <a:r>
              <a:rPr lang="de-DE" dirty="0" err="1"/>
              <a:t>condition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Uncovered</a:t>
            </a:r>
            <a:r>
              <a:rPr lang="de-DE" dirty="0"/>
              <a:t> Interest Parity (UIP):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5F846FC-9286-0D09-4F1B-1A42B13F94F5}"/>
              </a:ext>
            </a:extLst>
          </p:cNvPr>
          <p:cNvSpPr txBox="1"/>
          <p:nvPr/>
        </p:nvSpPr>
        <p:spPr>
          <a:xfrm>
            <a:off x="7191175" y="3543746"/>
            <a:ext cx="4461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Markov </a:t>
            </a:r>
            <a:r>
              <a:rPr lang="de-DE" dirty="0" err="1"/>
              <a:t>switching</a:t>
            </a:r>
            <a:r>
              <a:rPr lang="de-DE" dirty="0"/>
              <a:t> (Engel &amp; Hamilton 1990)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3C262174-4EF3-F08B-CCD8-1D4797DBE8DA}"/>
                  </a:ext>
                </a:extLst>
              </p:cNvPr>
              <p:cNvSpPr txBox="1"/>
              <p:nvPr/>
            </p:nvSpPr>
            <p:spPr>
              <a:xfrm>
                <a:off x="8407561" y="2181038"/>
                <a:ext cx="189019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3C262174-4EF3-F08B-CCD8-1D4797DBE8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7561" y="2181038"/>
                <a:ext cx="1890197" cy="276999"/>
              </a:xfrm>
              <a:prstGeom prst="rect">
                <a:avLst/>
              </a:prstGeom>
              <a:blipFill>
                <a:blip r:embed="rId5"/>
                <a:stretch>
                  <a:fillRect l="-2581" b="-1555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leichschenkliges Dreieck 10">
            <a:extLst>
              <a:ext uri="{FF2B5EF4-FFF2-40B4-BE49-F238E27FC236}">
                <a16:creationId xmlns:a16="http://schemas.microsoft.com/office/drawing/2014/main" id="{B4B7112D-4D6C-A85A-CBD6-A2F7757B3839}"/>
              </a:ext>
            </a:extLst>
          </p:cNvPr>
          <p:cNvSpPr/>
          <p:nvPr/>
        </p:nvSpPr>
        <p:spPr>
          <a:xfrm rot="10800000">
            <a:off x="8594375" y="3010596"/>
            <a:ext cx="1516567" cy="20738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6BE3E254-A574-55A7-54BA-6380C32A1557}"/>
                  </a:ext>
                </a:extLst>
              </p:cNvPr>
              <p:cNvSpPr txBox="1"/>
              <p:nvPr/>
            </p:nvSpPr>
            <p:spPr>
              <a:xfrm>
                <a:off x="7809321" y="2539226"/>
                <a:ext cx="34140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de-DE" dirty="0"/>
                  <a:t>With </a:t>
                </a:r>
                <a14:m>
                  <m:oMath xmlns:m="http://schemas.openxmlformats.org/officeDocument/2006/math">
                    <m:r>
                      <a:rPr lang="de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6BE3E254-A574-55A7-54BA-6380C32A15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9321" y="2539226"/>
                <a:ext cx="3414076" cy="276999"/>
              </a:xfrm>
              <a:prstGeom prst="rect">
                <a:avLst/>
              </a:prstGeom>
              <a:blipFill>
                <a:blip r:embed="rId6"/>
                <a:stretch>
                  <a:fillRect l="-4107" t="-26667" r="-357" b="-5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feld 12">
            <a:extLst>
              <a:ext uri="{FF2B5EF4-FFF2-40B4-BE49-F238E27FC236}">
                <a16:creationId xmlns:a16="http://schemas.microsoft.com/office/drawing/2014/main" id="{434EC4EF-76FC-4D35-FBD8-5922616F11F4}"/>
              </a:ext>
            </a:extLst>
          </p:cNvPr>
          <p:cNvSpPr txBox="1"/>
          <p:nvPr/>
        </p:nvSpPr>
        <p:spPr>
          <a:xfrm>
            <a:off x="7678132" y="5367606"/>
            <a:ext cx="36764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But 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b="1" dirty="0">
                <a:solidFill>
                  <a:srgbClr val="00677C"/>
                </a:solidFill>
              </a:rPr>
              <a:t>different </a:t>
            </a:r>
            <a:r>
              <a:rPr lang="de-DE" b="1" dirty="0" err="1">
                <a:solidFill>
                  <a:srgbClr val="00677C"/>
                </a:solidFill>
              </a:rPr>
              <a:t>cluserting</a:t>
            </a:r>
            <a:r>
              <a:rPr lang="de-DE" b="1" dirty="0">
                <a:solidFill>
                  <a:srgbClr val="00677C"/>
                </a:solidFill>
              </a:rPr>
              <a:t> </a:t>
            </a:r>
            <a:r>
              <a:rPr lang="de-DE" dirty="0"/>
              <a:t>and</a:t>
            </a:r>
            <a:r>
              <a:rPr lang="de-DE" b="1" dirty="0">
                <a:solidFill>
                  <a:srgbClr val="00677C"/>
                </a:solidFill>
              </a:rPr>
              <a:t> additional variables?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8D6384BA-01E1-B445-FA00-E5EF46251F7B}"/>
                  </a:ext>
                </a:extLst>
              </p:cNvPr>
              <p:cNvSpPr txBox="1"/>
              <p:nvPr/>
            </p:nvSpPr>
            <p:spPr>
              <a:xfrm>
                <a:off x="7226749" y="4108310"/>
                <a:ext cx="40711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𝑅𝑒𝑔𝑖𝑚𝑒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1: 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8D6384BA-01E1-B445-FA00-E5EF46251F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6749" y="4108310"/>
                <a:ext cx="4071114" cy="276999"/>
              </a:xfrm>
              <a:prstGeom prst="rect">
                <a:avLst/>
              </a:prstGeom>
              <a:blipFill>
                <a:blip r:embed="rId7"/>
                <a:stretch>
                  <a:fillRect t="-2222" r="-1796" b="-3555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6C836FE9-1813-6FD8-793C-2D3332B1F440}"/>
                  </a:ext>
                </a:extLst>
              </p:cNvPr>
              <p:cNvSpPr txBox="1"/>
              <p:nvPr/>
            </p:nvSpPr>
            <p:spPr>
              <a:xfrm>
                <a:off x="7226749" y="4664902"/>
                <a:ext cx="40764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𝑅𝑒𝑔𝑖𝑚𝑒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2: 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6C836FE9-1813-6FD8-793C-2D3332B1F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6749" y="4664902"/>
                <a:ext cx="4076437" cy="276999"/>
              </a:xfrm>
              <a:prstGeom prst="rect">
                <a:avLst/>
              </a:prstGeom>
              <a:blipFill>
                <a:blip r:embed="rId8"/>
                <a:stretch>
                  <a:fillRect t="-2174" r="-1794" b="-3260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467528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F5A9D5-4D92-BA4B-6158-606B229D2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 </a:t>
            </a:r>
            <a:r>
              <a:rPr lang="de-DE" dirty="0" err="1"/>
              <a:t>Linkage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Energy Commodities and Exchange Rates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957BAAC-ECCE-EE76-E149-7701BDB51883}"/>
              </a:ext>
            </a:extLst>
          </p:cNvPr>
          <p:cNvSpPr/>
          <p:nvPr/>
        </p:nvSpPr>
        <p:spPr>
          <a:xfrm>
            <a:off x="348792" y="1074656"/>
            <a:ext cx="4977352" cy="23543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“This has led some to suggest that an </a:t>
            </a:r>
            <a:r>
              <a:rPr lang="en-US" b="1" dirty="0">
                <a:solidFill>
                  <a:schemeClr val="tx1"/>
                </a:solidFill>
              </a:rPr>
              <a:t>unidentified real factor</a:t>
            </a:r>
            <a:r>
              <a:rPr lang="en-US" dirty="0">
                <a:solidFill>
                  <a:schemeClr val="tx1"/>
                </a:solidFill>
              </a:rPr>
              <a:t> may be causing </a:t>
            </a:r>
            <a:r>
              <a:rPr lang="en-US" b="1" dirty="0">
                <a:solidFill>
                  <a:schemeClr val="tx1"/>
                </a:solidFill>
              </a:rPr>
              <a:t>persistent shifts</a:t>
            </a:r>
            <a:r>
              <a:rPr lang="en-US" dirty="0">
                <a:solidFill>
                  <a:schemeClr val="tx1"/>
                </a:solidFill>
              </a:rPr>
              <a:t> in real equilibrium exchange rates.”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~ R.A. Amano, S. van Norden1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6673DA6B-3AE6-B0A4-4C22-9BB2ADC3A2B1}"/>
              </a:ext>
            </a:extLst>
          </p:cNvPr>
          <p:cNvSpPr/>
          <p:nvPr/>
        </p:nvSpPr>
        <p:spPr>
          <a:xfrm>
            <a:off x="3305665" y="3717781"/>
            <a:ext cx="4977352" cy="23543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“This may in fact be the case or it is also possible that the </a:t>
            </a:r>
            <a:r>
              <a:rPr lang="en-US" b="1" dirty="0">
                <a:solidFill>
                  <a:schemeClr val="tx1"/>
                </a:solidFill>
              </a:rPr>
              <a:t>relationship </a:t>
            </a:r>
            <a:r>
              <a:rPr lang="en-US" dirty="0">
                <a:solidFill>
                  <a:schemeClr val="tx1"/>
                </a:solidFill>
              </a:rPr>
              <a:t>between </a:t>
            </a:r>
            <a:r>
              <a:rPr lang="en-US" b="1" dirty="0">
                <a:solidFill>
                  <a:schemeClr val="tx1"/>
                </a:solidFill>
              </a:rPr>
              <a:t>exchange rates </a:t>
            </a:r>
            <a:r>
              <a:rPr lang="en-US" dirty="0">
                <a:solidFill>
                  <a:schemeClr val="tx1"/>
                </a:solidFill>
              </a:rPr>
              <a:t>and </a:t>
            </a:r>
            <a:r>
              <a:rPr lang="en-US" b="1" dirty="0">
                <a:solidFill>
                  <a:schemeClr val="tx1"/>
                </a:solidFill>
              </a:rPr>
              <a:t>oil shocks </a:t>
            </a:r>
            <a:r>
              <a:rPr lang="en-US" dirty="0">
                <a:solidFill>
                  <a:schemeClr val="tx1"/>
                </a:solidFill>
              </a:rPr>
              <a:t>is </a:t>
            </a:r>
            <a:r>
              <a:rPr lang="en-US" b="1" dirty="0">
                <a:solidFill>
                  <a:schemeClr val="tx1"/>
                </a:solidFill>
              </a:rPr>
              <a:t>non-linear </a:t>
            </a:r>
            <a:r>
              <a:rPr lang="en-US" dirty="0">
                <a:solidFill>
                  <a:schemeClr val="tx1"/>
                </a:solidFill>
              </a:rPr>
              <a:t>and not being detected by a linear regression framework.”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~ S.A. Basher, A. A. Haug, P. Sadorsky2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67F7719-D3B0-EB3D-E914-368ADB682A9B}"/>
              </a:ext>
            </a:extLst>
          </p:cNvPr>
          <p:cNvSpPr/>
          <p:nvPr/>
        </p:nvSpPr>
        <p:spPr>
          <a:xfrm>
            <a:off x="6096000" y="1074656"/>
            <a:ext cx="4977352" cy="23543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“The </a:t>
            </a:r>
            <a:r>
              <a:rPr lang="en-US" b="1" dirty="0">
                <a:solidFill>
                  <a:schemeClr val="tx1"/>
                </a:solidFill>
              </a:rPr>
              <a:t>long-run real exchange rate </a:t>
            </a:r>
            <a:r>
              <a:rPr lang="en-US" dirty="0">
                <a:solidFill>
                  <a:schemeClr val="tx1"/>
                </a:solidFill>
              </a:rPr>
              <a:t>of these ‘commodity currencies’ is </a:t>
            </a:r>
            <a:r>
              <a:rPr lang="en-US" b="1" dirty="0">
                <a:solidFill>
                  <a:schemeClr val="tx1"/>
                </a:solidFill>
              </a:rPr>
              <a:t>not constant </a:t>
            </a:r>
            <a:r>
              <a:rPr lang="en-US" dirty="0">
                <a:solidFill>
                  <a:schemeClr val="tx1"/>
                </a:solidFill>
              </a:rPr>
              <a:t>(as would be implied by purchasing power parity-based models) but is </a:t>
            </a:r>
            <a:r>
              <a:rPr lang="en-US" b="1" dirty="0">
                <a:solidFill>
                  <a:schemeClr val="tx1"/>
                </a:solidFill>
              </a:rPr>
              <a:t>time varying</a:t>
            </a:r>
            <a:r>
              <a:rPr lang="en-US" dirty="0">
                <a:solidFill>
                  <a:schemeClr val="tx1"/>
                </a:solidFill>
              </a:rPr>
              <a:t>, being dependent on movements in the real price of commodity exports.”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~ P. Cashin, L. F. Cespedes, R. Sahay3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1376963-EB37-C717-F432-192EF07EF06E}"/>
              </a:ext>
            </a:extLst>
          </p:cNvPr>
          <p:cNvSpPr txBox="1"/>
          <p:nvPr/>
        </p:nvSpPr>
        <p:spPr>
          <a:xfrm>
            <a:off x="0" y="6396335"/>
            <a:ext cx="102257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1Oil prices and the rise and fall of the US real exchange rate, R.A. Amano, S. van Norden, Journal of International Money and Finance 17 (1998) 299-316, p.301</a:t>
            </a:r>
          </a:p>
          <a:p>
            <a:r>
              <a:rPr lang="en-US" sz="800" dirty="0"/>
              <a:t>2The impact of oil shocks on exchange rates: A Markov-switching approach, S. A. Basher, A. A. Haug, P. </a:t>
            </a:r>
            <a:r>
              <a:rPr lang="en-US" sz="800" dirty="0" err="1"/>
              <a:t>Sadorsky</a:t>
            </a:r>
            <a:r>
              <a:rPr lang="en-US" sz="800" dirty="0"/>
              <a:t>, Energy Economics 54 (2016) 11–23, p.17 </a:t>
            </a:r>
          </a:p>
          <a:p>
            <a:r>
              <a:rPr lang="en-US" sz="800" dirty="0"/>
              <a:t>3Commodity currencies and the real exchange rate, P. Cashin, L. F. Cespedes, R. Sahay, Journal of Development Economics 75 (2004) 239–268, p.239</a:t>
            </a:r>
            <a:endParaRPr lang="de-DE" sz="800" dirty="0"/>
          </a:p>
        </p:txBody>
      </p:sp>
    </p:spTree>
    <p:extLst>
      <p:ext uri="{BB962C8B-B14F-4D97-AF65-F5344CB8AC3E}">
        <p14:creationId xmlns:p14="http://schemas.microsoft.com/office/powerpoint/2010/main" val="2688532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2CC529-9992-124C-8608-6C75BE835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68592"/>
          </a:xfrm>
        </p:spPr>
        <p:txBody>
          <a:bodyPr/>
          <a:lstStyle/>
          <a:p>
            <a:endParaRPr lang="de-DE" dirty="0"/>
          </a:p>
        </p:txBody>
      </p:sp>
      <p:pic>
        <p:nvPicPr>
          <p:cNvPr id="4" name="Grafik 3" descr="Ein Bild, das Text, Schrift, Screenshot, Grafiken enthält.&#10;&#10;Automatisch generierte Beschreibung">
            <a:extLst>
              <a:ext uri="{FF2B5EF4-FFF2-40B4-BE49-F238E27FC236}">
                <a16:creationId xmlns:a16="http://schemas.microsoft.com/office/drawing/2014/main" id="{F2C750AB-A19E-4212-8053-E3E92C2122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28" y="0"/>
            <a:ext cx="1600172" cy="766261"/>
          </a:xfrm>
          <a:prstGeom prst="rect">
            <a:avLst/>
          </a:prstGeom>
        </p:spPr>
      </p:pic>
      <p:pic>
        <p:nvPicPr>
          <p:cNvPr id="5" name="Picture 2" descr="Universität Kiel Logo PNG vector in SVG, PDF, AI, CDR format">
            <a:extLst>
              <a:ext uri="{FF2B5EF4-FFF2-40B4-BE49-F238E27FC236}">
                <a16:creationId xmlns:a16="http://schemas.microsoft.com/office/drawing/2014/main" id="{F886A3E6-B95F-280C-C79D-47C77E8F93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72" t="4343" r="20103" b="3488"/>
          <a:stretch>
            <a:fillRect/>
          </a:stretch>
        </p:blipFill>
        <p:spPr bwMode="auto">
          <a:xfrm>
            <a:off x="9432580" y="2562648"/>
            <a:ext cx="3964282" cy="462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4BD0AE7E-F425-4B95-582B-3E3235B28EA7}"/>
              </a:ext>
            </a:extLst>
          </p:cNvPr>
          <p:cNvSpPr/>
          <p:nvPr/>
        </p:nvSpPr>
        <p:spPr>
          <a:xfrm>
            <a:off x="3141665" y="2723384"/>
            <a:ext cx="5892623" cy="1198166"/>
          </a:xfrm>
          <a:prstGeom prst="roundRect">
            <a:avLst/>
          </a:prstGeom>
          <a:solidFill>
            <a:srgbClr val="00677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500" dirty="0">
                <a:latin typeface="Arial" panose="020B0604020202020204" pitchFamily="34" charset="0"/>
                <a:cs typeface="Arial" panose="020B0604020202020204" pitchFamily="34" charset="0"/>
              </a:rPr>
              <a:t>1. US Energy </a:t>
            </a:r>
            <a:r>
              <a:rPr lang="de-DE" sz="2500" dirty="0" err="1">
                <a:latin typeface="Arial" panose="020B0604020202020204" pitchFamily="34" charset="0"/>
                <a:cs typeface="Arial" panose="020B0604020202020204" pitchFamily="34" charset="0"/>
              </a:rPr>
              <a:t>Commodity</a:t>
            </a:r>
            <a:r>
              <a:rPr lang="de-DE" sz="2500" dirty="0">
                <a:latin typeface="Arial" panose="020B0604020202020204" pitchFamily="34" charset="0"/>
                <a:cs typeface="Arial" panose="020B0604020202020204" pitchFamily="34" charset="0"/>
              </a:rPr>
              <a:t> Market: </a:t>
            </a:r>
            <a:r>
              <a:rPr lang="de-DE" sz="2500" dirty="0" err="1">
                <a:latin typeface="Arial" panose="020B0604020202020204" pitchFamily="34" charset="0"/>
                <a:cs typeface="Arial" panose="020B0604020202020204" pitchFamily="34" charset="0"/>
              </a:rPr>
              <a:t>Current</a:t>
            </a:r>
            <a:r>
              <a:rPr lang="de-DE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500" dirty="0" err="1">
                <a:latin typeface="Arial" panose="020B0604020202020204" pitchFamily="34" charset="0"/>
                <a:cs typeface="Arial" panose="020B0604020202020204" pitchFamily="34" charset="0"/>
              </a:rPr>
              <a:t>state</a:t>
            </a:r>
            <a:endParaRPr lang="de-DE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8764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9E19D2-FFD2-59AB-774D-6521DFFE1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92397B0-9C76-342E-1745-6CE261CBB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Describes</a:t>
            </a:r>
            <a:r>
              <a:rPr lang="de-DE" dirty="0"/>
              <a:t> </a:t>
            </a:r>
            <a:r>
              <a:rPr lang="de-DE" dirty="0" err="1"/>
              <a:t>commodites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energy</a:t>
            </a:r>
            <a:r>
              <a:rPr lang="de-DE" dirty="0"/>
              <a:t> </a:t>
            </a:r>
            <a:r>
              <a:rPr lang="de-DE" dirty="0" err="1"/>
              <a:t>production</a:t>
            </a:r>
            <a:r>
              <a:rPr lang="de-DE" dirty="0"/>
              <a:t> such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b="1" dirty="0" err="1"/>
              <a:t>oil</a:t>
            </a:r>
            <a:r>
              <a:rPr lang="de-DE" dirty="0"/>
              <a:t> and </a:t>
            </a:r>
            <a:r>
              <a:rPr lang="de-DE" b="1" dirty="0"/>
              <a:t>gas</a:t>
            </a:r>
            <a:r>
              <a:rPr lang="de-DE" dirty="0"/>
              <a:t>.</a:t>
            </a:r>
          </a:p>
          <a:p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over</a:t>
            </a:r>
            <a:r>
              <a:rPr lang="de-DE" dirty="0"/>
              <a:t> 50% </a:t>
            </a:r>
            <a:r>
              <a:rPr lang="de-DE" dirty="0" err="1"/>
              <a:t>of</a:t>
            </a:r>
            <a:r>
              <a:rPr lang="de-DE" dirty="0"/>
              <a:t> US power </a:t>
            </a:r>
            <a:r>
              <a:rPr lang="de-DE" dirty="0" err="1"/>
              <a:t>production</a:t>
            </a:r>
            <a:r>
              <a:rPr lang="de-DE" dirty="0"/>
              <a:t> </a:t>
            </a:r>
            <a:r>
              <a:rPr lang="de-DE" dirty="0" err="1"/>
              <a:t>either</a:t>
            </a:r>
            <a:r>
              <a:rPr lang="de-DE" dirty="0"/>
              <a:t> </a:t>
            </a:r>
            <a:r>
              <a:rPr lang="de-DE" dirty="0" err="1"/>
              <a:t>resource</a:t>
            </a:r>
            <a:r>
              <a:rPr lang="de-DE" dirty="0"/>
              <a:t> </a:t>
            </a:r>
            <a:r>
              <a:rPr lang="de-DE" dirty="0" err="1"/>
              <a:t>where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. </a:t>
            </a:r>
            <a:r>
              <a:rPr lang="de-DE" dirty="0">
                <a:sym typeface="Wingdings" panose="05000000000000000000" pitchFamily="2" charset="2"/>
              </a:rPr>
              <a:t> </a:t>
            </a:r>
            <a:r>
              <a:rPr lang="de-DE" dirty="0" err="1">
                <a:sym typeface="Wingdings" panose="05000000000000000000" pitchFamily="2" charset="2"/>
              </a:rPr>
              <a:t>Stong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importance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for</a:t>
            </a:r>
            <a:r>
              <a:rPr lang="de-DE" dirty="0">
                <a:sym typeface="Wingdings" panose="05000000000000000000" pitchFamily="2" charset="2"/>
              </a:rPr>
              <a:t> US </a:t>
            </a:r>
            <a:r>
              <a:rPr lang="de-DE" dirty="0" err="1">
                <a:sym typeface="Wingdings" panose="05000000000000000000" pitchFamily="2" charset="2"/>
              </a:rPr>
              <a:t>economy</a:t>
            </a:r>
            <a:r>
              <a:rPr lang="de-DE" dirty="0">
                <a:sym typeface="Wingdings" panose="05000000000000000000" pitchFamily="2" charset="2"/>
              </a:rPr>
              <a:t>. (source: EIA 2024)</a:t>
            </a:r>
            <a:endParaRPr lang="de-DE" dirty="0"/>
          </a:p>
          <a:p>
            <a:r>
              <a:rPr lang="de-DE" dirty="0"/>
              <a:t>Due </a:t>
            </a:r>
            <a:r>
              <a:rPr lang="de-DE" dirty="0" err="1"/>
              <a:t>to</a:t>
            </a:r>
            <a:r>
              <a:rPr lang="de-DE" dirty="0"/>
              <a:t> „</a:t>
            </a:r>
            <a:r>
              <a:rPr lang="de-DE" dirty="0" err="1"/>
              <a:t>petrodollar</a:t>
            </a:r>
            <a:r>
              <a:rPr lang="de-DE" dirty="0"/>
              <a:t>“ </a:t>
            </a:r>
            <a:r>
              <a:rPr lang="de-DE" dirty="0" err="1"/>
              <a:t>oil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historical</a:t>
            </a:r>
            <a:r>
              <a:rPr lang="de-DE" dirty="0"/>
              <a:t> link </a:t>
            </a:r>
            <a:r>
              <a:rPr lang="de-DE" dirty="0" err="1"/>
              <a:t>to</a:t>
            </a:r>
            <a:r>
              <a:rPr lang="de-DE" dirty="0"/>
              <a:t> USD.</a:t>
            </a:r>
          </a:p>
          <a:p>
            <a:endParaRPr lang="de-DE" dirty="0"/>
          </a:p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 Idea: </a:t>
            </a:r>
            <a:r>
              <a:rPr lang="de-DE" dirty="0" err="1">
                <a:sym typeface="Wingdings" panose="05000000000000000000" pitchFamily="2" charset="2"/>
              </a:rPr>
              <a:t>underlyine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importance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of</a:t>
            </a:r>
            <a:r>
              <a:rPr lang="de-DE" dirty="0">
                <a:sym typeface="Wingdings" panose="05000000000000000000" pitchFamily="2" charset="2"/>
              </a:rPr>
              <a:t> Energy </a:t>
            </a:r>
            <a:r>
              <a:rPr lang="de-DE" dirty="0" err="1">
                <a:sym typeface="Wingdings" panose="05000000000000000000" pitchFamily="2" charset="2"/>
              </a:rPr>
              <a:t>commodites</a:t>
            </a:r>
            <a:r>
              <a:rPr lang="de-DE" dirty="0">
                <a:sym typeface="Wingdings" panose="05000000000000000000" pitchFamily="2" charset="2"/>
              </a:rPr>
              <a:t> and </a:t>
            </a:r>
            <a:r>
              <a:rPr lang="de-DE" dirty="0" err="1">
                <a:sym typeface="Wingdings" panose="05000000000000000000" pitchFamily="2" charset="2"/>
              </a:rPr>
              <a:t>it‘s</a:t>
            </a:r>
            <a:r>
              <a:rPr lang="de-DE" dirty="0">
                <a:sym typeface="Wingdings" panose="05000000000000000000" pitchFamily="2" charset="2"/>
              </a:rPr>
              <a:t> link </a:t>
            </a:r>
            <a:r>
              <a:rPr lang="de-DE" dirty="0" err="1">
                <a:sym typeface="Wingdings" panose="05000000000000000000" pitchFamily="2" charset="2"/>
              </a:rPr>
              <a:t>to</a:t>
            </a:r>
            <a:r>
              <a:rPr lang="de-DE" dirty="0">
                <a:sym typeface="Wingdings" panose="05000000000000000000" pitchFamily="2" charset="2"/>
              </a:rPr>
              <a:t> FX (</a:t>
            </a:r>
            <a:r>
              <a:rPr lang="de-DE" dirty="0" err="1">
                <a:sym typeface="Wingdings" panose="05000000000000000000" pitchFamily="2" charset="2"/>
              </a:rPr>
              <a:t>especially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oil</a:t>
            </a:r>
            <a:r>
              <a:rPr lang="de-DE" dirty="0">
                <a:sym typeface="Wingdings" panose="05000000000000000000" pitchFamily="2" charset="2"/>
              </a:rPr>
              <a:t>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42748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CEC3D-6544-5719-57BF-3A7331D4F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37FE28-2D59-F37B-3BC8-E94F0D6DE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68592"/>
          </a:xfrm>
        </p:spPr>
        <p:txBody>
          <a:bodyPr/>
          <a:lstStyle/>
          <a:p>
            <a:endParaRPr lang="de-DE" dirty="0"/>
          </a:p>
        </p:txBody>
      </p:sp>
      <p:pic>
        <p:nvPicPr>
          <p:cNvPr id="4" name="Grafik 3" descr="Ein Bild, das Text, Schrift, Screenshot, Grafiken enthält.&#10;&#10;Automatisch generierte Beschreibung">
            <a:extLst>
              <a:ext uri="{FF2B5EF4-FFF2-40B4-BE49-F238E27FC236}">
                <a16:creationId xmlns:a16="http://schemas.microsoft.com/office/drawing/2014/main" id="{206FC065-31FA-7897-AA49-EAACA85660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28" y="0"/>
            <a:ext cx="1600172" cy="766261"/>
          </a:xfrm>
          <a:prstGeom prst="rect">
            <a:avLst/>
          </a:prstGeom>
        </p:spPr>
      </p:pic>
      <p:pic>
        <p:nvPicPr>
          <p:cNvPr id="5" name="Picture 2" descr="Universität Kiel Logo PNG vector in SVG, PDF, AI, CDR format">
            <a:extLst>
              <a:ext uri="{FF2B5EF4-FFF2-40B4-BE49-F238E27FC236}">
                <a16:creationId xmlns:a16="http://schemas.microsoft.com/office/drawing/2014/main" id="{DAD0BC3F-8197-6FD8-9C93-5BD792B29B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72" t="4343" r="20103" b="3488"/>
          <a:stretch>
            <a:fillRect/>
          </a:stretch>
        </p:blipFill>
        <p:spPr bwMode="auto">
          <a:xfrm>
            <a:off x="9432580" y="2562648"/>
            <a:ext cx="3964282" cy="462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00E2DB00-FE3E-C5F7-CF62-341D191A2327}"/>
              </a:ext>
            </a:extLst>
          </p:cNvPr>
          <p:cNvSpPr/>
          <p:nvPr/>
        </p:nvSpPr>
        <p:spPr>
          <a:xfrm>
            <a:off x="3141665" y="2723384"/>
            <a:ext cx="5892623" cy="1198166"/>
          </a:xfrm>
          <a:prstGeom prst="roundRect">
            <a:avLst/>
          </a:prstGeom>
          <a:solidFill>
            <a:srgbClr val="00677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500" dirty="0">
                <a:latin typeface="Arial" panose="020B0604020202020204" pitchFamily="34" charset="0"/>
                <a:cs typeface="Arial" panose="020B0604020202020204" pitchFamily="34" charset="0"/>
              </a:rPr>
              <a:t>2. Research Hypothesis</a:t>
            </a:r>
          </a:p>
        </p:txBody>
      </p:sp>
    </p:spTree>
    <p:extLst>
      <p:ext uri="{BB962C8B-B14F-4D97-AF65-F5344CB8AC3E}">
        <p14:creationId xmlns:p14="http://schemas.microsoft.com/office/powerpoint/2010/main" val="3826898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1BB477-DC62-EA14-C285-A44259AB9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Abgerundetes Rechteck 5">
            <a:extLst>
              <a:ext uri="{FF2B5EF4-FFF2-40B4-BE49-F238E27FC236}">
                <a16:creationId xmlns:a16="http://schemas.microsoft.com/office/drawing/2014/main" id="{9BF1B86E-3B4C-A913-EC17-0B06233E82CE}"/>
              </a:ext>
            </a:extLst>
          </p:cNvPr>
          <p:cNvSpPr/>
          <p:nvPr/>
        </p:nvSpPr>
        <p:spPr>
          <a:xfrm>
            <a:off x="813697" y="2008846"/>
            <a:ext cx="10715436" cy="3217379"/>
          </a:xfrm>
          <a:prstGeom prst="roundRect">
            <a:avLst>
              <a:gd name="adj" fmla="val 8671"/>
            </a:avLst>
          </a:prstGeom>
          <a:solidFill>
            <a:srgbClr val="00677C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de-DE" sz="2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de-DE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</a:t>
            </a:r>
            <a:r>
              <a:rPr lang="de-DE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 </a:t>
            </a:r>
            <a:r>
              <a:rPr lang="de-DE" sz="2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energy</a:t>
            </a:r>
            <a:r>
              <a:rPr lang="de-DE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commodity</a:t>
            </a:r>
            <a:r>
              <a:rPr lang="de-DE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based</a:t>
            </a:r>
            <a:r>
              <a:rPr lang="de-DE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influence</a:t>
            </a:r>
            <a:r>
              <a:rPr lang="de-DE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DE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DE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(non-) </a:t>
            </a:r>
            <a:r>
              <a:rPr lang="de-DE" sz="2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profitability</a:t>
            </a:r>
            <a:r>
              <a:rPr lang="de-DE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DE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DE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USD/EU </a:t>
            </a:r>
            <a:r>
              <a:rPr lang="de-DE" sz="2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spot</a:t>
            </a:r>
            <a:r>
              <a:rPr lang="de-DE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rate </a:t>
            </a:r>
            <a:r>
              <a:rPr lang="de-DE" sz="2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uncovered</a:t>
            </a:r>
            <a:r>
              <a:rPr lang="de-DE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interes</a:t>
            </a:r>
            <a:r>
              <a:rPr lang="de-DE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parity</a:t>
            </a:r>
            <a:r>
              <a:rPr lang="de-DE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  <a:r>
              <a:rPr lang="de-DE" sz="2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</a:t>
            </a:r>
            <a:r>
              <a:rPr lang="de-DE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significant</a:t>
            </a:r>
            <a:r>
              <a:rPr lang="de-DE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de-DE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de-DE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effect</a:t>
            </a:r>
            <a:r>
              <a:rPr lang="de-DE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endParaRPr lang="de-DE" sz="2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de-DE" sz="2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</a:t>
            </a:r>
            <a:r>
              <a:rPr lang="de-DE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lang="de-DE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different </a:t>
            </a:r>
            <a:r>
              <a:rPr lang="de-DE" sz="2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clustering</a:t>
            </a:r>
            <a:r>
              <a:rPr lang="de-DE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algorithms</a:t>
            </a:r>
            <a:r>
              <a:rPr lang="de-DE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lead</a:t>
            </a:r>
            <a:r>
              <a:rPr lang="de-DE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de-DE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different </a:t>
            </a:r>
            <a:r>
              <a:rPr lang="de-DE" sz="2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regimes</a:t>
            </a:r>
            <a:r>
              <a:rPr lang="de-DE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342900" indent="-342900">
              <a:buFontTx/>
              <a:buChar char="-"/>
            </a:pPr>
            <a:endParaRPr lang="de-DE" sz="2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de-DE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lang="de-DE" sz="2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energy</a:t>
            </a:r>
            <a:r>
              <a:rPr lang="de-DE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commodites</a:t>
            </a:r>
            <a:r>
              <a:rPr lang="de-DE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improving</a:t>
            </a:r>
            <a:r>
              <a:rPr lang="de-DE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DE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regression</a:t>
            </a:r>
            <a:r>
              <a:rPr lang="de-DE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88624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40CB7-99F6-0D4B-61DC-341FB9B0F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0FB088-A09E-1180-022F-4CFA4F270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68592"/>
          </a:xfrm>
        </p:spPr>
        <p:txBody>
          <a:bodyPr/>
          <a:lstStyle/>
          <a:p>
            <a:endParaRPr lang="de-DE" dirty="0"/>
          </a:p>
        </p:txBody>
      </p:sp>
      <p:pic>
        <p:nvPicPr>
          <p:cNvPr id="4" name="Grafik 3" descr="Ein Bild, das Text, Schrift, Screenshot, Grafiken enthält.&#10;&#10;Automatisch generierte Beschreibung">
            <a:extLst>
              <a:ext uri="{FF2B5EF4-FFF2-40B4-BE49-F238E27FC236}">
                <a16:creationId xmlns:a16="http://schemas.microsoft.com/office/drawing/2014/main" id="{9BE52380-5BD3-D75F-5A3E-98B52DB6FE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28" y="0"/>
            <a:ext cx="1600172" cy="766261"/>
          </a:xfrm>
          <a:prstGeom prst="rect">
            <a:avLst/>
          </a:prstGeom>
        </p:spPr>
      </p:pic>
      <p:pic>
        <p:nvPicPr>
          <p:cNvPr id="5" name="Picture 2" descr="Universität Kiel Logo PNG vector in SVG, PDF, AI, CDR format">
            <a:extLst>
              <a:ext uri="{FF2B5EF4-FFF2-40B4-BE49-F238E27FC236}">
                <a16:creationId xmlns:a16="http://schemas.microsoft.com/office/drawing/2014/main" id="{79607006-DC37-4B09-43A5-81919BE34D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72" t="4343" r="20103" b="3488"/>
          <a:stretch>
            <a:fillRect/>
          </a:stretch>
        </p:blipFill>
        <p:spPr bwMode="auto">
          <a:xfrm>
            <a:off x="9432580" y="2562648"/>
            <a:ext cx="3964282" cy="462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6F9B2BCA-BA41-4C3C-9E8C-23F59C5F3CBB}"/>
              </a:ext>
            </a:extLst>
          </p:cNvPr>
          <p:cNvSpPr/>
          <p:nvPr/>
        </p:nvSpPr>
        <p:spPr>
          <a:xfrm>
            <a:off x="3141665" y="2723384"/>
            <a:ext cx="5892623" cy="1198166"/>
          </a:xfrm>
          <a:prstGeom prst="roundRect">
            <a:avLst/>
          </a:prstGeom>
          <a:solidFill>
            <a:srgbClr val="00677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500" dirty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de-DE" sz="2500" dirty="0" err="1">
                <a:latin typeface="Arial" panose="020B0604020202020204" pitchFamily="34" charset="0"/>
                <a:cs typeface="Arial" panose="020B0604020202020204" pitchFamily="34" charset="0"/>
              </a:rPr>
              <a:t>Literature</a:t>
            </a:r>
            <a:r>
              <a:rPr lang="de-DE" sz="2500" dirty="0">
                <a:latin typeface="Arial" panose="020B0604020202020204" pitchFamily="34" charset="0"/>
                <a:cs typeface="Arial" panose="020B0604020202020204" pitchFamily="34" charset="0"/>
              </a:rPr>
              <a:t> Review</a:t>
            </a:r>
          </a:p>
        </p:txBody>
      </p:sp>
    </p:spTree>
    <p:extLst>
      <p:ext uri="{BB962C8B-B14F-4D97-AF65-F5344CB8AC3E}">
        <p14:creationId xmlns:p14="http://schemas.microsoft.com/office/powerpoint/2010/main" val="1774204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CE3931-FEAB-8AE9-EAD5-1F26378DA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 </a:t>
            </a:r>
            <a:r>
              <a:rPr lang="de-DE" dirty="0" err="1"/>
              <a:t>Context</a:t>
            </a:r>
            <a:r>
              <a:rPr lang="de-DE" dirty="0"/>
              <a:t>: Energy Commodities and Exchange </a:t>
            </a:r>
            <a:r>
              <a:rPr lang="de-DE" dirty="0" err="1"/>
              <a:t>rates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F9D662B-E59E-D1E4-5C9D-05705FC45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Energy prices have been a significant driver of inflation in recent years, particularly due to geopolitical tensions and supply chain disruptions.</a:t>
            </a:r>
          </a:p>
          <a:p>
            <a:r>
              <a:rPr lang="en-US" dirty="0"/>
              <a:t> The volatility in energy markets has led to increased costs for transportation, manufacturing, and household energy consumption.</a:t>
            </a:r>
          </a:p>
          <a:p>
            <a:r>
              <a:rPr lang="en-US" dirty="0"/>
              <a:t> Central banks face challenges in managing inflation expectations, while considering the transitory nature of energy price shocks.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86075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BD9AE5-45D9-A4D9-8925-FCD17B0FA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 </a:t>
            </a:r>
            <a:r>
              <a:rPr lang="de-DE" dirty="0" err="1"/>
              <a:t>Systematic</a:t>
            </a:r>
            <a:r>
              <a:rPr lang="de-DE" dirty="0"/>
              <a:t> </a:t>
            </a:r>
            <a:r>
              <a:rPr lang="de-DE" dirty="0" err="1"/>
              <a:t>Literature</a:t>
            </a:r>
            <a:r>
              <a:rPr lang="de-DE" dirty="0"/>
              <a:t> </a:t>
            </a:r>
            <a:r>
              <a:rPr lang="de-DE" dirty="0" err="1"/>
              <a:t>Overview</a:t>
            </a:r>
            <a:r>
              <a:rPr lang="de-DE" dirty="0"/>
              <a:t>: Main </a:t>
            </a:r>
            <a:r>
              <a:rPr lang="de-DE" dirty="0" err="1"/>
              <a:t>Approaches</a:t>
            </a:r>
            <a:endParaRPr lang="de-DE" dirty="0"/>
          </a:p>
        </p:txBody>
      </p:sp>
      <p:sp>
        <p:nvSpPr>
          <p:cNvPr id="6" name="CustomShape 3">
            <a:extLst>
              <a:ext uri="{FF2B5EF4-FFF2-40B4-BE49-F238E27FC236}">
                <a16:creationId xmlns:a16="http://schemas.microsoft.com/office/drawing/2014/main" id="{D7D294D3-E465-2DD7-73E0-FE596B568257}"/>
              </a:ext>
            </a:extLst>
          </p:cNvPr>
          <p:cNvSpPr/>
          <p:nvPr/>
        </p:nvSpPr>
        <p:spPr>
          <a:xfrm>
            <a:off x="540000" y="743529"/>
            <a:ext cx="10079640" cy="2691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de-DE" sz="1400" b="1" spc="-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relationship between Energy Commodity Prices and exchange rates: Transmission channels</a:t>
            </a:r>
            <a:r>
              <a:rPr lang="de-DE" sz="1400" b="1" spc="-1" baseline="30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de-DE" sz="1400" b="0" strike="noStrike" spc="-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37B36AB-8D4C-96AD-CDC0-AA7870A1CEFC}"/>
              </a:ext>
            </a:extLst>
          </p:cNvPr>
          <p:cNvSpPr/>
          <p:nvPr/>
        </p:nvSpPr>
        <p:spPr>
          <a:xfrm>
            <a:off x="1843534" y="4785555"/>
            <a:ext cx="2401991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Volatility and Risk Spillover Effects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A6D3EDA-E3EC-EAA1-9136-0F0C8AF74C2C}"/>
              </a:ext>
            </a:extLst>
          </p:cNvPr>
          <p:cNvSpPr/>
          <p:nvPr/>
        </p:nvSpPr>
        <p:spPr>
          <a:xfrm>
            <a:off x="8746536" y="4005332"/>
            <a:ext cx="1492776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Oil export and import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16B3433-4EB4-61F7-00DE-10CEFD5AC54E}"/>
              </a:ext>
            </a:extLst>
          </p:cNvPr>
          <p:cNvSpPr/>
          <p:nvPr/>
        </p:nvSpPr>
        <p:spPr>
          <a:xfrm>
            <a:off x="1793695" y="2322789"/>
            <a:ext cx="2489092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Financial Transmission Channels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EF6B844-FF2D-F1C4-E4CA-3B0B81C5930B}"/>
              </a:ext>
            </a:extLst>
          </p:cNvPr>
          <p:cNvSpPr/>
          <p:nvPr/>
        </p:nvSpPr>
        <p:spPr>
          <a:xfrm>
            <a:off x="8173122" y="2312621"/>
            <a:ext cx="2729150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Fundamental Transmission Channels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B7F2396-E9E6-70F4-86D8-02AEAB0DD9B1}"/>
              </a:ext>
            </a:extLst>
          </p:cNvPr>
          <p:cNvSpPr/>
          <p:nvPr/>
        </p:nvSpPr>
        <p:spPr>
          <a:xfrm>
            <a:off x="4683001" y="2316511"/>
            <a:ext cx="2918077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Macroeconomic Transmission Channels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ABD22084-AA36-92DD-E964-642928069BB2}"/>
              </a:ext>
            </a:extLst>
          </p:cNvPr>
          <p:cNvSpPr/>
          <p:nvPr/>
        </p:nvSpPr>
        <p:spPr>
          <a:xfrm>
            <a:off x="8930782" y="2860833"/>
            <a:ext cx="1213829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Monetary Policy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CE25131A-CAAD-8C77-AA72-CA6B863DFFB0}"/>
              </a:ext>
            </a:extLst>
          </p:cNvPr>
          <p:cNvSpPr/>
          <p:nvPr/>
        </p:nvSpPr>
        <p:spPr>
          <a:xfrm>
            <a:off x="5714201" y="3415883"/>
            <a:ext cx="763593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Inflation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7629F00-6085-131F-8A6C-C0228D528DE0}"/>
              </a:ext>
            </a:extLst>
          </p:cNvPr>
          <p:cNvSpPr/>
          <p:nvPr/>
        </p:nvSpPr>
        <p:spPr>
          <a:xfrm>
            <a:off x="5682450" y="4303966"/>
            <a:ext cx="2232000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Denomination (</a:t>
            </a:r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Numeraire</a:t>
            </a:r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Effect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F8B0B1F-780C-2D8C-CDF9-652ABF6A3E41}"/>
              </a:ext>
            </a:extLst>
          </p:cNvPr>
          <p:cNvSpPr/>
          <p:nvPr/>
        </p:nvSpPr>
        <p:spPr>
          <a:xfrm>
            <a:off x="2204319" y="2851296"/>
            <a:ext cx="1667844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Wealth Transfer Effect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E15FEC78-8831-DC34-FCA7-07E29C8CC6B5}"/>
              </a:ext>
            </a:extLst>
          </p:cNvPr>
          <p:cNvSpPr/>
          <p:nvPr/>
        </p:nvSpPr>
        <p:spPr>
          <a:xfrm>
            <a:off x="4755460" y="2850665"/>
            <a:ext cx="2773157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(Risk Parity) Portfolio Rebalancing Effect</a:t>
            </a:r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67FDC1A8-8B8E-7A88-A6A5-4868FA6C265F}"/>
              </a:ext>
            </a:extLst>
          </p:cNvPr>
          <p:cNvCxnSpPr/>
          <p:nvPr/>
        </p:nvCxnSpPr>
        <p:spPr>
          <a:xfrm>
            <a:off x="778932" y="2260600"/>
            <a:ext cx="103039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hteck 17">
            <a:extLst>
              <a:ext uri="{FF2B5EF4-FFF2-40B4-BE49-F238E27FC236}">
                <a16:creationId xmlns:a16="http://schemas.microsoft.com/office/drawing/2014/main" id="{291DC473-CE7E-D0B3-ADAD-DF6B39E623FB}"/>
              </a:ext>
            </a:extLst>
          </p:cNvPr>
          <p:cNvSpPr/>
          <p:nvPr/>
        </p:nvSpPr>
        <p:spPr>
          <a:xfrm>
            <a:off x="411140" y="1782177"/>
            <a:ext cx="918576" cy="18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Timeframe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08FBE85B-EB02-CA07-63E6-232FF9D8915A}"/>
              </a:ext>
            </a:extLst>
          </p:cNvPr>
          <p:cNvSpPr/>
          <p:nvPr/>
        </p:nvSpPr>
        <p:spPr>
          <a:xfrm>
            <a:off x="2296467" y="1860414"/>
            <a:ext cx="1495049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Short Run Dynamics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A24B8E4D-452E-DBE9-990D-B86885ED68AA}"/>
              </a:ext>
            </a:extLst>
          </p:cNvPr>
          <p:cNvSpPr/>
          <p:nvPr/>
        </p:nvSpPr>
        <p:spPr>
          <a:xfrm>
            <a:off x="8712197" y="1921320"/>
            <a:ext cx="1651001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 Run Relationship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B4BF7DCF-8B34-BCD2-A2A7-2C5F1D6681D9}"/>
              </a:ext>
            </a:extLst>
          </p:cNvPr>
          <p:cNvSpPr/>
          <p:nvPr/>
        </p:nvSpPr>
        <p:spPr>
          <a:xfrm>
            <a:off x="5376297" y="1861070"/>
            <a:ext cx="1487262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Mid-term fluctuations</a:t>
            </a:r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50B76F90-C339-B1B6-3791-2438520D9E74}"/>
              </a:ext>
            </a:extLst>
          </p:cNvPr>
          <p:cNvCxnSpPr>
            <a:cxnSpLocks/>
          </p:cNvCxnSpPr>
          <p:nvPr/>
        </p:nvCxnSpPr>
        <p:spPr>
          <a:xfrm>
            <a:off x="778932" y="2260600"/>
            <a:ext cx="0" cy="3657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hteck 22">
            <a:extLst>
              <a:ext uri="{FF2B5EF4-FFF2-40B4-BE49-F238E27FC236}">
                <a16:creationId xmlns:a16="http://schemas.microsoft.com/office/drawing/2014/main" id="{88DC8FAB-D03B-D634-0CD7-1BBD4F4B1097}"/>
              </a:ext>
            </a:extLst>
          </p:cNvPr>
          <p:cNvSpPr/>
          <p:nvPr/>
        </p:nvSpPr>
        <p:spPr>
          <a:xfrm>
            <a:off x="0" y="2056589"/>
            <a:ext cx="1329718" cy="18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 Type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0BFEAC32-2969-0D26-1099-2A02F8541D08}"/>
              </a:ext>
            </a:extLst>
          </p:cNvPr>
          <p:cNvSpPr/>
          <p:nvPr/>
        </p:nvSpPr>
        <p:spPr>
          <a:xfrm rot="16200000">
            <a:off x="45155" y="2812203"/>
            <a:ext cx="655716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50CC52B1-E118-C0E3-0B70-11F5D271F49A}"/>
              </a:ext>
            </a:extLst>
          </p:cNvPr>
          <p:cNvSpPr/>
          <p:nvPr/>
        </p:nvSpPr>
        <p:spPr>
          <a:xfrm rot="16200000">
            <a:off x="-84698" y="4912223"/>
            <a:ext cx="915424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Non-Linear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02116C80-C07B-C30C-7FE8-0EAB7635229E}"/>
              </a:ext>
            </a:extLst>
          </p:cNvPr>
          <p:cNvSpPr/>
          <p:nvPr/>
        </p:nvSpPr>
        <p:spPr>
          <a:xfrm>
            <a:off x="5041037" y="4796163"/>
            <a:ext cx="2373309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(US) Terms of Trade Effect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D24CED9A-8629-36A0-751D-1328F1BDC925}"/>
              </a:ext>
            </a:extLst>
          </p:cNvPr>
          <p:cNvSpPr/>
          <p:nvPr/>
        </p:nvSpPr>
        <p:spPr>
          <a:xfrm>
            <a:off x="411140" y="1482055"/>
            <a:ext cx="1110289" cy="18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Datafrequency</a:t>
            </a:r>
          </a:p>
        </p:txBody>
      </p: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6C1B6D44-4677-5466-59D0-B83A7C93096C}"/>
              </a:ext>
            </a:extLst>
          </p:cNvPr>
          <p:cNvCxnSpPr/>
          <p:nvPr/>
        </p:nvCxnSpPr>
        <p:spPr>
          <a:xfrm>
            <a:off x="778932" y="1765243"/>
            <a:ext cx="103039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Rechteck 28">
            <a:extLst>
              <a:ext uri="{FF2B5EF4-FFF2-40B4-BE49-F238E27FC236}">
                <a16:creationId xmlns:a16="http://schemas.microsoft.com/office/drawing/2014/main" id="{9D23C7E0-24FD-47BD-5EED-32363713170A}"/>
              </a:ext>
            </a:extLst>
          </p:cNvPr>
          <p:cNvSpPr/>
          <p:nvPr/>
        </p:nvSpPr>
        <p:spPr>
          <a:xfrm>
            <a:off x="2275981" y="1464107"/>
            <a:ext cx="1536022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Daily, Weely, Monthly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1BB43EFB-125E-BB11-ECCD-A21F98D79ADA}"/>
              </a:ext>
            </a:extLst>
          </p:cNvPr>
          <p:cNvSpPr/>
          <p:nvPr/>
        </p:nvSpPr>
        <p:spPr>
          <a:xfrm>
            <a:off x="5435044" y="1464107"/>
            <a:ext cx="1329719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Monthly, Quarterly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B9840BD-C7D9-CAE0-CB54-F875004D9204}"/>
              </a:ext>
            </a:extLst>
          </p:cNvPr>
          <p:cNvSpPr/>
          <p:nvPr/>
        </p:nvSpPr>
        <p:spPr>
          <a:xfrm>
            <a:off x="8828065" y="1464107"/>
            <a:ext cx="1329719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Annually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A8740010-87A3-F310-622B-BB872E514B6F}"/>
              </a:ext>
            </a:extLst>
          </p:cNvPr>
          <p:cNvSpPr/>
          <p:nvPr/>
        </p:nvSpPr>
        <p:spPr>
          <a:xfrm>
            <a:off x="5372776" y="4005332"/>
            <a:ext cx="1435102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Expectation Effects</a:t>
            </a:r>
          </a:p>
        </p:txBody>
      </p:sp>
      <p:cxnSp>
        <p:nvCxnSpPr>
          <p:cNvPr id="33" name="Gewinkelte Verbindung 36">
            <a:extLst>
              <a:ext uri="{FF2B5EF4-FFF2-40B4-BE49-F238E27FC236}">
                <a16:creationId xmlns:a16="http://schemas.microsoft.com/office/drawing/2014/main" id="{8BE74AA2-F859-8DAC-133B-4B7BF84A48EB}"/>
              </a:ext>
            </a:extLst>
          </p:cNvPr>
          <p:cNvCxnSpPr>
            <a:cxnSpLocks/>
            <a:endCxn id="14" idx="1"/>
          </p:cNvCxnSpPr>
          <p:nvPr/>
        </p:nvCxnSpPr>
        <p:spPr>
          <a:xfrm rot="16200000" flipH="1">
            <a:off x="5518186" y="4247702"/>
            <a:ext cx="174014" cy="15451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Gerade Verbindung 41">
            <a:extLst>
              <a:ext uri="{FF2B5EF4-FFF2-40B4-BE49-F238E27FC236}">
                <a16:creationId xmlns:a16="http://schemas.microsoft.com/office/drawing/2014/main" id="{4A944727-9B0D-8878-0B17-1C4BFC78A611}"/>
              </a:ext>
            </a:extLst>
          </p:cNvPr>
          <p:cNvCxnSpPr/>
          <p:nvPr/>
        </p:nvCxnSpPr>
        <p:spPr>
          <a:xfrm>
            <a:off x="4500492" y="1534937"/>
            <a:ext cx="0" cy="4287483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Gerade Verbindung 42">
            <a:extLst>
              <a:ext uri="{FF2B5EF4-FFF2-40B4-BE49-F238E27FC236}">
                <a16:creationId xmlns:a16="http://schemas.microsoft.com/office/drawing/2014/main" id="{5E33AD18-6AB8-B3A1-EEDA-54955F421A68}"/>
              </a:ext>
            </a:extLst>
          </p:cNvPr>
          <p:cNvCxnSpPr/>
          <p:nvPr/>
        </p:nvCxnSpPr>
        <p:spPr>
          <a:xfrm>
            <a:off x="7853290" y="1529117"/>
            <a:ext cx="0" cy="4287483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Gerade Verbindung 43">
            <a:extLst>
              <a:ext uri="{FF2B5EF4-FFF2-40B4-BE49-F238E27FC236}">
                <a16:creationId xmlns:a16="http://schemas.microsoft.com/office/drawing/2014/main" id="{70A4C389-62CC-CBBB-AEC6-C074B6DBE017}"/>
              </a:ext>
            </a:extLst>
          </p:cNvPr>
          <p:cNvCxnSpPr>
            <a:cxnSpLocks/>
          </p:cNvCxnSpPr>
          <p:nvPr/>
        </p:nvCxnSpPr>
        <p:spPr>
          <a:xfrm>
            <a:off x="265012" y="3909431"/>
            <a:ext cx="10690855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Rechteck 36">
            <a:extLst>
              <a:ext uri="{FF2B5EF4-FFF2-40B4-BE49-F238E27FC236}">
                <a16:creationId xmlns:a16="http://schemas.microsoft.com/office/drawing/2014/main" id="{70849D80-6AD6-44FB-41BC-0D79458A9F7B}"/>
              </a:ext>
            </a:extLst>
          </p:cNvPr>
          <p:cNvSpPr/>
          <p:nvPr/>
        </p:nvSpPr>
        <p:spPr>
          <a:xfrm>
            <a:off x="9046221" y="4303966"/>
            <a:ext cx="1605757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Commodity Currencies</a:t>
            </a:r>
          </a:p>
        </p:txBody>
      </p:sp>
      <p:cxnSp>
        <p:nvCxnSpPr>
          <p:cNvPr id="38" name="Gewinkelte Verbindung 51">
            <a:extLst>
              <a:ext uri="{FF2B5EF4-FFF2-40B4-BE49-F238E27FC236}">
                <a16:creationId xmlns:a16="http://schemas.microsoft.com/office/drawing/2014/main" id="{86717B79-149E-839B-4746-6CC9A21D2F9A}"/>
              </a:ext>
            </a:extLst>
          </p:cNvPr>
          <p:cNvCxnSpPr>
            <a:cxnSpLocks/>
            <a:endCxn id="37" idx="1"/>
          </p:cNvCxnSpPr>
          <p:nvPr/>
        </p:nvCxnSpPr>
        <p:spPr>
          <a:xfrm rot="16200000" flipH="1">
            <a:off x="8881957" y="4247702"/>
            <a:ext cx="174014" cy="15451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Rechteck 38">
            <a:extLst>
              <a:ext uri="{FF2B5EF4-FFF2-40B4-BE49-F238E27FC236}">
                <a16:creationId xmlns:a16="http://schemas.microsoft.com/office/drawing/2014/main" id="{B198E75D-474F-57C3-FABC-025F324FAE00}"/>
              </a:ext>
            </a:extLst>
          </p:cNvPr>
          <p:cNvSpPr/>
          <p:nvPr/>
        </p:nvSpPr>
        <p:spPr>
          <a:xfrm>
            <a:off x="5690581" y="4550064"/>
            <a:ext cx="1667844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Dominant Pricing Effect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9C22BA18-0E7E-4DE7-F2A8-5B17EFC2F80F}"/>
              </a:ext>
            </a:extLst>
          </p:cNvPr>
          <p:cNvSpPr/>
          <p:nvPr/>
        </p:nvSpPr>
        <p:spPr>
          <a:xfrm>
            <a:off x="2204318" y="3276798"/>
            <a:ext cx="1755627" cy="2470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</a:t>
            </a:r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Value Approach</a:t>
            </a:r>
          </a:p>
        </p:txBody>
      </p: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09728DA5-452C-EF21-0ADF-98018F8D728C}"/>
              </a:ext>
            </a:extLst>
          </p:cNvPr>
          <p:cNvCxnSpPr>
            <a:cxnSpLocks/>
            <a:endCxn id="15" idx="3"/>
          </p:cNvCxnSpPr>
          <p:nvPr/>
        </p:nvCxnSpPr>
        <p:spPr>
          <a:xfrm flipH="1" flipV="1">
            <a:off x="3872163" y="2959296"/>
            <a:ext cx="631764" cy="30019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EB01959C-789A-64B0-22CF-403DAB34EF9B}"/>
              </a:ext>
            </a:extLst>
          </p:cNvPr>
          <p:cNvCxnSpPr>
            <a:cxnSpLocks/>
            <a:endCxn id="26" idx="1"/>
          </p:cNvCxnSpPr>
          <p:nvPr/>
        </p:nvCxnSpPr>
        <p:spPr>
          <a:xfrm flipV="1">
            <a:off x="4503927" y="4904163"/>
            <a:ext cx="537110" cy="10570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Rechteck 42">
            <a:extLst>
              <a:ext uri="{FF2B5EF4-FFF2-40B4-BE49-F238E27FC236}">
                <a16:creationId xmlns:a16="http://schemas.microsoft.com/office/drawing/2014/main" id="{A8D8BDE9-6221-1FB0-4D1F-FF664962B6FA}"/>
              </a:ext>
            </a:extLst>
          </p:cNvPr>
          <p:cNvSpPr/>
          <p:nvPr/>
        </p:nvSpPr>
        <p:spPr>
          <a:xfrm>
            <a:off x="1843534" y="5140383"/>
            <a:ext cx="2401991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Financialization</a:t>
            </a:r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Effects</a:t>
            </a:r>
            <a:endParaRPr lang="de-DE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E682C982-6B94-5F66-157F-228F6EBAD9BD}"/>
              </a:ext>
            </a:extLst>
          </p:cNvPr>
          <p:cNvSpPr/>
          <p:nvPr/>
        </p:nvSpPr>
        <p:spPr>
          <a:xfrm>
            <a:off x="3317272" y="5961248"/>
            <a:ext cx="2373309" cy="3473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Oil </a:t>
            </a:r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price</a:t>
            </a:r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shock</a:t>
            </a:r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affecting</a:t>
            </a:r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exchange</a:t>
            </a:r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rate </a:t>
            </a:r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</a:t>
            </a:r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</a:t>
            </a:r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channels</a:t>
            </a:r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see</a:t>
            </a:r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</a:t>
            </a:r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oil</a:t>
            </a:r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shocks</a:t>
            </a:r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Markov </a:t>
            </a:r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Switching</a:t>
            </a:r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87230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64EAA-FBE9-B47B-2BDD-4D0EA1F43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B5B959-6D7D-A9E3-7E94-BDB6C9ACC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68592"/>
          </a:xfrm>
        </p:spPr>
        <p:txBody>
          <a:bodyPr/>
          <a:lstStyle/>
          <a:p>
            <a:endParaRPr lang="de-DE" dirty="0"/>
          </a:p>
        </p:txBody>
      </p:sp>
      <p:pic>
        <p:nvPicPr>
          <p:cNvPr id="4" name="Grafik 3" descr="Ein Bild, das Text, Schrift, Screenshot, Grafiken enthält.&#10;&#10;Automatisch generierte Beschreibung">
            <a:extLst>
              <a:ext uri="{FF2B5EF4-FFF2-40B4-BE49-F238E27FC236}">
                <a16:creationId xmlns:a16="http://schemas.microsoft.com/office/drawing/2014/main" id="{225F917F-BF2E-2FE9-478F-D114A1C2EE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28" y="0"/>
            <a:ext cx="1600172" cy="766261"/>
          </a:xfrm>
          <a:prstGeom prst="rect">
            <a:avLst/>
          </a:prstGeom>
        </p:spPr>
      </p:pic>
      <p:pic>
        <p:nvPicPr>
          <p:cNvPr id="5" name="Picture 2" descr="Universität Kiel Logo PNG vector in SVG, PDF, AI, CDR format">
            <a:extLst>
              <a:ext uri="{FF2B5EF4-FFF2-40B4-BE49-F238E27FC236}">
                <a16:creationId xmlns:a16="http://schemas.microsoft.com/office/drawing/2014/main" id="{1C70A84B-60B2-B04E-F884-406A77B91F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72" t="4343" r="20103" b="3488"/>
          <a:stretch>
            <a:fillRect/>
          </a:stretch>
        </p:blipFill>
        <p:spPr bwMode="auto">
          <a:xfrm>
            <a:off x="9432580" y="2562648"/>
            <a:ext cx="3964282" cy="462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DFB64B3E-D525-9C3F-4EAD-DF0C78AB5D38}"/>
              </a:ext>
            </a:extLst>
          </p:cNvPr>
          <p:cNvSpPr/>
          <p:nvPr/>
        </p:nvSpPr>
        <p:spPr>
          <a:xfrm>
            <a:off x="3141665" y="2723384"/>
            <a:ext cx="5892623" cy="1198166"/>
          </a:xfrm>
          <a:prstGeom prst="roundRect">
            <a:avLst/>
          </a:prstGeom>
          <a:solidFill>
            <a:srgbClr val="00677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500" dirty="0"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de-DE" sz="2500" dirty="0" err="1">
                <a:latin typeface="Arial" panose="020B0604020202020204" pitchFamily="34" charset="0"/>
                <a:cs typeface="Arial" panose="020B0604020202020204" pitchFamily="34" charset="0"/>
              </a:rPr>
              <a:t>Theoretical</a:t>
            </a:r>
            <a:r>
              <a:rPr lang="de-DE" sz="2500" dirty="0">
                <a:latin typeface="Arial" panose="020B0604020202020204" pitchFamily="34" charset="0"/>
                <a:cs typeface="Arial" panose="020B0604020202020204" pitchFamily="34" charset="0"/>
              </a:rPr>
              <a:t> Framework</a:t>
            </a:r>
          </a:p>
        </p:txBody>
      </p:sp>
    </p:spTree>
    <p:extLst>
      <p:ext uri="{BB962C8B-B14F-4D97-AF65-F5344CB8AC3E}">
        <p14:creationId xmlns:p14="http://schemas.microsoft.com/office/powerpoint/2010/main" val="941640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F46E59-C844-732C-B713-73C9B977F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 Prices and </a:t>
            </a:r>
            <a:r>
              <a:rPr lang="de-DE" dirty="0" err="1"/>
              <a:t>measurements</a:t>
            </a:r>
            <a:r>
              <a:rPr lang="de-DE" dirty="0"/>
              <a:t>, </a:t>
            </a:r>
            <a:r>
              <a:rPr lang="de-DE" dirty="0" err="1"/>
              <a:t>understanding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bigger</a:t>
            </a:r>
            <a:r>
              <a:rPr lang="de-DE" dirty="0"/>
              <a:t> </a:t>
            </a:r>
            <a:r>
              <a:rPr lang="de-DE" dirty="0" err="1"/>
              <a:t>picture</a:t>
            </a:r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16BCAC0D-0F5C-9FF4-D7FC-C513A6AB8AF6}"/>
              </a:ext>
            </a:extLst>
          </p:cNvPr>
          <p:cNvSpPr/>
          <p:nvPr/>
        </p:nvSpPr>
        <p:spPr>
          <a:xfrm>
            <a:off x="5066188" y="4526441"/>
            <a:ext cx="2102424" cy="4505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 Energy commodity prices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8778761-1941-07CB-15E5-21E1254477DC}"/>
              </a:ext>
            </a:extLst>
          </p:cNvPr>
          <p:cNvSpPr/>
          <p:nvPr/>
        </p:nvSpPr>
        <p:spPr>
          <a:xfrm>
            <a:off x="9192582" y="3458213"/>
            <a:ext cx="1922827" cy="3916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 exchange rates in </a:t>
            </a:r>
            <a:r>
              <a:rPr lang="de-DE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external terms</a:t>
            </a:r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CPI/PPI</a:t>
            </a: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96C4816F-11AA-59DF-E7E0-9B44AA1C0D4E}"/>
              </a:ext>
            </a:extLst>
          </p:cNvPr>
          <p:cNvCxnSpPr>
            <a:cxnSpLocks/>
            <a:stCxn id="31" idx="3"/>
            <a:endCxn id="6" idx="1"/>
          </p:cNvCxnSpPr>
          <p:nvPr/>
        </p:nvCxnSpPr>
        <p:spPr>
          <a:xfrm flipV="1">
            <a:off x="8933251" y="3654044"/>
            <a:ext cx="259331" cy="2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hteck 7">
            <a:extLst>
              <a:ext uri="{FF2B5EF4-FFF2-40B4-BE49-F238E27FC236}">
                <a16:creationId xmlns:a16="http://schemas.microsoft.com/office/drawing/2014/main" id="{4D2C66E4-93E7-6095-C1A8-32B87D9D42E9}"/>
              </a:ext>
            </a:extLst>
          </p:cNvPr>
          <p:cNvSpPr/>
          <p:nvPr/>
        </p:nvSpPr>
        <p:spPr>
          <a:xfrm>
            <a:off x="9187292" y="3942046"/>
            <a:ext cx="1922827" cy="7835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 exchange rates in </a:t>
            </a:r>
            <a:r>
              <a:rPr lang="de-DE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 terms/terms of trade</a:t>
            </a:r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Ratio tradable and non-tradable goods</a:t>
            </a:r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91D75B76-1D8C-9F9E-35BD-4F23042C6AA8}"/>
              </a:ext>
            </a:extLst>
          </p:cNvPr>
          <p:cNvCxnSpPr>
            <a:cxnSpLocks/>
            <a:stCxn id="12" idx="2"/>
            <a:endCxn id="9" idx="0"/>
          </p:cNvCxnSpPr>
          <p:nvPr/>
        </p:nvCxnSpPr>
        <p:spPr>
          <a:xfrm flipH="1">
            <a:off x="2905360" y="4346230"/>
            <a:ext cx="1" cy="2063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hteck 10">
                <a:extLst>
                  <a:ext uri="{FF2B5EF4-FFF2-40B4-BE49-F238E27FC236}">
                    <a16:creationId xmlns:a16="http://schemas.microsoft.com/office/drawing/2014/main" id="{BFD3BF47-B23E-3EFE-5A7E-8F7C9A3E060F}"/>
                  </a:ext>
                </a:extLst>
              </p:cNvPr>
              <p:cNvSpPr/>
              <p:nvPr/>
            </p:nvSpPr>
            <p:spPr>
              <a:xfrm>
                <a:off x="1737605" y="2329818"/>
                <a:ext cx="2330959" cy="870345"/>
              </a:xfrm>
              <a:prstGeom prst="rect">
                <a:avLst/>
              </a:prstGeom>
              <a:noFill/>
              <a:ln>
                <a:solidFill>
                  <a:srgbClr val="00677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1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Nominal Exchange Rates </a:t>
                </a:r>
                <a:r>
                  <a:rPr lang="de-DE" sz="11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(NER)</a:t>
                </a:r>
              </a:p>
              <a:p>
                <a:pPr algn="ctr"/>
                <a:endParaRPr lang="de-DE" sz="11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de-DE" sz="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𝑵𝑬𝑹</m:t>
                          </m:r>
                        </m:e>
                        <m:sub>
                          <m:r>
                            <a:rPr lang="de-DE" sz="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𝒄𝒐𝒖𝒏𝒕𝒓𝒚</m:t>
                          </m:r>
                          <m:r>
                            <a:rPr lang="de-DE" sz="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de-DE" sz="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𝒊</m:t>
                          </m:r>
                        </m:sub>
                      </m:sSub>
                      <m:r>
                        <a:rPr lang="de-DE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 </m:t>
                      </m:r>
                      <m:f>
                        <m:fPr>
                          <m:ctrlPr>
                            <a:rPr lang="de-DE" sz="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sz="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de-DE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𝑃𝑟𝑖𝑐𝑒</m:t>
                              </m:r>
                            </m:e>
                            <m:sub>
                              <m:r>
                                <a:rPr lang="de-DE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𝑐𝑜𝑢𝑛𝑡𝑟𝑦</m:t>
                              </m:r>
                              <m:r>
                                <a:rPr lang="de-DE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de-DE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DE" sz="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de-DE" sz="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𝑃𝑟𝑖𝑐𝑒</m:t>
                              </m:r>
                            </m:e>
                            <m:sub>
                              <m:r>
                                <a:rPr lang="de-DE" sz="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𝑐𝑜𝑢𝑛𝑡𝑟𝑦</m:t>
                              </m:r>
                              <m:r>
                                <a:rPr lang="de-DE" sz="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de-DE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DE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Rechteck 10">
                <a:extLst>
                  <a:ext uri="{FF2B5EF4-FFF2-40B4-BE49-F238E27FC236}">
                    <a16:creationId xmlns:a16="http://schemas.microsoft.com/office/drawing/2014/main" id="{BFD3BF47-B23E-3EFE-5A7E-8F7C9A3E06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7605" y="2329818"/>
                <a:ext cx="2330959" cy="8703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00677C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hteck 11">
            <a:extLst>
              <a:ext uri="{FF2B5EF4-FFF2-40B4-BE49-F238E27FC236}">
                <a16:creationId xmlns:a16="http://schemas.microsoft.com/office/drawing/2014/main" id="{F51E0B22-B540-EE0D-8575-524BB6E15F55}"/>
              </a:ext>
            </a:extLst>
          </p:cNvPr>
          <p:cNvSpPr/>
          <p:nvPr/>
        </p:nvSpPr>
        <p:spPr>
          <a:xfrm>
            <a:off x="1739300" y="3895707"/>
            <a:ext cx="2332121" cy="4505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Nominal Energy commodity prices</a:t>
            </a: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5F6FAF93-DEE9-540F-F3CC-FE30C512723A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4068564" y="2764991"/>
            <a:ext cx="5040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9" name="Gruppieren 48">
            <a:extLst>
              <a:ext uri="{FF2B5EF4-FFF2-40B4-BE49-F238E27FC236}">
                <a16:creationId xmlns:a16="http://schemas.microsoft.com/office/drawing/2014/main" id="{01E80341-169C-44C5-593A-2417C221CDB1}"/>
              </a:ext>
            </a:extLst>
          </p:cNvPr>
          <p:cNvGrpSpPr/>
          <p:nvPr/>
        </p:nvGrpSpPr>
        <p:grpSpPr>
          <a:xfrm>
            <a:off x="1739299" y="4552618"/>
            <a:ext cx="2864729" cy="450523"/>
            <a:chOff x="815374" y="5201118"/>
            <a:chExt cx="2864729" cy="450523"/>
          </a:xfrm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8330FE4D-E070-BE26-69F4-72B7643E0B50}"/>
                </a:ext>
              </a:extLst>
            </p:cNvPr>
            <p:cNvSpPr/>
            <p:nvPr/>
          </p:nvSpPr>
          <p:spPr>
            <a:xfrm>
              <a:off x="815374" y="5201118"/>
              <a:ext cx="2332121" cy="45052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Spot or Futures Markets (prices)</a:t>
              </a:r>
            </a:p>
          </p:txBody>
        </p:sp>
        <p:cxnSp>
          <p:nvCxnSpPr>
            <p:cNvPr id="14" name="Gerade Verbindung mit Pfeil 13">
              <a:extLst>
                <a:ext uri="{FF2B5EF4-FFF2-40B4-BE49-F238E27FC236}">
                  <a16:creationId xmlns:a16="http://schemas.microsoft.com/office/drawing/2014/main" id="{EE893133-F90C-6024-992F-CD83E6CC04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47496" y="5429667"/>
              <a:ext cx="532607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390694D7-325E-B3AE-0D07-43E1CB9897F5}"/>
              </a:ext>
            </a:extLst>
          </p:cNvPr>
          <p:cNvCxnSpPr>
            <a:cxnSpLocks/>
            <a:endCxn id="42" idx="1"/>
          </p:cNvCxnSpPr>
          <p:nvPr/>
        </p:nvCxnSpPr>
        <p:spPr>
          <a:xfrm>
            <a:off x="4822973" y="3396583"/>
            <a:ext cx="2432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EEE34F41-93AF-4DB2-C5B0-F13BA0571BAC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4820029" y="4751703"/>
            <a:ext cx="2461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hteck 21">
            <a:extLst>
              <a:ext uri="{FF2B5EF4-FFF2-40B4-BE49-F238E27FC236}">
                <a16:creationId xmlns:a16="http://schemas.microsoft.com/office/drawing/2014/main" id="{03029D73-5F82-CF7E-1D80-9C42A94C8DFB}"/>
              </a:ext>
            </a:extLst>
          </p:cNvPr>
          <p:cNvSpPr/>
          <p:nvPr/>
        </p:nvSpPr>
        <p:spPr>
          <a:xfrm rot="16200000">
            <a:off x="2782855" y="3587009"/>
            <a:ext cx="3858348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Inflation/Relative Consumer Prices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1AF9E62A-7D76-13DD-3B80-E3F112B1549E}"/>
              </a:ext>
            </a:extLst>
          </p:cNvPr>
          <p:cNvSpPr/>
          <p:nvPr/>
        </p:nvSpPr>
        <p:spPr>
          <a:xfrm>
            <a:off x="1739299" y="3334911"/>
            <a:ext cx="2332121" cy="450523"/>
          </a:xfrm>
          <a:prstGeom prst="rect">
            <a:avLst/>
          </a:prstGeom>
          <a:noFill/>
          <a:ln>
            <a:solidFill>
              <a:srgbClr val="0067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Spot or Futures Markets (prices)</a:t>
            </a: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52A3420B-4D9F-7656-5D0C-AFE499F9E74A}"/>
              </a:ext>
            </a:extLst>
          </p:cNvPr>
          <p:cNvCxnSpPr>
            <a:cxnSpLocks/>
            <a:stCxn id="11" idx="2"/>
            <a:endCxn id="28" idx="0"/>
          </p:cNvCxnSpPr>
          <p:nvPr/>
        </p:nvCxnSpPr>
        <p:spPr>
          <a:xfrm>
            <a:off x="2903085" y="3200163"/>
            <a:ext cx="2275" cy="134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Rechteck 29">
            <a:extLst>
              <a:ext uri="{FF2B5EF4-FFF2-40B4-BE49-F238E27FC236}">
                <a16:creationId xmlns:a16="http://schemas.microsoft.com/office/drawing/2014/main" id="{B234D9DB-138E-FA40-AB54-5A3A82243BA1}"/>
              </a:ext>
            </a:extLst>
          </p:cNvPr>
          <p:cNvSpPr/>
          <p:nvPr/>
        </p:nvSpPr>
        <p:spPr>
          <a:xfrm>
            <a:off x="7463386" y="2818105"/>
            <a:ext cx="1469865" cy="5540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Price variables:</a:t>
            </a:r>
          </a:p>
          <a:p>
            <a:pPr marL="171450" indent="-171450" algn="ctr">
              <a:buFontTx/>
              <a:buChar char="-"/>
            </a:pPr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GDP deflator</a:t>
            </a:r>
          </a:p>
          <a:p>
            <a:pPr marL="171450" indent="-171450" algn="ctr">
              <a:buFontTx/>
              <a:buChar char="-"/>
            </a:pPr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Unit labor costs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5B37C0FB-0FEE-89D1-3F2B-D377733EFE6D}"/>
              </a:ext>
            </a:extLst>
          </p:cNvPr>
          <p:cNvSpPr/>
          <p:nvPr/>
        </p:nvSpPr>
        <p:spPr>
          <a:xfrm>
            <a:off x="7463388" y="3460370"/>
            <a:ext cx="1469863" cy="3916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Tx/>
              <a:buChar char="-"/>
            </a:pPr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Consumer prices</a:t>
            </a:r>
          </a:p>
          <a:p>
            <a:pPr marL="171450" indent="-171450" algn="ctr">
              <a:buFontTx/>
              <a:buChar char="-"/>
            </a:pPr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Producer prices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BB6AA915-16FC-D383-BED4-AA6839C6DA68}"/>
              </a:ext>
            </a:extLst>
          </p:cNvPr>
          <p:cNvSpPr/>
          <p:nvPr/>
        </p:nvSpPr>
        <p:spPr>
          <a:xfrm>
            <a:off x="7458864" y="3950672"/>
            <a:ext cx="1477333" cy="3998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Tx/>
              <a:buChar char="-"/>
            </a:pPr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Export prices</a:t>
            </a:r>
          </a:p>
        </p:txBody>
      </p:sp>
      <p:cxnSp>
        <p:nvCxnSpPr>
          <p:cNvPr id="33" name="Gewinkelte Verbindung 89">
            <a:extLst>
              <a:ext uri="{FF2B5EF4-FFF2-40B4-BE49-F238E27FC236}">
                <a16:creationId xmlns:a16="http://schemas.microsoft.com/office/drawing/2014/main" id="{80B27698-F627-2F24-2601-7954D080F123}"/>
              </a:ext>
            </a:extLst>
          </p:cNvPr>
          <p:cNvCxnSpPr>
            <a:cxnSpLocks/>
            <a:endCxn id="30" idx="1"/>
          </p:cNvCxnSpPr>
          <p:nvPr/>
        </p:nvCxnSpPr>
        <p:spPr>
          <a:xfrm rot="16200000" flipH="1">
            <a:off x="6783514" y="2415257"/>
            <a:ext cx="218766" cy="1140977"/>
          </a:xfrm>
          <a:prstGeom prst="bentConnector4">
            <a:avLst>
              <a:gd name="adj1" fmla="val -37796"/>
              <a:gd name="adj2" fmla="val 8863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Rechteck 33">
            <a:extLst>
              <a:ext uri="{FF2B5EF4-FFF2-40B4-BE49-F238E27FC236}">
                <a16:creationId xmlns:a16="http://schemas.microsoft.com/office/drawing/2014/main" id="{E0B2EF35-ED7D-D6A9-E144-E0DF4AD04C3B}"/>
              </a:ext>
            </a:extLst>
          </p:cNvPr>
          <p:cNvSpPr/>
          <p:nvPr/>
        </p:nvSpPr>
        <p:spPr>
          <a:xfrm>
            <a:off x="7466332" y="2793762"/>
            <a:ext cx="1469865" cy="15324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hteck 41">
                <a:extLst>
                  <a:ext uri="{FF2B5EF4-FFF2-40B4-BE49-F238E27FC236}">
                    <a16:creationId xmlns:a16="http://schemas.microsoft.com/office/drawing/2014/main" id="{792E524F-F653-98D1-4FBA-A4C1AFE07C6C}"/>
                  </a:ext>
                </a:extLst>
              </p:cNvPr>
              <p:cNvSpPr/>
              <p:nvPr/>
            </p:nvSpPr>
            <p:spPr>
              <a:xfrm>
                <a:off x="5066188" y="2898394"/>
                <a:ext cx="1763292" cy="99637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1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Real Exchange Rates</a:t>
                </a:r>
              </a:p>
              <a:p>
                <a:pPr algn="ctr"/>
                <a:r>
                  <a:rPr lang="de-DE" sz="11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(RER)</a:t>
                </a:r>
              </a:p>
              <a:p>
                <a:pPr algn="ctr"/>
                <a:endParaRPr lang="de-DE" sz="11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de-DE" sz="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𝑹𝑬𝑹</m:t>
                          </m:r>
                        </m:e>
                        <m:sub>
                          <m:r>
                            <a:rPr lang="de-DE" sz="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𝒄𝒐𝒖𝒏𝒕𝒓𝒚</m:t>
                          </m:r>
                          <m:r>
                            <a:rPr lang="de-DE" sz="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de-DE" sz="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𝒊</m:t>
                          </m:r>
                        </m:sub>
                      </m:sSub>
                      <m:r>
                        <a:rPr lang="de-DE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</m:oMath>
                  </m:oMathPara>
                </a14:m>
                <a:endParaRPr lang="de-DE" sz="800" i="1" dirty="0">
                  <a:solidFill>
                    <a:schemeClr val="tx1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ctr"/>
                <a:endParaRPr lang="de-DE" sz="800" i="1" dirty="0">
                  <a:solidFill>
                    <a:schemeClr val="tx1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de-DE" sz="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de-DE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𝑁𝐸𝑅</m:t>
                        </m:r>
                      </m:e>
                      <m:sub>
                        <m:r>
                          <a:rPr lang="de-DE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𝑐𝑜𝑢𝑛𝑡𝑟𝑦</m:t>
                        </m:r>
                        <m:r>
                          <a:rPr lang="de-DE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de-DE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de-DE" sz="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de-DE" sz="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 </m:t>
                    </m:r>
                    <m:f>
                      <m:fPr>
                        <m:ctrlPr>
                          <a:rPr lang="de-DE" sz="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de-DE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𝑃𝑟𝑖𝑐𝑒</m:t>
                            </m:r>
                          </m:e>
                          <m:sub>
                            <m:r>
                              <a:rPr lang="de-DE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𝑐𝑜𝑢𝑛𝑡𝑟𝑦</m:t>
                            </m:r>
                            <m:r>
                              <a:rPr lang="de-DE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a:rPr lang="de-DE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de-DE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𝑃𝑟𝑖𝑐𝑒</m:t>
                            </m:r>
                          </m:e>
                          <m:sub>
                            <m:r>
                              <a:rPr lang="de-DE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𝑐𝑜𝑢𝑛𝑡𝑟𝑦</m:t>
                            </m:r>
                            <m:r>
                              <a:rPr lang="de-DE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a:rPr lang="de-DE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lang="de-DE" sz="11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2" name="Rechteck 41">
                <a:extLst>
                  <a:ext uri="{FF2B5EF4-FFF2-40B4-BE49-F238E27FC236}">
                    <a16:creationId xmlns:a16="http://schemas.microsoft.com/office/drawing/2014/main" id="{792E524F-F653-98D1-4FBA-A4C1AFE07C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6188" y="2898394"/>
                <a:ext cx="1763292" cy="996378"/>
              </a:xfrm>
              <a:prstGeom prst="rect">
                <a:avLst/>
              </a:prstGeom>
              <a:blipFill>
                <a:blip r:embed="rId4"/>
                <a:stretch>
                  <a:fillRect t="-2994" b="-59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echteck 44">
            <a:extLst>
              <a:ext uri="{FF2B5EF4-FFF2-40B4-BE49-F238E27FC236}">
                <a16:creationId xmlns:a16="http://schemas.microsoft.com/office/drawing/2014/main" id="{85777EDA-1A6B-FC33-1EE1-C45075CD6BA2}"/>
              </a:ext>
            </a:extLst>
          </p:cNvPr>
          <p:cNvSpPr/>
          <p:nvPr/>
        </p:nvSpPr>
        <p:spPr>
          <a:xfrm>
            <a:off x="1105061" y="1248811"/>
            <a:ext cx="3498967" cy="21165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Nominal terms</a:t>
            </a: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55F05C76-4649-F941-E6BB-482DEE8D5910}"/>
              </a:ext>
            </a:extLst>
          </p:cNvPr>
          <p:cNvSpPr/>
          <p:nvPr/>
        </p:nvSpPr>
        <p:spPr>
          <a:xfrm>
            <a:off x="4820028" y="1243660"/>
            <a:ext cx="6290091" cy="21165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 terms</a:t>
            </a:r>
          </a:p>
        </p:txBody>
      </p:sp>
      <p:cxnSp>
        <p:nvCxnSpPr>
          <p:cNvPr id="48" name="Gewinkelte Verbindung 108">
            <a:extLst>
              <a:ext uri="{FF2B5EF4-FFF2-40B4-BE49-F238E27FC236}">
                <a16:creationId xmlns:a16="http://schemas.microsoft.com/office/drawing/2014/main" id="{A8197B9F-54C5-E958-8996-D2B3B01E96BB}"/>
              </a:ext>
            </a:extLst>
          </p:cNvPr>
          <p:cNvCxnSpPr>
            <a:cxnSpLocks/>
            <a:stCxn id="32" idx="3"/>
            <a:endCxn id="8" idx="1"/>
          </p:cNvCxnSpPr>
          <p:nvPr/>
        </p:nvCxnSpPr>
        <p:spPr>
          <a:xfrm>
            <a:off x="8936197" y="4150599"/>
            <a:ext cx="251095" cy="1832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0228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6E1CB7-58AF-3081-B24E-3F08475C0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E839592D-2F28-DC1F-8E92-C0C019AD8D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9213434"/>
              </p:ext>
            </p:extLst>
          </p:nvPr>
        </p:nvGraphicFramePr>
        <p:xfrm>
          <a:off x="626492" y="1280047"/>
          <a:ext cx="10267504" cy="4268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2781">
                  <a:extLst>
                    <a:ext uri="{9D8B030D-6E8A-4147-A177-3AD203B41FA5}">
                      <a16:colId xmlns:a16="http://schemas.microsoft.com/office/drawing/2014/main" val="1829092657"/>
                    </a:ext>
                  </a:extLst>
                </a:gridCol>
                <a:gridCol w="1618518">
                  <a:extLst>
                    <a:ext uri="{9D8B030D-6E8A-4147-A177-3AD203B41FA5}">
                      <a16:colId xmlns:a16="http://schemas.microsoft.com/office/drawing/2014/main" val="2305079191"/>
                    </a:ext>
                  </a:extLst>
                </a:gridCol>
                <a:gridCol w="815299">
                  <a:extLst>
                    <a:ext uri="{9D8B030D-6E8A-4147-A177-3AD203B41FA5}">
                      <a16:colId xmlns:a16="http://schemas.microsoft.com/office/drawing/2014/main" val="3044762045"/>
                    </a:ext>
                  </a:extLst>
                </a:gridCol>
                <a:gridCol w="1203089">
                  <a:extLst>
                    <a:ext uri="{9D8B030D-6E8A-4147-A177-3AD203B41FA5}">
                      <a16:colId xmlns:a16="http://schemas.microsoft.com/office/drawing/2014/main" val="12788449"/>
                    </a:ext>
                  </a:extLst>
                </a:gridCol>
                <a:gridCol w="1248121">
                  <a:extLst>
                    <a:ext uri="{9D8B030D-6E8A-4147-A177-3AD203B41FA5}">
                      <a16:colId xmlns:a16="http://schemas.microsoft.com/office/drawing/2014/main" val="1212434301"/>
                    </a:ext>
                  </a:extLst>
                </a:gridCol>
                <a:gridCol w="1248121">
                  <a:extLst>
                    <a:ext uri="{9D8B030D-6E8A-4147-A177-3AD203B41FA5}">
                      <a16:colId xmlns:a16="http://schemas.microsoft.com/office/drawing/2014/main" val="4146351851"/>
                    </a:ext>
                  </a:extLst>
                </a:gridCol>
                <a:gridCol w="1248121">
                  <a:extLst>
                    <a:ext uri="{9D8B030D-6E8A-4147-A177-3AD203B41FA5}">
                      <a16:colId xmlns:a16="http://schemas.microsoft.com/office/drawing/2014/main" val="1306773420"/>
                    </a:ext>
                  </a:extLst>
                </a:gridCol>
                <a:gridCol w="658070">
                  <a:extLst>
                    <a:ext uri="{9D8B030D-6E8A-4147-A177-3AD203B41FA5}">
                      <a16:colId xmlns:a16="http://schemas.microsoft.com/office/drawing/2014/main" val="3105118240"/>
                    </a:ext>
                  </a:extLst>
                </a:gridCol>
                <a:gridCol w="1022667">
                  <a:extLst>
                    <a:ext uri="{9D8B030D-6E8A-4147-A177-3AD203B41FA5}">
                      <a16:colId xmlns:a16="http://schemas.microsoft.com/office/drawing/2014/main" val="3855398356"/>
                    </a:ext>
                  </a:extLst>
                </a:gridCol>
                <a:gridCol w="782717">
                  <a:extLst>
                    <a:ext uri="{9D8B030D-6E8A-4147-A177-3AD203B41FA5}">
                      <a16:colId xmlns:a16="http://schemas.microsoft.com/office/drawing/2014/main" val="1668350418"/>
                    </a:ext>
                  </a:extLst>
                </a:gridCol>
              </a:tblGrid>
              <a:tr h="428400">
                <a:tc>
                  <a:txBody>
                    <a:bodyPr/>
                    <a:lstStyle/>
                    <a:p>
                      <a:pPr algn="ctr"/>
                      <a:r>
                        <a:rPr lang="de-DE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Exchange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Basket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</a:t>
                      </a:r>
                    </a:p>
                    <a:p>
                      <a:pPr algn="ctr"/>
                      <a:r>
                        <a:rPr lang="de-DE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Frequency</a:t>
                      </a:r>
                      <a:endParaRPr lang="de-DE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</a:t>
                      </a:r>
                    </a:p>
                    <a:p>
                      <a:pPr algn="ctr"/>
                      <a:r>
                        <a:rPr lang="de-DE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availability</a:t>
                      </a:r>
                      <a:endParaRPr lang="de-DE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Exchange</a:t>
                      </a:r>
                    </a:p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Rate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Bilateral or Multilateral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Source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093602"/>
                  </a:ext>
                </a:extLst>
              </a:tr>
              <a:tr h="4245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 kern="12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 </a:t>
                      </a:r>
                      <a:r>
                        <a:rPr lang="de-DE" sz="110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effective</a:t>
                      </a:r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10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exchange</a:t>
                      </a:r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broad</a:t>
                      </a:r>
                      <a:endParaRPr lang="de-DE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monthly</a:t>
                      </a:r>
                      <a:endParaRPr lang="de-DE" sz="11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starting</a:t>
                      </a:r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10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from</a:t>
                      </a:r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1994-01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Multilateral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M.R.B.US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https://</a:t>
                      </a:r>
                      <a:r>
                        <a:rPr lang="de-DE" sz="5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data.bis.org</a:t>
                      </a:r>
                      <a:r>
                        <a:rPr lang="de-DE" sz="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de-DE" sz="5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topics</a:t>
                      </a:r>
                      <a:r>
                        <a:rPr lang="de-DE" sz="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/EER/BIS,WS_EER,1.0/M.R.B.US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9946009"/>
                  </a:ext>
                </a:extLst>
              </a:tr>
              <a:tr h="424534">
                <a:tc>
                  <a:txBody>
                    <a:bodyPr/>
                    <a:lstStyle/>
                    <a:p>
                      <a:pPr algn="ctr"/>
                      <a:r>
                        <a:rPr lang="de-DE" sz="1100" kern="12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 </a:t>
                      </a:r>
                      <a:r>
                        <a:rPr lang="de-DE" sz="110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effective</a:t>
                      </a:r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10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exchange</a:t>
                      </a:r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narrow</a:t>
                      </a:r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de-DE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monthly</a:t>
                      </a:r>
                      <a:endParaRPr lang="de-DE" sz="11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starting</a:t>
                      </a:r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10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from</a:t>
                      </a:r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1964-01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Multilateral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M.R.N.US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https://</a:t>
                      </a:r>
                      <a:r>
                        <a:rPr lang="de-DE" sz="5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data.bis.org</a:t>
                      </a:r>
                      <a:r>
                        <a:rPr lang="de-DE" sz="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de-DE" sz="5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topics</a:t>
                      </a:r>
                      <a:r>
                        <a:rPr lang="de-DE" sz="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/EER/BIS,WS_EER,1.0/M.R.N.US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3541693"/>
                  </a:ext>
                </a:extLst>
              </a:tr>
              <a:tr h="4245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 kern="12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Nominal </a:t>
                      </a:r>
                      <a:r>
                        <a:rPr lang="de-DE" sz="110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effective</a:t>
                      </a:r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10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exchange</a:t>
                      </a:r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broad</a:t>
                      </a:r>
                      <a:endParaRPr lang="de-DE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monthly</a:t>
                      </a:r>
                      <a:endParaRPr lang="de-DE" sz="1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starting</a:t>
                      </a:r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10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from</a:t>
                      </a:r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1994-01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Multilateral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M.N.B.US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https://</a:t>
                      </a:r>
                      <a:r>
                        <a:rPr lang="de-DE" sz="5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data.bis.org</a:t>
                      </a:r>
                      <a:r>
                        <a:rPr lang="de-DE" sz="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de-DE" sz="5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topics</a:t>
                      </a:r>
                      <a:r>
                        <a:rPr lang="de-DE" sz="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/EER/BIS,WS_EER,1.0/M.N.B.US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837330"/>
                  </a:ext>
                </a:extLst>
              </a:tr>
              <a:tr h="4245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 kern="12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Nominal </a:t>
                      </a:r>
                      <a:r>
                        <a:rPr lang="de-DE" sz="110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effective</a:t>
                      </a:r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10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exchange</a:t>
                      </a:r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narrow</a:t>
                      </a:r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de-DE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monthly</a:t>
                      </a:r>
                      <a:endParaRPr lang="de-DE" sz="11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starting</a:t>
                      </a:r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10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from</a:t>
                      </a:r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1964-01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Multilateral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M.N.N.US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https://</a:t>
                      </a:r>
                      <a:r>
                        <a:rPr lang="de-DE" sz="5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data.bis.org</a:t>
                      </a:r>
                      <a:r>
                        <a:rPr lang="de-DE" sz="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de-DE" sz="5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topics</a:t>
                      </a:r>
                      <a:r>
                        <a:rPr lang="de-DE" sz="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/EER/BIS,WS_EER,1.0/M.N.N.US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7757916"/>
                  </a:ext>
                </a:extLst>
              </a:tr>
              <a:tr h="4245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 kern="12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Nominal </a:t>
                      </a:r>
                      <a:r>
                        <a:rPr lang="de-DE" sz="110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effective</a:t>
                      </a:r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10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exchange</a:t>
                      </a:r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narrow</a:t>
                      </a:r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de-DE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daily</a:t>
                      </a:r>
                      <a:endParaRPr lang="de-DE" sz="11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starting</a:t>
                      </a:r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10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from</a:t>
                      </a:r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1983-10-03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Multilateral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D.N.N.US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https://</a:t>
                      </a:r>
                      <a:r>
                        <a:rPr lang="de-DE" sz="5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data.bis.org</a:t>
                      </a:r>
                      <a:r>
                        <a:rPr lang="de-DE" sz="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de-DE" sz="5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topics</a:t>
                      </a:r>
                      <a:r>
                        <a:rPr lang="de-DE" sz="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/EER/BIS,WS_EER,1.0/D.N.N.US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5674366"/>
                  </a:ext>
                </a:extLst>
              </a:tr>
              <a:tr h="4245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 kern="12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Nominal </a:t>
                      </a:r>
                      <a:r>
                        <a:rPr lang="de-DE" sz="1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effective</a:t>
                      </a:r>
                      <a:r>
                        <a:rPr lang="de-DE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exchange</a:t>
                      </a:r>
                      <a:r>
                        <a:rPr lang="de-DE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broad</a:t>
                      </a:r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de-DE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daily</a:t>
                      </a:r>
                      <a:endParaRPr lang="de-DE" sz="11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starting</a:t>
                      </a:r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10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from</a:t>
                      </a:r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1996-04-11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Multilateral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D.N.B.US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https://</a:t>
                      </a:r>
                      <a:r>
                        <a:rPr lang="de-DE" sz="5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data.bis.org</a:t>
                      </a:r>
                      <a:r>
                        <a:rPr lang="de-DE" sz="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de-DE" sz="5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topics</a:t>
                      </a:r>
                      <a:r>
                        <a:rPr lang="de-DE" sz="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/EER/BIS,WS_EER,1.0/D.N.B.US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9877748"/>
                  </a:ext>
                </a:extLst>
              </a:tr>
              <a:tr h="2578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 kern="12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USD-EUR Spot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daily</a:t>
                      </a:r>
                      <a:endParaRPr lang="de-DE" sz="11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starting</a:t>
                      </a:r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10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from</a:t>
                      </a:r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1999-01-04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Bilateral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DEXUSEU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https://</a:t>
                      </a:r>
                      <a:r>
                        <a:rPr lang="de-DE" sz="5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fred.stlouisfed.org</a:t>
                      </a:r>
                      <a:r>
                        <a:rPr lang="de-DE" sz="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de-DE" sz="5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series</a:t>
                      </a:r>
                      <a:r>
                        <a:rPr lang="de-DE" sz="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/DEXUSEU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377485"/>
                  </a:ext>
                </a:extLst>
              </a:tr>
              <a:tr h="4245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 kern="12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Nominal Broad U.S. Dollar Index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broad</a:t>
                      </a:r>
                      <a:endParaRPr lang="de-DE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daily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starting</a:t>
                      </a:r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10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from</a:t>
                      </a:r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2006-01-02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Multilateral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DTWEXBGS</a:t>
                      </a:r>
                    </a:p>
                    <a:p>
                      <a:pPr algn="ctr"/>
                      <a:endParaRPr lang="de-DE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https://</a:t>
                      </a:r>
                      <a:r>
                        <a:rPr lang="de-DE" sz="5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fred.stlouisfed.org</a:t>
                      </a:r>
                      <a:r>
                        <a:rPr lang="de-DE" sz="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de-DE" sz="5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series</a:t>
                      </a:r>
                      <a:r>
                        <a:rPr lang="de-DE" sz="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/DTWEXBGS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7079788"/>
                  </a:ext>
                </a:extLst>
              </a:tr>
              <a:tr h="42434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 kern="12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 Broad Dollar Index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broad</a:t>
                      </a:r>
                      <a:endParaRPr lang="de-DE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monthly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starting</a:t>
                      </a:r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10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from</a:t>
                      </a:r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2006-01-01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Multilateral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RTWEXBGS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https://fred.stlouisfed.org/series/RTWEXBGS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7591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1796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191ADE-24A5-3725-D7A3-DBE67A24D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cxnSp>
        <p:nvCxnSpPr>
          <p:cNvPr id="36" name="Gewinkelte Verbindung 112">
            <a:extLst>
              <a:ext uri="{FF2B5EF4-FFF2-40B4-BE49-F238E27FC236}">
                <a16:creationId xmlns:a16="http://schemas.microsoft.com/office/drawing/2014/main" id="{F55F39BD-4B13-C9E8-3775-16750F3E9E8A}"/>
              </a:ext>
            </a:extLst>
          </p:cNvPr>
          <p:cNvCxnSpPr>
            <a:cxnSpLocks/>
            <a:stCxn id="40" idx="2"/>
            <a:endCxn id="65" idx="1"/>
          </p:cNvCxnSpPr>
          <p:nvPr/>
        </p:nvCxnSpPr>
        <p:spPr>
          <a:xfrm rot="16200000" flipH="1">
            <a:off x="4955036" y="3264687"/>
            <a:ext cx="671153" cy="16325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Rechteck 36">
            <a:extLst>
              <a:ext uri="{FF2B5EF4-FFF2-40B4-BE49-F238E27FC236}">
                <a16:creationId xmlns:a16="http://schemas.microsoft.com/office/drawing/2014/main" id="{A743FB51-CCD9-B482-2929-3484F68F4DDE}"/>
              </a:ext>
            </a:extLst>
          </p:cNvPr>
          <p:cNvSpPr/>
          <p:nvPr/>
        </p:nvSpPr>
        <p:spPr>
          <a:xfrm>
            <a:off x="505441" y="2460124"/>
            <a:ext cx="1013015" cy="5506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Fundamental</a:t>
            </a:r>
          </a:p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Shock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648DD00D-08FF-6405-3180-D6F5DDB8CC53}"/>
              </a:ext>
            </a:extLst>
          </p:cNvPr>
          <p:cNvSpPr/>
          <p:nvPr/>
        </p:nvSpPr>
        <p:spPr>
          <a:xfrm>
            <a:off x="1697549" y="2462147"/>
            <a:ext cx="1667844" cy="5506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Adjusted</a:t>
            </a:r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Future </a:t>
            </a:r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Expectations</a:t>
            </a:r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Demand-Supply Levels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8C253B2D-3F53-20D0-954F-DBE27D74F1FC}"/>
              </a:ext>
            </a:extLst>
          </p:cNvPr>
          <p:cNvSpPr/>
          <p:nvPr/>
        </p:nvSpPr>
        <p:spPr>
          <a:xfrm>
            <a:off x="3582522" y="2460127"/>
            <a:ext cx="1013015" cy="5506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(Spot) Price Adjustments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3C711C05-71E9-970B-3111-30CFAEF1DB0A}"/>
              </a:ext>
            </a:extLst>
          </p:cNvPr>
          <p:cNvSpPr/>
          <p:nvPr/>
        </p:nvSpPr>
        <p:spPr>
          <a:xfrm>
            <a:off x="4808281" y="2460122"/>
            <a:ext cx="801408" cy="5506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Increased</a:t>
            </a:r>
            <a:endParaRPr lang="de-DE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Volatility</a:t>
            </a:r>
            <a:endParaRPr lang="de-DE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4D83D077-08D8-9047-94F7-D8B961E519B6}"/>
              </a:ext>
            </a:extLst>
          </p:cNvPr>
          <p:cNvSpPr/>
          <p:nvPr/>
        </p:nvSpPr>
        <p:spPr>
          <a:xfrm>
            <a:off x="5819150" y="2460124"/>
            <a:ext cx="1470274" cy="5506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Inflationary</a:t>
            </a:r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Pressure</a:t>
            </a:r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driving</a:t>
            </a:r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</a:t>
            </a:r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prices</a:t>
            </a:r>
            <a:endParaRPr lang="de-DE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BC9DBBA4-F277-BB50-2D82-4DB077CB4F38}"/>
              </a:ext>
            </a:extLst>
          </p:cNvPr>
          <p:cNvSpPr/>
          <p:nvPr/>
        </p:nvSpPr>
        <p:spPr>
          <a:xfrm>
            <a:off x="7498885" y="2462145"/>
            <a:ext cx="1250320" cy="5506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Monetary</a:t>
            </a:r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Policy:</a:t>
            </a:r>
          </a:p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Rate Hikes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B7C79130-DF1A-12B8-0169-61BF8BB59CE6}"/>
              </a:ext>
            </a:extLst>
          </p:cNvPr>
          <p:cNvSpPr/>
          <p:nvPr/>
        </p:nvSpPr>
        <p:spPr>
          <a:xfrm>
            <a:off x="4334555" y="1633991"/>
            <a:ext cx="3259243" cy="2834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Heavily</a:t>
            </a:r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affect</a:t>
            </a:r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importing</a:t>
            </a:r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exporting</a:t>
            </a:r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economies</a:t>
            </a:r>
            <a:endParaRPr lang="de-DE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79BCA2C4-4FD3-D4B7-E515-65D33AE9F42B}"/>
              </a:ext>
            </a:extLst>
          </p:cNvPr>
          <p:cNvCxnSpPr>
            <a:cxnSpLocks/>
            <a:stCxn id="37" idx="3"/>
            <a:endCxn id="38" idx="1"/>
          </p:cNvCxnSpPr>
          <p:nvPr/>
        </p:nvCxnSpPr>
        <p:spPr>
          <a:xfrm>
            <a:off x="1518456" y="2735433"/>
            <a:ext cx="179093" cy="20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16085A73-3DAF-34CE-E4B7-618DD7ED23DB}"/>
              </a:ext>
            </a:extLst>
          </p:cNvPr>
          <p:cNvCxnSpPr>
            <a:cxnSpLocks/>
            <a:stCxn id="38" idx="3"/>
            <a:endCxn id="39" idx="1"/>
          </p:cNvCxnSpPr>
          <p:nvPr/>
        </p:nvCxnSpPr>
        <p:spPr>
          <a:xfrm flipV="1">
            <a:off x="3365393" y="2735436"/>
            <a:ext cx="217129" cy="2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9059612A-6E98-8ECD-A4B3-7E2E418298E5}"/>
              </a:ext>
            </a:extLst>
          </p:cNvPr>
          <p:cNvCxnSpPr>
            <a:cxnSpLocks/>
            <a:stCxn id="39" idx="3"/>
            <a:endCxn id="40" idx="1"/>
          </p:cNvCxnSpPr>
          <p:nvPr/>
        </p:nvCxnSpPr>
        <p:spPr>
          <a:xfrm flipV="1">
            <a:off x="4595537" y="2735431"/>
            <a:ext cx="212744" cy="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B7B1151C-7440-9D10-BF85-ECDB61594DE6}"/>
              </a:ext>
            </a:extLst>
          </p:cNvPr>
          <p:cNvCxnSpPr>
            <a:cxnSpLocks/>
            <a:stCxn id="40" idx="3"/>
            <a:endCxn id="41" idx="1"/>
          </p:cNvCxnSpPr>
          <p:nvPr/>
        </p:nvCxnSpPr>
        <p:spPr>
          <a:xfrm>
            <a:off x="5609689" y="2735431"/>
            <a:ext cx="209461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CF0DCC80-CC34-018A-1AA5-C4ADC0C601C7}"/>
              </a:ext>
            </a:extLst>
          </p:cNvPr>
          <p:cNvCxnSpPr>
            <a:cxnSpLocks/>
            <a:stCxn id="41" idx="3"/>
            <a:endCxn id="42" idx="1"/>
          </p:cNvCxnSpPr>
          <p:nvPr/>
        </p:nvCxnSpPr>
        <p:spPr>
          <a:xfrm>
            <a:off x="7289424" y="2735433"/>
            <a:ext cx="209461" cy="2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Geschweifte Klammer links 48">
            <a:extLst>
              <a:ext uri="{FF2B5EF4-FFF2-40B4-BE49-F238E27FC236}">
                <a16:creationId xmlns:a16="http://schemas.microsoft.com/office/drawing/2014/main" id="{BA3A7531-C4F6-6966-B497-C22CFB4144D6}"/>
              </a:ext>
            </a:extLst>
          </p:cNvPr>
          <p:cNvSpPr/>
          <p:nvPr/>
        </p:nvSpPr>
        <p:spPr>
          <a:xfrm rot="5400000">
            <a:off x="5754595" y="-3331102"/>
            <a:ext cx="419165" cy="10917479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BF0B2CF1-3A6E-0F48-487A-1541BA127702}"/>
              </a:ext>
            </a:extLst>
          </p:cNvPr>
          <p:cNvSpPr/>
          <p:nvPr/>
        </p:nvSpPr>
        <p:spPr>
          <a:xfrm>
            <a:off x="8958666" y="2460123"/>
            <a:ext cx="993976" cy="5506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Interest Rate Differentials</a:t>
            </a: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1F50C382-C3BF-E490-5EDE-844F4BA702DF}"/>
              </a:ext>
            </a:extLst>
          </p:cNvPr>
          <p:cNvCxnSpPr>
            <a:cxnSpLocks/>
            <a:stCxn id="42" idx="3"/>
            <a:endCxn id="50" idx="1"/>
          </p:cNvCxnSpPr>
          <p:nvPr/>
        </p:nvCxnSpPr>
        <p:spPr>
          <a:xfrm flipV="1">
            <a:off x="8749205" y="2735432"/>
            <a:ext cx="209461" cy="20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Rechteck 51">
            <a:extLst>
              <a:ext uri="{FF2B5EF4-FFF2-40B4-BE49-F238E27FC236}">
                <a16:creationId xmlns:a16="http://schemas.microsoft.com/office/drawing/2014/main" id="{83EE965F-27FA-C74C-F706-35EF7328B6A1}"/>
              </a:ext>
            </a:extLst>
          </p:cNvPr>
          <p:cNvSpPr/>
          <p:nvPr/>
        </p:nvSpPr>
        <p:spPr>
          <a:xfrm>
            <a:off x="5130255" y="3177614"/>
            <a:ext cx="1667844" cy="2313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u="sng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Derived</a:t>
            </a:r>
            <a:r>
              <a:rPr lang="de-DE" sz="1100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u="sng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proxy</a:t>
            </a:r>
            <a:r>
              <a:rPr lang="de-DE" sz="1100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variables</a:t>
            </a:r>
          </a:p>
        </p:txBody>
      </p:sp>
      <p:cxnSp>
        <p:nvCxnSpPr>
          <p:cNvPr id="53" name="Gerade Verbindung 68">
            <a:extLst>
              <a:ext uri="{FF2B5EF4-FFF2-40B4-BE49-F238E27FC236}">
                <a16:creationId xmlns:a16="http://schemas.microsoft.com/office/drawing/2014/main" id="{FFEEE5BC-4BA4-6B8E-F7A1-C46C0E16FA44}"/>
              </a:ext>
            </a:extLst>
          </p:cNvPr>
          <p:cNvCxnSpPr>
            <a:cxnSpLocks/>
            <a:stCxn id="52" idx="3"/>
          </p:cNvCxnSpPr>
          <p:nvPr/>
        </p:nvCxnSpPr>
        <p:spPr>
          <a:xfrm>
            <a:off x="6798099" y="3293282"/>
            <a:ext cx="4624817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Gerade Verbindung 71">
            <a:extLst>
              <a:ext uri="{FF2B5EF4-FFF2-40B4-BE49-F238E27FC236}">
                <a16:creationId xmlns:a16="http://schemas.microsoft.com/office/drawing/2014/main" id="{3FD5F6A3-F6EA-BF51-7E5D-A0B4F7AE982D}"/>
              </a:ext>
            </a:extLst>
          </p:cNvPr>
          <p:cNvCxnSpPr>
            <a:cxnSpLocks/>
            <a:endCxn id="52" idx="1"/>
          </p:cNvCxnSpPr>
          <p:nvPr/>
        </p:nvCxnSpPr>
        <p:spPr>
          <a:xfrm>
            <a:off x="505438" y="3293282"/>
            <a:ext cx="4624817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Rechteck 54">
            <a:extLst>
              <a:ext uri="{FF2B5EF4-FFF2-40B4-BE49-F238E27FC236}">
                <a16:creationId xmlns:a16="http://schemas.microsoft.com/office/drawing/2014/main" id="{38D24ADD-7629-3643-6C95-0828B3A9AC74}"/>
              </a:ext>
            </a:extLst>
          </p:cNvPr>
          <p:cNvSpPr/>
          <p:nvPr/>
        </p:nvSpPr>
        <p:spPr>
          <a:xfrm>
            <a:off x="10155441" y="2466484"/>
            <a:ext cx="1267475" cy="5506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Parity </a:t>
            </a:r>
            <a:r>
              <a:rPr lang="de-DE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Conditions</a:t>
            </a:r>
            <a:endParaRPr lang="de-DE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(PPP/UIP/CIP)</a:t>
            </a:r>
          </a:p>
        </p:txBody>
      </p: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A54EB26B-770C-29A4-E02C-70DBE2FA37FC}"/>
              </a:ext>
            </a:extLst>
          </p:cNvPr>
          <p:cNvCxnSpPr>
            <a:cxnSpLocks/>
            <a:stCxn id="50" idx="3"/>
            <a:endCxn id="55" idx="1"/>
          </p:cNvCxnSpPr>
          <p:nvPr/>
        </p:nvCxnSpPr>
        <p:spPr>
          <a:xfrm>
            <a:off x="9952642" y="2735432"/>
            <a:ext cx="202799" cy="63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Geschweifte Klammer links 56">
            <a:extLst>
              <a:ext uri="{FF2B5EF4-FFF2-40B4-BE49-F238E27FC236}">
                <a16:creationId xmlns:a16="http://schemas.microsoft.com/office/drawing/2014/main" id="{6DDCD656-A89D-6FCF-F626-D2728DBE6F94}"/>
              </a:ext>
            </a:extLst>
          </p:cNvPr>
          <p:cNvSpPr/>
          <p:nvPr/>
        </p:nvSpPr>
        <p:spPr>
          <a:xfrm rot="16200000">
            <a:off x="5754595" y="-594747"/>
            <a:ext cx="419165" cy="10917479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854033D5-71D3-2E7F-C19A-B3A9D41A561E}"/>
              </a:ext>
            </a:extLst>
          </p:cNvPr>
          <p:cNvSpPr/>
          <p:nvPr/>
        </p:nvSpPr>
        <p:spPr>
          <a:xfrm>
            <a:off x="4089029" y="5073575"/>
            <a:ext cx="3770729" cy="4191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Transmission </a:t>
            </a:r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depending</a:t>
            </a:r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on </a:t>
            </a:r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degree</a:t>
            </a:r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financial</a:t>
            </a:r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  <a:endParaRPr lang="de-DE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E6472591-2627-E52A-0E95-D437046AB41C}"/>
              </a:ext>
            </a:extLst>
          </p:cNvPr>
          <p:cNvSpPr/>
          <p:nvPr/>
        </p:nvSpPr>
        <p:spPr>
          <a:xfrm>
            <a:off x="6102804" y="5671515"/>
            <a:ext cx="2646401" cy="2552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 Interest in </a:t>
            </a:r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oil</a:t>
            </a:r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futures</a:t>
            </a:r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markets</a:t>
            </a:r>
            <a:r>
              <a:rPr lang="de-DE" sz="1100"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de-DE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8376E233-6A89-BA9E-07D1-053318F2E2E6}"/>
              </a:ext>
            </a:extLst>
          </p:cNvPr>
          <p:cNvSpPr/>
          <p:nvPr/>
        </p:nvSpPr>
        <p:spPr>
          <a:xfrm>
            <a:off x="4334555" y="4188875"/>
            <a:ext cx="2851717" cy="2552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Crude</a:t>
            </a:r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Oil WTI Front </a:t>
            </a:r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Month</a:t>
            </a:r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Future Price</a:t>
            </a:r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7F5B6954-25DE-CD40-CF41-C3FFBE285A75}"/>
              </a:ext>
            </a:extLst>
          </p:cNvPr>
          <p:cNvSpPr/>
          <p:nvPr/>
        </p:nvSpPr>
        <p:spPr>
          <a:xfrm>
            <a:off x="4334554" y="4564553"/>
            <a:ext cx="2851717" cy="2552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Crude</a:t>
            </a:r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Oil WTI Spot Price</a:t>
            </a:r>
          </a:p>
        </p:txBody>
      </p:sp>
      <p:cxnSp>
        <p:nvCxnSpPr>
          <p:cNvPr id="62" name="Gewinkelte Verbindung 98">
            <a:extLst>
              <a:ext uri="{FF2B5EF4-FFF2-40B4-BE49-F238E27FC236}">
                <a16:creationId xmlns:a16="http://schemas.microsoft.com/office/drawing/2014/main" id="{6AE7853F-08B9-D113-D338-575FAB1142EC}"/>
              </a:ext>
            </a:extLst>
          </p:cNvPr>
          <p:cNvCxnSpPr>
            <a:cxnSpLocks/>
            <a:stCxn id="39" idx="2"/>
            <a:endCxn id="60" idx="1"/>
          </p:cNvCxnSpPr>
          <p:nvPr/>
        </p:nvCxnSpPr>
        <p:spPr>
          <a:xfrm rot="16200000" flipH="1">
            <a:off x="3558906" y="3540867"/>
            <a:ext cx="1305772" cy="24552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Gewinkelte Verbindung 102">
            <a:extLst>
              <a:ext uri="{FF2B5EF4-FFF2-40B4-BE49-F238E27FC236}">
                <a16:creationId xmlns:a16="http://schemas.microsoft.com/office/drawing/2014/main" id="{54F6206F-D733-8610-3D27-9E3178BF31C1}"/>
              </a:ext>
            </a:extLst>
          </p:cNvPr>
          <p:cNvCxnSpPr>
            <a:cxnSpLocks/>
            <a:stCxn id="39" idx="2"/>
            <a:endCxn id="61" idx="1"/>
          </p:cNvCxnSpPr>
          <p:nvPr/>
        </p:nvCxnSpPr>
        <p:spPr>
          <a:xfrm rot="16200000" flipH="1">
            <a:off x="3371067" y="3728707"/>
            <a:ext cx="1681450" cy="24552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Gewinkelte Verbindung 105">
            <a:extLst>
              <a:ext uri="{FF2B5EF4-FFF2-40B4-BE49-F238E27FC236}">
                <a16:creationId xmlns:a16="http://schemas.microsoft.com/office/drawing/2014/main" id="{88F2179F-15A2-ACA5-E471-8D6D94A6628A}"/>
              </a:ext>
            </a:extLst>
          </p:cNvPr>
          <p:cNvCxnSpPr>
            <a:cxnSpLocks/>
            <a:stCxn id="58" idx="2"/>
            <a:endCxn id="59" idx="1"/>
          </p:cNvCxnSpPr>
          <p:nvPr/>
        </p:nvCxnSpPr>
        <p:spPr>
          <a:xfrm rot="16200000" flipH="1">
            <a:off x="5885392" y="5581743"/>
            <a:ext cx="306415" cy="12841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Rechteck 64">
            <a:extLst>
              <a:ext uri="{FF2B5EF4-FFF2-40B4-BE49-F238E27FC236}">
                <a16:creationId xmlns:a16="http://schemas.microsoft.com/office/drawing/2014/main" id="{51240EC2-DC06-94E4-033C-AA7E3617D18B}"/>
              </a:ext>
            </a:extLst>
          </p:cNvPr>
          <p:cNvSpPr/>
          <p:nvPr/>
        </p:nvSpPr>
        <p:spPr>
          <a:xfrm>
            <a:off x="5372240" y="3554251"/>
            <a:ext cx="2851717" cy="2552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0" i="0" u="none" strike="noStrike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CBOE </a:t>
            </a:r>
            <a:r>
              <a:rPr lang="de-DE" sz="1100" b="0" i="0" u="none" strike="noStrike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Crude</a:t>
            </a:r>
            <a:r>
              <a:rPr lang="de-DE" sz="1100" b="0" i="0" u="none" strike="noStrike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Oil ETF </a:t>
            </a:r>
            <a:r>
              <a:rPr lang="de-DE" sz="1100" b="0" i="0" u="none" strike="noStrike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Volatility</a:t>
            </a:r>
            <a:r>
              <a:rPr lang="de-DE" sz="1100" b="0" i="0" u="none" strike="noStrike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Index</a:t>
            </a:r>
          </a:p>
        </p:txBody>
      </p:sp>
      <p:cxnSp>
        <p:nvCxnSpPr>
          <p:cNvPr id="66" name="Gewinkelte Verbindung 117">
            <a:extLst>
              <a:ext uri="{FF2B5EF4-FFF2-40B4-BE49-F238E27FC236}">
                <a16:creationId xmlns:a16="http://schemas.microsoft.com/office/drawing/2014/main" id="{907B3636-3667-2710-1B87-BC15585DFE20}"/>
              </a:ext>
            </a:extLst>
          </p:cNvPr>
          <p:cNvCxnSpPr>
            <a:cxnSpLocks/>
            <a:stCxn id="37" idx="2"/>
            <a:endCxn id="67" idx="1"/>
          </p:cNvCxnSpPr>
          <p:nvPr/>
        </p:nvCxnSpPr>
        <p:spPr>
          <a:xfrm rot="16200000" flipH="1">
            <a:off x="901875" y="3120815"/>
            <a:ext cx="488894" cy="26874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Rechteck 66">
            <a:extLst>
              <a:ext uri="{FF2B5EF4-FFF2-40B4-BE49-F238E27FC236}">
                <a16:creationId xmlns:a16="http://schemas.microsoft.com/office/drawing/2014/main" id="{A5F861E9-A3F7-1AAD-5C81-5E1AADAC0762}"/>
              </a:ext>
            </a:extLst>
          </p:cNvPr>
          <p:cNvSpPr/>
          <p:nvPr/>
        </p:nvSpPr>
        <p:spPr>
          <a:xfrm>
            <a:off x="1280695" y="3371994"/>
            <a:ext cx="1248465" cy="2552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</a:t>
            </a:r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regimes</a:t>
            </a:r>
            <a:endParaRPr lang="de-DE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74152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10F17-AD56-5C48-B2C4-5E092381F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D41DF6-1853-EE44-D988-461959BE3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68592"/>
          </a:xfrm>
        </p:spPr>
        <p:txBody>
          <a:bodyPr/>
          <a:lstStyle/>
          <a:p>
            <a:endParaRPr lang="de-DE" dirty="0"/>
          </a:p>
        </p:txBody>
      </p:sp>
      <p:pic>
        <p:nvPicPr>
          <p:cNvPr id="4" name="Grafik 3" descr="Ein Bild, das Text, Schrift, Screenshot, Grafiken enthält.&#10;&#10;Automatisch generierte Beschreibung">
            <a:extLst>
              <a:ext uri="{FF2B5EF4-FFF2-40B4-BE49-F238E27FC236}">
                <a16:creationId xmlns:a16="http://schemas.microsoft.com/office/drawing/2014/main" id="{419E0D34-6DD4-C96A-318D-7BF7A74F7FD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28" y="0"/>
            <a:ext cx="1600172" cy="766261"/>
          </a:xfrm>
          <a:prstGeom prst="rect">
            <a:avLst/>
          </a:prstGeom>
        </p:spPr>
      </p:pic>
      <p:pic>
        <p:nvPicPr>
          <p:cNvPr id="5" name="Picture 2" descr="Universität Kiel Logo PNG vector in SVG, PDF, AI, CDR format">
            <a:extLst>
              <a:ext uri="{FF2B5EF4-FFF2-40B4-BE49-F238E27FC236}">
                <a16:creationId xmlns:a16="http://schemas.microsoft.com/office/drawing/2014/main" id="{0A2E505D-7447-0C50-F909-146549EAB0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72" t="4343" r="20103" b="3488"/>
          <a:stretch>
            <a:fillRect/>
          </a:stretch>
        </p:blipFill>
        <p:spPr bwMode="auto">
          <a:xfrm>
            <a:off x="9432580" y="2562648"/>
            <a:ext cx="3964282" cy="462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3F773EAB-3747-6338-FD5B-835B6A009114}"/>
              </a:ext>
            </a:extLst>
          </p:cNvPr>
          <p:cNvSpPr/>
          <p:nvPr/>
        </p:nvSpPr>
        <p:spPr>
          <a:xfrm>
            <a:off x="3141665" y="2723384"/>
            <a:ext cx="5892623" cy="1198166"/>
          </a:xfrm>
          <a:prstGeom prst="roundRect">
            <a:avLst/>
          </a:prstGeom>
          <a:solidFill>
            <a:srgbClr val="00677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500" dirty="0"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lang="de-DE" sz="2500" dirty="0" err="1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  <a:endParaRPr lang="de-DE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9162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A75EA2-4D48-6AF8-7309-890CC4A0F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 </a:t>
            </a:r>
            <a:r>
              <a:rPr lang="de-DE" dirty="0" err="1"/>
              <a:t>Overview</a:t>
            </a:r>
            <a:r>
              <a:rPr lang="de-DE" dirty="0"/>
              <a:t> </a:t>
            </a:r>
            <a:r>
              <a:rPr lang="de-DE" dirty="0" err="1"/>
              <a:t>data</a:t>
            </a:r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3BC3067B-D411-A981-046E-BF6A601DF342}"/>
              </a:ext>
            </a:extLst>
          </p:cNvPr>
          <p:cNvSpPr/>
          <p:nvPr/>
        </p:nvSpPr>
        <p:spPr>
          <a:xfrm>
            <a:off x="1843534" y="4785555"/>
            <a:ext cx="2401991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Volatility and Risk Spillover Effects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730A6A1-41E5-1CD1-E610-A6AF3068B9FF}"/>
              </a:ext>
            </a:extLst>
          </p:cNvPr>
          <p:cNvSpPr/>
          <p:nvPr/>
        </p:nvSpPr>
        <p:spPr>
          <a:xfrm>
            <a:off x="8746536" y="4005332"/>
            <a:ext cx="1492776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Oil export and import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D75104E-5614-BB95-134E-613CE9FF1EC4}"/>
              </a:ext>
            </a:extLst>
          </p:cNvPr>
          <p:cNvSpPr/>
          <p:nvPr/>
        </p:nvSpPr>
        <p:spPr>
          <a:xfrm>
            <a:off x="1793695" y="2322789"/>
            <a:ext cx="2489092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Financial Transmission Channels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97FFEB7-6621-B38A-339D-2EC350A37933}"/>
              </a:ext>
            </a:extLst>
          </p:cNvPr>
          <p:cNvSpPr/>
          <p:nvPr/>
        </p:nvSpPr>
        <p:spPr>
          <a:xfrm>
            <a:off x="8173122" y="2312621"/>
            <a:ext cx="2729150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Fundamental Transmission Channels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077A3D3B-DDAF-DBEA-8EF8-E88F3F4D8020}"/>
              </a:ext>
            </a:extLst>
          </p:cNvPr>
          <p:cNvSpPr/>
          <p:nvPr/>
        </p:nvSpPr>
        <p:spPr>
          <a:xfrm>
            <a:off x="4683001" y="2316511"/>
            <a:ext cx="2918077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Macroeconomic Transmission Channels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23D90C52-86C2-CF1A-E4ED-8D5A2AC532D1}"/>
              </a:ext>
            </a:extLst>
          </p:cNvPr>
          <p:cNvSpPr/>
          <p:nvPr/>
        </p:nvSpPr>
        <p:spPr>
          <a:xfrm>
            <a:off x="8930782" y="2860833"/>
            <a:ext cx="1213829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Monetary Policy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A95D08FA-CB6B-66E4-B35A-F2B3BD1D1908}"/>
              </a:ext>
            </a:extLst>
          </p:cNvPr>
          <p:cNvSpPr/>
          <p:nvPr/>
        </p:nvSpPr>
        <p:spPr>
          <a:xfrm>
            <a:off x="5714201" y="3415883"/>
            <a:ext cx="763593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Inflation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AE534664-47E9-16F7-6036-E89C12C58F31}"/>
              </a:ext>
            </a:extLst>
          </p:cNvPr>
          <p:cNvSpPr/>
          <p:nvPr/>
        </p:nvSpPr>
        <p:spPr>
          <a:xfrm>
            <a:off x="5682450" y="4303966"/>
            <a:ext cx="1515134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Denomination Effect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F210E416-84C8-C1B2-27A2-7B63D0C918A3}"/>
              </a:ext>
            </a:extLst>
          </p:cNvPr>
          <p:cNvSpPr/>
          <p:nvPr/>
        </p:nvSpPr>
        <p:spPr>
          <a:xfrm>
            <a:off x="2204319" y="2851296"/>
            <a:ext cx="1667844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Wealth Transfer Effect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F51E37F-3997-E1F8-6F8C-24CEF0422BFF}"/>
              </a:ext>
            </a:extLst>
          </p:cNvPr>
          <p:cNvSpPr/>
          <p:nvPr/>
        </p:nvSpPr>
        <p:spPr>
          <a:xfrm>
            <a:off x="4755460" y="2850665"/>
            <a:ext cx="2773157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(Risk Parity) Portfolio Rebalancing Effect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DF828968-5F49-C121-A329-653BE8330BD3}"/>
              </a:ext>
            </a:extLst>
          </p:cNvPr>
          <p:cNvCxnSpPr/>
          <p:nvPr/>
        </p:nvCxnSpPr>
        <p:spPr>
          <a:xfrm>
            <a:off x="778932" y="2260600"/>
            <a:ext cx="103039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hteck 15">
            <a:extLst>
              <a:ext uri="{FF2B5EF4-FFF2-40B4-BE49-F238E27FC236}">
                <a16:creationId xmlns:a16="http://schemas.microsoft.com/office/drawing/2014/main" id="{8DF4B6A7-D3A4-BAED-42D7-BBD9A2094A6D}"/>
              </a:ext>
            </a:extLst>
          </p:cNvPr>
          <p:cNvSpPr/>
          <p:nvPr/>
        </p:nvSpPr>
        <p:spPr>
          <a:xfrm>
            <a:off x="411140" y="1782177"/>
            <a:ext cx="918576" cy="18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Timeframe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F5B93160-37CF-7429-4E8C-76898C9EF27C}"/>
              </a:ext>
            </a:extLst>
          </p:cNvPr>
          <p:cNvSpPr/>
          <p:nvPr/>
        </p:nvSpPr>
        <p:spPr>
          <a:xfrm>
            <a:off x="2296467" y="1860414"/>
            <a:ext cx="1495049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Short Run Dynamics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FE8B9A41-41E5-CA74-F368-9D765A4D5A89}"/>
              </a:ext>
            </a:extLst>
          </p:cNvPr>
          <p:cNvSpPr/>
          <p:nvPr/>
        </p:nvSpPr>
        <p:spPr>
          <a:xfrm>
            <a:off x="8712197" y="1921320"/>
            <a:ext cx="1651001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 Run Relationship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2653F288-7A17-2A6C-535C-1E569058D531}"/>
              </a:ext>
            </a:extLst>
          </p:cNvPr>
          <p:cNvSpPr/>
          <p:nvPr/>
        </p:nvSpPr>
        <p:spPr>
          <a:xfrm>
            <a:off x="5376297" y="1861070"/>
            <a:ext cx="1487262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Mid-term fluctuations</a:t>
            </a:r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6137C646-E6E6-C42B-F9F3-893D0C76C6AB}"/>
              </a:ext>
            </a:extLst>
          </p:cNvPr>
          <p:cNvCxnSpPr>
            <a:cxnSpLocks/>
          </p:cNvCxnSpPr>
          <p:nvPr/>
        </p:nvCxnSpPr>
        <p:spPr>
          <a:xfrm>
            <a:off x="778932" y="2260600"/>
            <a:ext cx="0" cy="3657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hteck 20">
            <a:extLst>
              <a:ext uri="{FF2B5EF4-FFF2-40B4-BE49-F238E27FC236}">
                <a16:creationId xmlns:a16="http://schemas.microsoft.com/office/drawing/2014/main" id="{A4486387-2AF4-3099-2CA4-07102588394A}"/>
              </a:ext>
            </a:extLst>
          </p:cNvPr>
          <p:cNvSpPr/>
          <p:nvPr/>
        </p:nvSpPr>
        <p:spPr>
          <a:xfrm>
            <a:off x="0" y="2056589"/>
            <a:ext cx="1329718" cy="18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 Type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A0A17B25-E6C1-4183-3B8E-5D565B2C66BE}"/>
              </a:ext>
            </a:extLst>
          </p:cNvPr>
          <p:cNvSpPr/>
          <p:nvPr/>
        </p:nvSpPr>
        <p:spPr>
          <a:xfrm rot="16200000">
            <a:off x="45155" y="2812203"/>
            <a:ext cx="655716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14609F4-D648-22A3-0B00-8BED9C9964F3}"/>
              </a:ext>
            </a:extLst>
          </p:cNvPr>
          <p:cNvSpPr/>
          <p:nvPr/>
        </p:nvSpPr>
        <p:spPr>
          <a:xfrm rot="16200000">
            <a:off x="-84698" y="4912223"/>
            <a:ext cx="915424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Non-Linear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14D06938-900A-F586-40C9-046F588EF1E8}"/>
              </a:ext>
            </a:extLst>
          </p:cNvPr>
          <p:cNvSpPr/>
          <p:nvPr/>
        </p:nvSpPr>
        <p:spPr>
          <a:xfrm>
            <a:off x="5041037" y="4796163"/>
            <a:ext cx="2373309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(US) Terms of Trade Effect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9EA73C8E-F522-44CA-6BC8-572A9072CD3C}"/>
              </a:ext>
            </a:extLst>
          </p:cNvPr>
          <p:cNvSpPr/>
          <p:nvPr/>
        </p:nvSpPr>
        <p:spPr>
          <a:xfrm>
            <a:off x="411140" y="1482055"/>
            <a:ext cx="1110289" cy="18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Datafrequency</a:t>
            </a:r>
          </a:p>
        </p:txBody>
      </p: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AF7D28A4-DCC8-42E9-35A2-4863B4A1FDC7}"/>
              </a:ext>
            </a:extLst>
          </p:cNvPr>
          <p:cNvCxnSpPr/>
          <p:nvPr/>
        </p:nvCxnSpPr>
        <p:spPr>
          <a:xfrm>
            <a:off x="778932" y="1765243"/>
            <a:ext cx="103039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Rechteck 26">
            <a:extLst>
              <a:ext uri="{FF2B5EF4-FFF2-40B4-BE49-F238E27FC236}">
                <a16:creationId xmlns:a16="http://schemas.microsoft.com/office/drawing/2014/main" id="{3EE09A96-8771-9367-9462-2238DCEE76E3}"/>
              </a:ext>
            </a:extLst>
          </p:cNvPr>
          <p:cNvSpPr/>
          <p:nvPr/>
        </p:nvSpPr>
        <p:spPr>
          <a:xfrm>
            <a:off x="2275981" y="1464107"/>
            <a:ext cx="1536022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Daily, Weely, Monthly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843C0151-A213-DC4D-983C-D4B3F3D8E694}"/>
              </a:ext>
            </a:extLst>
          </p:cNvPr>
          <p:cNvSpPr/>
          <p:nvPr/>
        </p:nvSpPr>
        <p:spPr>
          <a:xfrm>
            <a:off x="5435044" y="1464107"/>
            <a:ext cx="1329719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Monthly, Quarterly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9F976525-11A3-C915-BC2A-60EA5777E986}"/>
              </a:ext>
            </a:extLst>
          </p:cNvPr>
          <p:cNvSpPr/>
          <p:nvPr/>
        </p:nvSpPr>
        <p:spPr>
          <a:xfrm>
            <a:off x="8828065" y="1464107"/>
            <a:ext cx="1329719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Annually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3499553C-66B0-6CD7-D347-CF132FE7FA3F}"/>
              </a:ext>
            </a:extLst>
          </p:cNvPr>
          <p:cNvSpPr/>
          <p:nvPr/>
        </p:nvSpPr>
        <p:spPr>
          <a:xfrm>
            <a:off x="5372776" y="4005332"/>
            <a:ext cx="1435102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Expectation Effects</a:t>
            </a:r>
          </a:p>
        </p:txBody>
      </p:sp>
      <p:cxnSp>
        <p:nvCxnSpPr>
          <p:cNvPr id="31" name="Gewinkelte Verbindung 36">
            <a:extLst>
              <a:ext uri="{FF2B5EF4-FFF2-40B4-BE49-F238E27FC236}">
                <a16:creationId xmlns:a16="http://schemas.microsoft.com/office/drawing/2014/main" id="{BD3D4C50-2E04-CBF7-19D6-CDF1CFF00112}"/>
              </a:ext>
            </a:extLst>
          </p:cNvPr>
          <p:cNvCxnSpPr>
            <a:cxnSpLocks/>
            <a:endCxn id="12" idx="1"/>
          </p:cNvCxnSpPr>
          <p:nvPr/>
        </p:nvCxnSpPr>
        <p:spPr>
          <a:xfrm rot="16200000" flipH="1">
            <a:off x="5518186" y="4247702"/>
            <a:ext cx="174014" cy="15451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Gerade Verbindung 41">
            <a:extLst>
              <a:ext uri="{FF2B5EF4-FFF2-40B4-BE49-F238E27FC236}">
                <a16:creationId xmlns:a16="http://schemas.microsoft.com/office/drawing/2014/main" id="{9B8413C7-5FFB-2CA1-4F95-8931742AF52A}"/>
              </a:ext>
            </a:extLst>
          </p:cNvPr>
          <p:cNvCxnSpPr/>
          <p:nvPr/>
        </p:nvCxnSpPr>
        <p:spPr>
          <a:xfrm>
            <a:off x="4500492" y="1534937"/>
            <a:ext cx="0" cy="4287483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Gerade Verbindung 42">
            <a:extLst>
              <a:ext uri="{FF2B5EF4-FFF2-40B4-BE49-F238E27FC236}">
                <a16:creationId xmlns:a16="http://schemas.microsoft.com/office/drawing/2014/main" id="{2637CBD2-15E8-5304-C3B2-50B7B43713BD}"/>
              </a:ext>
            </a:extLst>
          </p:cNvPr>
          <p:cNvCxnSpPr/>
          <p:nvPr/>
        </p:nvCxnSpPr>
        <p:spPr>
          <a:xfrm>
            <a:off x="7853290" y="1529117"/>
            <a:ext cx="0" cy="4287483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Gerade Verbindung 43">
            <a:extLst>
              <a:ext uri="{FF2B5EF4-FFF2-40B4-BE49-F238E27FC236}">
                <a16:creationId xmlns:a16="http://schemas.microsoft.com/office/drawing/2014/main" id="{ACB3EABC-5FB6-873D-2C63-FB6CDAA4E6EC}"/>
              </a:ext>
            </a:extLst>
          </p:cNvPr>
          <p:cNvCxnSpPr>
            <a:cxnSpLocks/>
          </p:cNvCxnSpPr>
          <p:nvPr/>
        </p:nvCxnSpPr>
        <p:spPr>
          <a:xfrm>
            <a:off x="265012" y="3909431"/>
            <a:ext cx="10690855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Rechteck 34">
            <a:extLst>
              <a:ext uri="{FF2B5EF4-FFF2-40B4-BE49-F238E27FC236}">
                <a16:creationId xmlns:a16="http://schemas.microsoft.com/office/drawing/2014/main" id="{81A572C4-4EB1-8A52-6605-BFC6CC132EC6}"/>
              </a:ext>
            </a:extLst>
          </p:cNvPr>
          <p:cNvSpPr/>
          <p:nvPr/>
        </p:nvSpPr>
        <p:spPr>
          <a:xfrm>
            <a:off x="9046221" y="4303966"/>
            <a:ext cx="1605757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Commodity Currencies</a:t>
            </a:r>
          </a:p>
        </p:txBody>
      </p:sp>
      <p:cxnSp>
        <p:nvCxnSpPr>
          <p:cNvPr id="36" name="Gewinkelte Verbindung 51">
            <a:extLst>
              <a:ext uri="{FF2B5EF4-FFF2-40B4-BE49-F238E27FC236}">
                <a16:creationId xmlns:a16="http://schemas.microsoft.com/office/drawing/2014/main" id="{60F74ACB-8E5B-076D-CA71-751B8F506606}"/>
              </a:ext>
            </a:extLst>
          </p:cNvPr>
          <p:cNvCxnSpPr>
            <a:cxnSpLocks/>
            <a:endCxn id="35" idx="1"/>
          </p:cNvCxnSpPr>
          <p:nvPr/>
        </p:nvCxnSpPr>
        <p:spPr>
          <a:xfrm rot="16200000" flipH="1">
            <a:off x="8881957" y="4247702"/>
            <a:ext cx="174014" cy="15451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Rechteck 36">
            <a:extLst>
              <a:ext uri="{FF2B5EF4-FFF2-40B4-BE49-F238E27FC236}">
                <a16:creationId xmlns:a16="http://schemas.microsoft.com/office/drawing/2014/main" id="{7E83D10D-CC4B-AAFD-1AA5-428CA33761F9}"/>
              </a:ext>
            </a:extLst>
          </p:cNvPr>
          <p:cNvSpPr/>
          <p:nvPr/>
        </p:nvSpPr>
        <p:spPr>
          <a:xfrm>
            <a:off x="5690581" y="4550064"/>
            <a:ext cx="1667844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Dominant Pricing Effect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CDA5E56C-7287-86EF-B43A-70A56EE612B4}"/>
              </a:ext>
            </a:extLst>
          </p:cNvPr>
          <p:cNvSpPr/>
          <p:nvPr/>
        </p:nvSpPr>
        <p:spPr>
          <a:xfrm>
            <a:off x="2204319" y="3148351"/>
            <a:ext cx="1667844" cy="4930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DCC - GRACH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4D001FC2-91F7-D283-022E-0ADCC88423BF}"/>
              </a:ext>
            </a:extLst>
          </p:cNvPr>
          <p:cNvSpPr/>
          <p:nvPr/>
        </p:nvSpPr>
        <p:spPr>
          <a:xfrm>
            <a:off x="1885543" y="3965101"/>
            <a:ext cx="1667844" cy="4930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3844CD22-FA4A-5B37-B660-ADC6B06B7377}"/>
              </a:ext>
            </a:extLst>
          </p:cNvPr>
          <p:cNvSpPr/>
          <p:nvPr/>
        </p:nvSpPr>
        <p:spPr>
          <a:xfrm>
            <a:off x="2292104" y="3444207"/>
            <a:ext cx="1667844" cy="4930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SVAR</a:t>
            </a:r>
          </a:p>
        </p:txBody>
      </p:sp>
      <p:pic>
        <p:nvPicPr>
          <p:cNvPr id="41" name="Grafik 40">
            <a:extLst>
              <a:ext uri="{FF2B5EF4-FFF2-40B4-BE49-F238E27FC236}">
                <a16:creationId xmlns:a16="http://schemas.microsoft.com/office/drawing/2014/main" id="{BC13AD55-F463-B7A0-E459-7E0A15FEF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92958" y="1161794"/>
            <a:ext cx="4117052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640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3F30A9-4761-2606-F2DC-E52584E91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cxnSp>
        <p:nvCxnSpPr>
          <p:cNvPr id="41" name="Gerade Verbindung 38">
            <a:extLst>
              <a:ext uri="{FF2B5EF4-FFF2-40B4-BE49-F238E27FC236}">
                <a16:creationId xmlns:a16="http://schemas.microsoft.com/office/drawing/2014/main" id="{C971105D-58D2-712F-9B34-AC276D36776B}"/>
              </a:ext>
            </a:extLst>
          </p:cNvPr>
          <p:cNvCxnSpPr/>
          <p:nvPr/>
        </p:nvCxnSpPr>
        <p:spPr>
          <a:xfrm>
            <a:off x="5003670" y="1231721"/>
            <a:ext cx="0" cy="4287483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CustomShape 3">
            <a:extLst>
              <a:ext uri="{FF2B5EF4-FFF2-40B4-BE49-F238E27FC236}">
                <a16:creationId xmlns:a16="http://schemas.microsoft.com/office/drawing/2014/main" id="{B5A5B84E-0BF3-1C5C-708B-3132E109A2A5}"/>
              </a:ext>
            </a:extLst>
          </p:cNvPr>
          <p:cNvSpPr/>
          <p:nvPr/>
        </p:nvSpPr>
        <p:spPr>
          <a:xfrm>
            <a:off x="540000" y="962604"/>
            <a:ext cx="10079640" cy="2691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de-DE" sz="1400" b="1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de-DE" sz="1400" b="1" spc="-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</a:t>
            </a:r>
            <a:r>
              <a:rPr lang="de-DE" sz="1400" b="1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400" b="1" spc="-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between</a:t>
            </a:r>
            <a:r>
              <a:rPr lang="de-DE" sz="1400" b="1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Energy </a:t>
            </a:r>
            <a:r>
              <a:rPr lang="de-DE" sz="1400" b="1" spc="-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Commodity</a:t>
            </a:r>
            <a:r>
              <a:rPr lang="de-DE" sz="1400" b="1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Prices and </a:t>
            </a:r>
            <a:r>
              <a:rPr lang="de-DE" sz="1400" b="1" spc="-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exchange</a:t>
            </a:r>
            <a:r>
              <a:rPr lang="de-DE" sz="1400" b="1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400" b="1" spc="-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rates</a:t>
            </a:r>
            <a:r>
              <a:rPr lang="de-DE" sz="1400" b="1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de-DE" sz="1400" b="1" spc="-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Econometric</a:t>
            </a:r>
            <a:r>
              <a:rPr lang="de-DE" sz="1400" b="1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400" b="1" spc="-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modelling</a:t>
            </a:r>
            <a:r>
              <a:rPr lang="de-DE" sz="1400" b="1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de-DE" sz="1400" b="0" strike="noStrike" spc="-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A57067FD-ECED-2D75-844F-376E2A56D59E}"/>
              </a:ext>
            </a:extLst>
          </p:cNvPr>
          <p:cNvSpPr/>
          <p:nvPr/>
        </p:nvSpPr>
        <p:spPr>
          <a:xfrm>
            <a:off x="1564188" y="1401644"/>
            <a:ext cx="1329718" cy="18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 Type</a:t>
            </a: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C8F57341-140F-D888-9E2F-9630C1F61D2C}"/>
              </a:ext>
            </a:extLst>
          </p:cNvPr>
          <p:cNvSpPr/>
          <p:nvPr/>
        </p:nvSpPr>
        <p:spPr>
          <a:xfrm>
            <a:off x="4347861" y="1816478"/>
            <a:ext cx="1329718" cy="18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</a:t>
            </a:r>
            <a:endParaRPr lang="de-DE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4C2B6FA9-7361-C34C-8D0D-B9DF2ADAEF9C}"/>
              </a:ext>
            </a:extLst>
          </p:cNvPr>
          <p:cNvSpPr/>
          <p:nvPr/>
        </p:nvSpPr>
        <p:spPr>
          <a:xfrm>
            <a:off x="4337622" y="2152854"/>
            <a:ext cx="1495049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</a:t>
            </a:r>
            <a:endParaRPr lang="de-DE" sz="11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EC75129D-B0CD-EF0C-15D5-5E12BF4A7855}"/>
              </a:ext>
            </a:extLst>
          </p:cNvPr>
          <p:cNvSpPr/>
          <p:nvPr/>
        </p:nvSpPr>
        <p:spPr>
          <a:xfrm>
            <a:off x="3421713" y="1387048"/>
            <a:ext cx="1495049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</a:t>
            </a: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CB59E2E5-35D6-976F-9E92-A6D358AAC7BD}"/>
              </a:ext>
            </a:extLst>
          </p:cNvPr>
          <p:cNvSpPr/>
          <p:nvPr/>
        </p:nvSpPr>
        <p:spPr>
          <a:xfrm>
            <a:off x="5085147" y="1383644"/>
            <a:ext cx="1495049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Non-linear</a:t>
            </a: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4723C7C3-F69C-8CAC-A5E2-4E4C94F0715D}"/>
              </a:ext>
            </a:extLst>
          </p:cNvPr>
          <p:cNvSpPr/>
          <p:nvPr/>
        </p:nvSpPr>
        <p:spPr>
          <a:xfrm>
            <a:off x="3313071" y="2643555"/>
            <a:ext cx="1495049" cy="4021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 Pearson </a:t>
            </a:r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</a:t>
            </a:r>
            <a:endParaRPr lang="de-DE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DE212CEF-5F98-9FD2-D811-7CF70709C4E4}"/>
              </a:ext>
            </a:extLst>
          </p:cNvPr>
          <p:cNvSpPr/>
          <p:nvPr/>
        </p:nvSpPr>
        <p:spPr>
          <a:xfrm>
            <a:off x="5175681" y="2643555"/>
            <a:ext cx="1495049" cy="4021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Non-linear rank </a:t>
            </a:r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</a:t>
            </a:r>
            <a:endParaRPr lang="de-DE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14DE2317-F720-A4C9-A7F9-55744ED94C58}"/>
              </a:ext>
            </a:extLst>
          </p:cNvPr>
          <p:cNvSpPr/>
          <p:nvPr/>
        </p:nvSpPr>
        <p:spPr>
          <a:xfrm>
            <a:off x="2443271" y="3312815"/>
            <a:ext cx="1495049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Granger-</a:t>
            </a:r>
            <a:r>
              <a:rPr lang="de-DE" sz="11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Causality</a:t>
            </a:r>
            <a:endParaRPr lang="de-DE" sz="11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9C974201-6780-973A-88B6-E2121E53A253}"/>
              </a:ext>
            </a:extLst>
          </p:cNvPr>
          <p:cNvSpPr/>
          <p:nvPr/>
        </p:nvSpPr>
        <p:spPr>
          <a:xfrm>
            <a:off x="4210544" y="4831632"/>
            <a:ext cx="1495049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Cointegration</a:t>
            </a:r>
            <a:endParaRPr lang="de-DE" sz="11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672FEA1B-B3F2-B417-39E8-1956B563D44A}"/>
              </a:ext>
            </a:extLst>
          </p:cNvPr>
          <p:cNvSpPr/>
          <p:nvPr/>
        </p:nvSpPr>
        <p:spPr>
          <a:xfrm>
            <a:off x="4191257" y="5306988"/>
            <a:ext cx="1495049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Connectedness</a:t>
            </a:r>
            <a:endParaRPr lang="de-DE" sz="11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F7455A8C-DB6C-935C-075D-BCA8515D6632}"/>
              </a:ext>
            </a:extLst>
          </p:cNvPr>
          <p:cNvCxnSpPr>
            <a:stCxn id="45" idx="2"/>
            <a:endCxn id="48" idx="0"/>
          </p:cNvCxnSpPr>
          <p:nvPr/>
        </p:nvCxnSpPr>
        <p:spPr>
          <a:xfrm flipH="1">
            <a:off x="4060596" y="2368854"/>
            <a:ext cx="1024551" cy="274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A012BC64-EC97-D351-5E21-4B434124FB00}"/>
              </a:ext>
            </a:extLst>
          </p:cNvPr>
          <p:cNvCxnSpPr>
            <a:cxnSpLocks/>
            <a:stCxn id="45" idx="2"/>
            <a:endCxn id="49" idx="0"/>
          </p:cNvCxnSpPr>
          <p:nvPr/>
        </p:nvCxnSpPr>
        <p:spPr>
          <a:xfrm>
            <a:off x="5085147" y="2368854"/>
            <a:ext cx="838059" cy="274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225A4A2D-E595-4492-2C1E-72B0840DDCB1}"/>
              </a:ext>
            </a:extLst>
          </p:cNvPr>
          <p:cNvCxnSpPr>
            <a:cxnSpLocks/>
            <a:stCxn id="48" idx="2"/>
            <a:endCxn id="50" idx="0"/>
          </p:cNvCxnSpPr>
          <p:nvPr/>
        </p:nvCxnSpPr>
        <p:spPr>
          <a:xfrm flipH="1">
            <a:off x="3190796" y="3045682"/>
            <a:ext cx="869800" cy="2671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Rechteck 55">
            <a:extLst>
              <a:ext uri="{FF2B5EF4-FFF2-40B4-BE49-F238E27FC236}">
                <a16:creationId xmlns:a16="http://schemas.microsoft.com/office/drawing/2014/main" id="{26AF116B-7A58-E1E6-5CF4-817D6E8DFAAF}"/>
              </a:ext>
            </a:extLst>
          </p:cNvPr>
          <p:cNvSpPr/>
          <p:nvPr/>
        </p:nvSpPr>
        <p:spPr>
          <a:xfrm>
            <a:off x="4191256" y="5839838"/>
            <a:ext cx="1495049" cy="5282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Vector Autoregression (VAR)</a:t>
            </a: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CF822F80-97CA-2FA7-9302-D87029E484E8}"/>
              </a:ext>
            </a:extLst>
          </p:cNvPr>
          <p:cNvSpPr/>
          <p:nvPr/>
        </p:nvSpPr>
        <p:spPr>
          <a:xfrm>
            <a:off x="6095410" y="3870423"/>
            <a:ext cx="1495049" cy="4021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Regime </a:t>
            </a:r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Switching</a:t>
            </a:r>
            <a:endParaRPr lang="de-DE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7B2C0397-AEEF-B764-0AAA-4DD7CEBDA009}"/>
              </a:ext>
            </a:extLst>
          </p:cNvPr>
          <p:cNvSpPr/>
          <p:nvPr/>
        </p:nvSpPr>
        <p:spPr>
          <a:xfrm>
            <a:off x="6095410" y="4454689"/>
            <a:ext cx="1495049" cy="4021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Markov-</a:t>
            </a:r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Switching</a:t>
            </a:r>
            <a:endParaRPr lang="de-DE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210A0AC5-CD34-C187-8858-C698606CFA4B}"/>
              </a:ext>
            </a:extLst>
          </p:cNvPr>
          <p:cNvCxnSpPr>
            <a:cxnSpLocks/>
            <a:stCxn id="57" idx="2"/>
            <a:endCxn id="58" idx="0"/>
          </p:cNvCxnSpPr>
          <p:nvPr/>
        </p:nvCxnSpPr>
        <p:spPr>
          <a:xfrm>
            <a:off x="6842935" y="4272550"/>
            <a:ext cx="0" cy="1821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Rechteck 59">
            <a:extLst>
              <a:ext uri="{FF2B5EF4-FFF2-40B4-BE49-F238E27FC236}">
                <a16:creationId xmlns:a16="http://schemas.microsoft.com/office/drawing/2014/main" id="{92E691A4-A486-E7D9-B1A4-0641FC1BBB0A}"/>
              </a:ext>
            </a:extLst>
          </p:cNvPr>
          <p:cNvSpPr/>
          <p:nvPr/>
        </p:nvSpPr>
        <p:spPr>
          <a:xfrm>
            <a:off x="4265195" y="3884100"/>
            <a:ext cx="1495049" cy="3713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Time-</a:t>
            </a:r>
            <a:r>
              <a:rPr lang="de-DE" sz="11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varying</a:t>
            </a:r>
            <a:r>
              <a:rPr lang="de-DE" sz="11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causality</a:t>
            </a:r>
            <a:endParaRPr lang="de-DE" sz="11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1" name="Gerade Verbindung mit Pfeil 60">
            <a:extLst>
              <a:ext uri="{FF2B5EF4-FFF2-40B4-BE49-F238E27FC236}">
                <a16:creationId xmlns:a16="http://schemas.microsoft.com/office/drawing/2014/main" id="{5167006E-BA17-2B4C-A895-52F12B82735F}"/>
              </a:ext>
            </a:extLst>
          </p:cNvPr>
          <p:cNvCxnSpPr>
            <a:cxnSpLocks/>
            <a:stCxn id="50" idx="2"/>
            <a:endCxn id="60" idx="0"/>
          </p:cNvCxnSpPr>
          <p:nvPr/>
        </p:nvCxnSpPr>
        <p:spPr>
          <a:xfrm>
            <a:off x="3190796" y="3528815"/>
            <a:ext cx="1821924" cy="3552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C4BB6AEF-DFC7-CA24-F725-A052BF3FA02C}"/>
              </a:ext>
            </a:extLst>
          </p:cNvPr>
          <p:cNvCxnSpPr>
            <a:cxnSpLocks/>
            <a:stCxn id="60" idx="3"/>
            <a:endCxn id="57" idx="1"/>
          </p:cNvCxnSpPr>
          <p:nvPr/>
        </p:nvCxnSpPr>
        <p:spPr>
          <a:xfrm>
            <a:off x="5760244" y="4069764"/>
            <a:ext cx="335166" cy="17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Rechteck 62">
            <a:extLst>
              <a:ext uri="{FF2B5EF4-FFF2-40B4-BE49-F238E27FC236}">
                <a16:creationId xmlns:a16="http://schemas.microsoft.com/office/drawing/2014/main" id="{20A43B36-A965-270F-DAF3-B5B2B85FA59B}"/>
              </a:ext>
            </a:extLst>
          </p:cNvPr>
          <p:cNvSpPr/>
          <p:nvPr/>
        </p:nvSpPr>
        <p:spPr>
          <a:xfrm>
            <a:off x="1562920" y="4649887"/>
            <a:ext cx="1667844" cy="4930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DCC - GRACH</a:t>
            </a:r>
          </a:p>
        </p:txBody>
      </p:sp>
      <p:sp>
        <p:nvSpPr>
          <p:cNvPr id="64" name="Rechteck 63">
            <a:extLst>
              <a:ext uri="{FF2B5EF4-FFF2-40B4-BE49-F238E27FC236}">
                <a16:creationId xmlns:a16="http://schemas.microsoft.com/office/drawing/2014/main" id="{58FC3839-34B8-7AEA-14F5-F4D839F2B728}"/>
              </a:ext>
            </a:extLst>
          </p:cNvPr>
          <p:cNvSpPr/>
          <p:nvPr/>
        </p:nvSpPr>
        <p:spPr>
          <a:xfrm>
            <a:off x="1244144" y="5466637"/>
            <a:ext cx="1667844" cy="4930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</a:t>
            </a:r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74DA8380-A4E1-3113-488E-71F0545701BC}"/>
              </a:ext>
            </a:extLst>
          </p:cNvPr>
          <p:cNvSpPr/>
          <p:nvPr/>
        </p:nvSpPr>
        <p:spPr>
          <a:xfrm>
            <a:off x="1650705" y="4945743"/>
            <a:ext cx="1667844" cy="4930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SVAR</a:t>
            </a:r>
          </a:p>
        </p:txBody>
      </p:sp>
      <p:sp>
        <p:nvSpPr>
          <p:cNvPr id="66" name="Geschweifte Klammer links 65">
            <a:extLst>
              <a:ext uri="{FF2B5EF4-FFF2-40B4-BE49-F238E27FC236}">
                <a16:creationId xmlns:a16="http://schemas.microsoft.com/office/drawing/2014/main" id="{029072D8-6015-7C42-5CB1-1357E851C602}"/>
              </a:ext>
            </a:extLst>
          </p:cNvPr>
          <p:cNvSpPr/>
          <p:nvPr/>
        </p:nvSpPr>
        <p:spPr>
          <a:xfrm>
            <a:off x="2024106" y="1848777"/>
            <a:ext cx="419165" cy="2253286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7" name="Rechteck 66">
            <a:extLst>
              <a:ext uri="{FF2B5EF4-FFF2-40B4-BE49-F238E27FC236}">
                <a16:creationId xmlns:a16="http://schemas.microsoft.com/office/drawing/2014/main" id="{F181413F-6219-A5C7-CB83-A531EC144C21}"/>
              </a:ext>
            </a:extLst>
          </p:cNvPr>
          <p:cNvSpPr/>
          <p:nvPr/>
        </p:nvSpPr>
        <p:spPr>
          <a:xfrm>
            <a:off x="476685" y="2643555"/>
            <a:ext cx="1495049" cy="7642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</a:t>
            </a:r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find a </a:t>
            </a:r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certain</a:t>
            </a:r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</a:t>
            </a:r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proceed</a:t>
            </a:r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further</a:t>
            </a:r>
            <a:endParaRPr lang="de-DE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Rechteck 67">
            <a:extLst>
              <a:ext uri="{FF2B5EF4-FFF2-40B4-BE49-F238E27FC236}">
                <a16:creationId xmlns:a16="http://schemas.microsoft.com/office/drawing/2014/main" id="{CAA034DF-7393-0F01-9C8C-692D58B8F995}"/>
              </a:ext>
            </a:extLst>
          </p:cNvPr>
          <p:cNvSpPr/>
          <p:nvPr/>
        </p:nvSpPr>
        <p:spPr>
          <a:xfrm>
            <a:off x="4265195" y="3312815"/>
            <a:ext cx="1495049" cy="212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Rolling </a:t>
            </a:r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</a:t>
            </a:r>
            <a:endParaRPr lang="de-DE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9" name="Gerade Verbindung mit Pfeil 68">
            <a:extLst>
              <a:ext uri="{FF2B5EF4-FFF2-40B4-BE49-F238E27FC236}">
                <a16:creationId xmlns:a16="http://schemas.microsoft.com/office/drawing/2014/main" id="{D72AE4D1-DDB3-2A71-3262-26E955D37A7F}"/>
              </a:ext>
            </a:extLst>
          </p:cNvPr>
          <p:cNvCxnSpPr>
            <a:cxnSpLocks/>
            <a:stCxn id="48" idx="2"/>
            <a:endCxn id="68" idx="0"/>
          </p:cNvCxnSpPr>
          <p:nvPr/>
        </p:nvCxnSpPr>
        <p:spPr>
          <a:xfrm>
            <a:off x="4060596" y="3045682"/>
            <a:ext cx="952124" cy="2671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Gerade Verbindung mit Pfeil 69">
            <a:extLst>
              <a:ext uri="{FF2B5EF4-FFF2-40B4-BE49-F238E27FC236}">
                <a16:creationId xmlns:a16="http://schemas.microsoft.com/office/drawing/2014/main" id="{029A0AF3-1663-C302-8F3A-BF8B28042AA3}"/>
              </a:ext>
            </a:extLst>
          </p:cNvPr>
          <p:cNvCxnSpPr>
            <a:cxnSpLocks/>
            <a:stCxn id="68" idx="2"/>
            <a:endCxn id="60" idx="0"/>
          </p:cNvCxnSpPr>
          <p:nvPr/>
        </p:nvCxnSpPr>
        <p:spPr>
          <a:xfrm>
            <a:off x="5012720" y="3525031"/>
            <a:ext cx="0" cy="3590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Rechteck 70">
            <a:extLst>
              <a:ext uri="{FF2B5EF4-FFF2-40B4-BE49-F238E27FC236}">
                <a16:creationId xmlns:a16="http://schemas.microsoft.com/office/drawing/2014/main" id="{A2652E4B-495F-DA2D-EEAF-CD1A141EE4B3}"/>
              </a:ext>
            </a:extLst>
          </p:cNvPr>
          <p:cNvSpPr/>
          <p:nvPr/>
        </p:nvSpPr>
        <p:spPr>
          <a:xfrm>
            <a:off x="7808546" y="4728755"/>
            <a:ext cx="1495049" cy="4021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 Run </a:t>
            </a:r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</a:t>
            </a:r>
            <a:endParaRPr lang="de-DE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Rechteck 71">
            <a:extLst>
              <a:ext uri="{FF2B5EF4-FFF2-40B4-BE49-F238E27FC236}">
                <a16:creationId xmlns:a16="http://schemas.microsoft.com/office/drawing/2014/main" id="{F3A52F26-D6EC-4FF5-5A8A-400695D1E8E6}"/>
              </a:ext>
            </a:extLst>
          </p:cNvPr>
          <p:cNvSpPr/>
          <p:nvPr/>
        </p:nvSpPr>
        <p:spPr>
          <a:xfrm>
            <a:off x="8160906" y="1401644"/>
            <a:ext cx="918576" cy="18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Timeframe</a:t>
            </a:r>
          </a:p>
        </p:txBody>
      </p:sp>
      <p:cxnSp>
        <p:nvCxnSpPr>
          <p:cNvPr id="73" name="Gerade Verbindung 89">
            <a:extLst>
              <a:ext uri="{FF2B5EF4-FFF2-40B4-BE49-F238E27FC236}">
                <a16:creationId xmlns:a16="http://schemas.microsoft.com/office/drawing/2014/main" id="{50FF2BD8-12A5-B4E4-A01F-7ACCF9142F68}"/>
              </a:ext>
            </a:extLst>
          </p:cNvPr>
          <p:cNvCxnSpPr/>
          <p:nvPr/>
        </p:nvCxnSpPr>
        <p:spPr>
          <a:xfrm>
            <a:off x="7727254" y="1322673"/>
            <a:ext cx="0" cy="4287483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Gerade Verbindung 90">
            <a:extLst>
              <a:ext uri="{FF2B5EF4-FFF2-40B4-BE49-F238E27FC236}">
                <a16:creationId xmlns:a16="http://schemas.microsoft.com/office/drawing/2014/main" id="{3C96BFF6-6346-6B2C-FDB3-0D5E451E1B11}"/>
              </a:ext>
            </a:extLst>
          </p:cNvPr>
          <p:cNvCxnSpPr/>
          <p:nvPr/>
        </p:nvCxnSpPr>
        <p:spPr>
          <a:xfrm>
            <a:off x="3186390" y="1383644"/>
            <a:ext cx="0" cy="4287483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Gerade Verbindung mit Pfeil 74">
            <a:extLst>
              <a:ext uri="{FF2B5EF4-FFF2-40B4-BE49-F238E27FC236}">
                <a16:creationId xmlns:a16="http://schemas.microsoft.com/office/drawing/2014/main" id="{8D797CCE-E774-CFFD-EEDD-BD3DEC2FD089}"/>
              </a:ext>
            </a:extLst>
          </p:cNvPr>
          <p:cNvCxnSpPr>
            <a:cxnSpLocks/>
            <a:stCxn id="51" idx="3"/>
            <a:endCxn id="71" idx="1"/>
          </p:cNvCxnSpPr>
          <p:nvPr/>
        </p:nvCxnSpPr>
        <p:spPr>
          <a:xfrm flipV="1">
            <a:off x="5705593" y="4929819"/>
            <a:ext cx="2102953" cy="98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Rechteck 75">
            <a:extLst>
              <a:ext uri="{FF2B5EF4-FFF2-40B4-BE49-F238E27FC236}">
                <a16:creationId xmlns:a16="http://schemas.microsoft.com/office/drawing/2014/main" id="{1F2CC21C-CD29-3147-7AD1-01472AD47EB1}"/>
              </a:ext>
            </a:extLst>
          </p:cNvPr>
          <p:cNvSpPr/>
          <p:nvPr/>
        </p:nvSpPr>
        <p:spPr>
          <a:xfrm>
            <a:off x="378608" y="3852586"/>
            <a:ext cx="1667844" cy="4930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ECM</a:t>
            </a:r>
          </a:p>
        </p:txBody>
      </p:sp>
      <p:sp>
        <p:nvSpPr>
          <p:cNvPr id="77" name="Rechteck 76">
            <a:extLst>
              <a:ext uri="{FF2B5EF4-FFF2-40B4-BE49-F238E27FC236}">
                <a16:creationId xmlns:a16="http://schemas.microsoft.com/office/drawing/2014/main" id="{F1718C22-3A44-11B4-2329-1E648A14E284}"/>
              </a:ext>
            </a:extLst>
          </p:cNvPr>
          <p:cNvSpPr/>
          <p:nvPr/>
        </p:nvSpPr>
        <p:spPr>
          <a:xfrm>
            <a:off x="1049856" y="5936627"/>
            <a:ext cx="1667844" cy="4930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VECM</a:t>
            </a:r>
          </a:p>
        </p:txBody>
      </p:sp>
      <p:sp>
        <p:nvSpPr>
          <p:cNvPr id="78" name="Rechteck 77">
            <a:extLst>
              <a:ext uri="{FF2B5EF4-FFF2-40B4-BE49-F238E27FC236}">
                <a16:creationId xmlns:a16="http://schemas.microsoft.com/office/drawing/2014/main" id="{70F0C0BB-56A7-821A-6697-1B22BE3A7FCB}"/>
              </a:ext>
            </a:extLst>
          </p:cNvPr>
          <p:cNvSpPr/>
          <p:nvPr/>
        </p:nvSpPr>
        <p:spPr>
          <a:xfrm>
            <a:off x="31386" y="4610286"/>
            <a:ext cx="1667844" cy="4930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MS-VAR</a:t>
            </a:r>
          </a:p>
        </p:txBody>
      </p:sp>
      <p:sp>
        <p:nvSpPr>
          <p:cNvPr id="79" name="Rechteck 78">
            <a:extLst>
              <a:ext uri="{FF2B5EF4-FFF2-40B4-BE49-F238E27FC236}">
                <a16:creationId xmlns:a16="http://schemas.microsoft.com/office/drawing/2014/main" id="{8D01C20B-8577-85C4-44C4-5B7B8E2F2399}"/>
              </a:ext>
            </a:extLst>
          </p:cNvPr>
          <p:cNvSpPr/>
          <p:nvPr/>
        </p:nvSpPr>
        <p:spPr>
          <a:xfrm>
            <a:off x="8117071" y="4105197"/>
            <a:ext cx="1495049" cy="4021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Clustering </a:t>
            </a:r>
            <a:r>
              <a:rPr lang="de-DE" sz="11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techniques</a:t>
            </a:r>
            <a:endParaRPr lang="de-DE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0" name="Gerade Verbindung mit Pfeil 79">
            <a:extLst>
              <a:ext uri="{FF2B5EF4-FFF2-40B4-BE49-F238E27FC236}">
                <a16:creationId xmlns:a16="http://schemas.microsoft.com/office/drawing/2014/main" id="{0E76F553-5B96-ABFC-FFEF-3129F5369275}"/>
              </a:ext>
            </a:extLst>
          </p:cNvPr>
          <p:cNvCxnSpPr>
            <a:cxnSpLocks/>
            <a:stCxn id="57" idx="2"/>
            <a:endCxn id="79" idx="0"/>
          </p:cNvCxnSpPr>
          <p:nvPr/>
        </p:nvCxnSpPr>
        <p:spPr>
          <a:xfrm flipV="1">
            <a:off x="6842935" y="4105197"/>
            <a:ext cx="2021661" cy="167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50096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76E1A-C002-B349-E097-805075F9D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1406C7-B848-CD81-33C9-ECD5F5241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68592"/>
          </a:xfrm>
        </p:spPr>
        <p:txBody>
          <a:bodyPr/>
          <a:lstStyle/>
          <a:p>
            <a:endParaRPr lang="de-DE" dirty="0"/>
          </a:p>
        </p:txBody>
      </p:sp>
      <p:pic>
        <p:nvPicPr>
          <p:cNvPr id="4" name="Grafik 3" descr="Ein Bild, das Text, Schrift, Screenshot, Grafiken enthält.&#10;&#10;Automatisch generierte Beschreibung">
            <a:extLst>
              <a:ext uri="{FF2B5EF4-FFF2-40B4-BE49-F238E27FC236}">
                <a16:creationId xmlns:a16="http://schemas.microsoft.com/office/drawing/2014/main" id="{70DA9734-94FC-7BFC-9F66-CE96C441134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28" y="0"/>
            <a:ext cx="1600172" cy="766261"/>
          </a:xfrm>
          <a:prstGeom prst="rect">
            <a:avLst/>
          </a:prstGeom>
        </p:spPr>
      </p:pic>
      <p:pic>
        <p:nvPicPr>
          <p:cNvPr id="5" name="Picture 2" descr="Universität Kiel Logo PNG vector in SVG, PDF, AI, CDR format">
            <a:extLst>
              <a:ext uri="{FF2B5EF4-FFF2-40B4-BE49-F238E27FC236}">
                <a16:creationId xmlns:a16="http://schemas.microsoft.com/office/drawing/2014/main" id="{BAC2E269-F2E9-1557-D86B-C065A2F22E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72" t="4343" r="20103" b="3488"/>
          <a:stretch>
            <a:fillRect/>
          </a:stretch>
        </p:blipFill>
        <p:spPr bwMode="auto">
          <a:xfrm>
            <a:off x="9432580" y="2562648"/>
            <a:ext cx="3964282" cy="462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A733C003-83E9-A56B-B03B-9F8D4775BA49}"/>
              </a:ext>
            </a:extLst>
          </p:cNvPr>
          <p:cNvSpPr/>
          <p:nvPr/>
        </p:nvSpPr>
        <p:spPr>
          <a:xfrm>
            <a:off x="3141665" y="2723384"/>
            <a:ext cx="5892623" cy="1198166"/>
          </a:xfrm>
          <a:prstGeom prst="roundRect">
            <a:avLst/>
          </a:prstGeom>
          <a:solidFill>
            <a:srgbClr val="00677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500" dirty="0">
                <a:latin typeface="Arial" panose="020B0604020202020204" pitchFamily="34" charset="0"/>
                <a:cs typeface="Arial" panose="020B0604020202020204" pitchFamily="34" charset="0"/>
              </a:rPr>
              <a:t>5. Data and </a:t>
            </a:r>
            <a:r>
              <a:rPr lang="de-DE" sz="2500" dirty="0" err="1">
                <a:latin typeface="Arial" panose="020B0604020202020204" pitchFamily="34" charset="0"/>
                <a:cs typeface="Arial" panose="020B0604020202020204" pitchFamily="34" charset="0"/>
              </a:rPr>
              <a:t>stylized</a:t>
            </a:r>
            <a:r>
              <a:rPr lang="de-DE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500" dirty="0" err="1">
                <a:latin typeface="Arial" panose="020B0604020202020204" pitchFamily="34" charset="0"/>
                <a:cs typeface="Arial" panose="020B0604020202020204" pitchFamily="34" charset="0"/>
              </a:rPr>
              <a:t>facts</a:t>
            </a:r>
            <a:endParaRPr lang="de-DE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01607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CCD1B2-4A08-2621-D9D0-8B809AC7C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 </a:t>
            </a:r>
            <a:r>
              <a:rPr lang="de-DE" dirty="0" err="1"/>
              <a:t>Stationary</a:t>
            </a:r>
            <a:r>
              <a:rPr lang="de-DE" dirty="0"/>
              <a:t> </a:t>
            </a:r>
            <a:r>
              <a:rPr lang="de-DE" dirty="0" err="1"/>
              <a:t>transformation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FDB8112-2235-2AA3-D261-896E82712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05264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ABBE4-FF77-9CF8-5838-84314DB45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B5F55A-5D96-4742-916D-5468AAEA2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68592"/>
          </a:xfrm>
        </p:spPr>
        <p:txBody>
          <a:bodyPr/>
          <a:lstStyle/>
          <a:p>
            <a:endParaRPr lang="de-DE" dirty="0"/>
          </a:p>
        </p:txBody>
      </p:sp>
      <p:pic>
        <p:nvPicPr>
          <p:cNvPr id="4" name="Grafik 3" descr="Ein Bild, das Text, Schrift, Screenshot, Grafiken enthält.&#10;&#10;Automatisch generierte Beschreibung">
            <a:extLst>
              <a:ext uri="{FF2B5EF4-FFF2-40B4-BE49-F238E27FC236}">
                <a16:creationId xmlns:a16="http://schemas.microsoft.com/office/drawing/2014/main" id="{94918307-2D8A-AC36-5AC1-C1A624DCCB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28" y="0"/>
            <a:ext cx="1600172" cy="766261"/>
          </a:xfrm>
          <a:prstGeom prst="rect">
            <a:avLst/>
          </a:prstGeom>
        </p:spPr>
      </p:pic>
      <p:pic>
        <p:nvPicPr>
          <p:cNvPr id="5" name="Picture 2" descr="Universität Kiel Logo PNG vector in SVG, PDF, AI, CDR format">
            <a:extLst>
              <a:ext uri="{FF2B5EF4-FFF2-40B4-BE49-F238E27FC236}">
                <a16:creationId xmlns:a16="http://schemas.microsoft.com/office/drawing/2014/main" id="{BED29F77-EDC1-8CAE-B1C5-CB21FE1990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72" t="4343" r="20103" b="3488"/>
          <a:stretch>
            <a:fillRect/>
          </a:stretch>
        </p:blipFill>
        <p:spPr bwMode="auto">
          <a:xfrm>
            <a:off x="9432580" y="2562648"/>
            <a:ext cx="3964282" cy="462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7D467E30-9B27-440E-31E2-66B8B3EA720A}"/>
              </a:ext>
            </a:extLst>
          </p:cNvPr>
          <p:cNvSpPr/>
          <p:nvPr/>
        </p:nvSpPr>
        <p:spPr>
          <a:xfrm>
            <a:off x="3141665" y="2723384"/>
            <a:ext cx="5892623" cy="1198166"/>
          </a:xfrm>
          <a:prstGeom prst="roundRect">
            <a:avLst/>
          </a:prstGeom>
          <a:solidFill>
            <a:srgbClr val="00677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500" dirty="0">
                <a:latin typeface="Arial" panose="020B0604020202020204" pitchFamily="34" charset="0"/>
                <a:cs typeface="Arial" panose="020B0604020202020204" pitchFamily="34" charset="0"/>
              </a:rPr>
              <a:t>5. Data and </a:t>
            </a:r>
            <a:r>
              <a:rPr lang="de-DE" sz="2500" dirty="0" err="1">
                <a:latin typeface="Arial" panose="020B0604020202020204" pitchFamily="34" charset="0"/>
                <a:cs typeface="Arial" panose="020B0604020202020204" pitchFamily="34" charset="0"/>
              </a:rPr>
              <a:t>stylized</a:t>
            </a:r>
            <a:r>
              <a:rPr lang="de-DE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500" dirty="0" err="1">
                <a:latin typeface="Arial" panose="020B0604020202020204" pitchFamily="34" charset="0"/>
                <a:cs typeface="Arial" panose="020B0604020202020204" pitchFamily="34" charset="0"/>
              </a:rPr>
              <a:t>facts</a:t>
            </a:r>
            <a:endParaRPr lang="de-DE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44108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5795A8-9398-F550-D590-5C38E98D9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A5C87ED-E8B2-51CA-A83A-2A7754BB6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932325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AD0607-D6DE-2403-CBE8-8E52BBD27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Model </a:t>
            </a:r>
            <a:r>
              <a:rPr lang="de-DE" dirty="0" err="1"/>
              <a:t>comparison</a:t>
            </a:r>
            <a:r>
              <a:rPr lang="de-DE" dirty="0"/>
              <a:t> and </a:t>
            </a:r>
            <a:r>
              <a:rPr lang="de-DE" dirty="0" err="1"/>
              <a:t>selection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B89452D-6D35-766D-E131-F32352CCA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010" y="768593"/>
            <a:ext cx="9235980" cy="5859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3880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DC3A3-F068-4EA1-8612-19D4DF522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82018C-587F-E75F-4B3B-C323B17D3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68592"/>
          </a:xfrm>
        </p:spPr>
        <p:txBody>
          <a:bodyPr/>
          <a:lstStyle/>
          <a:p>
            <a:endParaRPr lang="de-DE" dirty="0"/>
          </a:p>
        </p:txBody>
      </p:sp>
      <p:pic>
        <p:nvPicPr>
          <p:cNvPr id="4" name="Grafik 3" descr="Ein Bild, das Text, Schrift, Screenshot, Grafiken enthält.&#10;&#10;Automatisch generierte Beschreibung">
            <a:extLst>
              <a:ext uri="{FF2B5EF4-FFF2-40B4-BE49-F238E27FC236}">
                <a16:creationId xmlns:a16="http://schemas.microsoft.com/office/drawing/2014/main" id="{68BD650D-277D-AA06-572E-5F86C7F989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28" y="0"/>
            <a:ext cx="1600172" cy="766261"/>
          </a:xfrm>
          <a:prstGeom prst="rect">
            <a:avLst/>
          </a:prstGeom>
        </p:spPr>
      </p:pic>
      <p:pic>
        <p:nvPicPr>
          <p:cNvPr id="5" name="Picture 2" descr="Universität Kiel Logo PNG vector in SVG, PDF, AI, CDR format">
            <a:extLst>
              <a:ext uri="{FF2B5EF4-FFF2-40B4-BE49-F238E27FC236}">
                <a16:creationId xmlns:a16="http://schemas.microsoft.com/office/drawing/2014/main" id="{F10BD084-3CFF-95CA-2501-3126559A9A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72" t="4343" r="20103" b="3488"/>
          <a:stretch>
            <a:fillRect/>
          </a:stretch>
        </p:blipFill>
        <p:spPr bwMode="auto">
          <a:xfrm>
            <a:off x="9432580" y="2562648"/>
            <a:ext cx="3964282" cy="462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C32A39CC-B64D-302D-1CC2-4022B00C4612}"/>
              </a:ext>
            </a:extLst>
          </p:cNvPr>
          <p:cNvSpPr/>
          <p:nvPr/>
        </p:nvSpPr>
        <p:spPr>
          <a:xfrm>
            <a:off x="3141665" y="2723384"/>
            <a:ext cx="5892623" cy="1198166"/>
          </a:xfrm>
          <a:prstGeom prst="roundRect">
            <a:avLst/>
          </a:prstGeom>
          <a:solidFill>
            <a:srgbClr val="00677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500" dirty="0">
                <a:latin typeface="Arial" panose="020B0604020202020204" pitchFamily="34" charset="0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4444560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761CF2-3259-7755-FC1D-205589EE3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D74C32B-A96C-0E35-8E67-C6A3634FA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7508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1715</Words>
  <Application>Microsoft Office PowerPoint</Application>
  <PresentationFormat>Breitbild</PresentationFormat>
  <Paragraphs>320</Paragraphs>
  <Slides>25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25</vt:i4>
      </vt:variant>
    </vt:vector>
  </HeadingPairs>
  <TitlesOfParts>
    <vt:vector size="33" baseType="lpstr">
      <vt:lpstr>AdvTT5235d5a9</vt:lpstr>
      <vt:lpstr>Aptos</vt:lpstr>
      <vt:lpstr>Aptos Display</vt:lpstr>
      <vt:lpstr>Arial</vt:lpstr>
      <vt:lpstr>Cambria Math</vt:lpstr>
      <vt:lpstr>Roboto</vt:lpstr>
      <vt:lpstr>Wingdings</vt:lpstr>
      <vt:lpstr>Office</vt:lpstr>
      <vt:lpstr>PowerPoint-Präsentation</vt:lpstr>
      <vt:lpstr> Outline</vt:lpstr>
      <vt:lpstr> Recap: The PPP puzzle, Uncovered Interest Partity &amp; Regime switching</vt:lpstr>
      <vt:lpstr> Linkage between Energy Commodities and Exchange Rates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 Context: Energy Commodities and Exchange rates</vt:lpstr>
      <vt:lpstr> Systematic Literature Overview: Main Approaches</vt:lpstr>
      <vt:lpstr>PowerPoint-Präsentation</vt:lpstr>
      <vt:lpstr> Prices and measurements, understanding the bigger picture</vt:lpstr>
      <vt:lpstr>PowerPoint-Präsentation</vt:lpstr>
      <vt:lpstr>PowerPoint-Präsentation</vt:lpstr>
      <vt:lpstr>PowerPoint-Präsentation</vt:lpstr>
      <vt:lpstr> Overview data</vt:lpstr>
      <vt:lpstr>PowerPoint-Präsentation</vt:lpstr>
      <vt:lpstr>PowerPoint-Präsentation</vt:lpstr>
      <vt:lpstr> Stationary transformation</vt:lpstr>
      <vt:lpstr>PowerPoint-Präsentation</vt:lpstr>
      <vt:lpstr>PowerPoint-Präsentation</vt:lpstr>
      <vt:lpstr>Model comparison and selection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Josef Fella</dc:creator>
  <cp:lastModifiedBy>Josef Fella</cp:lastModifiedBy>
  <cp:revision>110</cp:revision>
  <dcterms:created xsi:type="dcterms:W3CDTF">2025-10-21T14:56:34Z</dcterms:created>
  <dcterms:modified xsi:type="dcterms:W3CDTF">2025-10-22T22:01:06Z</dcterms:modified>
</cp:coreProperties>
</file>